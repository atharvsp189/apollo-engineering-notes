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Arim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775918-0794-4AEC-B7DA-F7F3B52213E0}">
  <a:tblStyle styleId="{A4775918-0794-4AEC-B7DA-F7F3B52213E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m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Arimo-italic.fntdata"/><Relationship Id="rId10" Type="http://schemas.openxmlformats.org/officeDocument/2006/relationships/slide" Target="slides/slide5.xml"/><Relationship Id="rId32" Type="http://schemas.openxmlformats.org/officeDocument/2006/relationships/font" Target="fonts/Arim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Arim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CAAC"/>
            </a:gs>
            <a:gs pos="74000">
              <a:srgbClr val="B3D1EC"/>
            </a:gs>
            <a:gs pos="83000">
              <a:srgbClr val="B3D1EC"/>
            </a:gs>
            <a:gs pos="100000">
              <a:srgbClr val="CCE0F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807027" y="893763"/>
            <a:ext cx="9144000" cy="11324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Unit II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430482" y="233434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en-US" sz="3600"/>
              <a:t>Dictionaries and Query Processing</a:t>
            </a:r>
            <a:endParaRPr b="1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640773" y="35011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What is an Index?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</a:t>
            </a:r>
            <a:r>
              <a:rPr b="1" lang="en-US"/>
              <a:t>index</a:t>
            </a:r>
            <a:r>
              <a:rPr lang="en-US"/>
              <a:t> is a data structure that enables fast searching by mapping terms (words) to the documents in which they appear.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the context of text search, the </a:t>
            </a:r>
            <a:r>
              <a:rPr b="1" lang="en-US"/>
              <a:t>inverted index</a:t>
            </a:r>
            <a:r>
              <a:rPr lang="en-US"/>
              <a:t> is the most common type. It </a:t>
            </a:r>
            <a:r>
              <a:rPr b="1" lang="en-US"/>
              <a:t>inverts</a:t>
            </a:r>
            <a:r>
              <a:rPr lang="en-US"/>
              <a:t> the document-to-word relationship:</a:t>
            </a:r>
            <a:br>
              <a:rPr lang="en-US"/>
            </a:br>
            <a:r>
              <a:rPr lang="en-US"/>
              <a:t>👉 Instead of “document → words”, it stores “word → list of documents”.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266700" y="83127"/>
            <a:ext cx="10515600" cy="617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Key Components of an Index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1. Dictionary (Lexicon)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</a:t>
            </a:r>
            <a:r>
              <a:rPr b="1" lang="en-US"/>
              <a:t>dictionary</a:t>
            </a:r>
            <a:r>
              <a:rPr lang="en-US"/>
              <a:t> is a list of all </a:t>
            </a:r>
            <a:r>
              <a:rPr b="1" lang="en-US"/>
              <a:t>unique terms</a:t>
            </a:r>
            <a:r>
              <a:rPr lang="en-US"/>
              <a:t> (words) found in the document collection.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term points to a </a:t>
            </a:r>
            <a:r>
              <a:rPr b="1" lang="en-US"/>
              <a:t>postings list</a:t>
            </a:r>
            <a:r>
              <a:rPr lang="en-US"/>
              <a:t> (more on that below).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</a:t>
            </a:r>
            <a:br>
              <a:rPr lang="en-US"/>
            </a:br>
            <a:r>
              <a:rPr lang="en-US"/>
              <a:t>For 3 documents: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D1: data science is fun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D2: science is powerful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D3: data and AI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Dictionary: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["data", "science", "is", "fun", "powerful", "and", "AI"]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of these terms will map to a list of document IDs where they appear.</a:t>
            </a:r>
            <a:endParaRPr b="0" i="0" u="none" cap="none" strike="noStrike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671945" y="287770"/>
            <a:ext cx="10515600" cy="5790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Postings List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</a:t>
            </a:r>
            <a:r>
              <a:rPr b="1" lang="en-US"/>
              <a:t>postings list</a:t>
            </a:r>
            <a:r>
              <a:rPr lang="en-US"/>
              <a:t> (or inverted list) contains </a:t>
            </a:r>
            <a:r>
              <a:rPr b="1" lang="en-US"/>
              <a:t>document IDs</a:t>
            </a:r>
            <a:r>
              <a:rPr lang="en-US"/>
              <a:t> where the term appears.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may also store </a:t>
            </a:r>
            <a:r>
              <a:rPr b="1" lang="en-US"/>
              <a:t>term frequency (TF)</a:t>
            </a:r>
            <a:r>
              <a:rPr lang="en-US"/>
              <a:t> (how many times the term appears in the document).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Sometimes includes </a:t>
            </a:r>
            <a:r>
              <a:rPr b="1" lang="en-US"/>
              <a:t>positions</a:t>
            </a:r>
            <a:r>
              <a:rPr lang="en-US"/>
              <a:t> of the term in the document (for phrase or proximity queries).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the term </a:t>
            </a:r>
            <a:r>
              <a:rPr b="1" lang="en-US"/>
              <a:t>"science"</a:t>
            </a:r>
            <a:r>
              <a:rPr lang="en-US"/>
              <a:t>: Postings list: [ (D1, pos=2), (D2, pos=1) 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Extended version might look like: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science → { D1: TF=1, positions=[2]; D2: TF=1, positions=[1] }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162791" y="173470"/>
            <a:ext cx="10515600" cy="6684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3. Skip Pointers (for faster search)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Skip pointers</a:t>
            </a:r>
            <a:r>
              <a:rPr lang="en-US"/>
              <a:t> are shortcuts added within long postings lists to speed up query processing.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Instead of comparing every document ID, the system can </a:t>
            </a:r>
            <a:r>
              <a:rPr b="1" lang="en-US"/>
              <a:t>skip ahead</a:t>
            </a:r>
            <a:r>
              <a:rPr lang="en-US"/>
              <a:t> in the list when appropriate.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Postings list with docIDs: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[2, 4, 6, 8, 10, 12]</a:t>
            </a:r>
            <a:r>
              <a:rPr b="0" i="0" lang="en-US" sz="2000" u="none" cap="none" strike="noStrike">
                <a:solidFill>
                  <a:schemeClr val="dk1"/>
                </a:solidFill>
              </a:rPr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skip pointer might link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2 → 6, allowing the system to skip 4 if it’s not needed.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Skip pointers reduce the number of comparisons, especially helpful in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queries (where you're intersecting two postings lists).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173182" y="59228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4. Auxiliary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Additional metadata is often stored to improve search quality and speed: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Term Frequency (TF)</a:t>
            </a:r>
            <a:r>
              <a:rPr lang="en-US"/>
              <a:t>: Number of times a term appears in a document.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Document Frequency (DF)</a:t>
            </a:r>
            <a:r>
              <a:rPr lang="en-US"/>
              <a:t>: Number of documents that contain the term.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Position Information</a:t>
            </a:r>
            <a:r>
              <a:rPr lang="en-US"/>
              <a:t>: Index positions of the term within each document (used in phrase and proximity queries).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Normalization Factors</a:t>
            </a:r>
            <a:r>
              <a:rPr lang="en-US"/>
              <a:t>: For scoring/ranking purposes (like document length).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Doc Metadata</a:t>
            </a:r>
            <a:r>
              <a:rPr lang="en-US"/>
              <a:t>: Titles, URLs, authors, etc.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Index Life Cycle</a:t>
            </a:r>
            <a:br>
              <a:rPr b="1" lang="en-US"/>
            </a:br>
            <a:endParaRPr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755073" y="115021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The phases through which an index goes: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Construction</a:t>
            </a:r>
            <a:r>
              <a:rPr lang="en-US"/>
              <a:t>: Build the index from a collection of documents.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Storage</a:t>
            </a:r>
            <a:r>
              <a:rPr lang="en-US"/>
              <a:t>: Save the index to disk or memory.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Updating</a:t>
            </a:r>
            <a:r>
              <a:rPr lang="en-US"/>
              <a:t>: Add, modify, or delete documents.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Deletion</a:t>
            </a:r>
            <a:r>
              <a:rPr lang="en-US"/>
              <a:t>: Remove old or obsolete entries.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Optimization</a:t>
            </a:r>
            <a:r>
              <a:rPr lang="en-US"/>
              <a:t>: Compress and restructure the index to improve efficiency.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1. Construction</a:t>
            </a:r>
            <a:br>
              <a:rPr b="1" lang="en-US"/>
            </a:br>
            <a:endParaRPr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838200" y="118138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is the </a:t>
            </a:r>
            <a:r>
              <a:rPr b="1" lang="en-US"/>
              <a:t>first phase</a:t>
            </a:r>
            <a:r>
              <a:rPr lang="en-US"/>
              <a:t> where the index is created from scratch.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What happens?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system </a:t>
            </a:r>
            <a:r>
              <a:rPr b="1" lang="en-US"/>
              <a:t>parses</a:t>
            </a:r>
            <a:r>
              <a:rPr lang="en-US"/>
              <a:t> all the documents in the collection.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Text is </a:t>
            </a:r>
            <a:r>
              <a:rPr b="1" lang="en-US"/>
              <a:t>tokenized</a:t>
            </a:r>
            <a:r>
              <a:rPr lang="en-US"/>
              <a:t> (split into words).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Stopwords (common words like "the", "is") may be removed.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word is </a:t>
            </a:r>
            <a:r>
              <a:rPr b="1" lang="en-US"/>
              <a:t>stemmed or lemmatized</a:t>
            </a:r>
            <a:r>
              <a:rPr lang="en-US"/>
              <a:t> (reduced to root form).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</a:t>
            </a:r>
            <a:r>
              <a:rPr b="1" lang="en-US"/>
              <a:t>dictionary</a:t>
            </a:r>
            <a:r>
              <a:rPr lang="en-US"/>
              <a:t> of unique terms is created.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Postings lists</a:t>
            </a:r>
            <a:r>
              <a:rPr lang="en-US"/>
              <a:t> are built for each term.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162791" y="142297"/>
            <a:ext cx="10515600" cy="6310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documents D1 and D2, the inverted index is constructed as: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Arduino "data" → [D1, D2]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"science" → [D1]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Tools Used:</a:t>
            </a:r>
            <a:r>
              <a:rPr lang="en-US"/>
              <a:t> Sorting, hashing, and data structures like B-trees or tries.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2. Storage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Once built, the index needs to be </a:t>
            </a:r>
            <a:r>
              <a:rPr b="1" lang="en-US"/>
              <a:t>stored</a:t>
            </a:r>
            <a:r>
              <a:rPr lang="en-US"/>
              <a:t> for long-term use.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Where is it stored?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Disk</a:t>
            </a:r>
            <a:r>
              <a:rPr lang="en-US"/>
              <a:t>: Preferred for large datasets. Slower but persistent.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Memory (RAM)</a:t>
            </a:r>
            <a:r>
              <a:rPr lang="en-US"/>
              <a:t>: For smaller indexes or temporary processing. Very fast.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Cloud</a:t>
            </a:r>
            <a:r>
              <a:rPr lang="en-US"/>
              <a:t>: In modern systems like Elasticsearch, indexes are stored in cloud storage with distributed access.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How is it stored?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Compressed using techniques like delta encoding, variable-byte encoding.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Structures like </a:t>
            </a:r>
            <a:r>
              <a:rPr b="1" lang="en-US"/>
              <a:t>segment files</a:t>
            </a:r>
            <a:r>
              <a:rPr lang="en-US"/>
              <a:t> in Lucene (used by Elasticsearch).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214745" y="183861"/>
            <a:ext cx="10515600" cy="6549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3. Updating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Over time, new documents are added, and existing ones may be edited.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Why needed?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Users upload new content.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Corrections are made to documents.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Real-world content is dynamic (e.g., news sites).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What happens?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New terms</a:t>
            </a:r>
            <a:r>
              <a:rPr lang="en-US"/>
              <a:t> are added to the dictionary.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New postings</a:t>
            </a:r>
            <a:r>
              <a:rPr lang="en-US"/>
              <a:t> are created.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Partial or incremental indexing may be used.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183573" y="176645"/>
            <a:ext cx="10515600" cy="65982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Techniques: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Dynamic Indexing</a:t>
            </a:r>
            <a:r>
              <a:rPr lang="en-US"/>
              <a:t>: Maintains small, in-memory indexes that are periodically merged into the main index.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Log-Structured Merge Trees (LSM Trees)</a:t>
            </a:r>
            <a:r>
              <a:rPr lang="en-US"/>
              <a:t>: Efficiently handle updates and writes.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4. Deletion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Sometimes, documents must be removed from the index.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When?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document is deleted from the system.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document becomes outdated or irrelevant.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Legal or privacy reasons (e.g., GDPR).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How is deletion handled?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Logical deletion</a:t>
            </a:r>
            <a:r>
              <a:rPr lang="en-US"/>
              <a:t>: Marked as deleted but not physically removed.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Physical deletion</a:t>
            </a:r>
            <a:r>
              <a:rPr lang="en-US"/>
              <a:t>: Removed entirely during optimization or re-indexing.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Keeps index clean and relevant.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08264" y="370898"/>
            <a:ext cx="10515600" cy="618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5. Optimization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Over time, the index may become </a:t>
            </a:r>
            <a:r>
              <a:rPr b="1" lang="en-US"/>
              <a:t>fragmented</a:t>
            </a:r>
            <a:r>
              <a:rPr lang="en-US"/>
              <a:t> or bloated. Optimization improves its speed and space usage.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Why optimize?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Reduce storage space.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Increase search speed.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Eliminate deleted entries and merge updates.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Optimization tasks: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Merging segments</a:t>
            </a:r>
            <a:r>
              <a:rPr lang="en-US"/>
              <a:t> in Lucene.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Rewriting postings lists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Compressing</a:t>
            </a:r>
            <a:r>
              <a:rPr lang="en-US"/>
              <a:t> the data again.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Re-sorting</a:t>
            </a:r>
            <a:r>
              <a:rPr lang="en-US"/>
              <a:t> the dictionary or postings.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      </a:t>
            </a:r>
            <a:r>
              <a:rPr b="1" lang="en-US" u="sng"/>
              <a:t>Summary Table</a:t>
            </a:r>
            <a:endParaRPr b="1" u="sng"/>
          </a:p>
        </p:txBody>
      </p:sp>
      <p:graphicFrame>
        <p:nvGraphicFramePr>
          <p:cNvPr id="149" name="Google Shape;149;p25"/>
          <p:cNvGraphicFramePr/>
          <p:nvPr/>
        </p:nvGraphicFramePr>
        <p:xfrm>
          <a:off x="1368137" y="20855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{A4775918-0794-4AEC-B7DA-F7F3B52213E0}</a:tableStyleId>
              </a:tblPr>
              <a:tblGrid>
                <a:gridCol w="1353550"/>
                <a:gridCol w="55183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833C0B"/>
                          </a:solidFill>
                        </a:rPr>
                        <a:t>Phase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833C0B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Construction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Build index from documents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Storage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Save index (disk, memory, cloud)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Updating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Add or change documents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Deletion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Remove unwanted documents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Optimization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Clean and compress for performance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193964" y="152688"/>
            <a:ext cx="10515600" cy="6705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Static Inverted Index?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 static inverted index is a data structure used in information retrieval to efficiently search and retrieve documents based on keywords</a:t>
            </a:r>
            <a:endParaRPr b="1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solidFill>
                  <a:srgbClr val="FF0000"/>
                </a:solidFill>
              </a:rPr>
              <a:t>A </a:t>
            </a:r>
            <a:r>
              <a:rPr b="1" lang="en-US">
                <a:solidFill>
                  <a:srgbClr val="FF0000"/>
                </a:solidFill>
              </a:rPr>
              <a:t>Static Inverted Index</a:t>
            </a:r>
            <a:r>
              <a:rPr lang="en-US">
                <a:solidFill>
                  <a:srgbClr val="FF0000"/>
                </a:solidFill>
              </a:rPr>
              <a:t> is a type of </a:t>
            </a:r>
            <a:r>
              <a:rPr b="1" lang="en-US">
                <a:solidFill>
                  <a:srgbClr val="FF0000"/>
                </a:solidFill>
              </a:rPr>
              <a:t>indexing structure</a:t>
            </a:r>
            <a:r>
              <a:rPr lang="en-US">
                <a:solidFill>
                  <a:srgbClr val="FF0000"/>
                </a:solidFill>
              </a:rPr>
              <a:t> that is: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Built </a:t>
            </a:r>
            <a:r>
              <a:rPr b="1" lang="en-US">
                <a:solidFill>
                  <a:srgbClr val="FF0000"/>
                </a:solidFill>
              </a:rPr>
              <a:t>once</a:t>
            </a:r>
            <a:r>
              <a:rPr lang="en-US">
                <a:solidFill>
                  <a:srgbClr val="FF0000"/>
                </a:solidFill>
              </a:rPr>
              <a:t>, typically during initial indexing.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en-US">
                <a:solidFill>
                  <a:srgbClr val="FF0000"/>
                </a:solidFill>
              </a:rPr>
              <a:t>Not updated</a:t>
            </a:r>
            <a:r>
              <a:rPr lang="en-US">
                <a:solidFill>
                  <a:srgbClr val="FF0000"/>
                </a:solidFill>
              </a:rPr>
              <a:t> over time (no additions, deletions, or changes).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Ideal for </a:t>
            </a:r>
            <a:r>
              <a:rPr b="1" lang="en-US">
                <a:solidFill>
                  <a:srgbClr val="FF0000"/>
                </a:solidFill>
              </a:rPr>
              <a:t>read-only</a:t>
            </a:r>
            <a:r>
              <a:rPr lang="en-US">
                <a:solidFill>
                  <a:srgbClr val="FF0000"/>
                </a:solidFill>
              </a:rPr>
              <a:t> or </a:t>
            </a:r>
            <a:r>
              <a:rPr b="1" lang="en-US">
                <a:solidFill>
                  <a:srgbClr val="FF0000"/>
                </a:solidFill>
              </a:rPr>
              <a:t>fixed</a:t>
            </a:r>
            <a:r>
              <a:rPr lang="en-US">
                <a:solidFill>
                  <a:srgbClr val="FF0000"/>
                </a:solidFill>
              </a:rPr>
              <a:t> document collections.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here are two</a:t>
            </a:r>
            <a:r>
              <a:rPr b="1" lang="en-US"/>
              <a:t> ways</a:t>
            </a:r>
            <a:r>
              <a:rPr lang="en-US"/>
              <a:t> you can index information from documents: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1. Forward Index (Normal/Direct Index)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this method, for each </a:t>
            </a:r>
            <a:r>
              <a:rPr b="1" lang="en-US"/>
              <a:t>document</a:t>
            </a:r>
            <a:r>
              <a:rPr lang="en-US"/>
              <a:t>, you list the </a:t>
            </a:r>
            <a:r>
              <a:rPr b="1" lang="en-US"/>
              <a:t>words</a:t>
            </a:r>
            <a:r>
              <a:rPr lang="en-US"/>
              <a:t> it contains.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(Forward Index):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142009" y="152689"/>
            <a:ext cx="10515600" cy="6528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D1 → ["data", "science", "is", "fun"]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D2 → ["science", "is", "powerful"]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D3 → ["data", "and", "AI"]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you start </a:t>
            </a:r>
            <a:r>
              <a:rPr b="1" lang="en-US"/>
              <a:t>from the document</a:t>
            </a:r>
            <a:r>
              <a:rPr lang="en-US"/>
              <a:t>, and move </a:t>
            </a:r>
            <a:r>
              <a:rPr b="1" lang="en-US"/>
              <a:t>towards the words</a:t>
            </a:r>
            <a:r>
              <a:rPr lang="en-US"/>
              <a:t> inside it.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2. Inverted Index</a:t>
            </a:r>
            <a:r>
              <a:rPr lang="en-US"/>
              <a:t> (Reversed Mapping)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In this method, for each </a:t>
            </a:r>
            <a:r>
              <a:rPr b="1" lang="en-US"/>
              <a:t>word (term)</a:t>
            </a:r>
            <a:r>
              <a:rPr lang="en-US"/>
              <a:t>, you list the </a:t>
            </a:r>
            <a:r>
              <a:rPr b="1" lang="en-US"/>
              <a:t>documents</a:t>
            </a:r>
            <a:r>
              <a:rPr lang="en-US"/>
              <a:t> in which it appears.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 (Inverted Index):"data" → [D1, D3]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"science" → [D1, D2]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"AI" → [D3]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you start </a:t>
            </a:r>
            <a:r>
              <a:rPr b="1" lang="en-US"/>
              <a:t>from the word</a:t>
            </a:r>
            <a:r>
              <a:rPr lang="en-US"/>
              <a:t>, and find </a:t>
            </a:r>
            <a:r>
              <a:rPr b="1" lang="en-US"/>
              <a:t>all documents</a:t>
            </a:r>
            <a:r>
              <a:rPr lang="en-US"/>
              <a:t> that contain it.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39999" y="546475"/>
            <a:ext cx="10699150" cy="5255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Why is this helpful?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When a user types a search query, say:"data science"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The system needs to find all documents containing both "data" and "science".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Instead of searching every document one by one (which is slow), it can directly look up: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"data" → [D1, D3]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"science" → [D1, D2]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Then intersect the two lists → Common document is: D1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✅ </a:t>
            </a:r>
            <a:r>
              <a:rPr lang="en-US">
                <a:solidFill>
                  <a:srgbClr val="FF0000"/>
                </a:solidFill>
              </a:rPr>
              <a:t>So, the inverted index allows very fast search because it is already organized by term, not by document.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Summary -</a:t>
            </a:r>
            <a:r>
              <a:rPr b="1" lang="en-US" sz="3600">
                <a:latin typeface="Calibri"/>
                <a:ea typeface="Calibri"/>
                <a:cs typeface="Calibri"/>
                <a:sym typeface="Calibri"/>
              </a:rPr>
              <a:t>Static Inverted Index?</a:t>
            </a:r>
            <a:br>
              <a:rPr b="1" lang="en-US" sz="3600">
                <a:latin typeface="Calibri"/>
                <a:ea typeface="Calibri"/>
                <a:cs typeface="Calibri"/>
                <a:sym typeface="Calibri"/>
              </a:rPr>
            </a:b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838200" y="1825625"/>
            <a:ext cx="5957455" cy="18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</a:t>
            </a:r>
            <a:r>
              <a:rPr b="1" lang="en-US"/>
              <a:t>inverts the direction</a:t>
            </a:r>
            <a:r>
              <a:rPr lang="en-US"/>
              <a:t> of the mapping: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From </a:t>
            </a:r>
            <a:r>
              <a:rPr b="1" lang="en-US"/>
              <a:t>Document → Words</a:t>
            </a:r>
            <a:r>
              <a:rPr lang="en-US"/>
              <a:t> (forward)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</a:t>
            </a:r>
            <a:r>
              <a:rPr b="1" lang="en-US"/>
              <a:t>Word → Documents</a:t>
            </a:r>
            <a:r>
              <a:rPr lang="en-US"/>
              <a:t> (inverted)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0" y="0"/>
            <a:ext cx="105156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Same as a regular inverted index: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Dictionary</a:t>
            </a:r>
            <a:r>
              <a:rPr lang="en-US"/>
              <a:t>: List of all unique terms.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Postings List</a:t>
            </a:r>
            <a:r>
              <a:rPr lang="en-US"/>
              <a:t>: Document IDs where each term appears.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May also include: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Term frequency (TF)</a:t>
            </a:r>
            <a:r>
              <a:rPr lang="en-US"/>
              <a:t>: How many times the term appears in each document.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Positions</a:t>
            </a:r>
            <a:r>
              <a:rPr lang="en-US"/>
              <a:t>: Word position(s) in the document for advanced queries.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Advantages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🏎</a:t>
            </a:r>
            <a:r>
              <a:rPr b="1" lang="en-US"/>
              <a:t>Fast Retrieval</a:t>
            </a:r>
            <a:r>
              <a:rPr lang="en-US"/>
              <a:t>: Optimized for speed — since nothing changes, no dynamic checks.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Simple Structure</a:t>
            </a:r>
            <a:r>
              <a:rPr lang="en-US"/>
              <a:t>: No need for locking, concurrency control, or update logic.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📦 </a:t>
            </a:r>
            <a:r>
              <a:rPr b="1" lang="en-US"/>
              <a:t>Space Efficient</a:t>
            </a:r>
            <a:r>
              <a:rPr lang="en-US"/>
              <a:t>: Can be compressed and optimized heavily.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📊 </a:t>
            </a:r>
            <a:r>
              <a:rPr b="1" lang="en-US"/>
              <a:t>Predictable</a:t>
            </a:r>
            <a:r>
              <a:rPr lang="en-US"/>
              <a:t>: Same results every time for same queries.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643890" y="43053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Limitations</a:t>
            </a:r>
            <a:br>
              <a:rPr b="1" lang="en-US"/>
            </a:b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🛑 </a:t>
            </a:r>
            <a:r>
              <a:rPr b="1" lang="en-US"/>
              <a:t>Not updatable</a:t>
            </a:r>
            <a:r>
              <a:rPr lang="en-US"/>
              <a:t>: Can't add/remove/modify documents.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🔁 </a:t>
            </a:r>
            <a:r>
              <a:rPr b="1" lang="en-US"/>
              <a:t>Rebuild Needed</a:t>
            </a:r>
            <a:r>
              <a:rPr lang="en-US"/>
              <a:t>: Even one small change requires complete re-indexing.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⚙️ </a:t>
            </a:r>
            <a:r>
              <a:rPr b="1" lang="en-US"/>
              <a:t>Not suitable for dynamic datasets</a:t>
            </a:r>
            <a:r>
              <a:rPr lang="en-US"/>
              <a:t> (e.g., news feeds, social media).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713510" y="526762"/>
            <a:ext cx="10515600" cy="3411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u="sng"/>
              <a:t>Use Cases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Best for situations where the </a:t>
            </a:r>
            <a:r>
              <a:rPr b="1" lang="en-US"/>
              <a:t>document collection is static</a:t>
            </a:r>
            <a:r>
              <a:rPr lang="en-US"/>
              <a:t>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📚 </a:t>
            </a:r>
            <a:r>
              <a:rPr b="1" lang="en-US"/>
              <a:t>Digital libraries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🗃</a:t>
            </a:r>
            <a:r>
              <a:rPr b="1" lang="en-US"/>
              <a:t>Archives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📝 </a:t>
            </a:r>
            <a:r>
              <a:rPr b="1" lang="en-US"/>
              <a:t>Offline text corpora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🔍 </a:t>
            </a:r>
            <a:r>
              <a:rPr b="1" lang="en-US"/>
              <a:t>Batch search applications</a:t>
            </a:r>
            <a:r>
              <a:rPr lang="en-US"/>
              <a:t> (no need for real-time updates)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u="sng"/>
              <a:t>What is a Dictionary in IR?</a:t>
            </a:r>
            <a:br>
              <a:rPr b="1" lang="en-US"/>
            </a:br>
            <a:endParaRPr/>
          </a:p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an inverted index, a </a:t>
            </a:r>
            <a:r>
              <a:rPr b="1" lang="en-US"/>
              <a:t>dictionary</a:t>
            </a:r>
            <a:r>
              <a:rPr lang="en-US"/>
              <a:t> (also called a </a:t>
            </a:r>
            <a:r>
              <a:rPr b="1" lang="en-US"/>
              <a:t>lexicon</a:t>
            </a:r>
            <a:r>
              <a:rPr lang="en-US"/>
              <a:t>) is a data structure that stores: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 </a:t>
            </a:r>
            <a:r>
              <a:rPr b="1" lang="en-US"/>
              <a:t>unique terms</a:t>
            </a:r>
            <a:r>
              <a:rPr lang="en-US"/>
              <a:t> in the document collection.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each term, a </a:t>
            </a:r>
            <a:r>
              <a:rPr b="1" lang="en-US"/>
              <a:t>pointer to its postings list</a:t>
            </a:r>
            <a:r>
              <a:rPr lang="en-US"/>
              <a:t>, which tells where the term appears.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way this dictionary is </a:t>
            </a:r>
            <a:r>
              <a:rPr b="1" lang="en-US"/>
              <a:t>structured and accessed</a:t>
            </a:r>
            <a:r>
              <a:rPr lang="en-US"/>
              <a:t> plays a big role in search </a:t>
            </a:r>
            <a:r>
              <a:rPr b="1" lang="en-US"/>
              <a:t>efficiency</a:t>
            </a:r>
            <a:r>
              <a:rPr lang="en-US"/>
              <a:t> and </a:t>
            </a:r>
            <a:r>
              <a:rPr b="1" lang="en-US"/>
              <a:t>indexing speed</a:t>
            </a:r>
            <a:r>
              <a:rPr lang="en-US"/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100446" y="7417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Types of Dictionaries</a:t>
            </a:r>
            <a:endParaRPr b="1"/>
          </a:p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100446" y="1119042"/>
            <a:ext cx="10515600" cy="5738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Sort-Based Dictionary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Stores terms in </a:t>
            </a:r>
            <a:r>
              <a:rPr b="1" lang="en-US"/>
              <a:t>sorted order</a:t>
            </a:r>
            <a:r>
              <a:rPr lang="en-US"/>
              <a:t>, usually </a:t>
            </a:r>
            <a:r>
              <a:rPr b="1" lang="en-US"/>
              <a:t>alphabetically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Makes </a:t>
            </a:r>
            <a:r>
              <a:rPr b="1" lang="en-US"/>
              <a:t>binary search</a:t>
            </a:r>
            <a:r>
              <a:rPr lang="en-US"/>
              <a:t> possible when looking up terms.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Helps in </a:t>
            </a:r>
            <a:r>
              <a:rPr b="1" lang="en-US"/>
              <a:t>merge-based indexing</a:t>
            </a:r>
            <a:r>
              <a:rPr lang="en-US"/>
              <a:t> and </a:t>
            </a:r>
            <a:r>
              <a:rPr b="1" lang="en-US"/>
              <a:t>compression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  ["AI", "data", "fun", "is", "science"]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Advantages: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Easy to traverse (e.g., for auto-completion).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Fast for operations like </a:t>
            </a:r>
            <a:r>
              <a:rPr b="1" lang="en-US"/>
              <a:t>prefix searching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Disadvantages: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Searching takes </a:t>
            </a:r>
            <a:r>
              <a:rPr b="1" lang="en-US"/>
              <a:t>O(log n)</a:t>
            </a:r>
            <a:r>
              <a:rPr lang="en-US"/>
              <a:t> time due to binary search.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Slower than hash-based lookup for single-term access.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838200" y="365126"/>
            <a:ext cx="10515600" cy="662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Hash-Based Dictionary</a:t>
            </a:r>
            <a:br>
              <a:rPr b="1" lang="en-US"/>
            </a:br>
            <a:endParaRPr/>
          </a:p>
        </p:txBody>
      </p:sp>
      <p:sp>
        <p:nvSpPr>
          <p:cNvPr id="204" name="Google Shape;204;p35"/>
          <p:cNvSpPr txBox="1"/>
          <p:nvPr>
            <p:ph idx="1" type="body"/>
          </p:nvPr>
        </p:nvSpPr>
        <p:spPr>
          <a:xfrm>
            <a:off x="609600" y="1027905"/>
            <a:ext cx="10515600" cy="5611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Uses a </a:t>
            </a:r>
            <a:r>
              <a:rPr b="1" lang="en-US"/>
              <a:t>hash table</a:t>
            </a:r>
            <a:r>
              <a:rPr lang="en-US"/>
              <a:t> to map each term to its postings list.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Offers </a:t>
            </a:r>
            <a:r>
              <a:rPr b="1" lang="en-US"/>
              <a:t>constant time lookup</a:t>
            </a:r>
            <a:r>
              <a:rPr lang="en-US"/>
              <a:t> on average: </a:t>
            </a:r>
            <a:r>
              <a:rPr b="1" lang="en-US"/>
              <a:t>O(1)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(Hash table):</a:t>
            </a:r>
            <a:endParaRPr/>
          </a:p>
        </p:txBody>
      </p:sp>
      <p:graphicFrame>
        <p:nvGraphicFramePr>
          <p:cNvPr id="205" name="Google Shape;205;p35"/>
          <p:cNvGraphicFramePr/>
          <p:nvPr/>
        </p:nvGraphicFramePr>
        <p:xfrm>
          <a:off x="723900" y="26549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{A4775918-0794-4AEC-B7DA-F7F3B52213E0}</a:tableStyleId>
              </a:tblPr>
              <a:tblGrid>
                <a:gridCol w="3028375"/>
                <a:gridCol w="3028375"/>
                <a:gridCol w="302837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Hash(Term)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Term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Pointer to Postings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1234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"data"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→ [D1, D3]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4567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"science"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→ [D1, D2]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6" name="Google Shape;206;p35"/>
          <p:cNvSpPr/>
          <p:nvPr/>
        </p:nvSpPr>
        <p:spPr>
          <a:xfrm>
            <a:off x="838200" y="4028788"/>
            <a:ext cx="6096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 fast for single-term search.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 memory usage if implemented well.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5"/>
          <p:cNvSpPr/>
          <p:nvPr/>
        </p:nvSpPr>
        <p:spPr>
          <a:xfrm>
            <a:off x="838200" y="5256890"/>
            <a:ext cx="6096000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Disadvantages: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natural order of terms → not ideal for range or prefix queries.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Rehashing needed when table grows.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0" y="0"/>
            <a:ext cx="105156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Interleaved Dictionary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Combines </a:t>
            </a:r>
            <a:r>
              <a:rPr b="1" lang="en-US"/>
              <a:t>term strings and pointers</a:t>
            </a:r>
            <a:r>
              <a:rPr lang="en-US"/>
              <a:t> in a </a:t>
            </a:r>
            <a:r>
              <a:rPr b="1" lang="en-US"/>
              <a:t>compact structure</a:t>
            </a:r>
            <a:r>
              <a:rPr lang="en-US"/>
              <a:t>, like a flat file or compressed block.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Improves </a:t>
            </a:r>
            <a:r>
              <a:rPr b="1" lang="en-US"/>
              <a:t>cache efficiency</a:t>
            </a:r>
            <a:r>
              <a:rPr lang="en-US"/>
              <a:t> and </a:t>
            </a:r>
            <a:r>
              <a:rPr b="1" lang="en-US"/>
              <a:t>storage locality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 (Simplified View):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"data" | → pointer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"fun"  | → pointer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"science" | → pointer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Advantages: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Very compact.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Faster disk access due to better locality.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Disadvantages: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More complex to update or search.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Typically used in </a:t>
            </a:r>
            <a:r>
              <a:rPr b="1" lang="en-US"/>
              <a:t>static indexes</a:t>
            </a:r>
            <a:r>
              <a:rPr lang="en-US"/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>
            <p:ph type="title"/>
          </p:nvPr>
        </p:nvSpPr>
        <p:spPr>
          <a:xfrm>
            <a:off x="193964" y="302779"/>
            <a:ext cx="10515600" cy="2271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US"/>
            </a:br>
            <a:r>
              <a:rPr b="1" lang="en-US"/>
              <a:t>Posting Lists (as part of Dictionary)</a:t>
            </a:r>
            <a:br>
              <a:rPr b="1" lang="en-US"/>
            </a:br>
            <a:endParaRPr b="1"/>
          </a:p>
        </p:txBody>
      </p:sp>
      <p:sp>
        <p:nvSpPr>
          <p:cNvPr id="218" name="Google Shape;218;p37"/>
          <p:cNvSpPr txBox="1"/>
          <p:nvPr>
            <p:ph idx="1" type="body"/>
          </p:nvPr>
        </p:nvSpPr>
        <p:spPr>
          <a:xfrm>
            <a:off x="193964" y="769648"/>
            <a:ext cx="10515600" cy="58220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While technically not part of the dictionary itself, </a:t>
            </a:r>
            <a:r>
              <a:rPr b="1" lang="en-US"/>
              <a:t>postings lists</a:t>
            </a:r>
            <a:r>
              <a:rPr lang="en-US"/>
              <a:t> are what the dictionary </a:t>
            </a:r>
            <a:r>
              <a:rPr b="1" lang="en-US"/>
              <a:t>points to</a:t>
            </a:r>
            <a:r>
              <a:rPr lang="en-US"/>
              <a:t>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They contain: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Document IDs</a:t>
            </a:r>
            <a:r>
              <a:rPr lang="en-US"/>
              <a:t> where the term appears.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Term frequency (TF)</a:t>
            </a:r>
            <a:r>
              <a:rPr lang="en-US"/>
              <a:t> in each document.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Positions</a:t>
            </a:r>
            <a:r>
              <a:rPr lang="en-US"/>
              <a:t> of the term (for phrase queries or proximity search).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 for term “science”: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Postings List: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{ D1: TF=1,Pos=[2]; D2: TF=1,Pos=[1]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Advantages: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Foundation for ranked retrieval.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Stores all necessary info for scoring and phrase search.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