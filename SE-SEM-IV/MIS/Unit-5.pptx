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93"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94" r:id="rId21"/>
    <p:sldId id="295" r:id="rId22"/>
    <p:sldId id="296" r:id="rId23"/>
    <p:sldId id="297" r:id="rId24"/>
    <p:sldId id="298" r:id="rId25"/>
    <p:sldId id="299" r:id="rId26"/>
    <p:sldId id="300" r:id="rId27"/>
    <p:sldId id="301" r:id="rId28"/>
    <p:sldId id="302" r:id="rId29"/>
    <p:sldId id="303" r:id="rId30"/>
    <p:sldId id="304" r:id="rId31"/>
    <p:sldId id="305" r:id="rId32"/>
    <p:sldId id="306" r:id="rId33"/>
    <p:sldId id="307" r:id="rId34"/>
    <p:sldId id="309" r:id="rId35"/>
    <p:sldId id="308" r:id="rId36"/>
    <p:sldId id="310" r:id="rId37"/>
    <p:sldId id="274" r:id="rId38"/>
    <p:sldId id="275" r:id="rId39"/>
    <p:sldId id="276" r:id="rId40"/>
    <p:sldId id="277" r:id="rId41"/>
    <p:sldId id="278" r:id="rId42"/>
    <p:sldId id="279" r:id="rId43"/>
    <p:sldId id="280" r:id="rId44"/>
    <p:sldId id="281" r:id="rId45"/>
    <p:sldId id="282" r:id="rId46"/>
    <p:sldId id="283" r:id="rId47"/>
    <p:sldId id="312" r:id="rId48"/>
    <p:sldId id="313" r:id="rId49"/>
    <p:sldId id="311" r:id="rId50"/>
    <p:sldId id="284" r:id="rId51"/>
    <p:sldId id="285" r:id="rId52"/>
    <p:sldId id="286" r:id="rId53"/>
    <p:sldId id="287" r:id="rId54"/>
    <p:sldId id="288" r:id="rId55"/>
    <p:sldId id="289" r:id="rId56"/>
    <p:sldId id="290" r:id="rId57"/>
    <p:sldId id="291" r:id="rId58"/>
    <p:sldId id="292" r:id="rId59"/>
    <p:sldId id="315" r:id="rId60"/>
    <p:sldId id="316" r:id="rId61"/>
    <p:sldId id="317" r:id="rId62"/>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4" d="100"/>
          <a:sy n="84" d="100"/>
        </p:scale>
        <p:origin x="786" y="7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400" b="0" i="0">
                <a:solidFill>
                  <a:schemeClr val="bg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1999" cy="6857999"/>
          </a:xfrm>
          <a:prstGeom prst="rect">
            <a:avLst/>
          </a:prstGeom>
        </p:spPr>
      </p:pic>
      <p:sp>
        <p:nvSpPr>
          <p:cNvPr id="2" name="Holder 2"/>
          <p:cNvSpPr>
            <a:spLocks noGrp="1"/>
          </p:cNvSpPr>
          <p:nvPr>
            <p:ph type="title"/>
          </p:nvPr>
        </p:nvSpPr>
        <p:spPr>
          <a:xfrm>
            <a:off x="1214438" y="789147"/>
            <a:ext cx="9763123" cy="1068070"/>
          </a:xfrm>
          <a:prstGeom prst="rect">
            <a:avLst/>
          </a:prstGeom>
        </p:spPr>
        <p:txBody>
          <a:bodyPr wrap="square" lIns="0" tIns="0" rIns="0" bIns="0">
            <a:spAutoFit/>
          </a:bodyPr>
          <a:lstStyle>
            <a:lvl1pPr>
              <a:defRPr sz="36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1239240" y="2148902"/>
            <a:ext cx="9713519" cy="4156710"/>
          </a:xfrm>
          <a:prstGeom prst="rect">
            <a:avLst/>
          </a:prstGeom>
        </p:spPr>
        <p:txBody>
          <a:bodyPr wrap="square" lIns="0" tIns="0" rIns="0" bIns="0">
            <a:spAutoFit/>
          </a:bodyPr>
          <a:lstStyle>
            <a:lvl1pPr>
              <a:defRPr sz="2400" b="0" i="0">
                <a:solidFill>
                  <a:schemeClr val="bg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4/12/2024</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www.businessgo.hsbc.com/en/article/8-applications-of-ecommerce-explore-new-opportunities-for-your-business"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49449" y="2717889"/>
            <a:ext cx="7381875" cy="756920"/>
          </a:xfrm>
          <a:prstGeom prst="rect">
            <a:avLst/>
          </a:prstGeom>
        </p:spPr>
        <p:txBody>
          <a:bodyPr vert="horz" wrap="square" lIns="0" tIns="12700" rIns="0" bIns="0" rtlCol="0">
            <a:spAutoFit/>
          </a:bodyPr>
          <a:lstStyle/>
          <a:p>
            <a:pPr marL="12700">
              <a:lnSpc>
                <a:spcPct val="100000"/>
              </a:lnSpc>
              <a:spcBef>
                <a:spcPts val="100"/>
              </a:spcBef>
            </a:pPr>
            <a:r>
              <a:rPr sz="4800" spc="-10" dirty="0"/>
              <a:t>BUSINESS</a:t>
            </a:r>
            <a:r>
              <a:rPr sz="4800" spc="-90" dirty="0"/>
              <a:t> </a:t>
            </a:r>
            <a:r>
              <a:rPr sz="4800" spc="-5" dirty="0"/>
              <a:t>APPLICATIONS</a:t>
            </a:r>
            <a:endParaRPr sz="4800"/>
          </a:p>
        </p:txBody>
      </p:sp>
      <p:sp>
        <p:nvSpPr>
          <p:cNvPr id="3" name="object 3"/>
          <p:cNvSpPr txBox="1"/>
          <p:nvPr/>
        </p:nvSpPr>
        <p:spPr>
          <a:xfrm>
            <a:off x="1949449" y="3352246"/>
            <a:ext cx="7061200" cy="2064385"/>
          </a:xfrm>
          <a:prstGeom prst="rect">
            <a:avLst/>
          </a:prstGeom>
        </p:spPr>
        <p:txBody>
          <a:bodyPr vert="horz" wrap="square" lIns="0" tIns="271145" rIns="0" bIns="0" rtlCol="0">
            <a:spAutoFit/>
          </a:bodyPr>
          <a:lstStyle/>
          <a:p>
            <a:pPr marL="12700">
              <a:lnSpc>
                <a:spcPct val="100000"/>
              </a:lnSpc>
              <a:spcBef>
                <a:spcPts val="2135"/>
              </a:spcBef>
            </a:pPr>
            <a:r>
              <a:rPr sz="3200" spc="-5" dirty="0">
                <a:solidFill>
                  <a:srgbClr val="7B96A3"/>
                </a:solidFill>
                <a:latin typeface="Times New Roman"/>
                <a:cs typeface="Times New Roman"/>
              </a:rPr>
              <a:t>UNIT</a:t>
            </a:r>
            <a:r>
              <a:rPr sz="3200" spc="-35" dirty="0">
                <a:solidFill>
                  <a:srgbClr val="7B96A3"/>
                </a:solidFill>
                <a:latin typeface="Times New Roman"/>
                <a:cs typeface="Times New Roman"/>
              </a:rPr>
              <a:t> </a:t>
            </a:r>
            <a:r>
              <a:rPr sz="3200" dirty="0">
                <a:solidFill>
                  <a:srgbClr val="7B96A3"/>
                </a:solidFill>
                <a:latin typeface="Times New Roman"/>
                <a:cs typeface="Times New Roman"/>
              </a:rPr>
              <a:t>–</a:t>
            </a:r>
            <a:r>
              <a:rPr sz="3200" spc="-30" dirty="0">
                <a:solidFill>
                  <a:srgbClr val="7B96A3"/>
                </a:solidFill>
                <a:latin typeface="Times New Roman"/>
                <a:cs typeface="Times New Roman"/>
              </a:rPr>
              <a:t> </a:t>
            </a:r>
            <a:r>
              <a:rPr sz="3200" dirty="0">
                <a:solidFill>
                  <a:srgbClr val="7B96A3"/>
                </a:solidFill>
                <a:latin typeface="Times New Roman"/>
                <a:cs typeface="Times New Roman"/>
              </a:rPr>
              <a:t>V</a:t>
            </a:r>
            <a:endParaRPr sz="3200">
              <a:latin typeface="Times New Roman"/>
              <a:cs typeface="Times New Roman"/>
            </a:endParaRPr>
          </a:p>
          <a:p>
            <a:pPr marL="12700" marR="5080">
              <a:lnSpc>
                <a:spcPct val="149800"/>
              </a:lnSpc>
              <a:spcBef>
                <a:spcPts val="115"/>
              </a:spcBef>
            </a:pPr>
            <a:r>
              <a:rPr sz="2800" dirty="0">
                <a:solidFill>
                  <a:srgbClr val="FFFFFF"/>
                </a:solidFill>
                <a:latin typeface="Times New Roman"/>
                <a:cs typeface="Times New Roman"/>
              </a:rPr>
              <a:t>INTRODUCTION</a:t>
            </a:r>
            <a:r>
              <a:rPr sz="2800" spc="-30" dirty="0">
                <a:solidFill>
                  <a:srgbClr val="FFFFFF"/>
                </a:solidFill>
                <a:latin typeface="Times New Roman"/>
                <a:cs typeface="Times New Roman"/>
              </a:rPr>
              <a:t> </a:t>
            </a:r>
            <a:r>
              <a:rPr sz="2800" spc="-5" dirty="0">
                <a:solidFill>
                  <a:srgbClr val="FFFFFF"/>
                </a:solidFill>
                <a:latin typeface="Times New Roman"/>
                <a:cs typeface="Times New Roman"/>
              </a:rPr>
              <a:t>TO</a:t>
            </a:r>
            <a:r>
              <a:rPr sz="2800" spc="-35" dirty="0">
                <a:solidFill>
                  <a:srgbClr val="FFFFFF"/>
                </a:solidFill>
                <a:latin typeface="Times New Roman"/>
                <a:cs typeface="Times New Roman"/>
              </a:rPr>
              <a:t> </a:t>
            </a:r>
            <a:r>
              <a:rPr sz="2800" spc="-5" dirty="0">
                <a:solidFill>
                  <a:srgbClr val="FFFFFF"/>
                </a:solidFill>
                <a:latin typeface="Times New Roman"/>
                <a:cs typeface="Times New Roman"/>
              </a:rPr>
              <a:t>E-BUSINESS</a:t>
            </a:r>
            <a:r>
              <a:rPr sz="2800" spc="-35" dirty="0">
                <a:solidFill>
                  <a:srgbClr val="FFFFFF"/>
                </a:solidFill>
                <a:latin typeface="Times New Roman"/>
                <a:cs typeface="Times New Roman"/>
              </a:rPr>
              <a:t> </a:t>
            </a:r>
            <a:r>
              <a:rPr sz="2800" spc="-5" dirty="0">
                <a:solidFill>
                  <a:srgbClr val="FFFFFF"/>
                </a:solidFill>
                <a:latin typeface="Times New Roman"/>
                <a:cs typeface="Times New Roman"/>
              </a:rPr>
              <a:t>SYSTEMS </a:t>
            </a:r>
            <a:r>
              <a:rPr sz="2800" spc="-685" dirty="0">
                <a:solidFill>
                  <a:srgbClr val="FFFFFF"/>
                </a:solidFill>
                <a:latin typeface="Times New Roman"/>
                <a:cs typeface="Times New Roman"/>
              </a:rPr>
              <a:t> </a:t>
            </a:r>
            <a:r>
              <a:rPr sz="2800" spc="-5" dirty="0">
                <a:solidFill>
                  <a:srgbClr val="FFFFFF"/>
                </a:solidFill>
                <a:latin typeface="Times New Roman"/>
                <a:cs typeface="Times New Roman"/>
              </a:rPr>
              <a:t>DECISION</a:t>
            </a:r>
            <a:r>
              <a:rPr sz="2800" spc="-10" dirty="0">
                <a:solidFill>
                  <a:srgbClr val="FFFFFF"/>
                </a:solidFill>
                <a:latin typeface="Times New Roman"/>
                <a:cs typeface="Times New Roman"/>
              </a:rPr>
              <a:t> </a:t>
            </a:r>
            <a:r>
              <a:rPr sz="2800" spc="-5" dirty="0">
                <a:solidFill>
                  <a:srgbClr val="FFFFFF"/>
                </a:solidFill>
                <a:latin typeface="Times New Roman"/>
                <a:cs typeface="Times New Roman"/>
              </a:rPr>
              <a:t>SUPPORT</a:t>
            </a:r>
            <a:r>
              <a:rPr sz="2800" spc="-10" dirty="0">
                <a:solidFill>
                  <a:srgbClr val="FFFFFF"/>
                </a:solidFill>
                <a:latin typeface="Times New Roman"/>
                <a:cs typeface="Times New Roman"/>
              </a:rPr>
              <a:t> </a:t>
            </a:r>
            <a:r>
              <a:rPr sz="2800" spc="-5" dirty="0">
                <a:solidFill>
                  <a:srgbClr val="FFFFFF"/>
                </a:solidFill>
                <a:latin typeface="Times New Roman"/>
                <a:cs typeface="Times New Roman"/>
              </a:rPr>
              <a:t>SYSTEMS</a:t>
            </a:r>
            <a:endParaRPr sz="280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19BBA-5CC7-010D-1D7B-5A6D09D811D7}"/>
              </a:ext>
            </a:extLst>
          </p:cNvPr>
          <p:cNvSpPr>
            <a:spLocks noGrp="1"/>
          </p:cNvSpPr>
          <p:nvPr>
            <p:ph type="title"/>
          </p:nvPr>
        </p:nvSpPr>
        <p:spPr>
          <a:xfrm>
            <a:off x="1214438" y="789147"/>
            <a:ext cx="9763123" cy="553998"/>
          </a:xfrm>
        </p:spPr>
        <p:txBody>
          <a:bodyPr/>
          <a:lstStyle/>
          <a:p>
            <a:r>
              <a:rPr lang="en-IN" dirty="0"/>
              <a:t>Introduction to e-business systems</a:t>
            </a:r>
          </a:p>
        </p:txBody>
      </p:sp>
      <p:sp>
        <p:nvSpPr>
          <p:cNvPr id="3" name="Text Placeholder 2">
            <a:extLst>
              <a:ext uri="{FF2B5EF4-FFF2-40B4-BE49-F238E27FC236}">
                <a16:creationId xmlns:a16="http://schemas.microsoft.com/office/drawing/2014/main" id="{99A84E47-8DF7-5F5C-E427-35E069FEA9AA}"/>
              </a:ext>
            </a:extLst>
          </p:cNvPr>
          <p:cNvSpPr>
            <a:spLocks noGrp="1"/>
          </p:cNvSpPr>
          <p:nvPr>
            <p:ph type="body" idx="1"/>
          </p:nvPr>
        </p:nvSpPr>
        <p:spPr>
          <a:xfrm>
            <a:off x="1239240" y="2148902"/>
            <a:ext cx="9713519" cy="2954655"/>
          </a:xfrm>
        </p:spPr>
        <p:txBody>
          <a:bodyPr/>
          <a:lstStyle/>
          <a:p>
            <a:pPr marL="342900" indent="-342900">
              <a:buFont typeface="Arial" panose="020B0604020202020204" pitchFamily="34" charset="0"/>
              <a:buChar char="•"/>
            </a:pPr>
            <a:r>
              <a:rPr lang="en-US" dirty="0"/>
              <a:t>E-business, commonly known as electronic or online business is a business where an online transaction takes place.</a:t>
            </a:r>
          </a:p>
          <a:p>
            <a:pPr marL="342900" indent="-342900">
              <a:buFont typeface="Arial" panose="020B0604020202020204" pitchFamily="34" charset="0"/>
              <a:buChar char="•"/>
            </a:pPr>
            <a:r>
              <a:rPr lang="en-US" dirty="0"/>
              <a:t>In this transaction process, the buyer and the seller do not engage personally, but the sale happens through the internet.</a:t>
            </a:r>
          </a:p>
          <a:p>
            <a:pPr marL="342900" indent="-342900">
              <a:buFont typeface="Arial" panose="020B0604020202020204" pitchFamily="34" charset="0"/>
              <a:buChar char="•"/>
            </a:pPr>
            <a:r>
              <a:rPr lang="en-US" dirty="0"/>
              <a:t>Its purpose is to facilitate and streamline business processes.</a:t>
            </a:r>
          </a:p>
          <a:p>
            <a:pPr marL="342900" indent="-342900">
              <a:buFont typeface="Arial" panose="020B0604020202020204" pitchFamily="34" charset="0"/>
              <a:buChar char="•"/>
            </a:pPr>
            <a:r>
              <a:rPr lang="en-US" dirty="0"/>
              <a:t>In addition, it aims to leverage technology to increase efficiency, expand market reach, and enhance the customer experience in the digital age.</a:t>
            </a:r>
          </a:p>
          <a:p>
            <a:endParaRPr lang="en-IN" dirty="0"/>
          </a:p>
        </p:txBody>
      </p:sp>
    </p:spTree>
    <p:extLst>
      <p:ext uri="{BB962C8B-B14F-4D97-AF65-F5344CB8AC3E}">
        <p14:creationId xmlns:p14="http://schemas.microsoft.com/office/powerpoint/2010/main" val="1221091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7383780" cy="574040"/>
          </a:xfrm>
          <a:prstGeom prst="rect">
            <a:avLst/>
          </a:prstGeom>
        </p:spPr>
        <p:txBody>
          <a:bodyPr vert="horz" wrap="square" lIns="0" tIns="12700" rIns="0" bIns="0" rtlCol="0">
            <a:spAutoFit/>
          </a:bodyPr>
          <a:lstStyle/>
          <a:p>
            <a:pPr marL="12700">
              <a:lnSpc>
                <a:spcPct val="100000"/>
              </a:lnSpc>
              <a:spcBef>
                <a:spcPts val="100"/>
              </a:spcBef>
            </a:pPr>
            <a:r>
              <a:rPr spc="-5" dirty="0"/>
              <a:t>FUNCTIONAL</a:t>
            </a:r>
            <a:r>
              <a:rPr spc="-45" dirty="0"/>
              <a:t> </a:t>
            </a:r>
            <a:r>
              <a:rPr spc="-10" dirty="0"/>
              <a:t>BUSINESS</a:t>
            </a:r>
            <a:r>
              <a:rPr spc="-50" dirty="0"/>
              <a:t> </a:t>
            </a:r>
            <a:r>
              <a:rPr spc="-5" dirty="0"/>
              <a:t>SYSTEMS</a:t>
            </a:r>
          </a:p>
        </p:txBody>
      </p:sp>
      <p:sp>
        <p:nvSpPr>
          <p:cNvPr id="3" name="object 3"/>
          <p:cNvSpPr txBox="1"/>
          <p:nvPr/>
        </p:nvSpPr>
        <p:spPr>
          <a:xfrm>
            <a:off x="1271549" y="2108939"/>
            <a:ext cx="9692640" cy="3414395"/>
          </a:xfrm>
          <a:prstGeom prst="rect">
            <a:avLst/>
          </a:prstGeom>
        </p:spPr>
        <p:txBody>
          <a:bodyPr vert="horz" wrap="square" lIns="0" tIns="160655" rIns="0" bIns="0" rtlCol="0">
            <a:spAutoFit/>
          </a:bodyPr>
          <a:lstStyle/>
          <a:p>
            <a:pPr marL="184150" indent="-162560" algn="just">
              <a:lnSpc>
                <a:spcPct val="100000"/>
              </a:lnSpc>
              <a:spcBef>
                <a:spcPts val="1265"/>
              </a:spcBef>
              <a:buSzPct val="121428"/>
              <a:buFont typeface="Arial"/>
              <a:buChar char="•"/>
              <a:tabLst>
                <a:tab pos="184785" algn="l"/>
              </a:tabLst>
            </a:pPr>
            <a:r>
              <a:rPr sz="2800" b="1" spc="-5" dirty="0">
                <a:solidFill>
                  <a:srgbClr val="FFFFFF"/>
                </a:solidFill>
                <a:latin typeface="Times New Roman"/>
                <a:cs typeface="Times New Roman"/>
              </a:rPr>
              <a:t>Functional</a:t>
            </a:r>
            <a:r>
              <a:rPr sz="2800" b="1" spc="-25" dirty="0">
                <a:solidFill>
                  <a:srgbClr val="FFFFFF"/>
                </a:solidFill>
                <a:latin typeface="Times New Roman"/>
                <a:cs typeface="Times New Roman"/>
              </a:rPr>
              <a:t> </a:t>
            </a:r>
            <a:r>
              <a:rPr sz="2800" b="1" spc="-5" dirty="0">
                <a:solidFill>
                  <a:srgbClr val="FFFFFF"/>
                </a:solidFill>
                <a:latin typeface="Times New Roman"/>
                <a:cs typeface="Times New Roman"/>
              </a:rPr>
              <a:t>Areas</a:t>
            </a:r>
            <a:r>
              <a:rPr sz="2800" b="1" spc="-20" dirty="0">
                <a:solidFill>
                  <a:srgbClr val="FFFFFF"/>
                </a:solidFill>
                <a:latin typeface="Times New Roman"/>
                <a:cs typeface="Times New Roman"/>
              </a:rPr>
              <a:t> </a:t>
            </a:r>
            <a:r>
              <a:rPr sz="2800" b="1" spc="-5" dirty="0">
                <a:solidFill>
                  <a:srgbClr val="FFFFFF"/>
                </a:solidFill>
                <a:latin typeface="Times New Roman"/>
                <a:cs typeface="Times New Roman"/>
              </a:rPr>
              <a:t>in</a:t>
            </a:r>
            <a:r>
              <a:rPr sz="2800" b="1" spc="-20" dirty="0">
                <a:solidFill>
                  <a:srgbClr val="FFFFFF"/>
                </a:solidFill>
                <a:latin typeface="Times New Roman"/>
                <a:cs typeface="Times New Roman"/>
              </a:rPr>
              <a:t> </a:t>
            </a:r>
            <a:r>
              <a:rPr sz="2800" b="1" dirty="0">
                <a:solidFill>
                  <a:srgbClr val="FFFFFF"/>
                </a:solidFill>
                <a:latin typeface="Times New Roman"/>
                <a:cs typeface="Times New Roman"/>
              </a:rPr>
              <a:t>an</a:t>
            </a:r>
            <a:r>
              <a:rPr sz="2800" b="1" spc="-15" dirty="0">
                <a:solidFill>
                  <a:srgbClr val="FFFFFF"/>
                </a:solidFill>
                <a:latin typeface="Times New Roman"/>
                <a:cs typeface="Times New Roman"/>
              </a:rPr>
              <a:t> </a:t>
            </a:r>
            <a:r>
              <a:rPr sz="2800" b="1" spc="-5" dirty="0">
                <a:solidFill>
                  <a:srgbClr val="FFFFFF"/>
                </a:solidFill>
                <a:latin typeface="Times New Roman"/>
                <a:cs typeface="Times New Roman"/>
              </a:rPr>
              <a:t>Organization</a:t>
            </a:r>
            <a:endParaRPr sz="2800" dirty="0">
              <a:latin typeface="Times New Roman"/>
              <a:cs typeface="Times New Roman"/>
            </a:endParaRPr>
          </a:p>
          <a:p>
            <a:pPr marL="184150" marR="5080" indent="-172085" algn="just">
              <a:lnSpc>
                <a:spcPct val="120300"/>
              </a:lnSpc>
              <a:spcBef>
                <a:spcPts val="1130"/>
              </a:spcBef>
              <a:buSzPct val="125000"/>
              <a:buFont typeface="Arial MT"/>
              <a:buChar char="•"/>
              <a:tabLst>
                <a:tab pos="184785" algn="l"/>
              </a:tabLst>
            </a:pPr>
            <a:r>
              <a:rPr sz="2400" dirty="0">
                <a:solidFill>
                  <a:srgbClr val="FFFFFF"/>
                </a:solidFill>
                <a:latin typeface="Times New Roman"/>
                <a:cs typeface="Times New Roman"/>
              </a:rPr>
              <a:t>Information </a:t>
            </a:r>
            <a:r>
              <a:rPr sz="2400" spc="-5" dirty="0">
                <a:solidFill>
                  <a:srgbClr val="FFFFFF"/>
                </a:solidFill>
                <a:latin typeface="Times New Roman"/>
                <a:cs typeface="Times New Roman"/>
              </a:rPr>
              <a:t>systems can </a:t>
            </a:r>
            <a:r>
              <a:rPr sz="2400" dirty="0">
                <a:solidFill>
                  <a:srgbClr val="FFFFFF"/>
                </a:solidFill>
                <a:latin typeface="Times New Roman"/>
                <a:cs typeface="Times New Roman"/>
              </a:rPr>
              <a:t>be designed </a:t>
            </a:r>
            <a:r>
              <a:rPr sz="2400" spc="-5" dirty="0">
                <a:solidFill>
                  <a:srgbClr val="FFFFFF"/>
                </a:solidFill>
                <a:latin typeface="Times New Roman"/>
                <a:cs typeface="Times New Roman"/>
              </a:rPr>
              <a:t>to support the </a:t>
            </a:r>
            <a:r>
              <a:rPr sz="2400" dirty="0">
                <a:solidFill>
                  <a:srgbClr val="FFFFFF"/>
                </a:solidFill>
                <a:latin typeface="Times New Roman"/>
                <a:cs typeface="Times New Roman"/>
              </a:rPr>
              <a:t>functional </a:t>
            </a:r>
            <a:r>
              <a:rPr sz="2400" spc="-5" dirty="0">
                <a:solidFill>
                  <a:srgbClr val="FFFFFF"/>
                </a:solidFill>
                <a:latin typeface="Times New Roman"/>
                <a:cs typeface="Times New Roman"/>
              </a:rPr>
              <a:t>areas such as, </a:t>
            </a:r>
            <a:r>
              <a:rPr sz="2400" dirty="0">
                <a:solidFill>
                  <a:srgbClr val="FFFFFF"/>
                </a:solidFill>
                <a:latin typeface="Times New Roman"/>
                <a:cs typeface="Times New Roman"/>
              </a:rPr>
              <a:t> </a:t>
            </a:r>
            <a:r>
              <a:rPr sz="2400" spc="-5" dirty="0">
                <a:solidFill>
                  <a:srgbClr val="FFFFFF"/>
                </a:solidFill>
                <a:latin typeface="Times New Roman"/>
                <a:cs typeface="Times New Roman"/>
              </a:rPr>
              <a:t>accounting</a:t>
            </a:r>
            <a:r>
              <a:rPr sz="2400" dirty="0">
                <a:solidFill>
                  <a:srgbClr val="FFFFFF"/>
                </a:solidFill>
                <a:latin typeface="Times New Roman"/>
                <a:cs typeface="Times New Roman"/>
              </a:rPr>
              <a:t> </a:t>
            </a:r>
            <a:r>
              <a:rPr sz="2400" spc="-5" dirty="0">
                <a:solidFill>
                  <a:srgbClr val="FFFFFF"/>
                </a:solidFill>
                <a:latin typeface="Times New Roman"/>
                <a:cs typeface="Times New Roman"/>
              </a:rPr>
              <a:t>and</a:t>
            </a:r>
            <a:r>
              <a:rPr sz="2400" dirty="0">
                <a:solidFill>
                  <a:srgbClr val="FFFFFF"/>
                </a:solidFill>
                <a:latin typeface="Times New Roman"/>
                <a:cs typeface="Times New Roman"/>
              </a:rPr>
              <a:t> finance,</a:t>
            </a:r>
            <a:r>
              <a:rPr sz="2400" spc="5" dirty="0">
                <a:solidFill>
                  <a:srgbClr val="FFFFFF"/>
                </a:solidFill>
                <a:latin typeface="Times New Roman"/>
                <a:cs typeface="Times New Roman"/>
              </a:rPr>
              <a:t> </a:t>
            </a:r>
            <a:r>
              <a:rPr sz="2400" spc="-5" dirty="0">
                <a:solidFill>
                  <a:srgbClr val="FFFFFF"/>
                </a:solidFill>
                <a:latin typeface="Times New Roman"/>
                <a:cs typeface="Times New Roman"/>
              </a:rPr>
              <a:t>sales</a:t>
            </a:r>
            <a:r>
              <a:rPr sz="2400" dirty="0">
                <a:solidFill>
                  <a:srgbClr val="FFFFFF"/>
                </a:solidFill>
                <a:latin typeface="Times New Roman"/>
                <a:cs typeface="Times New Roman"/>
              </a:rPr>
              <a:t> </a:t>
            </a:r>
            <a:r>
              <a:rPr sz="2400" spc="-5" dirty="0">
                <a:solidFill>
                  <a:srgbClr val="FFFFFF"/>
                </a:solidFill>
                <a:latin typeface="Times New Roman"/>
                <a:cs typeface="Times New Roman"/>
              </a:rPr>
              <a:t>and</a:t>
            </a:r>
            <a:r>
              <a:rPr sz="2400" dirty="0">
                <a:solidFill>
                  <a:srgbClr val="FFFFFF"/>
                </a:solidFill>
                <a:latin typeface="Times New Roman"/>
                <a:cs typeface="Times New Roman"/>
              </a:rPr>
              <a:t> </a:t>
            </a:r>
            <a:r>
              <a:rPr sz="2400" spc="-5" dirty="0">
                <a:solidFill>
                  <a:srgbClr val="FFFFFF"/>
                </a:solidFill>
                <a:latin typeface="Times New Roman"/>
                <a:cs typeface="Times New Roman"/>
              </a:rPr>
              <a:t>marketing,</a:t>
            </a:r>
            <a:r>
              <a:rPr sz="2400" dirty="0">
                <a:solidFill>
                  <a:srgbClr val="FFFFFF"/>
                </a:solidFill>
                <a:latin typeface="Times New Roman"/>
                <a:cs typeface="Times New Roman"/>
              </a:rPr>
              <a:t> human</a:t>
            </a:r>
            <a:r>
              <a:rPr sz="2400" spc="5" dirty="0">
                <a:solidFill>
                  <a:srgbClr val="FFFFFF"/>
                </a:solidFill>
                <a:latin typeface="Times New Roman"/>
                <a:cs typeface="Times New Roman"/>
              </a:rPr>
              <a:t> </a:t>
            </a:r>
            <a:r>
              <a:rPr sz="2400" dirty="0">
                <a:solidFill>
                  <a:srgbClr val="FFFFFF"/>
                </a:solidFill>
                <a:latin typeface="Times New Roman"/>
                <a:cs typeface="Times New Roman"/>
              </a:rPr>
              <a:t>resources, </a:t>
            </a:r>
            <a:r>
              <a:rPr sz="2400" spc="5" dirty="0">
                <a:solidFill>
                  <a:srgbClr val="FFFFFF"/>
                </a:solidFill>
                <a:latin typeface="Times New Roman"/>
                <a:cs typeface="Times New Roman"/>
              </a:rPr>
              <a:t> </a:t>
            </a:r>
            <a:r>
              <a:rPr sz="2400" spc="-5" dirty="0">
                <a:solidFill>
                  <a:srgbClr val="FFFFFF"/>
                </a:solidFill>
                <a:latin typeface="Times New Roman"/>
                <a:cs typeface="Times New Roman"/>
              </a:rPr>
              <a:t>manufacturing,</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inventory</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management,</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and</a:t>
            </a:r>
            <a:r>
              <a:rPr sz="2400" spc="-10" dirty="0">
                <a:solidFill>
                  <a:srgbClr val="FFFFFF"/>
                </a:solidFill>
                <a:latin typeface="Times New Roman"/>
                <a:cs typeface="Times New Roman"/>
              </a:rPr>
              <a:t> </a:t>
            </a:r>
            <a:r>
              <a:rPr sz="2400" dirty="0">
                <a:solidFill>
                  <a:srgbClr val="FFFFFF"/>
                </a:solidFill>
                <a:latin typeface="Times New Roman"/>
                <a:cs typeface="Times New Roman"/>
              </a:rPr>
              <a:t>purchasing</a:t>
            </a:r>
            <a:r>
              <a:rPr sz="2400" spc="-5" dirty="0">
                <a:solidFill>
                  <a:srgbClr val="FFFFFF"/>
                </a:solidFill>
                <a:latin typeface="Times New Roman"/>
                <a:cs typeface="Times New Roman"/>
              </a:rPr>
              <a:t> </a:t>
            </a:r>
            <a:r>
              <a:rPr sz="2400" dirty="0">
                <a:solidFill>
                  <a:srgbClr val="FFFFFF"/>
                </a:solidFill>
                <a:latin typeface="Times New Roman"/>
                <a:cs typeface="Times New Roman"/>
              </a:rPr>
              <a:t>of</a:t>
            </a:r>
            <a:r>
              <a:rPr sz="2400" spc="-5" dirty="0">
                <a:solidFill>
                  <a:srgbClr val="FFFFFF"/>
                </a:solidFill>
                <a:latin typeface="Times New Roman"/>
                <a:cs typeface="Times New Roman"/>
              </a:rPr>
              <a:t> an</a:t>
            </a:r>
            <a:r>
              <a:rPr sz="2400" spc="-10" dirty="0">
                <a:solidFill>
                  <a:srgbClr val="FFFFFF"/>
                </a:solidFill>
                <a:latin typeface="Times New Roman"/>
                <a:cs typeface="Times New Roman"/>
              </a:rPr>
              <a:t> </a:t>
            </a:r>
            <a:r>
              <a:rPr sz="2400" dirty="0">
                <a:solidFill>
                  <a:srgbClr val="FFFFFF"/>
                </a:solidFill>
                <a:latin typeface="Times New Roman"/>
                <a:cs typeface="Times New Roman"/>
              </a:rPr>
              <a:t>organization</a:t>
            </a:r>
            <a:endParaRPr sz="2400" dirty="0">
              <a:latin typeface="Times New Roman"/>
              <a:cs typeface="Times New Roman"/>
            </a:endParaRPr>
          </a:p>
          <a:p>
            <a:pPr marL="184150" marR="12700" indent="-172085" algn="just">
              <a:lnSpc>
                <a:spcPct val="120700"/>
              </a:lnSpc>
              <a:spcBef>
                <a:spcPts val="805"/>
              </a:spcBef>
              <a:buSzPct val="125000"/>
              <a:buFont typeface="Arial MT"/>
              <a:buChar char="•"/>
              <a:tabLst>
                <a:tab pos="184785" algn="l"/>
              </a:tabLst>
            </a:pPr>
            <a:r>
              <a:rPr sz="2400" spc="-5" dirty="0">
                <a:solidFill>
                  <a:srgbClr val="FFFFFF"/>
                </a:solidFill>
                <a:latin typeface="Times New Roman"/>
                <a:cs typeface="Times New Roman"/>
              </a:rPr>
              <a:t>Such systems are classified as </a:t>
            </a:r>
            <a:r>
              <a:rPr sz="2400" dirty="0">
                <a:solidFill>
                  <a:srgbClr val="FFFFFF"/>
                </a:solidFill>
                <a:latin typeface="Times New Roman"/>
                <a:cs typeface="Times New Roman"/>
              </a:rPr>
              <a:t>‘functional </a:t>
            </a:r>
            <a:r>
              <a:rPr sz="2400" spc="-5" dirty="0">
                <a:solidFill>
                  <a:srgbClr val="FFFFFF"/>
                </a:solidFill>
                <a:latin typeface="Times New Roman"/>
                <a:cs typeface="Times New Roman"/>
              </a:rPr>
              <a:t>information systems’. Functional </a:t>
            </a:r>
            <a:r>
              <a:rPr sz="2400" dirty="0">
                <a:solidFill>
                  <a:srgbClr val="FFFFFF"/>
                </a:solidFill>
                <a:latin typeface="Times New Roman"/>
                <a:cs typeface="Times New Roman"/>
              </a:rPr>
              <a:t> </a:t>
            </a:r>
            <a:r>
              <a:rPr sz="2400" spc="-5" dirty="0">
                <a:solidFill>
                  <a:srgbClr val="FFFFFF"/>
                </a:solidFill>
                <a:latin typeface="Times New Roman"/>
                <a:cs typeface="Times New Roman"/>
              </a:rPr>
              <a:t>information</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systems</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typically </a:t>
            </a:r>
            <a:r>
              <a:rPr sz="2400" dirty="0">
                <a:solidFill>
                  <a:srgbClr val="FFFFFF"/>
                </a:solidFill>
                <a:latin typeface="Times New Roman"/>
                <a:cs typeface="Times New Roman"/>
              </a:rPr>
              <a:t>follow</a:t>
            </a:r>
            <a:r>
              <a:rPr sz="2400" spc="-5" dirty="0">
                <a:solidFill>
                  <a:srgbClr val="FFFFFF"/>
                </a:solidFill>
                <a:latin typeface="Times New Roman"/>
                <a:cs typeface="Times New Roman"/>
              </a:rPr>
              <a:t> the </a:t>
            </a:r>
            <a:r>
              <a:rPr sz="2400" dirty="0">
                <a:solidFill>
                  <a:srgbClr val="FFFFFF"/>
                </a:solidFill>
                <a:latin typeface="Times New Roman"/>
                <a:cs typeface="Times New Roman"/>
              </a:rPr>
              <a:t>organizational</a:t>
            </a:r>
            <a:r>
              <a:rPr sz="2400" spc="-5" dirty="0">
                <a:solidFill>
                  <a:srgbClr val="FFFFFF"/>
                </a:solidFill>
                <a:latin typeface="Times New Roman"/>
                <a:cs typeface="Times New Roman"/>
              </a:rPr>
              <a:t> structure</a:t>
            </a:r>
            <a:endParaRPr sz="2400" dirty="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8431530" cy="574040"/>
          </a:xfrm>
          <a:prstGeom prst="rect">
            <a:avLst/>
          </a:prstGeom>
        </p:spPr>
        <p:txBody>
          <a:bodyPr vert="horz" wrap="square" lIns="0" tIns="12700" rIns="0" bIns="0" rtlCol="0">
            <a:spAutoFit/>
          </a:bodyPr>
          <a:lstStyle/>
          <a:p>
            <a:pPr marL="12700">
              <a:lnSpc>
                <a:spcPct val="100000"/>
              </a:lnSpc>
              <a:spcBef>
                <a:spcPts val="100"/>
              </a:spcBef>
            </a:pPr>
            <a:r>
              <a:rPr spc="-5" dirty="0"/>
              <a:t>FUNCTIONAL</a:t>
            </a:r>
            <a:r>
              <a:rPr spc="-45" dirty="0"/>
              <a:t> </a:t>
            </a:r>
            <a:r>
              <a:rPr spc="-5" dirty="0"/>
              <a:t>INFORMATION</a:t>
            </a:r>
            <a:r>
              <a:rPr spc="-45" dirty="0"/>
              <a:t> </a:t>
            </a:r>
            <a:r>
              <a:rPr spc="-5" dirty="0"/>
              <a:t>SYSTEMS</a:t>
            </a:r>
          </a:p>
        </p:txBody>
      </p:sp>
      <p:sp>
        <p:nvSpPr>
          <p:cNvPr id="3" name="object 3"/>
          <p:cNvSpPr txBox="1"/>
          <p:nvPr/>
        </p:nvSpPr>
        <p:spPr>
          <a:xfrm>
            <a:off x="1271549" y="2148902"/>
            <a:ext cx="4088765" cy="3296285"/>
          </a:xfrm>
          <a:prstGeom prst="rect">
            <a:avLst/>
          </a:prstGeom>
        </p:spPr>
        <p:txBody>
          <a:bodyPr vert="horz" wrap="square" lIns="0" tIns="123189" rIns="0" bIns="0" rtlCol="0">
            <a:spAutoFit/>
          </a:bodyPr>
          <a:lstStyle/>
          <a:p>
            <a:pPr marL="184150" indent="-172085">
              <a:lnSpc>
                <a:spcPct val="100000"/>
              </a:lnSpc>
              <a:spcBef>
                <a:spcPts val="969"/>
              </a:spcBef>
              <a:buSzPct val="125000"/>
              <a:buFont typeface="Arial MT"/>
              <a:buChar char="•"/>
              <a:tabLst>
                <a:tab pos="184785" algn="l"/>
              </a:tabLst>
            </a:pPr>
            <a:r>
              <a:rPr sz="2400" spc="-5" dirty="0">
                <a:solidFill>
                  <a:srgbClr val="FFFFFF"/>
                </a:solidFill>
                <a:latin typeface="Times New Roman"/>
                <a:cs typeface="Times New Roman"/>
              </a:rPr>
              <a:t>Marketing</a:t>
            </a:r>
            <a:r>
              <a:rPr sz="2400" spc="-50" dirty="0">
                <a:solidFill>
                  <a:srgbClr val="FFFFFF"/>
                </a:solidFill>
                <a:latin typeface="Times New Roman"/>
                <a:cs typeface="Times New Roman"/>
              </a:rPr>
              <a:t> </a:t>
            </a:r>
            <a:r>
              <a:rPr sz="2400" spc="-5" dirty="0">
                <a:solidFill>
                  <a:srgbClr val="FFFFFF"/>
                </a:solidFill>
                <a:latin typeface="Times New Roman"/>
                <a:cs typeface="Times New Roman"/>
              </a:rPr>
              <a:t>Systems</a:t>
            </a:r>
            <a:endParaRPr sz="2400">
              <a:latin typeface="Times New Roman"/>
              <a:cs typeface="Times New Roman"/>
            </a:endParaRPr>
          </a:p>
          <a:p>
            <a:pPr marL="184150" indent="-172085">
              <a:lnSpc>
                <a:spcPct val="100000"/>
              </a:lnSpc>
              <a:spcBef>
                <a:spcPts val="1720"/>
              </a:spcBef>
              <a:buSzPct val="125000"/>
              <a:buFont typeface="Arial MT"/>
              <a:buChar char="•"/>
              <a:tabLst>
                <a:tab pos="184785" algn="l"/>
              </a:tabLst>
            </a:pPr>
            <a:r>
              <a:rPr sz="2400" spc="-5" dirty="0">
                <a:solidFill>
                  <a:srgbClr val="FFFFFF"/>
                </a:solidFill>
                <a:latin typeface="Times New Roman"/>
                <a:cs typeface="Times New Roman"/>
              </a:rPr>
              <a:t>Manufacturing</a:t>
            </a:r>
            <a:r>
              <a:rPr sz="2400" spc="-50" dirty="0">
                <a:solidFill>
                  <a:srgbClr val="FFFFFF"/>
                </a:solidFill>
                <a:latin typeface="Times New Roman"/>
                <a:cs typeface="Times New Roman"/>
              </a:rPr>
              <a:t> </a:t>
            </a:r>
            <a:r>
              <a:rPr sz="2400" spc="-5" dirty="0">
                <a:solidFill>
                  <a:srgbClr val="FFFFFF"/>
                </a:solidFill>
                <a:latin typeface="Times New Roman"/>
                <a:cs typeface="Times New Roman"/>
              </a:rPr>
              <a:t>Systems</a:t>
            </a:r>
            <a:endParaRPr sz="2400">
              <a:latin typeface="Times New Roman"/>
              <a:cs typeface="Times New Roman"/>
            </a:endParaRPr>
          </a:p>
          <a:p>
            <a:pPr marL="184150" indent="-172085">
              <a:lnSpc>
                <a:spcPct val="100000"/>
              </a:lnSpc>
              <a:spcBef>
                <a:spcPts val="1720"/>
              </a:spcBef>
              <a:buSzPct val="125000"/>
              <a:buFont typeface="Arial MT"/>
              <a:buChar char="•"/>
              <a:tabLst>
                <a:tab pos="184785" algn="l"/>
              </a:tabLst>
            </a:pPr>
            <a:r>
              <a:rPr sz="2400" spc="-5" dirty="0">
                <a:solidFill>
                  <a:srgbClr val="FFFFFF"/>
                </a:solidFill>
                <a:latin typeface="Times New Roman"/>
                <a:cs typeface="Times New Roman"/>
              </a:rPr>
              <a:t>Human</a:t>
            </a:r>
            <a:r>
              <a:rPr sz="2400" spc="-35" dirty="0">
                <a:solidFill>
                  <a:srgbClr val="FFFFFF"/>
                </a:solidFill>
                <a:latin typeface="Times New Roman"/>
                <a:cs typeface="Times New Roman"/>
              </a:rPr>
              <a:t> </a:t>
            </a:r>
            <a:r>
              <a:rPr sz="2400" spc="-5" dirty="0">
                <a:solidFill>
                  <a:srgbClr val="FFFFFF"/>
                </a:solidFill>
                <a:latin typeface="Times New Roman"/>
                <a:cs typeface="Times New Roman"/>
              </a:rPr>
              <a:t>Resource</a:t>
            </a:r>
            <a:r>
              <a:rPr sz="2400" spc="-30" dirty="0">
                <a:solidFill>
                  <a:srgbClr val="FFFFFF"/>
                </a:solidFill>
                <a:latin typeface="Times New Roman"/>
                <a:cs typeface="Times New Roman"/>
              </a:rPr>
              <a:t> </a:t>
            </a:r>
            <a:r>
              <a:rPr sz="2400" spc="-5" dirty="0">
                <a:solidFill>
                  <a:srgbClr val="FFFFFF"/>
                </a:solidFill>
                <a:latin typeface="Times New Roman"/>
                <a:cs typeface="Times New Roman"/>
              </a:rPr>
              <a:t>Systems</a:t>
            </a:r>
            <a:endParaRPr sz="2400">
              <a:latin typeface="Times New Roman"/>
              <a:cs typeface="Times New Roman"/>
            </a:endParaRPr>
          </a:p>
          <a:p>
            <a:pPr marL="184150" indent="-172085">
              <a:lnSpc>
                <a:spcPct val="100000"/>
              </a:lnSpc>
              <a:spcBef>
                <a:spcPts val="1720"/>
              </a:spcBef>
              <a:buSzPct val="125000"/>
              <a:buFont typeface="Arial MT"/>
              <a:buChar char="•"/>
              <a:tabLst>
                <a:tab pos="184785" algn="l"/>
              </a:tabLst>
            </a:pPr>
            <a:r>
              <a:rPr sz="2400" spc="-5" dirty="0">
                <a:solidFill>
                  <a:srgbClr val="FFFFFF"/>
                </a:solidFill>
                <a:latin typeface="Times New Roman"/>
                <a:cs typeface="Times New Roman"/>
              </a:rPr>
              <a:t>Accounting</a:t>
            </a:r>
            <a:r>
              <a:rPr sz="2400" spc="-50" dirty="0">
                <a:solidFill>
                  <a:srgbClr val="FFFFFF"/>
                </a:solidFill>
                <a:latin typeface="Times New Roman"/>
                <a:cs typeface="Times New Roman"/>
              </a:rPr>
              <a:t> </a:t>
            </a:r>
            <a:r>
              <a:rPr sz="2400" spc="-5" dirty="0">
                <a:solidFill>
                  <a:srgbClr val="FFFFFF"/>
                </a:solidFill>
                <a:latin typeface="Times New Roman"/>
                <a:cs typeface="Times New Roman"/>
              </a:rPr>
              <a:t>Systems</a:t>
            </a:r>
            <a:endParaRPr sz="2400">
              <a:latin typeface="Times New Roman"/>
              <a:cs typeface="Times New Roman"/>
            </a:endParaRPr>
          </a:p>
          <a:p>
            <a:pPr marL="184150" indent="-172085">
              <a:lnSpc>
                <a:spcPct val="100000"/>
              </a:lnSpc>
              <a:spcBef>
                <a:spcPts val="1720"/>
              </a:spcBef>
              <a:buSzPct val="125000"/>
              <a:buFont typeface="Arial MT"/>
              <a:buChar char="•"/>
              <a:tabLst>
                <a:tab pos="184785" algn="l"/>
              </a:tabLst>
            </a:pPr>
            <a:r>
              <a:rPr sz="2400" spc="-5" dirty="0">
                <a:solidFill>
                  <a:srgbClr val="FFFFFF"/>
                </a:solidFill>
                <a:latin typeface="Times New Roman"/>
                <a:cs typeface="Times New Roman"/>
              </a:rPr>
              <a:t>Financial</a:t>
            </a:r>
            <a:r>
              <a:rPr sz="2400" spc="-45" dirty="0">
                <a:solidFill>
                  <a:srgbClr val="FFFFFF"/>
                </a:solidFill>
                <a:latin typeface="Times New Roman"/>
                <a:cs typeface="Times New Roman"/>
              </a:rPr>
              <a:t> </a:t>
            </a:r>
            <a:r>
              <a:rPr sz="2400" spc="-5" dirty="0">
                <a:solidFill>
                  <a:srgbClr val="FFFFFF"/>
                </a:solidFill>
                <a:latin typeface="Times New Roman"/>
                <a:cs typeface="Times New Roman"/>
              </a:rPr>
              <a:t>Management</a:t>
            </a:r>
            <a:r>
              <a:rPr sz="2400" spc="-45" dirty="0">
                <a:solidFill>
                  <a:srgbClr val="FFFFFF"/>
                </a:solidFill>
                <a:latin typeface="Times New Roman"/>
                <a:cs typeface="Times New Roman"/>
              </a:rPr>
              <a:t> </a:t>
            </a:r>
            <a:r>
              <a:rPr sz="2400" spc="-5" dirty="0">
                <a:solidFill>
                  <a:srgbClr val="FFFFFF"/>
                </a:solidFill>
                <a:latin typeface="Times New Roman"/>
                <a:cs typeface="Times New Roman"/>
              </a:rPr>
              <a:t>Systems</a:t>
            </a:r>
            <a:endParaRPr sz="240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4939030" cy="574040"/>
          </a:xfrm>
          <a:prstGeom prst="rect">
            <a:avLst/>
          </a:prstGeom>
        </p:spPr>
        <p:txBody>
          <a:bodyPr vert="horz" wrap="square" lIns="0" tIns="12700" rIns="0" bIns="0" rtlCol="0">
            <a:spAutoFit/>
          </a:bodyPr>
          <a:lstStyle/>
          <a:p>
            <a:pPr marL="12700">
              <a:lnSpc>
                <a:spcPct val="100000"/>
              </a:lnSpc>
              <a:spcBef>
                <a:spcPts val="100"/>
              </a:spcBef>
            </a:pPr>
            <a:r>
              <a:rPr spc="-5" dirty="0"/>
              <a:t>MARKETING</a:t>
            </a:r>
            <a:r>
              <a:rPr spc="-90" dirty="0"/>
              <a:t> </a:t>
            </a:r>
            <a:r>
              <a:rPr spc="-5" dirty="0"/>
              <a:t>SYSTEMS</a:t>
            </a:r>
          </a:p>
        </p:txBody>
      </p:sp>
      <p:sp>
        <p:nvSpPr>
          <p:cNvPr id="3" name="object 3"/>
          <p:cNvSpPr txBox="1"/>
          <p:nvPr/>
        </p:nvSpPr>
        <p:spPr>
          <a:xfrm>
            <a:off x="1271549" y="2271837"/>
            <a:ext cx="9690735" cy="4585335"/>
          </a:xfrm>
          <a:prstGeom prst="rect">
            <a:avLst/>
          </a:prstGeom>
        </p:spPr>
        <p:txBody>
          <a:bodyPr vert="horz" wrap="square" lIns="0" tIns="38100" rIns="0" bIns="0" rtlCol="0">
            <a:spAutoFit/>
          </a:bodyPr>
          <a:lstStyle/>
          <a:p>
            <a:pPr marL="184150" marR="8890" indent="-172085">
              <a:lnSpc>
                <a:spcPts val="3379"/>
              </a:lnSpc>
              <a:spcBef>
                <a:spcPts val="300"/>
              </a:spcBef>
              <a:buSzPct val="125000"/>
              <a:buFont typeface="Arial MT"/>
              <a:buChar char="•"/>
              <a:tabLst>
                <a:tab pos="184785" algn="l"/>
                <a:tab pos="1685289" algn="l"/>
                <a:tab pos="3373754" algn="l"/>
                <a:tab pos="4621530" algn="l"/>
                <a:tab pos="5785485" algn="l"/>
                <a:tab pos="7451090" algn="l"/>
                <a:tab pos="9218295" algn="l"/>
              </a:tabLst>
            </a:pPr>
            <a:r>
              <a:rPr sz="2400" spc="-5" dirty="0">
                <a:solidFill>
                  <a:srgbClr val="FFFFFF"/>
                </a:solidFill>
                <a:latin typeface="Times New Roman"/>
                <a:cs typeface="Times New Roman"/>
              </a:rPr>
              <a:t>Marketin</a:t>
            </a:r>
            <a:r>
              <a:rPr sz="2400" dirty="0">
                <a:solidFill>
                  <a:srgbClr val="FFFFFF"/>
                </a:solidFill>
                <a:latin typeface="Times New Roman"/>
                <a:cs typeface="Times New Roman"/>
              </a:rPr>
              <a:t>g	Information	</a:t>
            </a:r>
            <a:r>
              <a:rPr sz="2400" spc="-5" dirty="0">
                <a:solidFill>
                  <a:srgbClr val="FFFFFF"/>
                </a:solidFill>
                <a:latin typeface="Times New Roman"/>
                <a:cs typeface="Times New Roman"/>
              </a:rPr>
              <a:t>System</a:t>
            </a:r>
            <a:r>
              <a:rPr sz="2400" dirty="0">
                <a:solidFill>
                  <a:srgbClr val="FFFFFF"/>
                </a:solidFill>
                <a:latin typeface="Times New Roman"/>
                <a:cs typeface="Times New Roman"/>
              </a:rPr>
              <a:t>s	provide	</a:t>
            </a:r>
            <a:r>
              <a:rPr sz="2400" spc="-5" dirty="0">
                <a:solidFill>
                  <a:srgbClr val="FFFFFF"/>
                </a:solidFill>
                <a:latin typeface="Times New Roman"/>
                <a:cs typeface="Times New Roman"/>
              </a:rPr>
              <a:t>informatio</a:t>
            </a:r>
            <a:r>
              <a:rPr sz="2400" dirty="0">
                <a:solidFill>
                  <a:srgbClr val="FFFFFF"/>
                </a:solidFill>
                <a:latin typeface="Times New Roman"/>
                <a:cs typeface="Times New Roman"/>
              </a:rPr>
              <a:t>n	</a:t>
            </a:r>
            <a:r>
              <a:rPr sz="2400" spc="-5" dirty="0">
                <a:solidFill>
                  <a:srgbClr val="FFFFFF"/>
                </a:solidFill>
                <a:latin typeface="Times New Roman"/>
                <a:cs typeface="Times New Roman"/>
              </a:rPr>
              <a:t>technologie</a:t>
            </a:r>
            <a:r>
              <a:rPr sz="2400" dirty="0">
                <a:solidFill>
                  <a:srgbClr val="FFFFFF"/>
                </a:solidFill>
                <a:latin typeface="Times New Roman"/>
                <a:cs typeface="Times New Roman"/>
              </a:rPr>
              <a:t>s	</a:t>
            </a:r>
            <a:r>
              <a:rPr sz="2400" spc="-5" dirty="0">
                <a:solidFill>
                  <a:srgbClr val="FFFFFF"/>
                </a:solidFill>
                <a:latin typeface="Times New Roman"/>
                <a:cs typeface="Times New Roman"/>
              </a:rPr>
              <a:t>that  support</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major</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activities</a:t>
            </a:r>
            <a:r>
              <a:rPr sz="2400" spc="-10" dirty="0">
                <a:solidFill>
                  <a:srgbClr val="FFFFFF"/>
                </a:solidFill>
                <a:latin typeface="Times New Roman"/>
                <a:cs typeface="Times New Roman"/>
              </a:rPr>
              <a:t> </a:t>
            </a:r>
            <a:r>
              <a:rPr sz="2400" dirty="0">
                <a:solidFill>
                  <a:srgbClr val="FFFFFF"/>
                </a:solidFill>
                <a:latin typeface="Times New Roman"/>
                <a:cs typeface="Times New Roman"/>
              </a:rPr>
              <a:t>of</a:t>
            </a:r>
            <a:r>
              <a:rPr sz="2400" spc="-5" dirty="0">
                <a:solidFill>
                  <a:srgbClr val="FFFFFF"/>
                </a:solidFill>
                <a:latin typeface="Times New Roman"/>
                <a:cs typeface="Times New Roman"/>
              </a:rPr>
              <a:t> the</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marketing</a:t>
            </a:r>
            <a:r>
              <a:rPr sz="2400" spc="-10" dirty="0">
                <a:solidFill>
                  <a:srgbClr val="FFFFFF"/>
                </a:solidFill>
                <a:latin typeface="Times New Roman"/>
                <a:cs typeface="Times New Roman"/>
              </a:rPr>
              <a:t> </a:t>
            </a:r>
            <a:r>
              <a:rPr sz="2400" dirty="0">
                <a:solidFill>
                  <a:srgbClr val="FFFFFF"/>
                </a:solidFill>
                <a:latin typeface="Times New Roman"/>
                <a:cs typeface="Times New Roman"/>
              </a:rPr>
              <a:t>function</a:t>
            </a:r>
            <a:r>
              <a:rPr sz="2400" spc="-5" dirty="0">
                <a:solidFill>
                  <a:srgbClr val="FFFFFF"/>
                </a:solidFill>
                <a:latin typeface="Times New Roman"/>
                <a:cs typeface="Times New Roman"/>
              </a:rPr>
              <a:t> e.g.</a:t>
            </a:r>
            <a:r>
              <a:rPr sz="2400" spc="-10" dirty="0">
                <a:solidFill>
                  <a:srgbClr val="FFFFFF"/>
                </a:solidFill>
                <a:latin typeface="Times New Roman"/>
                <a:cs typeface="Times New Roman"/>
              </a:rPr>
              <a:t> </a:t>
            </a:r>
            <a:r>
              <a:rPr sz="2400" dirty="0">
                <a:solidFill>
                  <a:srgbClr val="FFFFFF"/>
                </a:solidFill>
                <a:latin typeface="Times New Roman"/>
                <a:cs typeface="Times New Roman"/>
              </a:rPr>
              <a:t>promotion</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and</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selling.</a:t>
            </a:r>
            <a:endParaRPr sz="2400">
              <a:latin typeface="Times New Roman"/>
              <a:cs typeface="Times New Roman"/>
            </a:endParaRPr>
          </a:p>
          <a:p>
            <a:pPr marL="184150" indent="-172085">
              <a:lnSpc>
                <a:spcPct val="100000"/>
              </a:lnSpc>
              <a:spcBef>
                <a:spcPts val="1070"/>
              </a:spcBef>
              <a:buSzPct val="125000"/>
              <a:buFont typeface="Arial MT"/>
              <a:buChar char="•"/>
              <a:tabLst>
                <a:tab pos="184785" algn="l"/>
              </a:tabLst>
            </a:pPr>
            <a:r>
              <a:rPr sz="2400" spc="-5" dirty="0">
                <a:solidFill>
                  <a:srgbClr val="FFFFFF"/>
                </a:solidFill>
                <a:latin typeface="Times New Roman"/>
                <a:cs typeface="Times New Roman"/>
              </a:rPr>
              <a:t>Components</a:t>
            </a:r>
            <a:endParaRPr sz="2400">
              <a:latin typeface="Times New Roman"/>
              <a:cs typeface="Times New Roman"/>
            </a:endParaRPr>
          </a:p>
          <a:p>
            <a:pPr marL="641350" lvl="1" indent="-172085">
              <a:lnSpc>
                <a:spcPct val="100000"/>
              </a:lnSpc>
              <a:spcBef>
                <a:spcPts val="860"/>
              </a:spcBef>
              <a:buSzPct val="125000"/>
              <a:buFont typeface="Arial MT"/>
              <a:buChar char="•"/>
              <a:tabLst>
                <a:tab pos="641985" algn="l"/>
              </a:tabLst>
            </a:pPr>
            <a:r>
              <a:rPr sz="2400" dirty="0">
                <a:solidFill>
                  <a:srgbClr val="FFFFFF"/>
                </a:solidFill>
                <a:latin typeface="Times New Roman"/>
                <a:cs typeface="Times New Roman"/>
              </a:rPr>
              <a:t>Interactive</a:t>
            </a:r>
            <a:r>
              <a:rPr sz="2400" spc="-45" dirty="0">
                <a:solidFill>
                  <a:srgbClr val="FFFFFF"/>
                </a:solidFill>
                <a:latin typeface="Times New Roman"/>
                <a:cs typeface="Times New Roman"/>
              </a:rPr>
              <a:t> </a:t>
            </a:r>
            <a:r>
              <a:rPr sz="2400" spc="-5" dirty="0">
                <a:solidFill>
                  <a:srgbClr val="FFFFFF"/>
                </a:solidFill>
                <a:latin typeface="Times New Roman"/>
                <a:cs typeface="Times New Roman"/>
              </a:rPr>
              <a:t>Marketing</a:t>
            </a:r>
            <a:endParaRPr sz="2400">
              <a:latin typeface="Times New Roman"/>
              <a:cs typeface="Times New Roman"/>
            </a:endParaRPr>
          </a:p>
          <a:p>
            <a:pPr marL="641350" lvl="1" indent="-172085">
              <a:lnSpc>
                <a:spcPct val="100000"/>
              </a:lnSpc>
              <a:spcBef>
                <a:spcPts val="860"/>
              </a:spcBef>
              <a:buSzPct val="125000"/>
              <a:buFont typeface="Arial MT"/>
              <a:buChar char="•"/>
              <a:tabLst>
                <a:tab pos="641985" algn="l"/>
              </a:tabLst>
            </a:pPr>
            <a:r>
              <a:rPr sz="2400" spc="-5" dirty="0">
                <a:solidFill>
                  <a:srgbClr val="FFFFFF"/>
                </a:solidFill>
                <a:latin typeface="Times New Roman"/>
                <a:cs typeface="Times New Roman"/>
              </a:rPr>
              <a:t>Customer</a:t>
            </a:r>
            <a:r>
              <a:rPr sz="2400" spc="-30" dirty="0">
                <a:solidFill>
                  <a:srgbClr val="FFFFFF"/>
                </a:solidFill>
                <a:latin typeface="Times New Roman"/>
                <a:cs typeface="Times New Roman"/>
              </a:rPr>
              <a:t> </a:t>
            </a:r>
            <a:r>
              <a:rPr sz="2400" dirty="0">
                <a:solidFill>
                  <a:srgbClr val="FFFFFF"/>
                </a:solidFill>
                <a:latin typeface="Times New Roman"/>
                <a:cs typeface="Times New Roman"/>
              </a:rPr>
              <a:t>focused</a:t>
            </a:r>
            <a:r>
              <a:rPr sz="2400" spc="-20" dirty="0">
                <a:solidFill>
                  <a:srgbClr val="FFFFFF"/>
                </a:solidFill>
                <a:latin typeface="Times New Roman"/>
                <a:cs typeface="Times New Roman"/>
              </a:rPr>
              <a:t> </a:t>
            </a:r>
            <a:r>
              <a:rPr sz="2400" spc="-5" dirty="0">
                <a:solidFill>
                  <a:srgbClr val="FFFFFF"/>
                </a:solidFill>
                <a:latin typeface="Times New Roman"/>
                <a:cs typeface="Times New Roman"/>
              </a:rPr>
              <a:t>marketing</a:t>
            </a:r>
            <a:r>
              <a:rPr sz="2400" spc="-25" dirty="0">
                <a:solidFill>
                  <a:srgbClr val="FFFFFF"/>
                </a:solidFill>
                <a:latin typeface="Times New Roman"/>
                <a:cs typeface="Times New Roman"/>
              </a:rPr>
              <a:t> </a:t>
            </a:r>
            <a:r>
              <a:rPr sz="2400" dirty="0">
                <a:solidFill>
                  <a:srgbClr val="FFFFFF"/>
                </a:solidFill>
                <a:latin typeface="Times New Roman"/>
                <a:cs typeface="Times New Roman"/>
              </a:rPr>
              <a:t>process</a:t>
            </a:r>
            <a:endParaRPr sz="2400">
              <a:latin typeface="Times New Roman"/>
              <a:cs typeface="Times New Roman"/>
            </a:endParaRPr>
          </a:p>
          <a:p>
            <a:pPr marL="641350" marR="12700" lvl="1" indent="-172085">
              <a:lnSpc>
                <a:spcPct val="110700"/>
              </a:lnSpc>
              <a:spcBef>
                <a:spcPts val="475"/>
              </a:spcBef>
              <a:buSzPct val="125000"/>
              <a:buFont typeface="Arial MT"/>
              <a:buChar char="•"/>
              <a:tabLst>
                <a:tab pos="641985" algn="l"/>
              </a:tabLst>
            </a:pPr>
            <a:r>
              <a:rPr sz="2400" spc="-5" dirty="0">
                <a:solidFill>
                  <a:srgbClr val="FFFFFF"/>
                </a:solidFill>
                <a:latin typeface="Times New Roman"/>
                <a:cs typeface="Times New Roman"/>
              </a:rPr>
              <a:t>Based</a:t>
            </a:r>
            <a:r>
              <a:rPr sz="2400" spc="355" dirty="0">
                <a:solidFill>
                  <a:srgbClr val="FFFFFF"/>
                </a:solidFill>
                <a:latin typeface="Times New Roman"/>
                <a:cs typeface="Times New Roman"/>
              </a:rPr>
              <a:t> </a:t>
            </a:r>
            <a:r>
              <a:rPr sz="2400" dirty="0">
                <a:solidFill>
                  <a:srgbClr val="FFFFFF"/>
                </a:solidFill>
                <a:latin typeface="Times New Roman"/>
                <a:cs typeface="Times New Roman"/>
              </a:rPr>
              <a:t>on</a:t>
            </a:r>
            <a:r>
              <a:rPr sz="2400" spc="360" dirty="0">
                <a:solidFill>
                  <a:srgbClr val="FFFFFF"/>
                </a:solidFill>
                <a:latin typeface="Times New Roman"/>
                <a:cs typeface="Times New Roman"/>
              </a:rPr>
              <a:t> </a:t>
            </a:r>
            <a:r>
              <a:rPr sz="2400" dirty="0">
                <a:solidFill>
                  <a:srgbClr val="FFFFFF"/>
                </a:solidFill>
                <a:latin typeface="Times New Roman"/>
                <a:cs typeface="Times New Roman"/>
              </a:rPr>
              <a:t>using</a:t>
            </a:r>
            <a:r>
              <a:rPr sz="2400" spc="360" dirty="0">
                <a:solidFill>
                  <a:srgbClr val="FFFFFF"/>
                </a:solidFill>
                <a:latin typeface="Times New Roman"/>
                <a:cs typeface="Times New Roman"/>
              </a:rPr>
              <a:t> </a:t>
            </a:r>
            <a:r>
              <a:rPr sz="2400" dirty="0">
                <a:solidFill>
                  <a:srgbClr val="FFFFFF"/>
                </a:solidFill>
                <a:latin typeface="Times New Roman"/>
                <a:cs typeface="Times New Roman"/>
              </a:rPr>
              <a:t>Internet</a:t>
            </a:r>
            <a:r>
              <a:rPr sz="2400" spc="360" dirty="0">
                <a:solidFill>
                  <a:srgbClr val="FFFFFF"/>
                </a:solidFill>
                <a:latin typeface="Times New Roman"/>
                <a:cs typeface="Times New Roman"/>
              </a:rPr>
              <a:t> </a:t>
            </a:r>
            <a:r>
              <a:rPr sz="2400" spc="-5" dirty="0">
                <a:solidFill>
                  <a:srgbClr val="FFFFFF"/>
                </a:solidFill>
                <a:latin typeface="Times New Roman"/>
                <a:cs typeface="Times New Roman"/>
              </a:rPr>
              <a:t>to</a:t>
            </a:r>
            <a:r>
              <a:rPr sz="2400" spc="360" dirty="0">
                <a:solidFill>
                  <a:srgbClr val="FFFFFF"/>
                </a:solidFill>
                <a:latin typeface="Times New Roman"/>
                <a:cs typeface="Times New Roman"/>
              </a:rPr>
              <a:t> </a:t>
            </a:r>
            <a:r>
              <a:rPr sz="2400" spc="-5" dirty="0">
                <a:solidFill>
                  <a:srgbClr val="FFFFFF"/>
                </a:solidFill>
                <a:latin typeface="Times New Roman"/>
                <a:cs typeface="Times New Roman"/>
              </a:rPr>
              <a:t>establish</a:t>
            </a:r>
            <a:r>
              <a:rPr sz="2400" spc="360" dirty="0">
                <a:solidFill>
                  <a:srgbClr val="FFFFFF"/>
                </a:solidFill>
                <a:latin typeface="Times New Roman"/>
                <a:cs typeface="Times New Roman"/>
              </a:rPr>
              <a:t> </a:t>
            </a:r>
            <a:r>
              <a:rPr sz="2400" spc="-5" dirty="0">
                <a:solidFill>
                  <a:srgbClr val="FFFFFF"/>
                </a:solidFill>
                <a:latin typeface="Times New Roman"/>
                <a:cs typeface="Times New Roman"/>
              </a:rPr>
              <a:t>two-way</a:t>
            </a:r>
            <a:r>
              <a:rPr sz="2400" spc="360" dirty="0">
                <a:solidFill>
                  <a:srgbClr val="FFFFFF"/>
                </a:solidFill>
                <a:latin typeface="Times New Roman"/>
                <a:cs typeface="Times New Roman"/>
              </a:rPr>
              <a:t> </a:t>
            </a:r>
            <a:r>
              <a:rPr sz="2400" spc="-5" dirty="0">
                <a:solidFill>
                  <a:srgbClr val="FFFFFF"/>
                </a:solidFill>
                <a:latin typeface="Times New Roman"/>
                <a:cs typeface="Times New Roman"/>
              </a:rPr>
              <a:t>communications</a:t>
            </a:r>
            <a:r>
              <a:rPr sz="2400" spc="365" dirty="0">
                <a:solidFill>
                  <a:srgbClr val="FFFFFF"/>
                </a:solidFill>
                <a:latin typeface="Times New Roman"/>
                <a:cs typeface="Times New Roman"/>
              </a:rPr>
              <a:t> </a:t>
            </a:r>
            <a:r>
              <a:rPr sz="2400" dirty="0">
                <a:solidFill>
                  <a:srgbClr val="FFFFFF"/>
                </a:solidFill>
                <a:latin typeface="Times New Roman"/>
                <a:cs typeface="Times New Roman"/>
              </a:rPr>
              <a:t>between </a:t>
            </a:r>
            <a:r>
              <a:rPr sz="2400" spc="-585" dirty="0">
                <a:solidFill>
                  <a:srgbClr val="FFFFFF"/>
                </a:solidFill>
                <a:latin typeface="Times New Roman"/>
                <a:cs typeface="Times New Roman"/>
              </a:rPr>
              <a:t> </a:t>
            </a:r>
            <a:r>
              <a:rPr sz="2400" spc="-5" dirty="0">
                <a:solidFill>
                  <a:srgbClr val="FFFFFF"/>
                </a:solidFill>
                <a:latin typeface="Times New Roman"/>
                <a:cs typeface="Times New Roman"/>
              </a:rPr>
              <a:t>customers</a:t>
            </a:r>
            <a:r>
              <a:rPr sz="2400" spc="-10" dirty="0">
                <a:solidFill>
                  <a:srgbClr val="FFFFFF"/>
                </a:solidFill>
                <a:latin typeface="Times New Roman"/>
                <a:cs typeface="Times New Roman"/>
              </a:rPr>
              <a:t> </a:t>
            </a:r>
            <a:r>
              <a:rPr sz="2400" dirty="0">
                <a:solidFill>
                  <a:srgbClr val="FFFFFF"/>
                </a:solidFill>
                <a:latin typeface="Times New Roman"/>
                <a:cs typeface="Times New Roman"/>
              </a:rPr>
              <a:t>or potential</a:t>
            </a:r>
            <a:r>
              <a:rPr sz="2400" spc="-5" dirty="0">
                <a:solidFill>
                  <a:srgbClr val="FFFFFF"/>
                </a:solidFill>
                <a:latin typeface="Times New Roman"/>
                <a:cs typeface="Times New Roman"/>
              </a:rPr>
              <a:t> customers and the</a:t>
            </a:r>
            <a:r>
              <a:rPr sz="2400" spc="-10" dirty="0">
                <a:solidFill>
                  <a:srgbClr val="FFFFFF"/>
                </a:solidFill>
                <a:latin typeface="Times New Roman"/>
                <a:cs typeface="Times New Roman"/>
              </a:rPr>
              <a:t> </a:t>
            </a:r>
            <a:r>
              <a:rPr sz="2400" dirty="0">
                <a:solidFill>
                  <a:srgbClr val="FFFFFF"/>
                </a:solidFill>
                <a:latin typeface="Times New Roman"/>
                <a:cs typeface="Times New Roman"/>
              </a:rPr>
              <a:t>business</a:t>
            </a:r>
            <a:endParaRPr sz="2400">
              <a:latin typeface="Times New Roman"/>
              <a:cs typeface="Times New Roman"/>
            </a:endParaRPr>
          </a:p>
          <a:p>
            <a:pPr marL="641350" marR="5080" lvl="1" indent="-172085">
              <a:lnSpc>
                <a:spcPct val="110700"/>
              </a:lnSpc>
              <a:spcBef>
                <a:spcPts val="380"/>
              </a:spcBef>
              <a:buSzPct val="125000"/>
              <a:buFont typeface="Arial MT"/>
              <a:buChar char="•"/>
              <a:tabLst>
                <a:tab pos="641985" algn="l"/>
              </a:tabLst>
            </a:pPr>
            <a:r>
              <a:rPr sz="2400" spc="-5" dirty="0">
                <a:solidFill>
                  <a:srgbClr val="FFFFFF"/>
                </a:solidFill>
                <a:latin typeface="Times New Roman"/>
                <a:cs typeface="Times New Roman"/>
              </a:rPr>
              <a:t>Customers</a:t>
            </a:r>
            <a:r>
              <a:rPr sz="2400" spc="105" dirty="0">
                <a:solidFill>
                  <a:srgbClr val="FFFFFF"/>
                </a:solidFill>
                <a:latin typeface="Times New Roman"/>
                <a:cs typeface="Times New Roman"/>
              </a:rPr>
              <a:t> </a:t>
            </a:r>
            <a:r>
              <a:rPr sz="2400" dirty="0">
                <a:solidFill>
                  <a:srgbClr val="FFFFFF"/>
                </a:solidFill>
                <a:latin typeface="Times New Roman"/>
                <a:cs typeface="Times New Roman"/>
              </a:rPr>
              <a:t>become</a:t>
            </a:r>
            <a:r>
              <a:rPr sz="2400" spc="110" dirty="0">
                <a:solidFill>
                  <a:srgbClr val="FFFFFF"/>
                </a:solidFill>
                <a:latin typeface="Times New Roman"/>
                <a:cs typeface="Times New Roman"/>
              </a:rPr>
              <a:t> </a:t>
            </a:r>
            <a:r>
              <a:rPr sz="2400" spc="-5" dirty="0">
                <a:solidFill>
                  <a:srgbClr val="FFFFFF"/>
                </a:solidFill>
                <a:latin typeface="Times New Roman"/>
                <a:cs typeface="Times New Roman"/>
              </a:rPr>
              <a:t>involved</a:t>
            </a:r>
            <a:r>
              <a:rPr sz="2400" spc="110" dirty="0">
                <a:solidFill>
                  <a:srgbClr val="FFFFFF"/>
                </a:solidFill>
                <a:latin typeface="Times New Roman"/>
                <a:cs typeface="Times New Roman"/>
              </a:rPr>
              <a:t> </a:t>
            </a:r>
            <a:r>
              <a:rPr sz="2400" spc="-5" dirty="0">
                <a:solidFill>
                  <a:srgbClr val="FFFFFF"/>
                </a:solidFill>
                <a:latin typeface="Times New Roman"/>
                <a:cs typeface="Times New Roman"/>
              </a:rPr>
              <a:t>in</a:t>
            </a:r>
            <a:r>
              <a:rPr sz="2400" spc="110" dirty="0">
                <a:solidFill>
                  <a:srgbClr val="FFFFFF"/>
                </a:solidFill>
                <a:latin typeface="Times New Roman"/>
                <a:cs typeface="Times New Roman"/>
              </a:rPr>
              <a:t> </a:t>
            </a:r>
            <a:r>
              <a:rPr sz="2400" dirty="0">
                <a:solidFill>
                  <a:srgbClr val="FFFFFF"/>
                </a:solidFill>
                <a:latin typeface="Times New Roman"/>
                <a:cs typeface="Times New Roman"/>
              </a:rPr>
              <a:t>product</a:t>
            </a:r>
            <a:r>
              <a:rPr sz="2400" spc="110" dirty="0">
                <a:solidFill>
                  <a:srgbClr val="FFFFFF"/>
                </a:solidFill>
                <a:latin typeface="Times New Roman"/>
                <a:cs typeface="Times New Roman"/>
              </a:rPr>
              <a:t> </a:t>
            </a:r>
            <a:r>
              <a:rPr sz="2400" dirty="0">
                <a:solidFill>
                  <a:srgbClr val="FFFFFF"/>
                </a:solidFill>
                <a:latin typeface="Times New Roman"/>
                <a:cs typeface="Times New Roman"/>
              </a:rPr>
              <a:t>development,</a:t>
            </a:r>
            <a:r>
              <a:rPr sz="2400" spc="110" dirty="0">
                <a:solidFill>
                  <a:srgbClr val="FFFFFF"/>
                </a:solidFill>
                <a:latin typeface="Times New Roman"/>
                <a:cs typeface="Times New Roman"/>
              </a:rPr>
              <a:t> </a:t>
            </a:r>
            <a:r>
              <a:rPr sz="2400" dirty="0">
                <a:solidFill>
                  <a:srgbClr val="FFFFFF"/>
                </a:solidFill>
                <a:latin typeface="Times New Roman"/>
                <a:cs typeface="Times New Roman"/>
              </a:rPr>
              <a:t>delivery,</a:t>
            </a:r>
            <a:r>
              <a:rPr sz="2400" spc="110" dirty="0">
                <a:solidFill>
                  <a:srgbClr val="FFFFFF"/>
                </a:solidFill>
                <a:latin typeface="Times New Roman"/>
                <a:cs typeface="Times New Roman"/>
              </a:rPr>
              <a:t> </a:t>
            </a:r>
            <a:r>
              <a:rPr sz="2400" dirty="0">
                <a:solidFill>
                  <a:srgbClr val="FFFFFF"/>
                </a:solidFill>
                <a:latin typeface="Times New Roman"/>
                <a:cs typeface="Times New Roman"/>
              </a:rPr>
              <a:t>&amp;</a:t>
            </a:r>
            <a:r>
              <a:rPr sz="2400" spc="110" dirty="0">
                <a:solidFill>
                  <a:srgbClr val="FFFFFF"/>
                </a:solidFill>
                <a:latin typeface="Times New Roman"/>
                <a:cs typeface="Times New Roman"/>
              </a:rPr>
              <a:t> </a:t>
            </a:r>
            <a:r>
              <a:rPr sz="2400" spc="-5" dirty="0">
                <a:solidFill>
                  <a:srgbClr val="FFFFFF"/>
                </a:solidFill>
                <a:latin typeface="Times New Roman"/>
                <a:cs typeface="Times New Roman"/>
              </a:rPr>
              <a:t>service </a:t>
            </a:r>
            <a:r>
              <a:rPr sz="2400" spc="-585" dirty="0">
                <a:solidFill>
                  <a:srgbClr val="FFFFFF"/>
                </a:solidFill>
                <a:latin typeface="Times New Roman"/>
                <a:cs typeface="Times New Roman"/>
              </a:rPr>
              <a:t> </a:t>
            </a:r>
            <a:r>
              <a:rPr sz="2400" spc="-5" dirty="0">
                <a:solidFill>
                  <a:srgbClr val="FFFFFF"/>
                </a:solidFill>
                <a:latin typeface="Times New Roman"/>
                <a:cs typeface="Times New Roman"/>
              </a:rPr>
              <a:t>issues</a:t>
            </a:r>
            <a:endParaRPr sz="240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4939030" cy="574040"/>
          </a:xfrm>
          <a:prstGeom prst="rect">
            <a:avLst/>
          </a:prstGeom>
        </p:spPr>
        <p:txBody>
          <a:bodyPr vert="horz" wrap="square" lIns="0" tIns="12700" rIns="0" bIns="0" rtlCol="0">
            <a:spAutoFit/>
          </a:bodyPr>
          <a:lstStyle/>
          <a:p>
            <a:pPr marL="12700">
              <a:lnSpc>
                <a:spcPct val="100000"/>
              </a:lnSpc>
              <a:spcBef>
                <a:spcPts val="100"/>
              </a:spcBef>
            </a:pPr>
            <a:r>
              <a:rPr spc="-5" dirty="0"/>
              <a:t>MARKETING</a:t>
            </a:r>
            <a:r>
              <a:rPr spc="-90" dirty="0"/>
              <a:t> </a:t>
            </a:r>
            <a:r>
              <a:rPr spc="-5" dirty="0"/>
              <a:t>SYSTEMS</a:t>
            </a:r>
          </a:p>
        </p:txBody>
      </p:sp>
      <p:sp>
        <p:nvSpPr>
          <p:cNvPr id="3" name="object 3"/>
          <p:cNvSpPr txBox="1"/>
          <p:nvPr/>
        </p:nvSpPr>
        <p:spPr>
          <a:xfrm>
            <a:off x="1271549" y="2199702"/>
            <a:ext cx="9693910" cy="3342004"/>
          </a:xfrm>
          <a:prstGeom prst="rect">
            <a:avLst/>
          </a:prstGeom>
        </p:spPr>
        <p:txBody>
          <a:bodyPr vert="horz" wrap="square" lIns="0" tIns="72390" rIns="0" bIns="0" rtlCol="0">
            <a:spAutoFit/>
          </a:bodyPr>
          <a:lstStyle/>
          <a:p>
            <a:pPr marL="184150" indent="-172085">
              <a:lnSpc>
                <a:spcPct val="100000"/>
              </a:lnSpc>
              <a:spcBef>
                <a:spcPts val="570"/>
              </a:spcBef>
              <a:buSzPct val="125000"/>
              <a:buFont typeface="Arial MT"/>
              <a:buChar char="•"/>
              <a:tabLst>
                <a:tab pos="184785" algn="l"/>
              </a:tabLst>
            </a:pPr>
            <a:r>
              <a:rPr sz="2400" spc="-5" dirty="0">
                <a:solidFill>
                  <a:srgbClr val="FFFFFF"/>
                </a:solidFill>
                <a:latin typeface="Times New Roman"/>
                <a:cs typeface="Times New Roman"/>
              </a:rPr>
              <a:t>Market</a:t>
            </a:r>
            <a:r>
              <a:rPr sz="2400" spc="-50" dirty="0">
                <a:solidFill>
                  <a:srgbClr val="FFFFFF"/>
                </a:solidFill>
                <a:latin typeface="Times New Roman"/>
                <a:cs typeface="Times New Roman"/>
              </a:rPr>
              <a:t> </a:t>
            </a:r>
            <a:r>
              <a:rPr sz="2400" spc="-5" dirty="0">
                <a:solidFill>
                  <a:srgbClr val="FFFFFF"/>
                </a:solidFill>
                <a:latin typeface="Times New Roman"/>
                <a:cs typeface="Times New Roman"/>
              </a:rPr>
              <a:t>Research</a:t>
            </a:r>
            <a:endParaRPr sz="2400">
              <a:latin typeface="Times New Roman"/>
              <a:cs typeface="Times New Roman"/>
            </a:endParaRPr>
          </a:p>
          <a:p>
            <a:pPr marL="641350" marR="5080" lvl="1" indent="-172085">
              <a:lnSpc>
                <a:spcPct val="120700"/>
              </a:lnSpc>
              <a:spcBef>
                <a:spcPts val="475"/>
              </a:spcBef>
              <a:buSzPct val="125000"/>
              <a:buFont typeface="Arial MT"/>
              <a:buChar char="•"/>
              <a:tabLst>
                <a:tab pos="641985" algn="l"/>
              </a:tabLst>
            </a:pPr>
            <a:r>
              <a:rPr sz="2400" spc="-5" dirty="0">
                <a:solidFill>
                  <a:srgbClr val="FFFFFF"/>
                </a:solidFill>
                <a:latin typeface="Times New Roman"/>
                <a:cs typeface="Times New Roman"/>
              </a:rPr>
              <a:t>Statistical</a:t>
            </a:r>
            <a:r>
              <a:rPr sz="2400" spc="340" dirty="0">
                <a:solidFill>
                  <a:srgbClr val="FFFFFF"/>
                </a:solidFill>
                <a:latin typeface="Times New Roman"/>
                <a:cs typeface="Times New Roman"/>
              </a:rPr>
              <a:t> </a:t>
            </a:r>
            <a:r>
              <a:rPr sz="2400" spc="-5" dirty="0">
                <a:solidFill>
                  <a:srgbClr val="FFFFFF"/>
                </a:solidFill>
                <a:latin typeface="Times New Roman"/>
                <a:cs typeface="Times New Roman"/>
              </a:rPr>
              <a:t>models</a:t>
            </a:r>
            <a:r>
              <a:rPr sz="2400" spc="340" dirty="0">
                <a:solidFill>
                  <a:srgbClr val="FFFFFF"/>
                </a:solidFill>
                <a:latin typeface="Times New Roman"/>
                <a:cs typeface="Times New Roman"/>
              </a:rPr>
              <a:t> </a:t>
            </a:r>
            <a:r>
              <a:rPr sz="2400" dirty="0">
                <a:solidFill>
                  <a:srgbClr val="FFFFFF"/>
                </a:solidFill>
                <a:latin typeface="Times New Roman"/>
                <a:cs typeface="Times New Roman"/>
              </a:rPr>
              <a:t>help</a:t>
            </a:r>
            <a:r>
              <a:rPr sz="2400" spc="345" dirty="0">
                <a:solidFill>
                  <a:srgbClr val="FFFFFF"/>
                </a:solidFill>
                <a:latin typeface="Times New Roman"/>
                <a:cs typeface="Times New Roman"/>
              </a:rPr>
              <a:t> </a:t>
            </a:r>
            <a:r>
              <a:rPr sz="2400" spc="-5" dirty="0">
                <a:solidFill>
                  <a:srgbClr val="FFFFFF"/>
                </a:solidFill>
                <a:latin typeface="Times New Roman"/>
                <a:cs typeface="Times New Roman"/>
              </a:rPr>
              <a:t>market</a:t>
            </a:r>
            <a:r>
              <a:rPr sz="2400" spc="340" dirty="0">
                <a:solidFill>
                  <a:srgbClr val="FFFFFF"/>
                </a:solidFill>
                <a:latin typeface="Times New Roman"/>
                <a:cs typeface="Times New Roman"/>
              </a:rPr>
              <a:t> </a:t>
            </a:r>
            <a:r>
              <a:rPr sz="2400" dirty="0">
                <a:solidFill>
                  <a:srgbClr val="FFFFFF"/>
                </a:solidFill>
                <a:latin typeface="Times New Roman"/>
                <a:cs typeface="Times New Roman"/>
              </a:rPr>
              <a:t>researchers</a:t>
            </a:r>
            <a:r>
              <a:rPr sz="2400" spc="350" dirty="0">
                <a:solidFill>
                  <a:srgbClr val="FFFFFF"/>
                </a:solidFill>
                <a:latin typeface="Times New Roman"/>
                <a:cs typeface="Times New Roman"/>
              </a:rPr>
              <a:t> </a:t>
            </a:r>
            <a:r>
              <a:rPr sz="2400" dirty="0">
                <a:solidFill>
                  <a:srgbClr val="FFFFFF"/>
                </a:solidFill>
                <a:latin typeface="Times New Roman"/>
                <a:cs typeface="Times New Roman"/>
              </a:rPr>
              <a:t>find</a:t>
            </a:r>
            <a:r>
              <a:rPr sz="2400" spc="345" dirty="0">
                <a:solidFill>
                  <a:srgbClr val="FFFFFF"/>
                </a:solidFill>
                <a:latin typeface="Times New Roman"/>
                <a:cs typeface="Times New Roman"/>
              </a:rPr>
              <a:t> </a:t>
            </a:r>
            <a:r>
              <a:rPr sz="2400" spc="-5" dirty="0">
                <a:solidFill>
                  <a:srgbClr val="FFFFFF"/>
                </a:solidFill>
                <a:latin typeface="Times New Roman"/>
                <a:cs typeface="Times New Roman"/>
              </a:rPr>
              <a:t>the</a:t>
            </a:r>
            <a:r>
              <a:rPr sz="2400" spc="340" dirty="0">
                <a:solidFill>
                  <a:srgbClr val="FFFFFF"/>
                </a:solidFill>
                <a:latin typeface="Times New Roman"/>
                <a:cs typeface="Times New Roman"/>
              </a:rPr>
              <a:t> </a:t>
            </a:r>
            <a:r>
              <a:rPr sz="2400" dirty="0">
                <a:solidFill>
                  <a:srgbClr val="FFFFFF"/>
                </a:solidFill>
                <a:latin typeface="Times New Roman"/>
                <a:cs typeface="Times New Roman"/>
              </a:rPr>
              <a:t>best</a:t>
            </a:r>
            <a:r>
              <a:rPr sz="2400" spc="345" dirty="0">
                <a:solidFill>
                  <a:srgbClr val="FFFFFF"/>
                </a:solidFill>
                <a:latin typeface="Times New Roman"/>
                <a:cs typeface="Times New Roman"/>
              </a:rPr>
              <a:t> </a:t>
            </a:r>
            <a:r>
              <a:rPr sz="2400" dirty="0">
                <a:solidFill>
                  <a:srgbClr val="FFFFFF"/>
                </a:solidFill>
                <a:latin typeface="Times New Roman"/>
                <a:cs typeface="Times New Roman"/>
              </a:rPr>
              <a:t>populations</a:t>
            </a:r>
            <a:r>
              <a:rPr sz="2400" spc="350" dirty="0">
                <a:solidFill>
                  <a:srgbClr val="FFFFFF"/>
                </a:solidFill>
                <a:latin typeface="Times New Roman"/>
                <a:cs typeface="Times New Roman"/>
              </a:rPr>
              <a:t> </a:t>
            </a:r>
            <a:r>
              <a:rPr sz="2400" dirty="0">
                <a:solidFill>
                  <a:srgbClr val="FFFFFF"/>
                </a:solidFill>
                <a:latin typeface="Times New Roman"/>
                <a:cs typeface="Times New Roman"/>
              </a:rPr>
              <a:t>for </a:t>
            </a:r>
            <a:r>
              <a:rPr sz="2400" spc="-585" dirty="0">
                <a:solidFill>
                  <a:srgbClr val="FFFFFF"/>
                </a:solidFill>
                <a:latin typeface="Times New Roman"/>
                <a:cs typeface="Times New Roman"/>
              </a:rPr>
              <a:t> </a:t>
            </a:r>
            <a:r>
              <a:rPr sz="2400" dirty="0">
                <a:solidFill>
                  <a:srgbClr val="FFFFFF"/>
                </a:solidFill>
                <a:latin typeface="Times New Roman"/>
                <a:cs typeface="Times New Roman"/>
              </a:rPr>
              <a:t>new</a:t>
            </a:r>
            <a:r>
              <a:rPr sz="2400" spc="-5" dirty="0">
                <a:solidFill>
                  <a:srgbClr val="FFFFFF"/>
                </a:solidFill>
                <a:latin typeface="Times New Roman"/>
                <a:cs typeface="Times New Roman"/>
              </a:rPr>
              <a:t> and existing </a:t>
            </a:r>
            <a:r>
              <a:rPr sz="2400" dirty="0">
                <a:solidFill>
                  <a:srgbClr val="FFFFFF"/>
                </a:solidFill>
                <a:latin typeface="Times New Roman"/>
                <a:cs typeface="Times New Roman"/>
              </a:rPr>
              <a:t>products</a:t>
            </a:r>
            <a:endParaRPr sz="2400">
              <a:latin typeface="Times New Roman"/>
              <a:cs typeface="Times New Roman"/>
            </a:endParaRPr>
          </a:p>
          <a:p>
            <a:pPr marL="184150" indent="-172085">
              <a:lnSpc>
                <a:spcPct val="100000"/>
              </a:lnSpc>
              <a:spcBef>
                <a:spcPts val="1550"/>
              </a:spcBef>
              <a:buSzPct val="125000"/>
              <a:buFont typeface="Arial MT"/>
              <a:buChar char="•"/>
              <a:tabLst>
                <a:tab pos="184785" algn="l"/>
              </a:tabLst>
            </a:pPr>
            <a:r>
              <a:rPr sz="2400" spc="-5" dirty="0">
                <a:solidFill>
                  <a:srgbClr val="FFFFFF"/>
                </a:solidFill>
                <a:latin typeface="Times New Roman"/>
                <a:cs typeface="Times New Roman"/>
              </a:rPr>
              <a:t>Targeted</a:t>
            </a:r>
            <a:r>
              <a:rPr sz="2400" spc="-50" dirty="0">
                <a:solidFill>
                  <a:srgbClr val="FFFFFF"/>
                </a:solidFill>
                <a:latin typeface="Times New Roman"/>
                <a:cs typeface="Times New Roman"/>
              </a:rPr>
              <a:t> </a:t>
            </a:r>
            <a:r>
              <a:rPr sz="2400" spc="-5" dirty="0">
                <a:solidFill>
                  <a:srgbClr val="FFFFFF"/>
                </a:solidFill>
                <a:latin typeface="Times New Roman"/>
                <a:cs typeface="Times New Roman"/>
              </a:rPr>
              <a:t>Marketing</a:t>
            </a:r>
            <a:endParaRPr sz="2400">
              <a:latin typeface="Times New Roman"/>
              <a:cs typeface="Times New Roman"/>
            </a:endParaRPr>
          </a:p>
          <a:p>
            <a:pPr marL="641350" marR="6985" lvl="1" indent="-172085">
              <a:lnSpc>
                <a:spcPct val="120700"/>
              </a:lnSpc>
              <a:spcBef>
                <a:spcPts val="475"/>
              </a:spcBef>
              <a:buSzPct val="125000"/>
              <a:buFont typeface="Arial MT"/>
              <a:buChar char="•"/>
              <a:tabLst>
                <a:tab pos="641985" algn="l"/>
              </a:tabLst>
            </a:pPr>
            <a:r>
              <a:rPr sz="2400" spc="-5" dirty="0">
                <a:solidFill>
                  <a:srgbClr val="FFFFFF"/>
                </a:solidFill>
                <a:latin typeface="Times New Roman"/>
                <a:cs typeface="Times New Roman"/>
              </a:rPr>
              <a:t>Database</a:t>
            </a:r>
            <a:r>
              <a:rPr sz="2400" spc="229" dirty="0">
                <a:solidFill>
                  <a:srgbClr val="FFFFFF"/>
                </a:solidFill>
                <a:latin typeface="Times New Roman"/>
                <a:cs typeface="Times New Roman"/>
              </a:rPr>
              <a:t> </a:t>
            </a:r>
            <a:r>
              <a:rPr sz="2400" spc="-5" dirty="0">
                <a:solidFill>
                  <a:srgbClr val="FFFFFF"/>
                </a:solidFill>
                <a:latin typeface="Times New Roman"/>
                <a:cs typeface="Times New Roman"/>
              </a:rPr>
              <a:t>management</a:t>
            </a:r>
            <a:r>
              <a:rPr sz="2400" spc="229" dirty="0">
                <a:solidFill>
                  <a:srgbClr val="FFFFFF"/>
                </a:solidFill>
                <a:latin typeface="Times New Roman"/>
                <a:cs typeface="Times New Roman"/>
              </a:rPr>
              <a:t> </a:t>
            </a:r>
            <a:r>
              <a:rPr sz="2400" spc="-5" dirty="0">
                <a:solidFill>
                  <a:srgbClr val="FFFFFF"/>
                </a:solidFill>
                <a:latin typeface="Times New Roman"/>
                <a:cs typeface="Times New Roman"/>
              </a:rPr>
              <a:t>systems</a:t>
            </a:r>
            <a:r>
              <a:rPr sz="2400" spc="229" dirty="0">
                <a:solidFill>
                  <a:srgbClr val="FFFFFF"/>
                </a:solidFill>
                <a:latin typeface="Times New Roman"/>
                <a:cs typeface="Times New Roman"/>
              </a:rPr>
              <a:t> </a:t>
            </a:r>
            <a:r>
              <a:rPr sz="2400" dirty="0">
                <a:solidFill>
                  <a:srgbClr val="FFFFFF"/>
                </a:solidFill>
                <a:latin typeface="Times New Roman"/>
                <a:cs typeface="Times New Roman"/>
              </a:rPr>
              <a:t>(DBMS)</a:t>
            </a:r>
            <a:r>
              <a:rPr sz="2400" spc="235" dirty="0">
                <a:solidFill>
                  <a:srgbClr val="FFFFFF"/>
                </a:solidFill>
                <a:latin typeface="Times New Roman"/>
                <a:cs typeface="Times New Roman"/>
              </a:rPr>
              <a:t> </a:t>
            </a:r>
            <a:r>
              <a:rPr sz="2400" dirty="0">
                <a:solidFill>
                  <a:srgbClr val="FFFFFF"/>
                </a:solidFill>
                <a:latin typeface="Times New Roman"/>
                <a:cs typeface="Times New Roman"/>
              </a:rPr>
              <a:t>help</a:t>
            </a:r>
            <a:r>
              <a:rPr sz="2400" spc="235" dirty="0">
                <a:solidFill>
                  <a:srgbClr val="FFFFFF"/>
                </a:solidFill>
                <a:latin typeface="Times New Roman"/>
                <a:cs typeface="Times New Roman"/>
              </a:rPr>
              <a:t> </a:t>
            </a:r>
            <a:r>
              <a:rPr sz="2400" dirty="0">
                <a:solidFill>
                  <a:srgbClr val="FFFFFF"/>
                </a:solidFill>
                <a:latin typeface="Times New Roman"/>
                <a:cs typeface="Times New Roman"/>
              </a:rPr>
              <a:t>define</a:t>
            </a:r>
            <a:r>
              <a:rPr sz="2400" spc="229" dirty="0">
                <a:solidFill>
                  <a:srgbClr val="FFFFFF"/>
                </a:solidFill>
                <a:latin typeface="Times New Roman"/>
                <a:cs typeface="Times New Roman"/>
              </a:rPr>
              <a:t> </a:t>
            </a:r>
            <a:r>
              <a:rPr sz="2400" dirty="0">
                <a:solidFill>
                  <a:srgbClr val="FFFFFF"/>
                </a:solidFill>
                <a:latin typeface="Times New Roman"/>
                <a:cs typeface="Times New Roman"/>
              </a:rPr>
              <a:t>potential</a:t>
            </a:r>
            <a:r>
              <a:rPr sz="2400" spc="235" dirty="0">
                <a:solidFill>
                  <a:srgbClr val="FFFFFF"/>
                </a:solidFill>
                <a:latin typeface="Times New Roman"/>
                <a:cs typeface="Times New Roman"/>
              </a:rPr>
              <a:t> </a:t>
            </a:r>
            <a:r>
              <a:rPr sz="2400" spc="-5" dirty="0">
                <a:solidFill>
                  <a:srgbClr val="FFFFFF"/>
                </a:solidFill>
                <a:latin typeface="Times New Roman"/>
                <a:cs typeface="Times New Roman"/>
              </a:rPr>
              <a:t>customers </a:t>
            </a:r>
            <a:r>
              <a:rPr sz="2400" spc="-585" dirty="0">
                <a:solidFill>
                  <a:srgbClr val="FFFFFF"/>
                </a:solidFill>
                <a:latin typeface="Times New Roman"/>
                <a:cs typeface="Times New Roman"/>
              </a:rPr>
              <a:t> </a:t>
            </a:r>
            <a:r>
              <a:rPr sz="2400" spc="-5" dirty="0">
                <a:solidFill>
                  <a:srgbClr val="FFFFFF"/>
                </a:solidFill>
                <a:latin typeface="Times New Roman"/>
                <a:cs typeface="Times New Roman"/>
              </a:rPr>
              <a:t>as</a:t>
            </a:r>
            <a:r>
              <a:rPr sz="2400" spc="-10" dirty="0">
                <a:solidFill>
                  <a:srgbClr val="FFFFFF"/>
                </a:solidFill>
                <a:latin typeface="Times New Roman"/>
                <a:cs typeface="Times New Roman"/>
              </a:rPr>
              <a:t> </a:t>
            </a:r>
            <a:r>
              <a:rPr sz="2400" dirty="0">
                <a:solidFill>
                  <a:srgbClr val="FFFFFF"/>
                </a:solidFill>
                <a:latin typeface="Times New Roman"/>
                <a:cs typeface="Times New Roman"/>
              </a:rPr>
              <a:t>narrowly </a:t>
            </a:r>
            <a:r>
              <a:rPr sz="2400" spc="-5" dirty="0">
                <a:solidFill>
                  <a:srgbClr val="FFFFFF"/>
                </a:solidFill>
                <a:latin typeface="Times New Roman"/>
                <a:cs typeface="Times New Roman"/>
              </a:rPr>
              <a:t>as </a:t>
            </a:r>
            <a:r>
              <a:rPr sz="2400" dirty="0">
                <a:solidFill>
                  <a:srgbClr val="FFFFFF"/>
                </a:solidFill>
                <a:latin typeface="Times New Roman"/>
                <a:cs typeface="Times New Roman"/>
              </a:rPr>
              <a:t>possible</a:t>
            </a:r>
            <a:r>
              <a:rPr sz="2400" spc="-5" dirty="0">
                <a:solidFill>
                  <a:srgbClr val="FFFFFF"/>
                </a:solidFill>
                <a:latin typeface="Times New Roman"/>
                <a:cs typeface="Times New Roman"/>
              </a:rPr>
              <a:t> e.g. </a:t>
            </a:r>
            <a:r>
              <a:rPr sz="2400" dirty="0">
                <a:solidFill>
                  <a:srgbClr val="FFFFFF"/>
                </a:solidFill>
                <a:latin typeface="Times New Roman"/>
                <a:cs typeface="Times New Roman"/>
              </a:rPr>
              <a:t>region </a:t>
            </a:r>
            <a:r>
              <a:rPr sz="2400" spc="-5" dirty="0">
                <a:solidFill>
                  <a:srgbClr val="FFFFFF"/>
                </a:solidFill>
                <a:latin typeface="Times New Roman"/>
                <a:cs typeface="Times New Roman"/>
              </a:rPr>
              <a:t>wise,</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store wise</a:t>
            </a:r>
            <a:endParaRPr sz="240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6209030" cy="574040"/>
          </a:xfrm>
          <a:prstGeom prst="rect">
            <a:avLst/>
          </a:prstGeom>
        </p:spPr>
        <p:txBody>
          <a:bodyPr vert="horz" wrap="square" lIns="0" tIns="12700" rIns="0" bIns="0" rtlCol="0">
            <a:spAutoFit/>
          </a:bodyPr>
          <a:lstStyle/>
          <a:p>
            <a:pPr marL="12700">
              <a:lnSpc>
                <a:spcPct val="100000"/>
              </a:lnSpc>
              <a:spcBef>
                <a:spcPts val="100"/>
              </a:spcBef>
            </a:pPr>
            <a:r>
              <a:rPr spc="-5" dirty="0"/>
              <a:t>MANUFACTURING</a:t>
            </a:r>
            <a:r>
              <a:rPr spc="-85" dirty="0"/>
              <a:t> </a:t>
            </a:r>
            <a:r>
              <a:rPr spc="-5" dirty="0"/>
              <a:t>SYSTEMS</a:t>
            </a:r>
          </a:p>
        </p:txBody>
      </p:sp>
      <p:sp>
        <p:nvSpPr>
          <p:cNvPr id="3" name="object 3"/>
          <p:cNvSpPr txBox="1">
            <a:spLocks noGrp="1"/>
          </p:cNvSpPr>
          <p:nvPr>
            <p:ph type="body" idx="1"/>
          </p:nvPr>
        </p:nvSpPr>
        <p:spPr>
          <a:prstGeom prst="rect">
            <a:avLst/>
          </a:prstGeom>
        </p:spPr>
        <p:txBody>
          <a:bodyPr vert="horz" wrap="square" lIns="0" tIns="123189" rIns="0" bIns="0" rtlCol="0">
            <a:spAutoFit/>
          </a:bodyPr>
          <a:lstStyle/>
          <a:p>
            <a:pPr marL="215900" indent="-172085">
              <a:lnSpc>
                <a:spcPct val="100000"/>
              </a:lnSpc>
              <a:spcBef>
                <a:spcPts val="969"/>
              </a:spcBef>
              <a:buSzPct val="125000"/>
              <a:buFont typeface="Arial MT"/>
              <a:buChar char="•"/>
              <a:tabLst>
                <a:tab pos="217170" algn="l"/>
              </a:tabLst>
            </a:pPr>
            <a:r>
              <a:rPr spc="-5" dirty="0"/>
              <a:t>Support</a:t>
            </a:r>
            <a:r>
              <a:rPr spc="-30" dirty="0"/>
              <a:t> </a:t>
            </a:r>
            <a:r>
              <a:rPr spc="-5" dirty="0"/>
              <a:t>the</a:t>
            </a:r>
            <a:r>
              <a:rPr spc="-25" dirty="0"/>
              <a:t> </a:t>
            </a:r>
            <a:r>
              <a:rPr dirty="0"/>
              <a:t>production/operations</a:t>
            </a:r>
            <a:r>
              <a:rPr spc="-20" dirty="0"/>
              <a:t> </a:t>
            </a:r>
            <a:r>
              <a:rPr dirty="0"/>
              <a:t>function</a:t>
            </a:r>
          </a:p>
          <a:p>
            <a:pPr marL="215900" indent="-172085">
              <a:lnSpc>
                <a:spcPct val="100000"/>
              </a:lnSpc>
              <a:spcBef>
                <a:spcPts val="1720"/>
              </a:spcBef>
              <a:buSzPct val="125000"/>
              <a:buFont typeface="Arial MT"/>
              <a:buChar char="•"/>
              <a:tabLst>
                <a:tab pos="217170" algn="l"/>
              </a:tabLst>
            </a:pPr>
            <a:r>
              <a:rPr spc="-5" dirty="0"/>
              <a:t>Assists</a:t>
            </a:r>
            <a:r>
              <a:rPr spc="-35" dirty="0"/>
              <a:t> </a:t>
            </a:r>
            <a:r>
              <a:rPr dirty="0"/>
              <a:t>firms</a:t>
            </a:r>
            <a:r>
              <a:rPr spc="-30" dirty="0"/>
              <a:t> </a:t>
            </a:r>
            <a:r>
              <a:rPr spc="-5" dirty="0"/>
              <a:t>in,</a:t>
            </a:r>
          </a:p>
          <a:p>
            <a:pPr marL="673100" marR="5080" lvl="1" indent="-172085">
              <a:lnSpc>
                <a:spcPct val="120700"/>
              </a:lnSpc>
              <a:spcBef>
                <a:spcPts val="475"/>
              </a:spcBef>
              <a:buSzPct val="125000"/>
              <a:buFont typeface="Arial MT"/>
              <a:buChar char="•"/>
              <a:tabLst>
                <a:tab pos="674370" algn="l"/>
              </a:tabLst>
            </a:pPr>
            <a:r>
              <a:rPr sz="2400" spc="-5" dirty="0">
                <a:solidFill>
                  <a:srgbClr val="FFFFFF"/>
                </a:solidFill>
                <a:latin typeface="Times New Roman"/>
                <a:cs typeface="Times New Roman"/>
              </a:rPr>
              <a:t>Planning,</a:t>
            </a:r>
            <a:r>
              <a:rPr sz="2400" spc="45" dirty="0">
                <a:solidFill>
                  <a:srgbClr val="FFFFFF"/>
                </a:solidFill>
                <a:latin typeface="Times New Roman"/>
                <a:cs typeface="Times New Roman"/>
              </a:rPr>
              <a:t> </a:t>
            </a:r>
            <a:r>
              <a:rPr sz="2400" spc="-5" dirty="0">
                <a:solidFill>
                  <a:srgbClr val="FFFFFF"/>
                </a:solidFill>
                <a:latin typeface="Times New Roman"/>
                <a:cs typeface="Times New Roman"/>
              </a:rPr>
              <a:t>monitoring,</a:t>
            </a:r>
            <a:r>
              <a:rPr sz="2400" spc="40" dirty="0">
                <a:solidFill>
                  <a:srgbClr val="FFFFFF"/>
                </a:solidFill>
                <a:latin typeface="Times New Roman"/>
                <a:cs typeface="Times New Roman"/>
              </a:rPr>
              <a:t> </a:t>
            </a:r>
            <a:r>
              <a:rPr sz="2400" dirty="0">
                <a:solidFill>
                  <a:srgbClr val="FFFFFF"/>
                </a:solidFill>
                <a:latin typeface="Times New Roman"/>
                <a:cs typeface="Times New Roman"/>
              </a:rPr>
              <a:t>&amp;</a:t>
            </a:r>
            <a:r>
              <a:rPr sz="2400" spc="45" dirty="0">
                <a:solidFill>
                  <a:srgbClr val="FFFFFF"/>
                </a:solidFill>
                <a:latin typeface="Times New Roman"/>
                <a:cs typeface="Times New Roman"/>
              </a:rPr>
              <a:t> </a:t>
            </a:r>
            <a:r>
              <a:rPr sz="2400" spc="-5" dirty="0">
                <a:solidFill>
                  <a:srgbClr val="FFFFFF"/>
                </a:solidFill>
                <a:latin typeface="Times New Roman"/>
                <a:cs typeface="Times New Roman"/>
              </a:rPr>
              <a:t>controlling</a:t>
            </a:r>
            <a:r>
              <a:rPr sz="2400" spc="40" dirty="0">
                <a:solidFill>
                  <a:srgbClr val="FFFFFF"/>
                </a:solidFill>
                <a:latin typeface="Times New Roman"/>
                <a:cs typeface="Times New Roman"/>
              </a:rPr>
              <a:t> </a:t>
            </a:r>
            <a:r>
              <a:rPr sz="2400" spc="-5" dirty="0">
                <a:solidFill>
                  <a:srgbClr val="FFFFFF"/>
                </a:solidFill>
                <a:latin typeface="Times New Roman"/>
                <a:cs typeface="Times New Roman"/>
              </a:rPr>
              <a:t>inventories,</a:t>
            </a:r>
            <a:r>
              <a:rPr sz="2400" spc="40" dirty="0">
                <a:solidFill>
                  <a:srgbClr val="FFFFFF"/>
                </a:solidFill>
                <a:latin typeface="Times New Roman"/>
                <a:cs typeface="Times New Roman"/>
              </a:rPr>
              <a:t> </a:t>
            </a:r>
            <a:r>
              <a:rPr sz="2400" dirty="0">
                <a:solidFill>
                  <a:srgbClr val="FFFFFF"/>
                </a:solidFill>
                <a:latin typeface="Times New Roman"/>
                <a:cs typeface="Times New Roman"/>
              </a:rPr>
              <a:t>purchases,</a:t>
            </a:r>
            <a:r>
              <a:rPr sz="2400" spc="50" dirty="0">
                <a:solidFill>
                  <a:srgbClr val="FFFFFF"/>
                </a:solidFill>
                <a:latin typeface="Times New Roman"/>
                <a:cs typeface="Times New Roman"/>
              </a:rPr>
              <a:t> </a:t>
            </a:r>
            <a:r>
              <a:rPr sz="2400" dirty="0">
                <a:solidFill>
                  <a:srgbClr val="FFFFFF"/>
                </a:solidFill>
                <a:latin typeface="Times New Roman"/>
                <a:cs typeface="Times New Roman"/>
              </a:rPr>
              <a:t>&amp;</a:t>
            </a:r>
            <a:r>
              <a:rPr sz="2400" spc="40" dirty="0">
                <a:solidFill>
                  <a:srgbClr val="FFFFFF"/>
                </a:solidFill>
                <a:latin typeface="Times New Roman"/>
                <a:cs typeface="Times New Roman"/>
              </a:rPr>
              <a:t> </a:t>
            </a:r>
            <a:r>
              <a:rPr sz="2400" spc="-5" dirty="0">
                <a:solidFill>
                  <a:srgbClr val="FFFFFF"/>
                </a:solidFill>
                <a:latin typeface="Times New Roman"/>
                <a:cs typeface="Times New Roman"/>
              </a:rPr>
              <a:t>the</a:t>
            </a:r>
            <a:r>
              <a:rPr sz="2400" spc="40" dirty="0">
                <a:solidFill>
                  <a:srgbClr val="FFFFFF"/>
                </a:solidFill>
                <a:latin typeface="Times New Roman"/>
                <a:cs typeface="Times New Roman"/>
              </a:rPr>
              <a:t> </a:t>
            </a:r>
            <a:r>
              <a:rPr sz="2400" dirty="0">
                <a:solidFill>
                  <a:srgbClr val="FFFFFF"/>
                </a:solidFill>
                <a:latin typeface="Times New Roman"/>
                <a:cs typeface="Times New Roman"/>
              </a:rPr>
              <a:t>flow</a:t>
            </a:r>
            <a:r>
              <a:rPr sz="2400" spc="50" dirty="0">
                <a:solidFill>
                  <a:srgbClr val="FFFFFF"/>
                </a:solidFill>
                <a:latin typeface="Times New Roman"/>
                <a:cs typeface="Times New Roman"/>
              </a:rPr>
              <a:t> </a:t>
            </a:r>
            <a:r>
              <a:rPr sz="2400" dirty="0">
                <a:solidFill>
                  <a:srgbClr val="FFFFFF"/>
                </a:solidFill>
                <a:latin typeface="Times New Roman"/>
                <a:cs typeface="Times New Roman"/>
              </a:rPr>
              <a:t>of </a:t>
            </a:r>
            <a:r>
              <a:rPr sz="2400" spc="-585" dirty="0">
                <a:solidFill>
                  <a:srgbClr val="FFFFFF"/>
                </a:solidFill>
                <a:latin typeface="Times New Roman"/>
                <a:cs typeface="Times New Roman"/>
              </a:rPr>
              <a:t> </a:t>
            </a:r>
            <a:r>
              <a:rPr sz="2400" dirty="0">
                <a:solidFill>
                  <a:srgbClr val="FFFFFF"/>
                </a:solidFill>
                <a:latin typeface="Times New Roman"/>
                <a:cs typeface="Times New Roman"/>
              </a:rPr>
              <a:t>goods</a:t>
            </a:r>
            <a:r>
              <a:rPr sz="2400" spc="-5" dirty="0">
                <a:solidFill>
                  <a:srgbClr val="FFFFFF"/>
                </a:solidFill>
                <a:latin typeface="Times New Roman"/>
                <a:cs typeface="Times New Roman"/>
              </a:rPr>
              <a:t> and services</a:t>
            </a:r>
            <a:endParaRPr sz="2400">
              <a:latin typeface="Times New Roman"/>
              <a:cs typeface="Times New Roman"/>
            </a:endParaRPr>
          </a:p>
          <a:p>
            <a:pPr marL="673100" lvl="1" indent="-172085">
              <a:lnSpc>
                <a:spcPct val="100000"/>
              </a:lnSpc>
              <a:spcBef>
                <a:spcPts val="1050"/>
              </a:spcBef>
              <a:buSzPct val="125000"/>
              <a:buFont typeface="Arial MT"/>
              <a:buChar char="•"/>
              <a:tabLst>
                <a:tab pos="674370" algn="l"/>
              </a:tabLst>
            </a:pPr>
            <a:r>
              <a:rPr sz="2400" spc="-5" dirty="0">
                <a:solidFill>
                  <a:srgbClr val="FFFFFF"/>
                </a:solidFill>
                <a:latin typeface="Times New Roman"/>
                <a:cs typeface="Times New Roman"/>
              </a:rPr>
              <a:t>Plant</a:t>
            </a:r>
            <a:r>
              <a:rPr sz="2400" spc="-35" dirty="0">
                <a:solidFill>
                  <a:srgbClr val="FFFFFF"/>
                </a:solidFill>
                <a:latin typeface="Times New Roman"/>
                <a:cs typeface="Times New Roman"/>
              </a:rPr>
              <a:t> </a:t>
            </a:r>
            <a:r>
              <a:rPr sz="2400" spc="-5" dirty="0">
                <a:solidFill>
                  <a:srgbClr val="FFFFFF"/>
                </a:solidFill>
                <a:latin typeface="Times New Roman"/>
                <a:cs typeface="Times New Roman"/>
              </a:rPr>
              <a:t>activity</a:t>
            </a:r>
            <a:r>
              <a:rPr sz="2400" spc="-30" dirty="0">
                <a:solidFill>
                  <a:srgbClr val="FFFFFF"/>
                </a:solidFill>
                <a:latin typeface="Times New Roman"/>
                <a:cs typeface="Times New Roman"/>
              </a:rPr>
              <a:t> </a:t>
            </a:r>
            <a:r>
              <a:rPr sz="2400" spc="-5" dirty="0">
                <a:solidFill>
                  <a:srgbClr val="FFFFFF"/>
                </a:solidFill>
                <a:latin typeface="Times New Roman"/>
                <a:cs typeface="Times New Roman"/>
              </a:rPr>
              <a:t>scheduling</a:t>
            </a:r>
            <a:endParaRPr sz="2400">
              <a:latin typeface="Times New Roman"/>
              <a:cs typeface="Times New Roman"/>
            </a:endParaRPr>
          </a:p>
          <a:p>
            <a:pPr marL="673100" lvl="1" indent="-172085">
              <a:lnSpc>
                <a:spcPct val="100000"/>
              </a:lnSpc>
              <a:spcBef>
                <a:spcPts val="1220"/>
              </a:spcBef>
              <a:buSzPct val="125000"/>
              <a:buFont typeface="Arial MT"/>
              <a:buChar char="•"/>
              <a:tabLst>
                <a:tab pos="674370" algn="l"/>
              </a:tabLst>
            </a:pPr>
            <a:r>
              <a:rPr sz="2400" spc="-5" dirty="0">
                <a:solidFill>
                  <a:srgbClr val="FFFFFF"/>
                </a:solidFill>
                <a:latin typeface="Times New Roman"/>
                <a:cs typeface="Times New Roman"/>
              </a:rPr>
              <a:t>Material</a:t>
            </a:r>
            <a:r>
              <a:rPr sz="2400" spc="-35" dirty="0">
                <a:solidFill>
                  <a:srgbClr val="FFFFFF"/>
                </a:solidFill>
                <a:latin typeface="Times New Roman"/>
                <a:cs typeface="Times New Roman"/>
              </a:rPr>
              <a:t> </a:t>
            </a:r>
            <a:r>
              <a:rPr sz="2400" dirty="0">
                <a:solidFill>
                  <a:srgbClr val="FFFFFF"/>
                </a:solidFill>
                <a:latin typeface="Times New Roman"/>
                <a:cs typeface="Times New Roman"/>
              </a:rPr>
              <a:t>requirement</a:t>
            </a:r>
            <a:r>
              <a:rPr sz="2400" spc="-30" dirty="0">
                <a:solidFill>
                  <a:srgbClr val="FFFFFF"/>
                </a:solidFill>
                <a:latin typeface="Times New Roman"/>
                <a:cs typeface="Times New Roman"/>
              </a:rPr>
              <a:t> </a:t>
            </a:r>
            <a:r>
              <a:rPr sz="2400" spc="-5" dirty="0">
                <a:solidFill>
                  <a:srgbClr val="FFFFFF"/>
                </a:solidFill>
                <a:latin typeface="Times New Roman"/>
                <a:cs typeface="Times New Roman"/>
              </a:rPr>
              <a:t>assessment</a:t>
            </a:r>
            <a:endParaRPr sz="2400">
              <a:latin typeface="Times New Roman"/>
              <a:cs typeface="Times New Roman"/>
            </a:endParaRPr>
          </a:p>
          <a:p>
            <a:pPr marL="673100" lvl="1" indent="-172085">
              <a:lnSpc>
                <a:spcPct val="100000"/>
              </a:lnSpc>
              <a:spcBef>
                <a:spcPts val="1220"/>
              </a:spcBef>
              <a:buSzPct val="125000"/>
              <a:buFont typeface="Arial MT"/>
              <a:buChar char="•"/>
              <a:tabLst>
                <a:tab pos="674370" algn="l"/>
              </a:tabLst>
            </a:pPr>
            <a:r>
              <a:rPr sz="2400" spc="-5" dirty="0">
                <a:solidFill>
                  <a:srgbClr val="FFFFFF"/>
                </a:solidFill>
                <a:latin typeface="Times New Roman"/>
                <a:cs typeface="Times New Roman"/>
              </a:rPr>
              <a:t>Material</a:t>
            </a:r>
            <a:r>
              <a:rPr sz="2400" spc="-30" dirty="0">
                <a:solidFill>
                  <a:srgbClr val="FFFFFF"/>
                </a:solidFill>
                <a:latin typeface="Times New Roman"/>
                <a:cs typeface="Times New Roman"/>
              </a:rPr>
              <a:t> </a:t>
            </a:r>
            <a:r>
              <a:rPr sz="2400" dirty="0">
                <a:solidFill>
                  <a:srgbClr val="FFFFFF"/>
                </a:solidFill>
                <a:latin typeface="Times New Roman"/>
                <a:cs typeface="Times New Roman"/>
              </a:rPr>
              <a:t>reallocation</a:t>
            </a:r>
            <a:r>
              <a:rPr sz="2400" spc="-20" dirty="0">
                <a:solidFill>
                  <a:srgbClr val="FFFFFF"/>
                </a:solidFill>
                <a:latin typeface="Times New Roman"/>
                <a:cs typeface="Times New Roman"/>
              </a:rPr>
              <a:t> </a:t>
            </a:r>
            <a:r>
              <a:rPr sz="2400" dirty="0">
                <a:solidFill>
                  <a:srgbClr val="FFFFFF"/>
                </a:solidFill>
                <a:latin typeface="Times New Roman"/>
                <a:cs typeface="Times New Roman"/>
              </a:rPr>
              <a:t>between</a:t>
            </a:r>
            <a:r>
              <a:rPr sz="2400" spc="-25" dirty="0">
                <a:solidFill>
                  <a:srgbClr val="FFFFFF"/>
                </a:solidFill>
                <a:latin typeface="Times New Roman"/>
                <a:cs typeface="Times New Roman"/>
              </a:rPr>
              <a:t> </a:t>
            </a:r>
            <a:r>
              <a:rPr sz="2400" dirty="0">
                <a:solidFill>
                  <a:srgbClr val="FFFFFF"/>
                </a:solidFill>
                <a:latin typeface="Times New Roman"/>
                <a:cs typeface="Times New Roman"/>
              </a:rPr>
              <a:t>orders</a:t>
            </a:r>
            <a:endParaRPr sz="2400">
              <a:latin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6209030" cy="574040"/>
          </a:xfrm>
          <a:prstGeom prst="rect">
            <a:avLst/>
          </a:prstGeom>
        </p:spPr>
        <p:txBody>
          <a:bodyPr vert="horz" wrap="square" lIns="0" tIns="12700" rIns="0" bIns="0" rtlCol="0">
            <a:spAutoFit/>
          </a:bodyPr>
          <a:lstStyle/>
          <a:p>
            <a:pPr marL="12700">
              <a:lnSpc>
                <a:spcPct val="100000"/>
              </a:lnSpc>
              <a:spcBef>
                <a:spcPts val="100"/>
              </a:spcBef>
            </a:pPr>
            <a:r>
              <a:rPr spc="-5" dirty="0"/>
              <a:t>MANUFACTURING</a:t>
            </a:r>
            <a:r>
              <a:rPr spc="-85" dirty="0"/>
              <a:t> </a:t>
            </a:r>
            <a:r>
              <a:rPr spc="-5" dirty="0"/>
              <a:t>SYSTEMS</a:t>
            </a:r>
          </a:p>
        </p:txBody>
      </p:sp>
      <p:sp>
        <p:nvSpPr>
          <p:cNvPr id="3" name="object 3"/>
          <p:cNvSpPr txBox="1"/>
          <p:nvPr/>
        </p:nvSpPr>
        <p:spPr>
          <a:xfrm>
            <a:off x="1271549" y="2226117"/>
            <a:ext cx="9685020" cy="4565650"/>
          </a:xfrm>
          <a:prstGeom prst="rect">
            <a:avLst/>
          </a:prstGeom>
        </p:spPr>
        <p:txBody>
          <a:bodyPr vert="horz" wrap="square" lIns="0" tIns="46990" rIns="0" bIns="0" rtlCol="0">
            <a:spAutoFit/>
          </a:bodyPr>
          <a:lstStyle/>
          <a:p>
            <a:pPr marL="184150" marR="14604" indent="-172085">
              <a:lnSpc>
                <a:spcPts val="3740"/>
              </a:lnSpc>
              <a:spcBef>
                <a:spcPts val="370"/>
              </a:spcBef>
              <a:buSzPct val="125000"/>
              <a:buFont typeface="Arial MT"/>
              <a:buChar char="•"/>
              <a:tabLst>
                <a:tab pos="184785" algn="l"/>
                <a:tab pos="2867660" algn="l"/>
                <a:tab pos="4817745" algn="l"/>
                <a:tab pos="5735955" algn="l"/>
                <a:tab pos="6246495" algn="l"/>
                <a:tab pos="8156575" algn="l"/>
                <a:tab pos="9408795" algn="l"/>
              </a:tabLst>
            </a:pPr>
            <a:r>
              <a:rPr sz="2400" spc="-5" dirty="0">
                <a:solidFill>
                  <a:srgbClr val="FFFFFF"/>
                </a:solidFill>
                <a:latin typeface="Times New Roman"/>
                <a:cs typeface="Times New Roman"/>
              </a:rPr>
              <a:t>Computer-Integrate</a:t>
            </a:r>
            <a:r>
              <a:rPr sz="2400" dirty="0">
                <a:solidFill>
                  <a:srgbClr val="FFFFFF"/>
                </a:solidFill>
                <a:latin typeface="Times New Roman"/>
                <a:cs typeface="Times New Roman"/>
              </a:rPr>
              <a:t>d	</a:t>
            </a:r>
            <a:r>
              <a:rPr sz="2400" spc="-5" dirty="0">
                <a:solidFill>
                  <a:srgbClr val="FFFFFF"/>
                </a:solidFill>
                <a:latin typeface="Times New Roman"/>
                <a:cs typeface="Times New Roman"/>
              </a:rPr>
              <a:t>Manufacturin</a:t>
            </a:r>
            <a:r>
              <a:rPr sz="2400" dirty="0">
                <a:solidFill>
                  <a:srgbClr val="FFFFFF"/>
                </a:solidFill>
                <a:latin typeface="Times New Roman"/>
                <a:cs typeface="Times New Roman"/>
              </a:rPr>
              <a:t>g	(CIM)	</a:t>
            </a:r>
            <a:r>
              <a:rPr sz="2400" spc="-5" dirty="0">
                <a:solidFill>
                  <a:srgbClr val="FFFFFF"/>
                </a:solidFill>
                <a:latin typeface="Times New Roman"/>
                <a:cs typeface="Times New Roman"/>
              </a:rPr>
              <a:t>th</a:t>
            </a:r>
            <a:r>
              <a:rPr sz="2400" dirty="0">
                <a:solidFill>
                  <a:srgbClr val="FFFFFF"/>
                </a:solidFill>
                <a:latin typeface="Times New Roman"/>
                <a:cs typeface="Times New Roman"/>
              </a:rPr>
              <a:t>e	</a:t>
            </a:r>
            <a:r>
              <a:rPr sz="2400" spc="-5" dirty="0">
                <a:solidFill>
                  <a:srgbClr val="FFFFFF"/>
                </a:solidFill>
                <a:latin typeface="Times New Roman"/>
                <a:cs typeface="Times New Roman"/>
              </a:rPr>
              <a:t>manufacturin</a:t>
            </a:r>
            <a:r>
              <a:rPr sz="2400" dirty="0">
                <a:solidFill>
                  <a:srgbClr val="FFFFFF"/>
                </a:solidFill>
                <a:latin typeface="Times New Roman"/>
                <a:cs typeface="Times New Roman"/>
              </a:rPr>
              <a:t>g	</a:t>
            </a:r>
            <a:r>
              <a:rPr sz="2400" spc="-5" dirty="0">
                <a:solidFill>
                  <a:srgbClr val="FFFFFF"/>
                </a:solidFill>
                <a:latin typeface="Times New Roman"/>
                <a:cs typeface="Times New Roman"/>
              </a:rPr>
              <a:t>approac</a:t>
            </a:r>
            <a:r>
              <a:rPr sz="2400" dirty="0">
                <a:solidFill>
                  <a:srgbClr val="FFFFFF"/>
                </a:solidFill>
                <a:latin typeface="Times New Roman"/>
                <a:cs typeface="Times New Roman"/>
              </a:rPr>
              <a:t>h	of  using</a:t>
            </a:r>
            <a:r>
              <a:rPr sz="2400" spc="-5" dirty="0">
                <a:solidFill>
                  <a:srgbClr val="FFFFFF"/>
                </a:solidFill>
                <a:latin typeface="Times New Roman"/>
                <a:cs typeface="Times New Roman"/>
              </a:rPr>
              <a:t> computers to</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control the entire</a:t>
            </a:r>
            <a:r>
              <a:rPr sz="2400" spc="-10" dirty="0">
                <a:solidFill>
                  <a:srgbClr val="FFFFFF"/>
                </a:solidFill>
                <a:latin typeface="Times New Roman"/>
                <a:cs typeface="Times New Roman"/>
              </a:rPr>
              <a:t> </a:t>
            </a:r>
            <a:r>
              <a:rPr sz="2400" dirty="0">
                <a:solidFill>
                  <a:srgbClr val="FFFFFF"/>
                </a:solidFill>
                <a:latin typeface="Times New Roman"/>
                <a:cs typeface="Times New Roman"/>
              </a:rPr>
              <a:t>production process</a:t>
            </a:r>
            <a:endParaRPr sz="2400">
              <a:latin typeface="Times New Roman"/>
              <a:cs typeface="Times New Roman"/>
            </a:endParaRPr>
          </a:p>
          <a:p>
            <a:pPr marL="184150" indent="-172085">
              <a:lnSpc>
                <a:spcPct val="100000"/>
              </a:lnSpc>
              <a:spcBef>
                <a:spcPts val="1290"/>
              </a:spcBef>
              <a:buSzPct val="125000"/>
              <a:buFont typeface="Arial MT"/>
              <a:buChar char="•"/>
              <a:tabLst>
                <a:tab pos="184785" algn="l"/>
              </a:tabLst>
            </a:pPr>
            <a:r>
              <a:rPr sz="2400" spc="-5" dirty="0">
                <a:solidFill>
                  <a:srgbClr val="FFFFFF"/>
                </a:solidFill>
                <a:latin typeface="Times New Roman"/>
                <a:cs typeface="Times New Roman"/>
              </a:rPr>
              <a:t>Objectives</a:t>
            </a:r>
            <a:r>
              <a:rPr sz="2400" spc="-35" dirty="0">
                <a:solidFill>
                  <a:srgbClr val="FFFFFF"/>
                </a:solidFill>
                <a:latin typeface="Times New Roman"/>
                <a:cs typeface="Times New Roman"/>
              </a:rPr>
              <a:t> </a:t>
            </a:r>
            <a:r>
              <a:rPr sz="2400" dirty="0">
                <a:solidFill>
                  <a:srgbClr val="FFFFFF"/>
                </a:solidFill>
                <a:latin typeface="Times New Roman"/>
                <a:cs typeface="Times New Roman"/>
              </a:rPr>
              <a:t>of</a:t>
            </a:r>
            <a:r>
              <a:rPr sz="2400" spc="-30" dirty="0">
                <a:solidFill>
                  <a:srgbClr val="FFFFFF"/>
                </a:solidFill>
                <a:latin typeface="Times New Roman"/>
                <a:cs typeface="Times New Roman"/>
              </a:rPr>
              <a:t> </a:t>
            </a:r>
            <a:r>
              <a:rPr sz="2400" spc="-5" dirty="0">
                <a:solidFill>
                  <a:srgbClr val="FFFFFF"/>
                </a:solidFill>
                <a:latin typeface="Times New Roman"/>
                <a:cs typeface="Times New Roman"/>
              </a:rPr>
              <a:t>CIM</a:t>
            </a:r>
            <a:endParaRPr sz="2400">
              <a:latin typeface="Times New Roman"/>
              <a:cs typeface="Times New Roman"/>
            </a:endParaRPr>
          </a:p>
          <a:p>
            <a:pPr marL="641350" marR="5080" lvl="1" indent="-176530">
              <a:lnSpc>
                <a:spcPct val="130000"/>
              </a:lnSpc>
              <a:spcBef>
                <a:spcPts val="985"/>
              </a:spcBef>
              <a:buSzPct val="125000"/>
              <a:buFont typeface="Arial"/>
              <a:buChar char="•"/>
              <a:tabLst>
                <a:tab pos="641985" algn="l"/>
              </a:tabLst>
            </a:pPr>
            <a:r>
              <a:rPr sz="2200" b="1" spc="-5" dirty="0">
                <a:solidFill>
                  <a:srgbClr val="FFFFFF"/>
                </a:solidFill>
                <a:latin typeface="Times New Roman"/>
                <a:cs typeface="Times New Roman"/>
              </a:rPr>
              <a:t>Simplify</a:t>
            </a:r>
            <a:r>
              <a:rPr sz="2200" b="1" spc="250" dirty="0">
                <a:solidFill>
                  <a:srgbClr val="FFFFFF"/>
                </a:solidFill>
                <a:latin typeface="Times New Roman"/>
                <a:cs typeface="Times New Roman"/>
              </a:rPr>
              <a:t> </a:t>
            </a:r>
            <a:r>
              <a:rPr sz="2200" dirty="0">
                <a:solidFill>
                  <a:srgbClr val="FFFFFF"/>
                </a:solidFill>
                <a:latin typeface="Times New Roman"/>
                <a:cs typeface="Times New Roman"/>
              </a:rPr>
              <a:t>production</a:t>
            </a:r>
            <a:r>
              <a:rPr sz="2200" spc="250" dirty="0">
                <a:solidFill>
                  <a:srgbClr val="FFFFFF"/>
                </a:solidFill>
                <a:latin typeface="Times New Roman"/>
                <a:cs typeface="Times New Roman"/>
              </a:rPr>
              <a:t> </a:t>
            </a:r>
            <a:r>
              <a:rPr sz="2200" dirty="0">
                <a:solidFill>
                  <a:srgbClr val="FFFFFF"/>
                </a:solidFill>
                <a:latin typeface="Times New Roman"/>
                <a:cs typeface="Times New Roman"/>
              </a:rPr>
              <a:t>processes</a:t>
            </a:r>
            <a:r>
              <a:rPr sz="2200" spc="250" dirty="0">
                <a:solidFill>
                  <a:srgbClr val="FFFFFF"/>
                </a:solidFill>
                <a:latin typeface="Times New Roman"/>
                <a:cs typeface="Times New Roman"/>
              </a:rPr>
              <a:t> </a:t>
            </a:r>
            <a:r>
              <a:rPr sz="2200" dirty="0">
                <a:solidFill>
                  <a:srgbClr val="FFFFFF"/>
                </a:solidFill>
                <a:latin typeface="Times New Roman"/>
                <a:cs typeface="Times New Roman"/>
              </a:rPr>
              <a:t>,</a:t>
            </a:r>
            <a:r>
              <a:rPr sz="2200" spc="254" dirty="0">
                <a:solidFill>
                  <a:srgbClr val="FFFFFF"/>
                </a:solidFill>
                <a:latin typeface="Times New Roman"/>
                <a:cs typeface="Times New Roman"/>
              </a:rPr>
              <a:t> </a:t>
            </a:r>
            <a:r>
              <a:rPr sz="2200" dirty="0">
                <a:solidFill>
                  <a:srgbClr val="FFFFFF"/>
                </a:solidFill>
                <a:latin typeface="Times New Roman"/>
                <a:cs typeface="Times New Roman"/>
              </a:rPr>
              <a:t>product</a:t>
            </a:r>
            <a:r>
              <a:rPr sz="2200" spc="250" dirty="0">
                <a:solidFill>
                  <a:srgbClr val="FFFFFF"/>
                </a:solidFill>
                <a:latin typeface="Times New Roman"/>
                <a:cs typeface="Times New Roman"/>
              </a:rPr>
              <a:t> </a:t>
            </a:r>
            <a:r>
              <a:rPr sz="2200" dirty="0">
                <a:solidFill>
                  <a:srgbClr val="FFFFFF"/>
                </a:solidFill>
                <a:latin typeface="Times New Roman"/>
                <a:cs typeface="Times New Roman"/>
              </a:rPr>
              <a:t>designs</a:t>
            </a:r>
            <a:r>
              <a:rPr sz="2200" spc="250" dirty="0">
                <a:solidFill>
                  <a:srgbClr val="FFFFFF"/>
                </a:solidFill>
                <a:latin typeface="Times New Roman"/>
                <a:cs typeface="Times New Roman"/>
              </a:rPr>
              <a:t> </a:t>
            </a:r>
            <a:r>
              <a:rPr sz="2200" spc="-5" dirty="0">
                <a:solidFill>
                  <a:srgbClr val="FFFFFF"/>
                </a:solidFill>
                <a:latin typeface="Times New Roman"/>
                <a:cs typeface="Times New Roman"/>
              </a:rPr>
              <a:t>and</a:t>
            </a:r>
            <a:r>
              <a:rPr sz="2200" spc="254" dirty="0">
                <a:solidFill>
                  <a:srgbClr val="FFFFFF"/>
                </a:solidFill>
                <a:latin typeface="Times New Roman"/>
                <a:cs typeface="Times New Roman"/>
              </a:rPr>
              <a:t> </a:t>
            </a:r>
            <a:r>
              <a:rPr sz="2200" dirty="0">
                <a:solidFill>
                  <a:srgbClr val="FFFFFF"/>
                </a:solidFill>
                <a:latin typeface="Times New Roman"/>
                <a:cs typeface="Times New Roman"/>
              </a:rPr>
              <a:t>factory</a:t>
            </a:r>
            <a:r>
              <a:rPr sz="2200" spc="250" dirty="0">
                <a:solidFill>
                  <a:srgbClr val="FFFFFF"/>
                </a:solidFill>
                <a:latin typeface="Times New Roman"/>
                <a:cs typeface="Times New Roman"/>
              </a:rPr>
              <a:t> </a:t>
            </a:r>
            <a:r>
              <a:rPr sz="2200" dirty="0">
                <a:solidFill>
                  <a:srgbClr val="FFFFFF"/>
                </a:solidFill>
                <a:latin typeface="Times New Roman"/>
                <a:cs typeface="Times New Roman"/>
              </a:rPr>
              <a:t>organization</a:t>
            </a:r>
            <a:r>
              <a:rPr sz="2200" spc="250" dirty="0">
                <a:solidFill>
                  <a:srgbClr val="FFFFFF"/>
                </a:solidFill>
                <a:latin typeface="Times New Roman"/>
                <a:cs typeface="Times New Roman"/>
              </a:rPr>
              <a:t> </a:t>
            </a:r>
            <a:r>
              <a:rPr sz="2200" spc="-5" dirty="0">
                <a:solidFill>
                  <a:srgbClr val="FFFFFF"/>
                </a:solidFill>
                <a:latin typeface="Times New Roman"/>
                <a:cs typeface="Times New Roman"/>
              </a:rPr>
              <a:t>as</a:t>
            </a:r>
            <a:r>
              <a:rPr sz="2200" spc="254" dirty="0">
                <a:solidFill>
                  <a:srgbClr val="FFFFFF"/>
                </a:solidFill>
                <a:latin typeface="Times New Roman"/>
                <a:cs typeface="Times New Roman"/>
              </a:rPr>
              <a:t> </a:t>
            </a:r>
            <a:r>
              <a:rPr sz="2200" dirty="0">
                <a:solidFill>
                  <a:srgbClr val="FFFFFF"/>
                </a:solidFill>
                <a:latin typeface="Times New Roman"/>
                <a:cs typeface="Times New Roman"/>
              </a:rPr>
              <a:t>a </a:t>
            </a:r>
            <a:r>
              <a:rPr sz="2200" spc="-535" dirty="0">
                <a:solidFill>
                  <a:srgbClr val="FFFFFF"/>
                </a:solidFill>
                <a:latin typeface="Times New Roman"/>
                <a:cs typeface="Times New Roman"/>
              </a:rPr>
              <a:t> </a:t>
            </a:r>
            <a:r>
              <a:rPr sz="2200" dirty="0">
                <a:solidFill>
                  <a:srgbClr val="FFFFFF"/>
                </a:solidFill>
                <a:latin typeface="Times New Roman"/>
                <a:cs typeface="Times New Roman"/>
              </a:rPr>
              <a:t>vital</a:t>
            </a:r>
            <a:r>
              <a:rPr sz="2200" spc="-5" dirty="0">
                <a:solidFill>
                  <a:srgbClr val="FFFFFF"/>
                </a:solidFill>
                <a:latin typeface="Times New Roman"/>
                <a:cs typeface="Times New Roman"/>
              </a:rPr>
              <a:t> </a:t>
            </a:r>
            <a:r>
              <a:rPr sz="2200" dirty="0">
                <a:solidFill>
                  <a:srgbClr val="FFFFFF"/>
                </a:solidFill>
                <a:latin typeface="Times New Roman"/>
                <a:cs typeface="Times New Roman"/>
              </a:rPr>
              <a:t>foundation </a:t>
            </a:r>
            <a:r>
              <a:rPr sz="2200" spc="-5" dirty="0">
                <a:solidFill>
                  <a:srgbClr val="FFFFFF"/>
                </a:solidFill>
                <a:latin typeface="Times New Roman"/>
                <a:cs typeface="Times New Roman"/>
              </a:rPr>
              <a:t>to automation</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and integration.</a:t>
            </a:r>
            <a:endParaRPr sz="2200">
              <a:latin typeface="Times New Roman"/>
              <a:cs typeface="Times New Roman"/>
            </a:endParaRPr>
          </a:p>
          <a:p>
            <a:pPr marL="641350" marR="16510" lvl="1" indent="-176530">
              <a:lnSpc>
                <a:spcPct val="130000"/>
              </a:lnSpc>
              <a:spcBef>
                <a:spcPts val="765"/>
              </a:spcBef>
              <a:buSzPct val="125000"/>
              <a:buFont typeface="Arial"/>
              <a:buChar char="•"/>
              <a:tabLst>
                <a:tab pos="641985" algn="l"/>
              </a:tabLst>
            </a:pPr>
            <a:r>
              <a:rPr sz="2200" b="1" spc="-5" dirty="0">
                <a:solidFill>
                  <a:srgbClr val="FFFFFF"/>
                </a:solidFill>
                <a:latin typeface="Times New Roman"/>
                <a:cs typeface="Times New Roman"/>
              </a:rPr>
              <a:t>Automate</a:t>
            </a:r>
            <a:r>
              <a:rPr sz="2200" b="1" spc="330" dirty="0">
                <a:solidFill>
                  <a:srgbClr val="FFFFFF"/>
                </a:solidFill>
                <a:latin typeface="Times New Roman"/>
                <a:cs typeface="Times New Roman"/>
              </a:rPr>
              <a:t> </a:t>
            </a:r>
            <a:r>
              <a:rPr sz="2200" dirty="0">
                <a:solidFill>
                  <a:srgbClr val="FFFFFF"/>
                </a:solidFill>
                <a:latin typeface="Times New Roman"/>
                <a:cs typeface="Times New Roman"/>
              </a:rPr>
              <a:t>production</a:t>
            </a:r>
            <a:r>
              <a:rPr sz="2200" spc="330" dirty="0">
                <a:solidFill>
                  <a:srgbClr val="FFFFFF"/>
                </a:solidFill>
                <a:latin typeface="Times New Roman"/>
                <a:cs typeface="Times New Roman"/>
              </a:rPr>
              <a:t> </a:t>
            </a:r>
            <a:r>
              <a:rPr sz="2200" dirty="0">
                <a:solidFill>
                  <a:srgbClr val="FFFFFF"/>
                </a:solidFill>
                <a:latin typeface="Times New Roman"/>
                <a:cs typeface="Times New Roman"/>
              </a:rPr>
              <a:t>processes</a:t>
            </a:r>
            <a:r>
              <a:rPr sz="2200" spc="335" dirty="0">
                <a:solidFill>
                  <a:srgbClr val="FFFFFF"/>
                </a:solidFill>
                <a:latin typeface="Times New Roman"/>
                <a:cs typeface="Times New Roman"/>
              </a:rPr>
              <a:t> </a:t>
            </a:r>
            <a:r>
              <a:rPr sz="2200" spc="-5" dirty="0">
                <a:solidFill>
                  <a:srgbClr val="FFFFFF"/>
                </a:solidFill>
                <a:latin typeface="Times New Roman"/>
                <a:cs typeface="Times New Roman"/>
              </a:rPr>
              <a:t>and</a:t>
            </a:r>
            <a:r>
              <a:rPr sz="2200" spc="325" dirty="0">
                <a:solidFill>
                  <a:srgbClr val="FFFFFF"/>
                </a:solidFill>
                <a:latin typeface="Times New Roman"/>
                <a:cs typeface="Times New Roman"/>
              </a:rPr>
              <a:t> </a:t>
            </a:r>
            <a:r>
              <a:rPr sz="2200" spc="-5" dirty="0">
                <a:solidFill>
                  <a:srgbClr val="FFFFFF"/>
                </a:solidFill>
                <a:latin typeface="Times New Roman"/>
                <a:cs typeface="Times New Roman"/>
              </a:rPr>
              <a:t>the</a:t>
            </a:r>
            <a:r>
              <a:rPr sz="2200" spc="325" dirty="0">
                <a:solidFill>
                  <a:srgbClr val="FFFFFF"/>
                </a:solidFill>
                <a:latin typeface="Times New Roman"/>
                <a:cs typeface="Times New Roman"/>
              </a:rPr>
              <a:t> </a:t>
            </a:r>
            <a:r>
              <a:rPr sz="2200" dirty="0">
                <a:solidFill>
                  <a:srgbClr val="FFFFFF"/>
                </a:solidFill>
                <a:latin typeface="Times New Roman"/>
                <a:cs typeface="Times New Roman"/>
              </a:rPr>
              <a:t>business</a:t>
            </a:r>
            <a:r>
              <a:rPr sz="2200" spc="335" dirty="0">
                <a:solidFill>
                  <a:srgbClr val="FFFFFF"/>
                </a:solidFill>
                <a:latin typeface="Times New Roman"/>
                <a:cs typeface="Times New Roman"/>
              </a:rPr>
              <a:t> </a:t>
            </a:r>
            <a:r>
              <a:rPr sz="2200" dirty="0">
                <a:solidFill>
                  <a:srgbClr val="FFFFFF"/>
                </a:solidFill>
                <a:latin typeface="Times New Roman"/>
                <a:cs typeface="Times New Roman"/>
              </a:rPr>
              <a:t>functions</a:t>
            </a:r>
            <a:r>
              <a:rPr sz="2200" spc="330" dirty="0">
                <a:solidFill>
                  <a:srgbClr val="FFFFFF"/>
                </a:solidFill>
                <a:latin typeface="Times New Roman"/>
                <a:cs typeface="Times New Roman"/>
              </a:rPr>
              <a:t> </a:t>
            </a:r>
            <a:r>
              <a:rPr sz="2200" spc="-5" dirty="0">
                <a:solidFill>
                  <a:srgbClr val="FFFFFF"/>
                </a:solidFill>
                <a:latin typeface="Times New Roman"/>
                <a:cs typeface="Times New Roman"/>
              </a:rPr>
              <a:t>that</a:t>
            </a:r>
            <a:r>
              <a:rPr sz="2200" spc="325" dirty="0">
                <a:solidFill>
                  <a:srgbClr val="FFFFFF"/>
                </a:solidFill>
                <a:latin typeface="Times New Roman"/>
                <a:cs typeface="Times New Roman"/>
              </a:rPr>
              <a:t> </a:t>
            </a:r>
            <a:r>
              <a:rPr sz="2200" spc="-5" dirty="0">
                <a:solidFill>
                  <a:srgbClr val="FFFFFF"/>
                </a:solidFill>
                <a:latin typeface="Times New Roman"/>
                <a:cs typeface="Times New Roman"/>
              </a:rPr>
              <a:t>support</a:t>
            </a:r>
            <a:r>
              <a:rPr sz="2200" spc="335" dirty="0">
                <a:solidFill>
                  <a:srgbClr val="FFFFFF"/>
                </a:solidFill>
                <a:latin typeface="Times New Roman"/>
                <a:cs typeface="Times New Roman"/>
              </a:rPr>
              <a:t> </a:t>
            </a:r>
            <a:r>
              <a:rPr sz="2200" spc="-5" dirty="0">
                <a:solidFill>
                  <a:srgbClr val="FFFFFF"/>
                </a:solidFill>
                <a:latin typeface="Times New Roman"/>
                <a:cs typeface="Times New Roman"/>
              </a:rPr>
              <a:t>them </a:t>
            </a:r>
            <a:r>
              <a:rPr sz="2200" spc="-535" dirty="0">
                <a:solidFill>
                  <a:srgbClr val="FFFFFF"/>
                </a:solidFill>
                <a:latin typeface="Times New Roman"/>
                <a:cs typeface="Times New Roman"/>
              </a:rPr>
              <a:t> </a:t>
            </a:r>
            <a:r>
              <a:rPr sz="2200" spc="-5" dirty="0">
                <a:solidFill>
                  <a:srgbClr val="FFFFFF"/>
                </a:solidFill>
                <a:latin typeface="Times New Roman"/>
                <a:cs typeface="Times New Roman"/>
              </a:rPr>
              <a:t>with</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computers machines and </a:t>
            </a:r>
            <a:r>
              <a:rPr sz="2200" dirty="0">
                <a:solidFill>
                  <a:srgbClr val="FFFFFF"/>
                </a:solidFill>
                <a:latin typeface="Times New Roman"/>
                <a:cs typeface="Times New Roman"/>
              </a:rPr>
              <a:t>robots.</a:t>
            </a:r>
            <a:endParaRPr sz="2200">
              <a:latin typeface="Times New Roman"/>
              <a:cs typeface="Times New Roman"/>
            </a:endParaRPr>
          </a:p>
          <a:p>
            <a:pPr marL="641350" marR="119380" lvl="1" indent="-176530">
              <a:lnSpc>
                <a:spcPct val="130000"/>
              </a:lnSpc>
              <a:spcBef>
                <a:spcPts val="765"/>
              </a:spcBef>
              <a:buSzPct val="125000"/>
              <a:buFont typeface="Arial"/>
              <a:buChar char="•"/>
              <a:tabLst>
                <a:tab pos="641985" algn="l"/>
                <a:tab pos="2063750" algn="l"/>
                <a:tab pos="2663190" algn="l"/>
                <a:tab pos="4195445" algn="l"/>
                <a:tab pos="4919345" algn="l"/>
                <a:tab pos="6078220" algn="l"/>
                <a:tab pos="7470775" algn="l"/>
                <a:tab pos="8397875" algn="l"/>
              </a:tabLst>
            </a:pPr>
            <a:r>
              <a:rPr sz="2200" b="1" spc="-5" dirty="0">
                <a:solidFill>
                  <a:srgbClr val="FFFFFF"/>
                </a:solidFill>
                <a:latin typeface="Times New Roman"/>
                <a:cs typeface="Times New Roman"/>
              </a:rPr>
              <a:t>Integrat</a:t>
            </a:r>
            <a:r>
              <a:rPr sz="2200" b="1" dirty="0">
                <a:solidFill>
                  <a:srgbClr val="FFFFFF"/>
                </a:solidFill>
                <a:latin typeface="Times New Roman"/>
                <a:cs typeface="Times New Roman"/>
              </a:rPr>
              <a:t>e	</a:t>
            </a:r>
            <a:r>
              <a:rPr sz="2200" spc="-5" dirty="0">
                <a:solidFill>
                  <a:srgbClr val="FFFFFF"/>
                </a:solidFill>
                <a:latin typeface="Times New Roman"/>
                <a:cs typeface="Times New Roman"/>
              </a:rPr>
              <a:t>al</a:t>
            </a:r>
            <a:r>
              <a:rPr sz="2200" dirty="0">
                <a:solidFill>
                  <a:srgbClr val="FFFFFF"/>
                </a:solidFill>
                <a:latin typeface="Times New Roman"/>
                <a:cs typeface="Times New Roman"/>
              </a:rPr>
              <a:t>l	production	</a:t>
            </a:r>
            <a:r>
              <a:rPr sz="2200" spc="-5" dirty="0">
                <a:solidFill>
                  <a:srgbClr val="FFFFFF"/>
                </a:solidFill>
                <a:latin typeface="Times New Roman"/>
                <a:cs typeface="Times New Roman"/>
              </a:rPr>
              <a:t>an</a:t>
            </a:r>
            <a:r>
              <a:rPr sz="2200" dirty="0">
                <a:solidFill>
                  <a:srgbClr val="FFFFFF"/>
                </a:solidFill>
                <a:latin typeface="Times New Roman"/>
                <a:cs typeface="Times New Roman"/>
              </a:rPr>
              <a:t>d	</a:t>
            </a:r>
            <a:r>
              <a:rPr sz="2200" spc="-5" dirty="0">
                <a:solidFill>
                  <a:srgbClr val="FFFFFF"/>
                </a:solidFill>
                <a:latin typeface="Times New Roman"/>
                <a:cs typeface="Times New Roman"/>
              </a:rPr>
              <a:t>suppor</a:t>
            </a:r>
            <a:r>
              <a:rPr sz="2200" dirty="0">
                <a:solidFill>
                  <a:srgbClr val="FFFFFF"/>
                </a:solidFill>
                <a:latin typeface="Times New Roman"/>
                <a:cs typeface="Times New Roman"/>
              </a:rPr>
              <a:t>t	processes	using	</a:t>
            </a:r>
            <a:r>
              <a:rPr sz="2200" spc="-5" dirty="0">
                <a:solidFill>
                  <a:srgbClr val="FFFFFF"/>
                </a:solidFill>
                <a:latin typeface="Times New Roman"/>
                <a:cs typeface="Times New Roman"/>
              </a:rPr>
              <a:t>computers  telecommunications</a:t>
            </a:r>
            <a:r>
              <a:rPr sz="2200" spc="-10" dirty="0">
                <a:solidFill>
                  <a:srgbClr val="FFFFFF"/>
                </a:solidFill>
                <a:latin typeface="Times New Roman"/>
                <a:cs typeface="Times New Roman"/>
              </a:rPr>
              <a:t> </a:t>
            </a:r>
            <a:r>
              <a:rPr sz="2200" dirty="0">
                <a:solidFill>
                  <a:srgbClr val="FFFFFF"/>
                </a:solidFill>
                <a:latin typeface="Times New Roman"/>
                <a:cs typeface="Times New Roman"/>
              </a:rPr>
              <a:t>networks</a:t>
            </a:r>
            <a:r>
              <a:rPr sz="2200" spc="-5" dirty="0">
                <a:solidFill>
                  <a:srgbClr val="FFFFFF"/>
                </a:solidFill>
                <a:latin typeface="Times New Roman"/>
                <a:cs typeface="Times New Roman"/>
              </a:rPr>
              <a:t> and </a:t>
            </a:r>
            <a:r>
              <a:rPr sz="2200" dirty="0">
                <a:solidFill>
                  <a:srgbClr val="FFFFFF"/>
                </a:solidFill>
                <a:latin typeface="Times New Roman"/>
                <a:cs typeface="Times New Roman"/>
              </a:rPr>
              <a:t>other</a:t>
            </a:r>
            <a:r>
              <a:rPr sz="2200" spc="-5" dirty="0">
                <a:solidFill>
                  <a:srgbClr val="FFFFFF"/>
                </a:solidFill>
                <a:latin typeface="Times New Roman"/>
                <a:cs typeface="Times New Roman"/>
              </a:rPr>
              <a:t> information</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technologies.</a:t>
            </a:r>
            <a:endParaRPr sz="220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9627870" cy="574040"/>
          </a:xfrm>
          <a:prstGeom prst="rect">
            <a:avLst/>
          </a:prstGeom>
        </p:spPr>
        <p:txBody>
          <a:bodyPr vert="horz" wrap="square" lIns="0" tIns="12700" rIns="0" bIns="0" rtlCol="0">
            <a:spAutoFit/>
          </a:bodyPr>
          <a:lstStyle/>
          <a:p>
            <a:pPr marL="12700">
              <a:lnSpc>
                <a:spcPct val="100000"/>
              </a:lnSpc>
              <a:spcBef>
                <a:spcPts val="100"/>
              </a:spcBef>
            </a:pPr>
            <a:r>
              <a:rPr spc="-5" dirty="0"/>
              <a:t>HUMAN</a:t>
            </a:r>
            <a:r>
              <a:rPr spc="-30" dirty="0"/>
              <a:t> </a:t>
            </a:r>
            <a:r>
              <a:rPr spc="-10" dirty="0"/>
              <a:t>RESOURCE</a:t>
            </a:r>
            <a:r>
              <a:rPr spc="-35" dirty="0"/>
              <a:t> </a:t>
            </a:r>
            <a:r>
              <a:rPr spc="-5" dirty="0"/>
              <a:t>SYSTEMS</a:t>
            </a:r>
            <a:r>
              <a:rPr spc="-30" dirty="0"/>
              <a:t> </a:t>
            </a:r>
            <a:r>
              <a:rPr spc="-5" dirty="0"/>
              <a:t>COMPONENTS</a:t>
            </a:r>
          </a:p>
        </p:txBody>
      </p:sp>
      <p:sp>
        <p:nvSpPr>
          <p:cNvPr id="3" name="object 3"/>
          <p:cNvSpPr txBox="1"/>
          <p:nvPr/>
        </p:nvSpPr>
        <p:spPr>
          <a:xfrm>
            <a:off x="1271549" y="2199702"/>
            <a:ext cx="9508490" cy="4105910"/>
          </a:xfrm>
          <a:prstGeom prst="rect">
            <a:avLst/>
          </a:prstGeom>
        </p:spPr>
        <p:txBody>
          <a:bodyPr vert="horz" wrap="square" lIns="0" tIns="72390" rIns="0" bIns="0" rtlCol="0">
            <a:spAutoFit/>
          </a:bodyPr>
          <a:lstStyle/>
          <a:p>
            <a:pPr marL="184150" indent="-172085">
              <a:lnSpc>
                <a:spcPct val="100000"/>
              </a:lnSpc>
              <a:spcBef>
                <a:spcPts val="570"/>
              </a:spcBef>
              <a:buSzPct val="125000"/>
              <a:buFont typeface="Arial MT"/>
              <a:buChar char="•"/>
              <a:tabLst>
                <a:tab pos="184785" algn="l"/>
              </a:tabLst>
            </a:pPr>
            <a:r>
              <a:rPr sz="2400" spc="-5" dirty="0">
                <a:solidFill>
                  <a:srgbClr val="FFFFFF"/>
                </a:solidFill>
                <a:latin typeface="Times New Roman"/>
                <a:cs typeface="Times New Roman"/>
              </a:rPr>
              <a:t>Employee</a:t>
            </a:r>
            <a:r>
              <a:rPr sz="2400" spc="-35" dirty="0">
                <a:solidFill>
                  <a:srgbClr val="FFFFFF"/>
                </a:solidFill>
                <a:latin typeface="Times New Roman"/>
                <a:cs typeface="Times New Roman"/>
              </a:rPr>
              <a:t> </a:t>
            </a:r>
            <a:r>
              <a:rPr sz="2400" spc="-5" dirty="0">
                <a:solidFill>
                  <a:srgbClr val="FFFFFF"/>
                </a:solidFill>
                <a:latin typeface="Times New Roman"/>
                <a:cs typeface="Times New Roman"/>
              </a:rPr>
              <a:t>Record</a:t>
            </a:r>
            <a:r>
              <a:rPr sz="2400" spc="-30" dirty="0">
                <a:solidFill>
                  <a:srgbClr val="FFFFFF"/>
                </a:solidFill>
                <a:latin typeface="Times New Roman"/>
                <a:cs typeface="Times New Roman"/>
              </a:rPr>
              <a:t> </a:t>
            </a:r>
            <a:r>
              <a:rPr sz="2400" spc="-5" dirty="0">
                <a:solidFill>
                  <a:srgbClr val="FFFFFF"/>
                </a:solidFill>
                <a:latin typeface="Times New Roman"/>
                <a:cs typeface="Times New Roman"/>
              </a:rPr>
              <a:t>Management</a:t>
            </a:r>
            <a:endParaRPr sz="2400">
              <a:latin typeface="Times New Roman"/>
              <a:cs typeface="Times New Roman"/>
            </a:endParaRPr>
          </a:p>
          <a:p>
            <a:pPr marL="641350" marR="5080" lvl="1" indent="-172085">
              <a:lnSpc>
                <a:spcPct val="120700"/>
              </a:lnSpc>
              <a:spcBef>
                <a:spcPts val="475"/>
              </a:spcBef>
              <a:buSzPct val="125000"/>
              <a:buFont typeface="Arial MT"/>
              <a:buChar char="•"/>
              <a:tabLst>
                <a:tab pos="641985" algn="l"/>
              </a:tabLst>
            </a:pPr>
            <a:r>
              <a:rPr sz="2400" spc="-5" dirty="0">
                <a:solidFill>
                  <a:srgbClr val="FFFFFF"/>
                </a:solidFill>
                <a:latin typeface="Times New Roman"/>
                <a:cs typeface="Times New Roman"/>
              </a:rPr>
              <a:t>Reduce space </a:t>
            </a:r>
            <a:r>
              <a:rPr sz="2400" dirty="0">
                <a:solidFill>
                  <a:srgbClr val="FFFFFF"/>
                </a:solidFill>
                <a:latin typeface="Times New Roman"/>
                <a:cs typeface="Times New Roman"/>
              </a:rPr>
              <a:t>needed </a:t>
            </a:r>
            <a:r>
              <a:rPr sz="2400" spc="-5" dirty="0">
                <a:solidFill>
                  <a:srgbClr val="FFFFFF"/>
                </a:solidFill>
                <a:latin typeface="Times New Roman"/>
                <a:cs typeface="Times New Roman"/>
              </a:rPr>
              <a:t>to store </a:t>
            </a:r>
            <a:r>
              <a:rPr sz="2400" dirty="0">
                <a:solidFill>
                  <a:srgbClr val="FFFFFF"/>
                </a:solidFill>
                <a:latin typeface="Times New Roman"/>
                <a:cs typeface="Times New Roman"/>
              </a:rPr>
              <a:t>records, </a:t>
            </a:r>
            <a:r>
              <a:rPr sz="2400" spc="-5" dirty="0">
                <a:solidFill>
                  <a:srgbClr val="FFFFFF"/>
                </a:solidFill>
                <a:latin typeface="Times New Roman"/>
                <a:cs typeface="Times New Roman"/>
              </a:rPr>
              <a:t>time to </a:t>
            </a:r>
            <a:r>
              <a:rPr sz="2400" dirty="0">
                <a:solidFill>
                  <a:srgbClr val="FFFFFF"/>
                </a:solidFill>
                <a:latin typeface="Times New Roman"/>
                <a:cs typeface="Times New Roman"/>
              </a:rPr>
              <a:t>retrieve </a:t>
            </a:r>
            <a:r>
              <a:rPr sz="2400" spc="-5" dirty="0">
                <a:solidFill>
                  <a:srgbClr val="FFFFFF"/>
                </a:solidFill>
                <a:latin typeface="Times New Roman"/>
                <a:cs typeface="Times New Roman"/>
              </a:rPr>
              <a:t>them, and costs </a:t>
            </a:r>
            <a:r>
              <a:rPr sz="2400" dirty="0">
                <a:solidFill>
                  <a:srgbClr val="FFFFFF"/>
                </a:solidFill>
                <a:latin typeface="Times New Roman"/>
                <a:cs typeface="Times New Roman"/>
              </a:rPr>
              <a:t>of </a:t>
            </a:r>
            <a:r>
              <a:rPr sz="2400" spc="-585" dirty="0">
                <a:solidFill>
                  <a:srgbClr val="FFFFFF"/>
                </a:solidFill>
                <a:latin typeface="Times New Roman"/>
                <a:cs typeface="Times New Roman"/>
              </a:rPr>
              <a:t> </a:t>
            </a:r>
            <a:r>
              <a:rPr sz="2400" dirty="0">
                <a:solidFill>
                  <a:srgbClr val="FFFFFF"/>
                </a:solidFill>
                <a:latin typeface="Times New Roman"/>
                <a:cs typeface="Times New Roman"/>
              </a:rPr>
              <a:t>both</a:t>
            </a:r>
            <a:endParaRPr sz="2400">
              <a:latin typeface="Times New Roman"/>
              <a:cs typeface="Times New Roman"/>
            </a:endParaRPr>
          </a:p>
          <a:p>
            <a:pPr marL="184150" indent="-172085">
              <a:lnSpc>
                <a:spcPct val="100000"/>
              </a:lnSpc>
              <a:spcBef>
                <a:spcPts val="1550"/>
              </a:spcBef>
              <a:buSzPct val="125000"/>
              <a:buFont typeface="Arial MT"/>
              <a:buChar char="•"/>
              <a:tabLst>
                <a:tab pos="184785" algn="l"/>
              </a:tabLst>
            </a:pPr>
            <a:r>
              <a:rPr sz="2400" spc="-5" dirty="0">
                <a:solidFill>
                  <a:srgbClr val="FFFFFF"/>
                </a:solidFill>
                <a:latin typeface="Times New Roman"/>
                <a:cs typeface="Times New Roman"/>
              </a:rPr>
              <a:t>Promotion</a:t>
            </a:r>
            <a:r>
              <a:rPr sz="2400" spc="-35" dirty="0">
                <a:solidFill>
                  <a:srgbClr val="FFFFFF"/>
                </a:solidFill>
                <a:latin typeface="Times New Roman"/>
                <a:cs typeface="Times New Roman"/>
              </a:rPr>
              <a:t> </a:t>
            </a:r>
            <a:r>
              <a:rPr sz="2400" spc="-5" dirty="0">
                <a:solidFill>
                  <a:srgbClr val="FFFFFF"/>
                </a:solidFill>
                <a:latin typeface="Times New Roman"/>
                <a:cs typeface="Times New Roman"/>
              </a:rPr>
              <a:t>and</a:t>
            </a:r>
            <a:r>
              <a:rPr sz="2400" spc="-30" dirty="0">
                <a:solidFill>
                  <a:srgbClr val="FFFFFF"/>
                </a:solidFill>
                <a:latin typeface="Times New Roman"/>
                <a:cs typeface="Times New Roman"/>
              </a:rPr>
              <a:t> </a:t>
            </a:r>
            <a:r>
              <a:rPr sz="2400" spc="-5" dirty="0">
                <a:solidFill>
                  <a:srgbClr val="FFFFFF"/>
                </a:solidFill>
                <a:latin typeface="Times New Roman"/>
                <a:cs typeface="Times New Roman"/>
              </a:rPr>
              <a:t>Recruitment</a:t>
            </a:r>
            <a:endParaRPr sz="2400">
              <a:latin typeface="Times New Roman"/>
              <a:cs typeface="Times New Roman"/>
            </a:endParaRPr>
          </a:p>
          <a:p>
            <a:pPr marL="641350" lvl="1" indent="-172085">
              <a:lnSpc>
                <a:spcPct val="100000"/>
              </a:lnSpc>
              <a:spcBef>
                <a:spcPts val="1220"/>
              </a:spcBef>
              <a:buSzPct val="125000"/>
              <a:buFont typeface="Arial MT"/>
              <a:buChar char="•"/>
              <a:tabLst>
                <a:tab pos="641985" algn="l"/>
              </a:tabLst>
            </a:pPr>
            <a:r>
              <a:rPr sz="2400" spc="-5" dirty="0">
                <a:solidFill>
                  <a:srgbClr val="FFFFFF"/>
                </a:solidFill>
                <a:latin typeface="Times New Roman"/>
                <a:cs typeface="Times New Roman"/>
              </a:rPr>
              <a:t>Search</a:t>
            </a:r>
            <a:r>
              <a:rPr sz="2400" spc="-25" dirty="0">
                <a:solidFill>
                  <a:srgbClr val="FFFFFF"/>
                </a:solidFill>
                <a:latin typeface="Times New Roman"/>
                <a:cs typeface="Times New Roman"/>
              </a:rPr>
              <a:t> </a:t>
            </a:r>
            <a:r>
              <a:rPr sz="2400" dirty="0">
                <a:solidFill>
                  <a:srgbClr val="FFFFFF"/>
                </a:solidFill>
                <a:latin typeface="Times New Roman"/>
                <a:cs typeface="Times New Roman"/>
              </a:rPr>
              <a:t>databases</a:t>
            </a:r>
            <a:r>
              <a:rPr sz="2400" spc="-20" dirty="0">
                <a:solidFill>
                  <a:srgbClr val="FFFFFF"/>
                </a:solidFill>
                <a:latin typeface="Times New Roman"/>
                <a:cs typeface="Times New Roman"/>
              </a:rPr>
              <a:t> </a:t>
            </a:r>
            <a:r>
              <a:rPr sz="2400" dirty="0">
                <a:solidFill>
                  <a:srgbClr val="FFFFFF"/>
                </a:solidFill>
                <a:latin typeface="Times New Roman"/>
                <a:cs typeface="Times New Roman"/>
              </a:rPr>
              <a:t>for</a:t>
            </a:r>
            <a:r>
              <a:rPr sz="2400" spc="-15" dirty="0">
                <a:solidFill>
                  <a:srgbClr val="FFFFFF"/>
                </a:solidFill>
                <a:latin typeface="Times New Roman"/>
                <a:cs typeface="Times New Roman"/>
              </a:rPr>
              <a:t> </a:t>
            </a:r>
            <a:r>
              <a:rPr sz="2400" dirty="0">
                <a:solidFill>
                  <a:srgbClr val="FFFFFF"/>
                </a:solidFill>
                <a:latin typeface="Times New Roman"/>
                <a:cs typeface="Times New Roman"/>
              </a:rPr>
              <a:t>qualified</a:t>
            </a:r>
            <a:r>
              <a:rPr sz="2400" spc="-20" dirty="0">
                <a:solidFill>
                  <a:srgbClr val="FFFFFF"/>
                </a:solidFill>
                <a:latin typeface="Times New Roman"/>
                <a:cs typeface="Times New Roman"/>
              </a:rPr>
              <a:t> </a:t>
            </a:r>
            <a:r>
              <a:rPr sz="2400" dirty="0">
                <a:solidFill>
                  <a:srgbClr val="FFFFFF"/>
                </a:solidFill>
                <a:latin typeface="Times New Roman"/>
                <a:cs typeface="Times New Roman"/>
              </a:rPr>
              <a:t>personnel</a:t>
            </a:r>
            <a:endParaRPr sz="2400">
              <a:latin typeface="Times New Roman"/>
              <a:cs typeface="Times New Roman"/>
            </a:endParaRPr>
          </a:p>
          <a:p>
            <a:pPr marL="641350" lvl="1" indent="-172085">
              <a:lnSpc>
                <a:spcPct val="100000"/>
              </a:lnSpc>
              <a:spcBef>
                <a:spcPts val="1220"/>
              </a:spcBef>
              <a:buSzPct val="125000"/>
              <a:buFont typeface="Arial MT"/>
              <a:buChar char="•"/>
              <a:tabLst>
                <a:tab pos="641985" algn="l"/>
              </a:tabLst>
            </a:pPr>
            <a:r>
              <a:rPr sz="2400" spc="-5" dirty="0">
                <a:solidFill>
                  <a:srgbClr val="FFFFFF"/>
                </a:solidFill>
                <a:latin typeface="Times New Roman"/>
                <a:cs typeface="Times New Roman"/>
              </a:rPr>
              <a:t>Use</a:t>
            </a:r>
            <a:r>
              <a:rPr sz="2400" spc="-20" dirty="0">
                <a:solidFill>
                  <a:srgbClr val="FFFFFF"/>
                </a:solidFill>
                <a:latin typeface="Times New Roman"/>
                <a:cs typeface="Times New Roman"/>
              </a:rPr>
              <a:t> </a:t>
            </a:r>
            <a:r>
              <a:rPr sz="2400" spc="-5" dirty="0">
                <a:solidFill>
                  <a:srgbClr val="FFFFFF"/>
                </a:solidFill>
                <a:latin typeface="Times New Roman"/>
                <a:cs typeface="Times New Roman"/>
              </a:rPr>
              <a:t>intranet</a:t>
            </a:r>
            <a:r>
              <a:rPr sz="2400" spc="-20" dirty="0">
                <a:solidFill>
                  <a:srgbClr val="FFFFFF"/>
                </a:solidFill>
                <a:latin typeface="Times New Roman"/>
                <a:cs typeface="Times New Roman"/>
              </a:rPr>
              <a:t> </a:t>
            </a:r>
            <a:r>
              <a:rPr sz="2400" spc="-5" dirty="0">
                <a:solidFill>
                  <a:srgbClr val="FFFFFF"/>
                </a:solidFill>
                <a:latin typeface="Times New Roman"/>
                <a:cs typeface="Times New Roman"/>
              </a:rPr>
              <a:t>to</a:t>
            </a:r>
            <a:r>
              <a:rPr sz="2400" spc="-15" dirty="0">
                <a:solidFill>
                  <a:srgbClr val="FFFFFF"/>
                </a:solidFill>
                <a:latin typeface="Times New Roman"/>
                <a:cs typeface="Times New Roman"/>
              </a:rPr>
              <a:t> </a:t>
            </a:r>
            <a:r>
              <a:rPr sz="2400" dirty="0">
                <a:solidFill>
                  <a:srgbClr val="FFFFFF"/>
                </a:solidFill>
                <a:latin typeface="Times New Roman"/>
                <a:cs typeface="Times New Roman"/>
              </a:rPr>
              <a:t>post</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job</a:t>
            </a:r>
            <a:r>
              <a:rPr sz="2400" spc="-15" dirty="0">
                <a:solidFill>
                  <a:srgbClr val="FFFFFF"/>
                </a:solidFill>
                <a:latin typeface="Times New Roman"/>
                <a:cs typeface="Times New Roman"/>
              </a:rPr>
              <a:t> </a:t>
            </a:r>
            <a:r>
              <a:rPr sz="2400" dirty="0">
                <a:solidFill>
                  <a:srgbClr val="FFFFFF"/>
                </a:solidFill>
                <a:latin typeface="Times New Roman"/>
                <a:cs typeface="Times New Roman"/>
              </a:rPr>
              <a:t>vacancies</a:t>
            </a:r>
            <a:endParaRPr sz="2400">
              <a:latin typeface="Times New Roman"/>
              <a:cs typeface="Times New Roman"/>
            </a:endParaRPr>
          </a:p>
          <a:p>
            <a:pPr marL="641350" lvl="1" indent="-172085">
              <a:lnSpc>
                <a:spcPct val="100000"/>
              </a:lnSpc>
              <a:spcBef>
                <a:spcPts val="1220"/>
              </a:spcBef>
              <a:buSzPct val="125000"/>
              <a:buFont typeface="Arial MT"/>
              <a:buChar char="•"/>
              <a:tabLst>
                <a:tab pos="641985" algn="l"/>
              </a:tabLst>
            </a:pPr>
            <a:r>
              <a:rPr sz="2400" spc="-5" dirty="0">
                <a:solidFill>
                  <a:srgbClr val="FFFFFF"/>
                </a:solidFill>
                <a:latin typeface="Times New Roman"/>
                <a:cs typeface="Times New Roman"/>
              </a:rPr>
              <a:t>Use</a:t>
            </a:r>
            <a:r>
              <a:rPr sz="2400" spc="-20" dirty="0">
                <a:solidFill>
                  <a:srgbClr val="FFFFFF"/>
                </a:solidFill>
                <a:latin typeface="Times New Roman"/>
                <a:cs typeface="Times New Roman"/>
              </a:rPr>
              <a:t> </a:t>
            </a:r>
            <a:r>
              <a:rPr sz="2400" spc="-5" dirty="0">
                <a:solidFill>
                  <a:srgbClr val="FFFFFF"/>
                </a:solidFill>
                <a:latin typeface="Times New Roman"/>
                <a:cs typeface="Times New Roman"/>
              </a:rPr>
              <a:t>the</a:t>
            </a:r>
            <a:r>
              <a:rPr sz="2400" spc="-20" dirty="0">
                <a:solidFill>
                  <a:srgbClr val="FFFFFF"/>
                </a:solidFill>
                <a:latin typeface="Times New Roman"/>
                <a:cs typeface="Times New Roman"/>
              </a:rPr>
              <a:t> </a:t>
            </a:r>
            <a:r>
              <a:rPr sz="2400" spc="-5" dirty="0">
                <a:solidFill>
                  <a:srgbClr val="FFFFFF"/>
                </a:solidFill>
                <a:latin typeface="Times New Roman"/>
                <a:cs typeface="Times New Roman"/>
              </a:rPr>
              <a:t>Web</a:t>
            </a:r>
            <a:r>
              <a:rPr sz="2400" spc="-20" dirty="0">
                <a:solidFill>
                  <a:srgbClr val="FFFFFF"/>
                </a:solidFill>
                <a:latin typeface="Times New Roman"/>
                <a:cs typeface="Times New Roman"/>
              </a:rPr>
              <a:t> </a:t>
            </a:r>
            <a:r>
              <a:rPr sz="2400" spc="-5" dirty="0">
                <a:solidFill>
                  <a:srgbClr val="FFFFFF"/>
                </a:solidFill>
                <a:latin typeface="Times New Roman"/>
                <a:cs typeface="Times New Roman"/>
              </a:rPr>
              <a:t>to</a:t>
            </a:r>
            <a:r>
              <a:rPr sz="2400" spc="-20" dirty="0">
                <a:solidFill>
                  <a:srgbClr val="FFFFFF"/>
                </a:solidFill>
                <a:latin typeface="Times New Roman"/>
                <a:cs typeface="Times New Roman"/>
              </a:rPr>
              <a:t> </a:t>
            </a:r>
            <a:r>
              <a:rPr sz="2400" dirty="0">
                <a:solidFill>
                  <a:srgbClr val="FFFFFF"/>
                </a:solidFill>
                <a:latin typeface="Times New Roman"/>
                <a:cs typeface="Times New Roman"/>
              </a:rPr>
              <a:t>recruit</a:t>
            </a:r>
            <a:endParaRPr sz="240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822579"/>
            <a:ext cx="9627870" cy="574040"/>
          </a:xfrm>
          <a:prstGeom prst="rect">
            <a:avLst/>
          </a:prstGeom>
        </p:spPr>
        <p:txBody>
          <a:bodyPr vert="horz" wrap="square" lIns="0" tIns="12700" rIns="0" bIns="0" rtlCol="0">
            <a:spAutoFit/>
          </a:bodyPr>
          <a:lstStyle/>
          <a:p>
            <a:pPr marL="12700">
              <a:lnSpc>
                <a:spcPct val="100000"/>
              </a:lnSpc>
              <a:spcBef>
                <a:spcPts val="100"/>
              </a:spcBef>
            </a:pPr>
            <a:r>
              <a:rPr spc="-5" dirty="0"/>
              <a:t>HUMAN</a:t>
            </a:r>
            <a:r>
              <a:rPr spc="-30" dirty="0"/>
              <a:t> </a:t>
            </a:r>
            <a:r>
              <a:rPr spc="-10" dirty="0"/>
              <a:t>RESOURCE</a:t>
            </a:r>
            <a:r>
              <a:rPr spc="-35" dirty="0"/>
              <a:t> </a:t>
            </a:r>
            <a:r>
              <a:rPr spc="-5" dirty="0"/>
              <a:t>SYSTEMS</a:t>
            </a:r>
            <a:r>
              <a:rPr spc="-30" dirty="0"/>
              <a:t> </a:t>
            </a:r>
            <a:r>
              <a:rPr spc="-5" dirty="0"/>
              <a:t>COMPONENTS</a:t>
            </a:r>
          </a:p>
        </p:txBody>
      </p:sp>
      <p:sp>
        <p:nvSpPr>
          <p:cNvPr id="3" name="object 3"/>
          <p:cNvSpPr txBox="1"/>
          <p:nvPr/>
        </p:nvSpPr>
        <p:spPr>
          <a:xfrm>
            <a:off x="1260842" y="1714992"/>
            <a:ext cx="9695815" cy="4860290"/>
          </a:xfrm>
          <a:prstGeom prst="rect">
            <a:avLst/>
          </a:prstGeom>
        </p:spPr>
        <p:txBody>
          <a:bodyPr vert="horz" wrap="square" lIns="0" tIns="132715" rIns="0" bIns="0" rtlCol="0">
            <a:spAutoFit/>
          </a:bodyPr>
          <a:lstStyle/>
          <a:p>
            <a:pPr marL="194310" indent="-182245">
              <a:lnSpc>
                <a:spcPct val="100000"/>
              </a:lnSpc>
              <a:spcBef>
                <a:spcPts val="1045"/>
              </a:spcBef>
              <a:buSzPct val="123076"/>
              <a:buFont typeface="Arial MT"/>
              <a:buChar char="•"/>
              <a:tabLst>
                <a:tab pos="194945" algn="l"/>
              </a:tabLst>
            </a:pPr>
            <a:r>
              <a:rPr sz="1950" spc="-5" dirty="0">
                <a:solidFill>
                  <a:srgbClr val="FFFFFF"/>
                </a:solidFill>
                <a:latin typeface="Times New Roman"/>
                <a:cs typeface="Times New Roman"/>
              </a:rPr>
              <a:t>Training</a:t>
            </a:r>
            <a:endParaRPr sz="1950">
              <a:latin typeface="Times New Roman"/>
              <a:cs typeface="Times New Roman"/>
            </a:endParaRPr>
          </a:p>
          <a:p>
            <a:pPr marL="651510" marR="9525" lvl="1" indent="-182245">
              <a:lnSpc>
                <a:spcPct val="130000"/>
              </a:lnSpc>
              <a:spcBef>
                <a:spcPts val="970"/>
              </a:spcBef>
              <a:buSzPct val="123076"/>
              <a:buFont typeface="Arial MT"/>
              <a:buChar char="•"/>
              <a:tabLst>
                <a:tab pos="652145" algn="l"/>
              </a:tabLst>
            </a:pPr>
            <a:r>
              <a:rPr sz="1950" spc="-5" dirty="0">
                <a:solidFill>
                  <a:srgbClr val="FFFFFF"/>
                </a:solidFill>
                <a:latin typeface="Times New Roman"/>
                <a:cs typeface="Times New Roman"/>
              </a:rPr>
              <a:t>Multimedia</a:t>
            </a:r>
            <a:r>
              <a:rPr sz="1950" spc="260" dirty="0">
                <a:solidFill>
                  <a:srgbClr val="FFFFFF"/>
                </a:solidFill>
                <a:latin typeface="Times New Roman"/>
                <a:cs typeface="Times New Roman"/>
              </a:rPr>
              <a:t> </a:t>
            </a:r>
            <a:r>
              <a:rPr sz="1950" spc="-5" dirty="0">
                <a:solidFill>
                  <a:srgbClr val="FFFFFF"/>
                </a:solidFill>
                <a:latin typeface="Times New Roman"/>
                <a:cs typeface="Times New Roman"/>
              </a:rPr>
              <a:t>software</a:t>
            </a:r>
            <a:r>
              <a:rPr sz="1950" spc="260" dirty="0">
                <a:solidFill>
                  <a:srgbClr val="FFFFFF"/>
                </a:solidFill>
                <a:latin typeface="Times New Roman"/>
                <a:cs typeface="Times New Roman"/>
              </a:rPr>
              <a:t> </a:t>
            </a:r>
            <a:r>
              <a:rPr sz="1950" spc="-5" dirty="0">
                <a:solidFill>
                  <a:srgbClr val="FFFFFF"/>
                </a:solidFill>
                <a:latin typeface="Times New Roman"/>
                <a:cs typeface="Times New Roman"/>
              </a:rPr>
              <a:t>training</a:t>
            </a:r>
            <a:r>
              <a:rPr sz="1950" spc="260" dirty="0">
                <a:solidFill>
                  <a:srgbClr val="FFFFFF"/>
                </a:solidFill>
                <a:latin typeface="Times New Roman"/>
                <a:cs typeface="Times New Roman"/>
              </a:rPr>
              <a:t> </a:t>
            </a:r>
            <a:r>
              <a:rPr sz="1950" spc="-5" dirty="0">
                <a:solidFill>
                  <a:srgbClr val="FFFFFF"/>
                </a:solidFill>
                <a:latin typeface="Times New Roman"/>
                <a:cs typeface="Times New Roman"/>
              </a:rPr>
              <a:t>is</a:t>
            </a:r>
            <a:r>
              <a:rPr sz="1950" spc="254" dirty="0">
                <a:solidFill>
                  <a:srgbClr val="FFFFFF"/>
                </a:solidFill>
                <a:latin typeface="Times New Roman"/>
                <a:cs typeface="Times New Roman"/>
              </a:rPr>
              <a:t> </a:t>
            </a:r>
            <a:r>
              <a:rPr sz="1950" dirty="0">
                <a:solidFill>
                  <a:srgbClr val="FFFFFF"/>
                </a:solidFill>
                <a:latin typeface="Times New Roman"/>
                <a:cs typeface="Times New Roman"/>
              </a:rPr>
              <a:t>replacing</a:t>
            </a:r>
            <a:r>
              <a:rPr sz="1950" spc="265" dirty="0">
                <a:solidFill>
                  <a:srgbClr val="FFFFFF"/>
                </a:solidFill>
                <a:latin typeface="Times New Roman"/>
                <a:cs typeface="Times New Roman"/>
              </a:rPr>
              <a:t> </a:t>
            </a:r>
            <a:r>
              <a:rPr sz="1950" spc="-5" dirty="0">
                <a:solidFill>
                  <a:srgbClr val="FFFFFF"/>
                </a:solidFill>
                <a:latin typeface="Times New Roman"/>
                <a:cs typeface="Times New Roman"/>
              </a:rPr>
              <a:t>classrooms</a:t>
            </a:r>
            <a:r>
              <a:rPr sz="1950" spc="254" dirty="0">
                <a:solidFill>
                  <a:srgbClr val="FFFFFF"/>
                </a:solidFill>
                <a:latin typeface="Times New Roman"/>
                <a:cs typeface="Times New Roman"/>
              </a:rPr>
              <a:t> </a:t>
            </a:r>
            <a:r>
              <a:rPr sz="1950" spc="-5" dirty="0">
                <a:solidFill>
                  <a:srgbClr val="FFFFFF"/>
                </a:solidFill>
                <a:latin typeface="Times New Roman"/>
                <a:cs typeface="Times New Roman"/>
              </a:rPr>
              <a:t>and</a:t>
            </a:r>
            <a:r>
              <a:rPr sz="1950" spc="254" dirty="0">
                <a:solidFill>
                  <a:srgbClr val="FFFFFF"/>
                </a:solidFill>
                <a:latin typeface="Times New Roman"/>
                <a:cs typeface="Times New Roman"/>
              </a:rPr>
              <a:t> </a:t>
            </a:r>
            <a:r>
              <a:rPr sz="1950" spc="-5" dirty="0">
                <a:solidFill>
                  <a:srgbClr val="FFFFFF"/>
                </a:solidFill>
                <a:latin typeface="Times New Roman"/>
                <a:cs typeface="Times New Roman"/>
              </a:rPr>
              <a:t>teachers</a:t>
            </a:r>
            <a:r>
              <a:rPr sz="1950" spc="260" dirty="0">
                <a:solidFill>
                  <a:srgbClr val="FFFFFF"/>
                </a:solidFill>
                <a:latin typeface="Times New Roman"/>
                <a:cs typeface="Times New Roman"/>
              </a:rPr>
              <a:t> </a:t>
            </a:r>
            <a:r>
              <a:rPr sz="1950" spc="-5" dirty="0">
                <a:solidFill>
                  <a:srgbClr val="FFFFFF"/>
                </a:solidFill>
                <a:latin typeface="Times New Roman"/>
                <a:cs typeface="Times New Roman"/>
              </a:rPr>
              <a:t>e.g.</a:t>
            </a:r>
            <a:r>
              <a:rPr sz="1950" spc="254" dirty="0">
                <a:solidFill>
                  <a:srgbClr val="FFFFFF"/>
                </a:solidFill>
                <a:latin typeface="Times New Roman"/>
                <a:cs typeface="Times New Roman"/>
              </a:rPr>
              <a:t> </a:t>
            </a:r>
            <a:r>
              <a:rPr sz="1950" spc="-5" dirty="0">
                <a:solidFill>
                  <a:srgbClr val="FFFFFF"/>
                </a:solidFill>
                <a:latin typeface="Times New Roman"/>
                <a:cs typeface="Times New Roman"/>
              </a:rPr>
              <a:t>Computer</a:t>
            </a:r>
            <a:r>
              <a:rPr sz="1950" spc="260" dirty="0">
                <a:solidFill>
                  <a:srgbClr val="FFFFFF"/>
                </a:solidFill>
                <a:latin typeface="Times New Roman"/>
                <a:cs typeface="Times New Roman"/>
              </a:rPr>
              <a:t> </a:t>
            </a:r>
            <a:r>
              <a:rPr sz="1950" spc="-5" dirty="0">
                <a:solidFill>
                  <a:srgbClr val="FFFFFF"/>
                </a:solidFill>
                <a:latin typeface="Times New Roman"/>
                <a:cs typeface="Times New Roman"/>
              </a:rPr>
              <a:t>Based </a:t>
            </a:r>
            <a:r>
              <a:rPr sz="1950" spc="-475" dirty="0">
                <a:solidFill>
                  <a:srgbClr val="FFFFFF"/>
                </a:solidFill>
                <a:latin typeface="Times New Roman"/>
                <a:cs typeface="Times New Roman"/>
              </a:rPr>
              <a:t> </a:t>
            </a:r>
            <a:r>
              <a:rPr sz="1950" spc="-5" dirty="0">
                <a:solidFill>
                  <a:srgbClr val="FFFFFF"/>
                </a:solidFill>
                <a:latin typeface="Times New Roman"/>
                <a:cs typeface="Times New Roman"/>
              </a:rPr>
              <a:t>Training</a:t>
            </a:r>
            <a:r>
              <a:rPr sz="1950" spc="-10" dirty="0">
                <a:solidFill>
                  <a:srgbClr val="FFFFFF"/>
                </a:solidFill>
                <a:latin typeface="Times New Roman"/>
                <a:cs typeface="Times New Roman"/>
              </a:rPr>
              <a:t> </a:t>
            </a:r>
            <a:r>
              <a:rPr sz="1950" dirty="0">
                <a:solidFill>
                  <a:srgbClr val="FFFFFF"/>
                </a:solidFill>
                <a:latin typeface="Times New Roman"/>
                <a:cs typeface="Times New Roman"/>
              </a:rPr>
              <a:t>(CBT)</a:t>
            </a:r>
            <a:endParaRPr sz="1950">
              <a:latin typeface="Times New Roman"/>
              <a:cs typeface="Times New Roman"/>
            </a:endParaRPr>
          </a:p>
          <a:p>
            <a:pPr marL="651510" lvl="1" indent="-182245">
              <a:lnSpc>
                <a:spcPct val="100000"/>
              </a:lnSpc>
              <a:spcBef>
                <a:spcPts val="1435"/>
              </a:spcBef>
              <a:buSzPct val="123076"/>
              <a:buFont typeface="Arial MT"/>
              <a:buChar char="•"/>
              <a:tabLst>
                <a:tab pos="652145" algn="l"/>
              </a:tabLst>
            </a:pPr>
            <a:r>
              <a:rPr sz="1950" spc="-5" dirty="0">
                <a:solidFill>
                  <a:srgbClr val="FFFFFF"/>
                </a:solidFill>
                <a:latin typeface="Times New Roman"/>
                <a:cs typeface="Times New Roman"/>
              </a:rPr>
              <a:t>Training</a:t>
            </a:r>
            <a:r>
              <a:rPr sz="1950" spc="-10" dirty="0">
                <a:solidFill>
                  <a:srgbClr val="FFFFFF"/>
                </a:solidFill>
                <a:latin typeface="Times New Roman"/>
                <a:cs typeface="Times New Roman"/>
              </a:rPr>
              <a:t> </a:t>
            </a:r>
            <a:r>
              <a:rPr sz="1950" spc="-5" dirty="0">
                <a:solidFill>
                  <a:srgbClr val="FFFFFF"/>
                </a:solidFill>
                <a:latin typeface="Times New Roman"/>
                <a:cs typeface="Times New Roman"/>
              </a:rPr>
              <a:t>software</a:t>
            </a:r>
            <a:r>
              <a:rPr sz="1950" spc="-10" dirty="0">
                <a:solidFill>
                  <a:srgbClr val="FFFFFF"/>
                </a:solidFill>
                <a:latin typeface="Times New Roman"/>
                <a:cs typeface="Times New Roman"/>
              </a:rPr>
              <a:t> </a:t>
            </a:r>
            <a:r>
              <a:rPr sz="1950" spc="-5" dirty="0">
                <a:solidFill>
                  <a:srgbClr val="FFFFFF"/>
                </a:solidFill>
                <a:latin typeface="Times New Roman"/>
                <a:cs typeface="Times New Roman"/>
              </a:rPr>
              <a:t>simulates</a:t>
            </a:r>
            <a:r>
              <a:rPr sz="1950" spc="-10" dirty="0">
                <a:solidFill>
                  <a:srgbClr val="FFFFFF"/>
                </a:solidFill>
                <a:latin typeface="Times New Roman"/>
                <a:cs typeface="Times New Roman"/>
              </a:rPr>
              <a:t> </a:t>
            </a:r>
            <a:r>
              <a:rPr sz="1950" spc="-5" dirty="0">
                <a:solidFill>
                  <a:srgbClr val="FFFFFF"/>
                </a:solidFill>
                <a:latin typeface="Times New Roman"/>
                <a:cs typeface="Times New Roman"/>
              </a:rPr>
              <a:t>an</a:t>
            </a:r>
            <a:r>
              <a:rPr sz="1950" spc="-10" dirty="0">
                <a:solidFill>
                  <a:srgbClr val="FFFFFF"/>
                </a:solidFill>
                <a:latin typeface="Times New Roman"/>
                <a:cs typeface="Times New Roman"/>
              </a:rPr>
              <a:t> </a:t>
            </a:r>
            <a:r>
              <a:rPr sz="1950" spc="-5" dirty="0">
                <a:solidFill>
                  <a:srgbClr val="FFFFFF"/>
                </a:solidFill>
                <a:latin typeface="Times New Roman"/>
                <a:cs typeface="Times New Roman"/>
              </a:rPr>
              <a:t>actual</a:t>
            </a:r>
            <a:r>
              <a:rPr sz="1950" spc="-10" dirty="0">
                <a:solidFill>
                  <a:srgbClr val="FFFFFF"/>
                </a:solidFill>
                <a:latin typeface="Times New Roman"/>
                <a:cs typeface="Times New Roman"/>
              </a:rPr>
              <a:t> </a:t>
            </a:r>
            <a:r>
              <a:rPr sz="1950" spc="-5" dirty="0">
                <a:solidFill>
                  <a:srgbClr val="FFFFFF"/>
                </a:solidFill>
                <a:latin typeface="Times New Roman"/>
                <a:cs typeface="Times New Roman"/>
              </a:rPr>
              <a:t>task </a:t>
            </a:r>
            <a:r>
              <a:rPr sz="1950" dirty="0">
                <a:solidFill>
                  <a:srgbClr val="FFFFFF"/>
                </a:solidFill>
                <a:latin typeface="Times New Roman"/>
                <a:cs typeface="Times New Roman"/>
              </a:rPr>
              <a:t>or</a:t>
            </a:r>
            <a:r>
              <a:rPr sz="1950" spc="-5" dirty="0">
                <a:solidFill>
                  <a:srgbClr val="FFFFFF"/>
                </a:solidFill>
                <a:latin typeface="Times New Roman"/>
                <a:cs typeface="Times New Roman"/>
              </a:rPr>
              <a:t> situation</a:t>
            </a:r>
            <a:r>
              <a:rPr sz="1950" spc="-10" dirty="0">
                <a:solidFill>
                  <a:srgbClr val="FFFFFF"/>
                </a:solidFill>
                <a:latin typeface="Times New Roman"/>
                <a:cs typeface="Times New Roman"/>
              </a:rPr>
              <a:t> </a:t>
            </a:r>
            <a:r>
              <a:rPr sz="1950" spc="-5" dirty="0">
                <a:solidFill>
                  <a:srgbClr val="FFFFFF"/>
                </a:solidFill>
                <a:latin typeface="Times New Roman"/>
                <a:cs typeface="Times New Roman"/>
              </a:rPr>
              <a:t>and</a:t>
            </a:r>
            <a:r>
              <a:rPr sz="1950" spc="-10" dirty="0">
                <a:solidFill>
                  <a:srgbClr val="FFFFFF"/>
                </a:solidFill>
                <a:latin typeface="Times New Roman"/>
                <a:cs typeface="Times New Roman"/>
              </a:rPr>
              <a:t> </a:t>
            </a:r>
            <a:r>
              <a:rPr sz="1950" spc="-5" dirty="0">
                <a:solidFill>
                  <a:srgbClr val="FFFFFF"/>
                </a:solidFill>
                <a:latin typeface="Times New Roman"/>
                <a:cs typeface="Times New Roman"/>
              </a:rPr>
              <a:t>includes</a:t>
            </a:r>
            <a:r>
              <a:rPr sz="1950" spc="-10" dirty="0">
                <a:solidFill>
                  <a:srgbClr val="FFFFFF"/>
                </a:solidFill>
                <a:latin typeface="Times New Roman"/>
                <a:cs typeface="Times New Roman"/>
              </a:rPr>
              <a:t> </a:t>
            </a:r>
            <a:r>
              <a:rPr sz="1950" spc="-5" dirty="0">
                <a:solidFill>
                  <a:srgbClr val="FFFFFF"/>
                </a:solidFill>
                <a:latin typeface="Times New Roman"/>
                <a:cs typeface="Times New Roman"/>
              </a:rPr>
              <a:t>evaluation tools</a:t>
            </a:r>
            <a:endParaRPr sz="1950">
              <a:latin typeface="Times New Roman"/>
              <a:cs typeface="Times New Roman"/>
            </a:endParaRPr>
          </a:p>
          <a:p>
            <a:pPr marL="194310" indent="-182245">
              <a:lnSpc>
                <a:spcPct val="100000"/>
              </a:lnSpc>
              <a:spcBef>
                <a:spcPts val="2170"/>
              </a:spcBef>
              <a:buSzPct val="123076"/>
              <a:buFont typeface="Arial MT"/>
              <a:buChar char="•"/>
              <a:tabLst>
                <a:tab pos="194945" algn="l"/>
              </a:tabLst>
            </a:pPr>
            <a:r>
              <a:rPr sz="1950" spc="-5" dirty="0">
                <a:solidFill>
                  <a:srgbClr val="FFFFFF"/>
                </a:solidFill>
                <a:latin typeface="Times New Roman"/>
                <a:cs typeface="Times New Roman"/>
              </a:rPr>
              <a:t>Evaluation</a:t>
            </a:r>
            <a:endParaRPr sz="1950">
              <a:latin typeface="Times New Roman"/>
              <a:cs typeface="Times New Roman"/>
            </a:endParaRPr>
          </a:p>
          <a:p>
            <a:pPr marL="651510" marR="5080" lvl="1" indent="-182245">
              <a:lnSpc>
                <a:spcPct val="130000"/>
              </a:lnSpc>
              <a:spcBef>
                <a:spcPts val="965"/>
              </a:spcBef>
              <a:buSzPct val="123076"/>
              <a:buFont typeface="Arial MT"/>
              <a:buChar char="•"/>
              <a:tabLst>
                <a:tab pos="652145" algn="l"/>
              </a:tabLst>
            </a:pPr>
            <a:r>
              <a:rPr sz="1950" spc="-5" dirty="0">
                <a:solidFill>
                  <a:srgbClr val="FFFFFF"/>
                </a:solidFill>
                <a:latin typeface="Times New Roman"/>
                <a:cs typeface="Times New Roman"/>
              </a:rPr>
              <a:t>Evaluation</a:t>
            </a:r>
            <a:r>
              <a:rPr sz="1950" spc="330" dirty="0">
                <a:solidFill>
                  <a:srgbClr val="FFFFFF"/>
                </a:solidFill>
                <a:latin typeface="Times New Roman"/>
                <a:cs typeface="Times New Roman"/>
              </a:rPr>
              <a:t> </a:t>
            </a:r>
            <a:r>
              <a:rPr sz="1950" spc="-5" dirty="0">
                <a:solidFill>
                  <a:srgbClr val="FFFFFF"/>
                </a:solidFill>
                <a:latin typeface="Times New Roman"/>
                <a:cs typeface="Times New Roman"/>
              </a:rPr>
              <a:t>software</a:t>
            </a:r>
            <a:r>
              <a:rPr sz="1950" spc="335" dirty="0">
                <a:solidFill>
                  <a:srgbClr val="FFFFFF"/>
                </a:solidFill>
                <a:latin typeface="Times New Roman"/>
                <a:cs typeface="Times New Roman"/>
              </a:rPr>
              <a:t> </a:t>
            </a:r>
            <a:r>
              <a:rPr sz="1950" dirty="0">
                <a:solidFill>
                  <a:srgbClr val="FFFFFF"/>
                </a:solidFill>
                <a:latin typeface="Times New Roman"/>
                <a:cs typeface="Times New Roman"/>
              </a:rPr>
              <a:t>helps</a:t>
            </a:r>
            <a:r>
              <a:rPr sz="1950" spc="335" dirty="0">
                <a:solidFill>
                  <a:srgbClr val="FFFFFF"/>
                </a:solidFill>
                <a:latin typeface="Times New Roman"/>
                <a:cs typeface="Times New Roman"/>
              </a:rPr>
              <a:t> </a:t>
            </a:r>
            <a:r>
              <a:rPr sz="1950" spc="-5" dirty="0">
                <a:solidFill>
                  <a:srgbClr val="FFFFFF"/>
                </a:solidFill>
                <a:latin typeface="Times New Roman"/>
                <a:cs typeface="Times New Roman"/>
              </a:rPr>
              <a:t>standardize</a:t>
            </a:r>
            <a:r>
              <a:rPr sz="1950" spc="335" dirty="0">
                <a:solidFill>
                  <a:srgbClr val="FFFFFF"/>
                </a:solidFill>
                <a:latin typeface="Times New Roman"/>
                <a:cs typeface="Times New Roman"/>
              </a:rPr>
              <a:t> </a:t>
            </a:r>
            <a:r>
              <a:rPr sz="1950" spc="-5" dirty="0">
                <a:solidFill>
                  <a:srgbClr val="FFFFFF"/>
                </a:solidFill>
                <a:latin typeface="Times New Roman"/>
                <a:cs typeface="Times New Roman"/>
              </a:rPr>
              <a:t>the</a:t>
            </a:r>
            <a:r>
              <a:rPr sz="1950" spc="335" dirty="0">
                <a:solidFill>
                  <a:srgbClr val="FFFFFF"/>
                </a:solidFill>
                <a:latin typeface="Times New Roman"/>
                <a:cs typeface="Times New Roman"/>
              </a:rPr>
              <a:t> </a:t>
            </a:r>
            <a:r>
              <a:rPr sz="1950" spc="-5" dirty="0">
                <a:solidFill>
                  <a:srgbClr val="FFFFFF"/>
                </a:solidFill>
                <a:latin typeface="Times New Roman"/>
                <a:cs typeface="Times New Roman"/>
              </a:rPr>
              <a:t>evaluation</a:t>
            </a:r>
            <a:r>
              <a:rPr sz="1950" spc="330" dirty="0">
                <a:solidFill>
                  <a:srgbClr val="FFFFFF"/>
                </a:solidFill>
                <a:latin typeface="Times New Roman"/>
                <a:cs typeface="Times New Roman"/>
              </a:rPr>
              <a:t> </a:t>
            </a:r>
            <a:r>
              <a:rPr sz="1950" dirty="0">
                <a:solidFill>
                  <a:srgbClr val="FFFFFF"/>
                </a:solidFill>
                <a:latin typeface="Times New Roman"/>
                <a:cs typeface="Times New Roman"/>
              </a:rPr>
              <a:t>process</a:t>
            </a:r>
            <a:r>
              <a:rPr sz="1950" spc="335" dirty="0">
                <a:solidFill>
                  <a:srgbClr val="FFFFFF"/>
                </a:solidFill>
                <a:latin typeface="Times New Roman"/>
                <a:cs typeface="Times New Roman"/>
              </a:rPr>
              <a:t> </a:t>
            </a:r>
            <a:r>
              <a:rPr sz="1950" dirty="0">
                <a:solidFill>
                  <a:srgbClr val="FFFFFF"/>
                </a:solidFill>
                <a:latin typeface="Times New Roman"/>
                <a:cs typeface="Times New Roman"/>
              </a:rPr>
              <a:t>using</a:t>
            </a:r>
            <a:r>
              <a:rPr sz="1950" spc="335" dirty="0">
                <a:solidFill>
                  <a:srgbClr val="FFFFFF"/>
                </a:solidFill>
                <a:latin typeface="Times New Roman"/>
                <a:cs typeface="Times New Roman"/>
              </a:rPr>
              <a:t> </a:t>
            </a:r>
            <a:r>
              <a:rPr sz="1950" spc="-5" dirty="0">
                <a:solidFill>
                  <a:srgbClr val="FFFFFF"/>
                </a:solidFill>
                <a:latin typeface="Times New Roman"/>
                <a:cs typeface="Times New Roman"/>
              </a:rPr>
              <a:t>certain</a:t>
            </a:r>
            <a:r>
              <a:rPr sz="1950" spc="335" dirty="0">
                <a:solidFill>
                  <a:srgbClr val="FFFFFF"/>
                </a:solidFill>
                <a:latin typeface="Times New Roman"/>
                <a:cs typeface="Times New Roman"/>
              </a:rPr>
              <a:t> </a:t>
            </a:r>
            <a:r>
              <a:rPr sz="1950" spc="-5" dirty="0">
                <a:solidFill>
                  <a:srgbClr val="FFFFFF"/>
                </a:solidFill>
                <a:latin typeface="Times New Roman"/>
                <a:cs typeface="Times New Roman"/>
              </a:rPr>
              <a:t>measures</a:t>
            </a:r>
            <a:r>
              <a:rPr sz="1950" spc="330" dirty="0">
                <a:solidFill>
                  <a:srgbClr val="FFFFFF"/>
                </a:solidFill>
                <a:latin typeface="Times New Roman"/>
                <a:cs typeface="Times New Roman"/>
              </a:rPr>
              <a:t> </a:t>
            </a:r>
            <a:r>
              <a:rPr sz="1950" dirty="0">
                <a:solidFill>
                  <a:srgbClr val="FFFFFF"/>
                </a:solidFill>
                <a:latin typeface="Times New Roman"/>
                <a:cs typeface="Times New Roman"/>
              </a:rPr>
              <a:t>of </a:t>
            </a:r>
            <a:r>
              <a:rPr sz="1950" spc="-475" dirty="0">
                <a:solidFill>
                  <a:srgbClr val="FFFFFF"/>
                </a:solidFill>
                <a:latin typeface="Times New Roman"/>
                <a:cs typeface="Times New Roman"/>
              </a:rPr>
              <a:t> </a:t>
            </a:r>
            <a:r>
              <a:rPr sz="1950" dirty="0">
                <a:solidFill>
                  <a:srgbClr val="FFFFFF"/>
                </a:solidFill>
                <a:latin typeface="Times New Roman"/>
                <a:cs typeface="Times New Roman"/>
              </a:rPr>
              <a:t>objectivity</a:t>
            </a:r>
            <a:r>
              <a:rPr sz="1950" spc="-5" dirty="0">
                <a:solidFill>
                  <a:srgbClr val="FFFFFF"/>
                </a:solidFill>
                <a:latin typeface="Times New Roman"/>
                <a:cs typeface="Times New Roman"/>
              </a:rPr>
              <a:t> and consistency</a:t>
            </a:r>
            <a:endParaRPr sz="1950">
              <a:latin typeface="Times New Roman"/>
              <a:cs typeface="Times New Roman"/>
            </a:endParaRPr>
          </a:p>
          <a:p>
            <a:pPr lvl="1">
              <a:lnSpc>
                <a:spcPct val="100000"/>
              </a:lnSpc>
              <a:spcBef>
                <a:spcPts val="40"/>
              </a:spcBef>
              <a:buClr>
                <a:srgbClr val="FFFFFF"/>
              </a:buClr>
              <a:buFont typeface="Arial MT"/>
              <a:buChar char="•"/>
            </a:pPr>
            <a:endParaRPr sz="1650">
              <a:latin typeface="Times New Roman"/>
              <a:cs typeface="Times New Roman"/>
            </a:endParaRPr>
          </a:p>
          <a:p>
            <a:pPr marL="194310" indent="-182245">
              <a:lnSpc>
                <a:spcPct val="100000"/>
              </a:lnSpc>
              <a:buSzPct val="123076"/>
              <a:buFont typeface="Arial MT"/>
              <a:buChar char="•"/>
              <a:tabLst>
                <a:tab pos="194945" algn="l"/>
              </a:tabLst>
            </a:pPr>
            <a:r>
              <a:rPr sz="1950" spc="-5" dirty="0">
                <a:solidFill>
                  <a:srgbClr val="FFFFFF"/>
                </a:solidFill>
                <a:latin typeface="Times New Roman"/>
                <a:cs typeface="Times New Roman"/>
              </a:rPr>
              <a:t>Compensation</a:t>
            </a:r>
            <a:r>
              <a:rPr sz="1950" spc="-50" dirty="0">
                <a:solidFill>
                  <a:srgbClr val="FFFFFF"/>
                </a:solidFill>
                <a:latin typeface="Times New Roman"/>
                <a:cs typeface="Times New Roman"/>
              </a:rPr>
              <a:t> </a:t>
            </a:r>
            <a:r>
              <a:rPr sz="1950" spc="-5" dirty="0">
                <a:solidFill>
                  <a:srgbClr val="FFFFFF"/>
                </a:solidFill>
                <a:latin typeface="Times New Roman"/>
                <a:cs typeface="Times New Roman"/>
              </a:rPr>
              <a:t>Management</a:t>
            </a:r>
            <a:endParaRPr sz="1950">
              <a:latin typeface="Times New Roman"/>
              <a:cs typeface="Times New Roman"/>
            </a:endParaRPr>
          </a:p>
          <a:p>
            <a:pPr marL="651510" lvl="1" indent="-182245">
              <a:lnSpc>
                <a:spcPct val="100000"/>
              </a:lnSpc>
              <a:spcBef>
                <a:spcPts val="1670"/>
              </a:spcBef>
              <a:buSzPct val="123076"/>
              <a:buFont typeface="Arial MT"/>
              <a:buChar char="•"/>
              <a:tabLst>
                <a:tab pos="652145" algn="l"/>
              </a:tabLst>
            </a:pPr>
            <a:r>
              <a:rPr sz="1950" dirty="0">
                <a:solidFill>
                  <a:srgbClr val="FFFFFF"/>
                </a:solidFill>
                <a:latin typeface="Times New Roman"/>
                <a:cs typeface="Times New Roman"/>
              </a:rPr>
              <a:t>ISs</a:t>
            </a:r>
            <a:r>
              <a:rPr sz="1950" spc="-10" dirty="0">
                <a:solidFill>
                  <a:srgbClr val="FFFFFF"/>
                </a:solidFill>
                <a:latin typeface="Times New Roman"/>
                <a:cs typeface="Times New Roman"/>
              </a:rPr>
              <a:t> </a:t>
            </a:r>
            <a:r>
              <a:rPr sz="1950" spc="-5" dirty="0">
                <a:solidFill>
                  <a:srgbClr val="FFFFFF"/>
                </a:solidFill>
                <a:latin typeface="Times New Roman"/>
                <a:cs typeface="Times New Roman"/>
              </a:rPr>
              <a:t>can</a:t>
            </a:r>
            <a:r>
              <a:rPr sz="1950" spc="-15" dirty="0">
                <a:solidFill>
                  <a:srgbClr val="FFFFFF"/>
                </a:solidFill>
                <a:latin typeface="Times New Roman"/>
                <a:cs typeface="Times New Roman"/>
              </a:rPr>
              <a:t> </a:t>
            </a:r>
            <a:r>
              <a:rPr sz="1950" dirty="0">
                <a:solidFill>
                  <a:srgbClr val="FFFFFF"/>
                </a:solidFill>
                <a:latin typeface="Times New Roman"/>
                <a:cs typeface="Times New Roman"/>
              </a:rPr>
              <a:t>help</a:t>
            </a:r>
            <a:r>
              <a:rPr sz="1950" spc="-10" dirty="0">
                <a:solidFill>
                  <a:srgbClr val="FFFFFF"/>
                </a:solidFill>
                <a:latin typeface="Times New Roman"/>
                <a:cs typeface="Times New Roman"/>
              </a:rPr>
              <a:t> </a:t>
            </a:r>
            <a:r>
              <a:rPr sz="1950" spc="-5" dirty="0">
                <a:solidFill>
                  <a:srgbClr val="FFFFFF"/>
                </a:solidFill>
                <a:latin typeface="Times New Roman"/>
                <a:cs typeface="Times New Roman"/>
              </a:rPr>
              <a:t>manage</a:t>
            </a:r>
            <a:r>
              <a:rPr sz="1950" spc="-15" dirty="0">
                <a:solidFill>
                  <a:srgbClr val="FFFFFF"/>
                </a:solidFill>
                <a:latin typeface="Times New Roman"/>
                <a:cs typeface="Times New Roman"/>
              </a:rPr>
              <a:t> </a:t>
            </a:r>
            <a:r>
              <a:rPr sz="1950" spc="-5" dirty="0">
                <a:solidFill>
                  <a:srgbClr val="FFFFFF"/>
                </a:solidFill>
                <a:latin typeface="Times New Roman"/>
                <a:cs typeface="Times New Roman"/>
              </a:rPr>
              <a:t>compensation</a:t>
            </a:r>
            <a:r>
              <a:rPr sz="1950" spc="-10" dirty="0">
                <a:solidFill>
                  <a:srgbClr val="FFFFFF"/>
                </a:solidFill>
                <a:latin typeface="Times New Roman"/>
                <a:cs typeface="Times New Roman"/>
              </a:rPr>
              <a:t> </a:t>
            </a:r>
            <a:r>
              <a:rPr sz="1950" spc="-5" dirty="0">
                <a:solidFill>
                  <a:srgbClr val="FFFFFF"/>
                </a:solidFill>
                <a:latin typeface="Times New Roman"/>
                <a:cs typeface="Times New Roman"/>
              </a:rPr>
              <a:t>efficiently</a:t>
            </a:r>
            <a:r>
              <a:rPr sz="1950" spc="-15" dirty="0">
                <a:solidFill>
                  <a:srgbClr val="FFFFFF"/>
                </a:solidFill>
                <a:latin typeface="Times New Roman"/>
                <a:cs typeface="Times New Roman"/>
              </a:rPr>
              <a:t> </a:t>
            </a:r>
            <a:r>
              <a:rPr sz="1950" spc="-5" dirty="0">
                <a:solidFill>
                  <a:srgbClr val="FFFFFF"/>
                </a:solidFill>
                <a:latin typeface="Times New Roman"/>
                <a:cs typeface="Times New Roman"/>
              </a:rPr>
              <a:t>and</a:t>
            </a:r>
            <a:r>
              <a:rPr sz="1950" spc="-15" dirty="0">
                <a:solidFill>
                  <a:srgbClr val="FFFFFF"/>
                </a:solidFill>
                <a:latin typeface="Times New Roman"/>
                <a:cs typeface="Times New Roman"/>
              </a:rPr>
              <a:t> </a:t>
            </a:r>
            <a:r>
              <a:rPr sz="1950" spc="-5" dirty="0">
                <a:solidFill>
                  <a:srgbClr val="FFFFFF"/>
                </a:solidFill>
                <a:latin typeface="Times New Roman"/>
                <a:cs typeface="Times New Roman"/>
              </a:rPr>
              <a:t>effectively</a:t>
            </a:r>
            <a:endParaRPr sz="1950">
              <a:latin typeface="Times New Roman"/>
              <a:cs typeface="Times New Roman"/>
            </a:endParaRPr>
          </a:p>
          <a:p>
            <a:pPr marL="1108710" lvl="2" indent="-182245">
              <a:lnSpc>
                <a:spcPct val="100000"/>
              </a:lnSpc>
              <a:spcBef>
                <a:spcPts val="1670"/>
              </a:spcBef>
              <a:buSzPct val="123076"/>
              <a:buFont typeface="Arial MT"/>
              <a:buChar char="•"/>
              <a:tabLst>
                <a:tab pos="1109345" algn="l"/>
              </a:tabLst>
            </a:pPr>
            <a:r>
              <a:rPr sz="1950" spc="-5" dirty="0">
                <a:solidFill>
                  <a:srgbClr val="FFFFFF"/>
                </a:solidFill>
                <a:latin typeface="Times New Roman"/>
                <a:cs typeface="Times New Roman"/>
              </a:rPr>
              <a:t>Calculate</a:t>
            </a:r>
            <a:r>
              <a:rPr sz="1950" spc="-20" dirty="0">
                <a:solidFill>
                  <a:srgbClr val="FFFFFF"/>
                </a:solidFill>
                <a:latin typeface="Times New Roman"/>
                <a:cs typeface="Times New Roman"/>
              </a:rPr>
              <a:t> </a:t>
            </a:r>
            <a:r>
              <a:rPr sz="1950" spc="-5" dirty="0">
                <a:solidFill>
                  <a:srgbClr val="FFFFFF"/>
                </a:solidFill>
                <a:latin typeface="Times New Roman"/>
                <a:cs typeface="Times New Roman"/>
              </a:rPr>
              <a:t>salaries,</a:t>
            </a:r>
            <a:r>
              <a:rPr sz="1950" spc="-15" dirty="0">
                <a:solidFill>
                  <a:srgbClr val="FFFFFF"/>
                </a:solidFill>
                <a:latin typeface="Times New Roman"/>
                <a:cs typeface="Times New Roman"/>
              </a:rPr>
              <a:t> </a:t>
            </a:r>
            <a:r>
              <a:rPr sz="1950" dirty="0">
                <a:solidFill>
                  <a:srgbClr val="FFFFFF"/>
                </a:solidFill>
                <a:latin typeface="Times New Roman"/>
                <a:cs typeface="Times New Roman"/>
              </a:rPr>
              <a:t>hourly</a:t>
            </a:r>
            <a:r>
              <a:rPr sz="1950" spc="-10" dirty="0">
                <a:solidFill>
                  <a:srgbClr val="FFFFFF"/>
                </a:solidFill>
                <a:latin typeface="Times New Roman"/>
                <a:cs typeface="Times New Roman"/>
              </a:rPr>
              <a:t> </a:t>
            </a:r>
            <a:r>
              <a:rPr sz="1950" dirty="0">
                <a:solidFill>
                  <a:srgbClr val="FFFFFF"/>
                </a:solidFill>
                <a:latin typeface="Times New Roman"/>
                <a:cs typeface="Times New Roman"/>
              </a:rPr>
              <a:t>pay,</a:t>
            </a:r>
            <a:r>
              <a:rPr sz="1950" spc="-10" dirty="0">
                <a:solidFill>
                  <a:srgbClr val="FFFFFF"/>
                </a:solidFill>
                <a:latin typeface="Times New Roman"/>
                <a:cs typeface="Times New Roman"/>
              </a:rPr>
              <a:t> </a:t>
            </a:r>
            <a:r>
              <a:rPr sz="1950" spc="-5" dirty="0">
                <a:solidFill>
                  <a:srgbClr val="FFFFFF"/>
                </a:solidFill>
                <a:latin typeface="Times New Roman"/>
                <a:cs typeface="Times New Roman"/>
              </a:rPr>
              <a:t>commissions,</a:t>
            </a:r>
            <a:r>
              <a:rPr sz="1950" spc="-15" dirty="0">
                <a:solidFill>
                  <a:srgbClr val="FFFFFF"/>
                </a:solidFill>
                <a:latin typeface="Times New Roman"/>
                <a:cs typeface="Times New Roman"/>
              </a:rPr>
              <a:t> </a:t>
            </a:r>
            <a:r>
              <a:rPr sz="1950" spc="-5" dirty="0">
                <a:solidFill>
                  <a:srgbClr val="FFFFFF"/>
                </a:solidFill>
                <a:latin typeface="Times New Roman"/>
                <a:cs typeface="Times New Roman"/>
              </a:rPr>
              <a:t>and</a:t>
            </a:r>
            <a:r>
              <a:rPr sz="1950" spc="-20" dirty="0">
                <a:solidFill>
                  <a:srgbClr val="FFFFFF"/>
                </a:solidFill>
                <a:latin typeface="Times New Roman"/>
                <a:cs typeface="Times New Roman"/>
              </a:rPr>
              <a:t> </a:t>
            </a:r>
            <a:r>
              <a:rPr sz="1950" spc="-5" dirty="0">
                <a:solidFill>
                  <a:srgbClr val="FFFFFF"/>
                </a:solidFill>
                <a:latin typeface="Times New Roman"/>
                <a:cs typeface="Times New Roman"/>
              </a:rPr>
              <a:t>taxes</a:t>
            </a:r>
            <a:endParaRPr sz="195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647012"/>
            <a:ext cx="4964430" cy="574040"/>
          </a:xfrm>
          <a:prstGeom prst="rect">
            <a:avLst/>
          </a:prstGeom>
        </p:spPr>
        <p:txBody>
          <a:bodyPr vert="horz" wrap="square" lIns="0" tIns="12700" rIns="0" bIns="0" rtlCol="0">
            <a:spAutoFit/>
          </a:bodyPr>
          <a:lstStyle/>
          <a:p>
            <a:pPr marL="12700">
              <a:lnSpc>
                <a:spcPct val="100000"/>
              </a:lnSpc>
              <a:spcBef>
                <a:spcPts val="100"/>
              </a:spcBef>
            </a:pPr>
            <a:r>
              <a:rPr spc="-5" dirty="0"/>
              <a:t>ACCOUNTING</a:t>
            </a:r>
            <a:r>
              <a:rPr spc="-85" dirty="0"/>
              <a:t> </a:t>
            </a:r>
            <a:r>
              <a:rPr spc="-5" dirty="0"/>
              <a:t>SYSTEM</a:t>
            </a:r>
          </a:p>
        </p:txBody>
      </p:sp>
      <p:sp>
        <p:nvSpPr>
          <p:cNvPr id="3" name="object 3"/>
          <p:cNvSpPr txBox="1"/>
          <p:nvPr/>
        </p:nvSpPr>
        <p:spPr>
          <a:xfrm>
            <a:off x="1259687" y="1694856"/>
            <a:ext cx="9446895" cy="5155565"/>
          </a:xfrm>
          <a:prstGeom prst="rect">
            <a:avLst/>
          </a:prstGeom>
        </p:spPr>
        <p:txBody>
          <a:bodyPr vert="horz" wrap="square" lIns="0" tIns="12700" rIns="0" bIns="0" rtlCol="0">
            <a:spAutoFit/>
          </a:bodyPr>
          <a:lstStyle/>
          <a:p>
            <a:pPr marL="195580" marR="6985" indent="-183515">
              <a:lnSpc>
                <a:spcPct val="130000"/>
              </a:lnSpc>
              <a:spcBef>
                <a:spcPts val="100"/>
              </a:spcBef>
              <a:buSzPct val="123684"/>
              <a:buFont typeface="Arial MT"/>
              <a:buChar char="•"/>
              <a:tabLst>
                <a:tab pos="196215" algn="l"/>
              </a:tabLst>
            </a:pPr>
            <a:r>
              <a:rPr sz="1900" spc="-5" dirty="0">
                <a:solidFill>
                  <a:srgbClr val="FFFFFF"/>
                </a:solidFill>
                <a:latin typeface="Times New Roman"/>
                <a:cs typeface="Times New Roman"/>
              </a:rPr>
              <a:t>AISs</a:t>
            </a:r>
            <a:r>
              <a:rPr sz="1900" dirty="0">
                <a:solidFill>
                  <a:srgbClr val="FFFFFF"/>
                </a:solidFill>
                <a:latin typeface="Times New Roman"/>
                <a:cs typeface="Times New Roman"/>
              </a:rPr>
              <a:t> </a:t>
            </a:r>
            <a:r>
              <a:rPr sz="1900" spc="-5" dirty="0">
                <a:solidFill>
                  <a:srgbClr val="FFFFFF"/>
                </a:solidFill>
                <a:latin typeface="Times New Roman"/>
                <a:cs typeface="Times New Roman"/>
              </a:rPr>
              <a:t>automatically</a:t>
            </a:r>
            <a:r>
              <a:rPr sz="1900" dirty="0">
                <a:solidFill>
                  <a:srgbClr val="FFFFFF"/>
                </a:solidFill>
                <a:latin typeface="Times New Roman"/>
                <a:cs typeface="Times New Roman"/>
              </a:rPr>
              <a:t> post</a:t>
            </a:r>
            <a:r>
              <a:rPr sz="1900" spc="5" dirty="0">
                <a:solidFill>
                  <a:srgbClr val="FFFFFF"/>
                </a:solidFill>
                <a:latin typeface="Times New Roman"/>
                <a:cs typeface="Times New Roman"/>
              </a:rPr>
              <a:t> </a:t>
            </a:r>
            <a:r>
              <a:rPr sz="1900" spc="-5" dirty="0">
                <a:solidFill>
                  <a:srgbClr val="FFFFFF"/>
                </a:solidFill>
                <a:latin typeface="Times New Roman"/>
                <a:cs typeface="Times New Roman"/>
              </a:rPr>
              <a:t>transactions</a:t>
            </a:r>
            <a:r>
              <a:rPr sz="1900" dirty="0">
                <a:solidFill>
                  <a:srgbClr val="FFFFFF"/>
                </a:solidFill>
                <a:latin typeface="Times New Roman"/>
                <a:cs typeface="Times New Roman"/>
              </a:rPr>
              <a:t> </a:t>
            </a:r>
            <a:r>
              <a:rPr sz="1900" spc="-5" dirty="0">
                <a:solidFill>
                  <a:srgbClr val="FFFFFF"/>
                </a:solidFill>
                <a:latin typeface="Times New Roman"/>
                <a:cs typeface="Times New Roman"/>
              </a:rPr>
              <a:t>in</a:t>
            </a:r>
            <a:r>
              <a:rPr sz="1900" dirty="0">
                <a:solidFill>
                  <a:srgbClr val="FFFFFF"/>
                </a:solidFill>
                <a:latin typeface="Times New Roman"/>
                <a:cs typeface="Times New Roman"/>
              </a:rPr>
              <a:t> </a:t>
            </a:r>
            <a:r>
              <a:rPr sz="1900" spc="-5" dirty="0">
                <a:solidFill>
                  <a:srgbClr val="FFFFFF"/>
                </a:solidFill>
                <a:latin typeface="Times New Roman"/>
                <a:cs typeface="Times New Roman"/>
              </a:rPr>
              <a:t>the</a:t>
            </a:r>
            <a:r>
              <a:rPr sz="1900" dirty="0">
                <a:solidFill>
                  <a:srgbClr val="FFFFFF"/>
                </a:solidFill>
                <a:latin typeface="Times New Roman"/>
                <a:cs typeface="Times New Roman"/>
              </a:rPr>
              <a:t> books</a:t>
            </a:r>
            <a:r>
              <a:rPr sz="1900" spc="5" dirty="0">
                <a:solidFill>
                  <a:srgbClr val="FFFFFF"/>
                </a:solidFill>
                <a:latin typeface="Times New Roman"/>
                <a:cs typeface="Times New Roman"/>
              </a:rPr>
              <a:t> </a:t>
            </a:r>
            <a:r>
              <a:rPr sz="1900" spc="-5" dirty="0">
                <a:solidFill>
                  <a:srgbClr val="FFFFFF"/>
                </a:solidFill>
                <a:latin typeface="Times New Roman"/>
                <a:cs typeface="Times New Roman"/>
              </a:rPr>
              <a:t>and</a:t>
            </a:r>
            <a:r>
              <a:rPr sz="1900" dirty="0">
                <a:solidFill>
                  <a:srgbClr val="FFFFFF"/>
                </a:solidFill>
                <a:latin typeface="Times New Roman"/>
                <a:cs typeface="Times New Roman"/>
              </a:rPr>
              <a:t> </a:t>
            </a:r>
            <a:r>
              <a:rPr sz="1900" spc="-5" dirty="0">
                <a:solidFill>
                  <a:srgbClr val="FFFFFF"/>
                </a:solidFill>
                <a:latin typeface="Times New Roman"/>
                <a:cs typeface="Times New Roman"/>
              </a:rPr>
              <a:t>automate</a:t>
            </a:r>
            <a:r>
              <a:rPr sz="1900" dirty="0">
                <a:solidFill>
                  <a:srgbClr val="FFFFFF"/>
                </a:solidFill>
                <a:latin typeface="Times New Roman"/>
                <a:cs typeface="Times New Roman"/>
              </a:rPr>
              <a:t> generation</a:t>
            </a:r>
            <a:r>
              <a:rPr sz="1900" spc="5" dirty="0">
                <a:solidFill>
                  <a:srgbClr val="FFFFFF"/>
                </a:solidFill>
                <a:latin typeface="Times New Roman"/>
                <a:cs typeface="Times New Roman"/>
              </a:rPr>
              <a:t> </a:t>
            </a:r>
            <a:r>
              <a:rPr sz="1900" dirty="0">
                <a:solidFill>
                  <a:srgbClr val="FFFFFF"/>
                </a:solidFill>
                <a:latin typeface="Times New Roman"/>
                <a:cs typeface="Times New Roman"/>
              </a:rPr>
              <a:t>of</a:t>
            </a:r>
            <a:r>
              <a:rPr sz="1900" spc="5" dirty="0">
                <a:solidFill>
                  <a:srgbClr val="FFFFFF"/>
                </a:solidFill>
                <a:latin typeface="Times New Roman"/>
                <a:cs typeface="Times New Roman"/>
              </a:rPr>
              <a:t> </a:t>
            </a:r>
            <a:r>
              <a:rPr sz="1900" dirty="0">
                <a:solidFill>
                  <a:srgbClr val="FFFFFF"/>
                </a:solidFill>
                <a:latin typeface="Times New Roman"/>
                <a:cs typeface="Times New Roman"/>
              </a:rPr>
              <a:t>reports</a:t>
            </a:r>
            <a:r>
              <a:rPr sz="1900" spc="5" dirty="0">
                <a:solidFill>
                  <a:srgbClr val="FFFFFF"/>
                </a:solidFill>
                <a:latin typeface="Times New Roman"/>
                <a:cs typeface="Times New Roman"/>
              </a:rPr>
              <a:t> </a:t>
            </a:r>
            <a:r>
              <a:rPr sz="1900" dirty="0">
                <a:solidFill>
                  <a:srgbClr val="FFFFFF"/>
                </a:solidFill>
                <a:latin typeface="Times New Roman"/>
                <a:cs typeface="Times New Roman"/>
              </a:rPr>
              <a:t>for </a:t>
            </a:r>
            <a:r>
              <a:rPr sz="1900" spc="-465" dirty="0">
                <a:solidFill>
                  <a:srgbClr val="FFFFFF"/>
                </a:solidFill>
                <a:latin typeface="Times New Roman"/>
                <a:cs typeface="Times New Roman"/>
              </a:rPr>
              <a:t> </a:t>
            </a:r>
            <a:r>
              <a:rPr sz="1900" spc="-5" dirty="0">
                <a:solidFill>
                  <a:srgbClr val="FFFFFF"/>
                </a:solidFill>
                <a:latin typeface="Times New Roman"/>
                <a:cs typeface="Times New Roman"/>
              </a:rPr>
              <a:t>management</a:t>
            </a:r>
            <a:r>
              <a:rPr sz="1900" spc="-10" dirty="0">
                <a:solidFill>
                  <a:srgbClr val="FFFFFF"/>
                </a:solidFill>
                <a:latin typeface="Times New Roman"/>
                <a:cs typeface="Times New Roman"/>
              </a:rPr>
              <a:t> </a:t>
            </a:r>
            <a:r>
              <a:rPr sz="1900" spc="-5" dirty="0">
                <a:solidFill>
                  <a:srgbClr val="FFFFFF"/>
                </a:solidFill>
                <a:latin typeface="Times New Roman"/>
                <a:cs typeface="Times New Roman"/>
              </a:rPr>
              <a:t>and legal </a:t>
            </a:r>
            <a:r>
              <a:rPr sz="1900" dirty="0">
                <a:solidFill>
                  <a:srgbClr val="FFFFFF"/>
                </a:solidFill>
                <a:latin typeface="Times New Roman"/>
                <a:cs typeface="Times New Roman"/>
              </a:rPr>
              <a:t>requirements</a:t>
            </a:r>
            <a:endParaRPr sz="1900">
              <a:latin typeface="Times New Roman"/>
              <a:cs typeface="Times New Roman"/>
            </a:endParaRPr>
          </a:p>
          <a:p>
            <a:pPr>
              <a:lnSpc>
                <a:spcPct val="100000"/>
              </a:lnSpc>
              <a:spcBef>
                <a:spcPts val="10"/>
              </a:spcBef>
              <a:buClr>
                <a:srgbClr val="FFFFFF"/>
              </a:buClr>
              <a:buFont typeface="Arial MT"/>
              <a:buChar char="•"/>
            </a:pPr>
            <a:endParaRPr sz="1650">
              <a:latin typeface="Times New Roman"/>
              <a:cs typeface="Times New Roman"/>
            </a:endParaRPr>
          </a:p>
          <a:p>
            <a:pPr marL="195580" indent="-183515">
              <a:lnSpc>
                <a:spcPct val="100000"/>
              </a:lnSpc>
              <a:spcBef>
                <a:spcPts val="5"/>
              </a:spcBef>
              <a:buSzPct val="123684"/>
              <a:buFont typeface="Arial MT"/>
              <a:buChar char="•"/>
              <a:tabLst>
                <a:tab pos="196215" algn="l"/>
              </a:tabLst>
            </a:pPr>
            <a:r>
              <a:rPr sz="1900" spc="-5" dirty="0">
                <a:solidFill>
                  <a:srgbClr val="FFFFFF"/>
                </a:solidFill>
                <a:latin typeface="Times New Roman"/>
                <a:cs typeface="Times New Roman"/>
              </a:rPr>
              <a:t>Six</a:t>
            </a:r>
            <a:r>
              <a:rPr sz="1900" spc="-25" dirty="0">
                <a:solidFill>
                  <a:srgbClr val="FFFFFF"/>
                </a:solidFill>
                <a:latin typeface="Times New Roman"/>
                <a:cs typeface="Times New Roman"/>
              </a:rPr>
              <a:t> </a:t>
            </a:r>
            <a:r>
              <a:rPr sz="1900" spc="-5" dirty="0">
                <a:solidFill>
                  <a:srgbClr val="FFFFFF"/>
                </a:solidFill>
                <a:latin typeface="Times New Roman"/>
                <a:cs typeface="Times New Roman"/>
              </a:rPr>
              <a:t>widely</a:t>
            </a:r>
            <a:r>
              <a:rPr sz="1900" spc="-20" dirty="0">
                <a:solidFill>
                  <a:srgbClr val="FFFFFF"/>
                </a:solidFill>
                <a:latin typeface="Times New Roman"/>
                <a:cs typeface="Times New Roman"/>
              </a:rPr>
              <a:t> </a:t>
            </a:r>
            <a:r>
              <a:rPr sz="1900" dirty="0">
                <a:solidFill>
                  <a:srgbClr val="FFFFFF"/>
                </a:solidFill>
                <a:latin typeface="Times New Roman"/>
                <a:cs typeface="Times New Roman"/>
              </a:rPr>
              <a:t>used</a:t>
            </a:r>
            <a:r>
              <a:rPr sz="1900" spc="-15" dirty="0">
                <a:solidFill>
                  <a:srgbClr val="FFFFFF"/>
                </a:solidFill>
                <a:latin typeface="Times New Roman"/>
                <a:cs typeface="Times New Roman"/>
              </a:rPr>
              <a:t> </a:t>
            </a:r>
            <a:r>
              <a:rPr sz="1900" spc="-5" dirty="0">
                <a:solidFill>
                  <a:srgbClr val="FFFFFF"/>
                </a:solidFill>
                <a:latin typeface="Times New Roman"/>
                <a:cs typeface="Times New Roman"/>
              </a:rPr>
              <a:t>accounting</a:t>
            </a:r>
            <a:r>
              <a:rPr sz="1900" spc="-20" dirty="0">
                <a:solidFill>
                  <a:srgbClr val="FFFFFF"/>
                </a:solidFill>
                <a:latin typeface="Times New Roman"/>
                <a:cs typeface="Times New Roman"/>
              </a:rPr>
              <a:t> </a:t>
            </a:r>
            <a:r>
              <a:rPr sz="1900" spc="-5" dirty="0">
                <a:solidFill>
                  <a:srgbClr val="FFFFFF"/>
                </a:solidFill>
                <a:latin typeface="Times New Roman"/>
                <a:cs typeface="Times New Roman"/>
              </a:rPr>
              <a:t>systems</a:t>
            </a:r>
            <a:endParaRPr sz="1900">
              <a:latin typeface="Times New Roman"/>
              <a:cs typeface="Times New Roman"/>
            </a:endParaRPr>
          </a:p>
          <a:p>
            <a:pPr marL="652780" lvl="1" indent="-183515">
              <a:lnSpc>
                <a:spcPct val="100000"/>
              </a:lnSpc>
              <a:spcBef>
                <a:spcPts val="1640"/>
              </a:spcBef>
              <a:buSzPct val="123684"/>
              <a:buFont typeface="Arial MT"/>
              <a:buChar char="•"/>
              <a:tabLst>
                <a:tab pos="653415" algn="l"/>
              </a:tabLst>
            </a:pPr>
            <a:r>
              <a:rPr sz="1900" spc="-5" dirty="0">
                <a:solidFill>
                  <a:srgbClr val="FFFFFF"/>
                </a:solidFill>
                <a:latin typeface="Times New Roman"/>
                <a:cs typeface="Times New Roman"/>
              </a:rPr>
              <a:t>Order</a:t>
            </a:r>
            <a:r>
              <a:rPr sz="1900" spc="-50" dirty="0">
                <a:solidFill>
                  <a:srgbClr val="FFFFFF"/>
                </a:solidFill>
                <a:latin typeface="Times New Roman"/>
                <a:cs typeface="Times New Roman"/>
              </a:rPr>
              <a:t> </a:t>
            </a:r>
            <a:r>
              <a:rPr sz="1900" dirty="0">
                <a:solidFill>
                  <a:srgbClr val="FFFFFF"/>
                </a:solidFill>
                <a:latin typeface="Times New Roman"/>
                <a:cs typeface="Times New Roman"/>
              </a:rPr>
              <a:t>processing</a:t>
            </a:r>
            <a:endParaRPr sz="1900">
              <a:latin typeface="Times New Roman"/>
              <a:cs typeface="Times New Roman"/>
            </a:endParaRPr>
          </a:p>
          <a:p>
            <a:pPr marL="1109980" marR="5080" lvl="2" indent="-183515">
              <a:lnSpc>
                <a:spcPct val="130000"/>
              </a:lnSpc>
              <a:spcBef>
                <a:spcPts val="955"/>
              </a:spcBef>
              <a:buSzPct val="123684"/>
              <a:buFont typeface="Arial MT"/>
              <a:buChar char="•"/>
              <a:tabLst>
                <a:tab pos="1110615" algn="l"/>
              </a:tabLst>
            </a:pPr>
            <a:r>
              <a:rPr sz="1900" spc="-5" dirty="0">
                <a:solidFill>
                  <a:srgbClr val="FFFFFF"/>
                </a:solidFill>
                <a:latin typeface="Times New Roman"/>
                <a:cs typeface="Times New Roman"/>
              </a:rPr>
              <a:t>Captures</a:t>
            </a:r>
            <a:r>
              <a:rPr sz="1900" spc="254" dirty="0">
                <a:solidFill>
                  <a:srgbClr val="FFFFFF"/>
                </a:solidFill>
                <a:latin typeface="Times New Roman"/>
                <a:cs typeface="Times New Roman"/>
              </a:rPr>
              <a:t> </a:t>
            </a:r>
            <a:r>
              <a:rPr sz="1900" dirty="0">
                <a:solidFill>
                  <a:srgbClr val="FFFFFF"/>
                </a:solidFill>
                <a:latin typeface="Times New Roman"/>
                <a:cs typeface="Times New Roman"/>
              </a:rPr>
              <a:t>&amp;</a:t>
            </a:r>
            <a:r>
              <a:rPr sz="1900" spc="265" dirty="0">
                <a:solidFill>
                  <a:srgbClr val="FFFFFF"/>
                </a:solidFill>
                <a:latin typeface="Times New Roman"/>
                <a:cs typeface="Times New Roman"/>
              </a:rPr>
              <a:t> </a:t>
            </a:r>
            <a:r>
              <a:rPr sz="1900" dirty="0">
                <a:solidFill>
                  <a:srgbClr val="FFFFFF"/>
                </a:solidFill>
                <a:latin typeface="Times New Roman"/>
                <a:cs typeface="Times New Roman"/>
              </a:rPr>
              <a:t>processes</a:t>
            </a:r>
            <a:r>
              <a:rPr sz="1900" spc="260" dirty="0">
                <a:solidFill>
                  <a:srgbClr val="FFFFFF"/>
                </a:solidFill>
                <a:latin typeface="Times New Roman"/>
                <a:cs typeface="Times New Roman"/>
              </a:rPr>
              <a:t> </a:t>
            </a:r>
            <a:r>
              <a:rPr sz="1900" spc="-5" dirty="0">
                <a:solidFill>
                  <a:srgbClr val="FFFFFF"/>
                </a:solidFill>
                <a:latin typeface="Times New Roman"/>
                <a:cs typeface="Times New Roman"/>
              </a:rPr>
              <a:t>customer</a:t>
            </a:r>
            <a:r>
              <a:rPr sz="1900" spc="265" dirty="0">
                <a:solidFill>
                  <a:srgbClr val="FFFFFF"/>
                </a:solidFill>
                <a:latin typeface="Times New Roman"/>
                <a:cs typeface="Times New Roman"/>
              </a:rPr>
              <a:t> </a:t>
            </a:r>
            <a:r>
              <a:rPr sz="1900" dirty="0">
                <a:solidFill>
                  <a:srgbClr val="FFFFFF"/>
                </a:solidFill>
                <a:latin typeface="Times New Roman"/>
                <a:cs typeface="Times New Roman"/>
              </a:rPr>
              <a:t>orders</a:t>
            </a:r>
            <a:r>
              <a:rPr sz="1900" spc="260" dirty="0">
                <a:solidFill>
                  <a:srgbClr val="FFFFFF"/>
                </a:solidFill>
                <a:latin typeface="Times New Roman"/>
                <a:cs typeface="Times New Roman"/>
              </a:rPr>
              <a:t> </a:t>
            </a:r>
            <a:r>
              <a:rPr sz="1900" spc="-5" dirty="0">
                <a:solidFill>
                  <a:srgbClr val="FFFFFF"/>
                </a:solidFill>
                <a:latin typeface="Times New Roman"/>
                <a:cs typeface="Times New Roman"/>
              </a:rPr>
              <a:t>and</a:t>
            </a:r>
            <a:r>
              <a:rPr sz="1900" spc="265" dirty="0">
                <a:solidFill>
                  <a:srgbClr val="FFFFFF"/>
                </a:solidFill>
                <a:latin typeface="Times New Roman"/>
                <a:cs typeface="Times New Roman"/>
              </a:rPr>
              <a:t> </a:t>
            </a:r>
            <a:r>
              <a:rPr sz="1900" dirty="0">
                <a:solidFill>
                  <a:srgbClr val="FFFFFF"/>
                </a:solidFill>
                <a:latin typeface="Times New Roman"/>
                <a:cs typeface="Times New Roman"/>
              </a:rPr>
              <a:t>produces</a:t>
            </a:r>
            <a:r>
              <a:rPr sz="1900" spc="260" dirty="0">
                <a:solidFill>
                  <a:srgbClr val="FFFFFF"/>
                </a:solidFill>
                <a:latin typeface="Times New Roman"/>
                <a:cs typeface="Times New Roman"/>
              </a:rPr>
              <a:t> </a:t>
            </a:r>
            <a:r>
              <a:rPr sz="1900" dirty="0">
                <a:solidFill>
                  <a:srgbClr val="FFFFFF"/>
                </a:solidFill>
                <a:latin typeface="Times New Roman"/>
                <a:cs typeface="Times New Roman"/>
              </a:rPr>
              <a:t>data</a:t>
            </a:r>
            <a:r>
              <a:rPr sz="1900" spc="265" dirty="0">
                <a:solidFill>
                  <a:srgbClr val="FFFFFF"/>
                </a:solidFill>
                <a:latin typeface="Times New Roman"/>
                <a:cs typeface="Times New Roman"/>
              </a:rPr>
              <a:t> </a:t>
            </a:r>
            <a:r>
              <a:rPr sz="1900" dirty="0">
                <a:solidFill>
                  <a:srgbClr val="FFFFFF"/>
                </a:solidFill>
                <a:latin typeface="Times New Roman"/>
                <a:cs typeface="Times New Roman"/>
              </a:rPr>
              <a:t>needed</a:t>
            </a:r>
            <a:r>
              <a:rPr sz="1900" spc="265" dirty="0">
                <a:solidFill>
                  <a:srgbClr val="FFFFFF"/>
                </a:solidFill>
                <a:latin typeface="Times New Roman"/>
                <a:cs typeface="Times New Roman"/>
              </a:rPr>
              <a:t> </a:t>
            </a:r>
            <a:r>
              <a:rPr sz="1900" dirty="0">
                <a:solidFill>
                  <a:srgbClr val="FFFFFF"/>
                </a:solidFill>
                <a:latin typeface="Times New Roman"/>
                <a:cs typeface="Times New Roman"/>
              </a:rPr>
              <a:t>for</a:t>
            </a:r>
            <a:r>
              <a:rPr sz="1900" spc="260" dirty="0">
                <a:solidFill>
                  <a:srgbClr val="FFFFFF"/>
                </a:solidFill>
                <a:latin typeface="Times New Roman"/>
                <a:cs typeface="Times New Roman"/>
              </a:rPr>
              <a:t> </a:t>
            </a:r>
            <a:r>
              <a:rPr sz="1900" spc="-5" dirty="0">
                <a:solidFill>
                  <a:srgbClr val="FFFFFF"/>
                </a:solidFill>
                <a:latin typeface="Times New Roman"/>
                <a:cs typeface="Times New Roman"/>
              </a:rPr>
              <a:t>sales</a:t>
            </a:r>
            <a:r>
              <a:rPr sz="1900" spc="265" dirty="0">
                <a:solidFill>
                  <a:srgbClr val="FFFFFF"/>
                </a:solidFill>
                <a:latin typeface="Times New Roman"/>
                <a:cs typeface="Times New Roman"/>
              </a:rPr>
              <a:t> </a:t>
            </a:r>
            <a:r>
              <a:rPr sz="1900" spc="-5" dirty="0">
                <a:solidFill>
                  <a:srgbClr val="FFFFFF"/>
                </a:solidFill>
                <a:latin typeface="Times New Roman"/>
                <a:cs typeface="Times New Roman"/>
              </a:rPr>
              <a:t>analysis </a:t>
            </a:r>
            <a:r>
              <a:rPr sz="1900" spc="-459" dirty="0">
                <a:solidFill>
                  <a:srgbClr val="FFFFFF"/>
                </a:solidFill>
                <a:latin typeface="Times New Roman"/>
                <a:cs typeface="Times New Roman"/>
              </a:rPr>
              <a:t> </a:t>
            </a:r>
            <a:r>
              <a:rPr sz="1900" spc="-5" dirty="0">
                <a:solidFill>
                  <a:srgbClr val="FFFFFF"/>
                </a:solidFill>
                <a:latin typeface="Times New Roman"/>
                <a:cs typeface="Times New Roman"/>
              </a:rPr>
              <a:t>and</a:t>
            </a:r>
            <a:r>
              <a:rPr sz="1900" spc="-10" dirty="0">
                <a:solidFill>
                  <a:srgbClr val="FFFFFF"/>
                </a:solidFill>
                <a:latin typeface="Times New Roman"/>
                <a:cs typeface="Times New Roman"/>
              </a:rPr>
              <a:t> </a:t>
            </a:r>
            <a:r>
              <a:rPr sz="1900" spc="-5" dirty="0">
                <a:solidFill>
                  <a:srgbClr val="FFFFFF"/>
                </a:solidFill>
                <a:latin typeface="Times New Roman"/>
                <a:cs typeface="Times New Roman"/>
              </a:rPr>
              <a:t>inventory control</a:t>
            </a:r>
            <a:endParaRPr sz="1900">
              <a:latin typeface="Times New Roman"/>
              <a:cs typeface="Times New Roman"/>
            </a:endParaRPr>
          </a:p>
          <a:p>
            <a:pPr marL="652780" lvl="1" indent="-183515">
              <a:lnSpc>
                <a:spcPct val="100000"/>
              </a:lnSpc>
              <a:spcBef>
                <a:spcPts val="1410"/>
              </a:spcBef>
              <a:buSzPct val="123684"/>
              <a:buFont typeface="Arial MT"/>
              <a:buChar char="•"/>
              <a:tabLst>
                <a:tab pos="653415" algn="l"/>
              </a:tabLst>
            </a:pPr>
            <a:r>
              <a:rPr sz="1900" spc="-5" dirty="0">
                <a:solidFill>
                  <a:srgbClr val="FFFFFF"/>
                </a:solidFill>
                <a:latin typeface="Times New Roman"/>
                <a:cs typeface="Times New Roman"/>
              </a:rPr>
              <a:t>Payroll</a:t>
            </a:r>
            <a:endParaRPr sz="1900">
              <a:latin typeface="Times New Roman"/>
              <a:cs typeface="Times New Roman"/>
            </a:endParaRPr>
          </a:p>
          <a:p>
            <a:pPr marL="1109980" lvl="2" indent="-183515">
              <a:lnSpc>
                <a:spcPct val="100000"/>
              </a:lnSpc>
              <a:spcBef>
                <a:spcPts val="1639"/>
              </a:spcBef>
              <a:buSzPct val="123684"/>
              <a:buFont typeface="Arial MT"/>
              <a:buChar char="•"/>
              <a:tabLst>
                <a:tab pos="1110615" algn="l"/>
              </a:tabLst>
            </a:pPr>
            <a:r>
              <a:rPr sz="1900" spc="-5" dirty="0">
                <a:solidFill>
                  <a:srgbClr val="FFFFFF"/>
                </a:solidFill>
                <a:latin typeface="Times New Roman"/>
                <a:cs typeface="Times New Roman"/>
              </a:rPr>
              <a:t>Receives</a:t>
            </a:r>
            <a:r>
              <a:rPr sz="1900" spc="-10" dirty="0">
                <a:solidFill>
                  <a:srgbClr val="FFFFFF"/>
                </a:solidFill>
                <a:latin typeface="Times New Roman"/>
                <a:cs typeface="Times New Roman"/>
              </a:rPr>
              <a:t> </a:t>
            </a:r>
            <a:r>
              <a:rPr sz="1900" spc="-5" dirty="0">
                <a:solidFill>
                  <a:srgbClr val="FFFFFF"/>
                </a:solidFill>
                <a:latin typeface="Times New Roman"/>
                <a:cs typeface="Times New Roman"/>
              </a:rPr>
              <a:t>and</a:t>
            </a:r>
            <a:r>
              <a:rPr sz="1900" spc="-10" dirty="0">
                <a:solidFill>
                  <a:srgbClr val="FFFFFF"/>
                </a:solidFill>
                <a:latin typeface="Times New Roman"/>
                <a:cs typeface="Times New Roman"/>
              </a:rPr>
              <a:t> </a:t>
            </a:r>
            <a:r>
              <a:rPr sz="1900" spc="-5" dirty="0">
                <a:solidFill>
                  <a:srgbClr val="FFFFFF"/>
                </a:solidFill>
                <a:latin typeface="Times New Roman"/>
                <a:cs typeface="Times New Roman"/>
              </a:rPr>
              <a:t>maintains</a:t>
            </a:r>
            <a:r>
              <a:rPr sz="1900" spc="-10" dirty="0">
                <a:solidFill>
                  <a:srgbClr val="FFFFFF"/>
                </a:solidFill>
                <a:latin typeface="Times New Roman"/>
                <a:cs typeface="Times New Roman"/>
              </a:rPr>
              <a:t> </a:t>
            </a:r>
            <a:r>
              <a:rPr sz="1900" dirty="0">
                <a:solidFill>
                  <a:srgbClr val="FFFFFF"/>
                </a:solidFill>
                <a:latin typeface="Times New Roman"/>
                <a:cs typeface="Times New Roman"/>
              </a:rPr>
              <a:t>data</a:t>
            </a:r>
            <a:r>
              <a:rPr sz="1900" spc="-5" dirty="0">
                <a:solidFill>
                  <a:srgbClr val="FFFFFF"/>
                </a:solidFill>
                <a:latin typeface="Times New Roman"/>
                <a:cs typeface="Times New Roman"/>
              </a:rPr>
              <a:t> </a:t>
            </a:r>
            <a:r>
              <a:rPr sz="1900" dirty="0">
                <a:solidFill>
                  <a:srgbClr val="FFFFFF"/>
                </a:solidFill>
                <a:latin typeface="Times New Roman"/>
                <a:cs typeface="Times New Roman"/>
              </a:rPr>
              <a:t>from</a:t>
            </a:r>
            <a:r>
              <a:rPr sz="1900" spc="-5" dirty="0">
                <a:solidFill>
                  <a:srgbClr val="FFFFFF"/>
                </a:solidFill>
                <a:latin typeface="Times New Roman"/>
                <a:cs typeface="Times New Roman"/>
              </a:rPr>
              <a:t> employee</a:t>
            </a:r>
            <a:r>
              <a:rPr sz="1900" spc="-10" dirty="0">
                <a:solidFill>
                  <a:srgbClr val="FFFFFF"/>
                </a:solidFill>
                <a:latin typeface="Times New Roman"/>
                <a:cs typeface="Times New Roman"/>
              </a:rPr>
              <a:t> </a:t>
            </a:r>
            <a:r>
              <a:rPr sz="1900" spc="-5" dirty="0">
                <a:solidFill>
                  <a:srgbClr val="FFFFFF"/>
                </a:solidFill>
                <a:latin typeface="Times New Roman"/>
                <a:cs typeface="Times New Roman"/>
              </a:rPr>
              <a:t>time</a:t>
            </a:r>
            <a:r>
              <a:rPr sz="1900" spc="-10" dirty="0">
                <a:solidFill>
                  <a:srgbClr val="FFFFFF"/>
                </a:solidFill>
                <a:latin typeface="Times New Roman"/>
                <a:cs typeface="Times New Roman"/>
              </a:rPr>
              <a:t> </a:t>
            </a:r>
            <a:r>
              <a:rPr sz="1900" spc="-5" dirty="0">
                <a:solidFill>
                  <a:srgbClr val="FFFFFF"/>
                </a:solidFill>
                <a:latin typeface="Times New Roman"/>
                <a:cs typeface="Times New Roman"/>
              </a:rPr>
              <a:t>cards</a:t>
            </a:r>
            <a:r>
              <a:rPr sz="1900" spc="-10" dirty="0">
                <a:solidFill>
                  <a:srgbClr val="FFFFFF"/>
                </a:solidFill>
                <a:latin typeface="Times New Roman"/>
                <a:cs typeface="Times New Roman"/>
              </a:rPr>
              <a:t> </a:t>
            </a:r>
            <a:r>
              <a:rPr sz="1900" spc="-5" dirty="0">
                <a:solidFill>
                  <a:srgbClr val="FFFFFF"/>
                </a:solidFill>
                <a:latin typeface="Times New Roman"/>
                <a:cs typeface="Times New Roman"/>
              </a:rPr>
              <a:t>and</a:t>
            </a:r>
            <a:r>
              <a:rPr sz="1900" spc="-10" dirty="0">
                <a:solidFill>
                  <a:srgbClr val="FFFFFF"/>
                </a:solidFill>
                <a:latin typeface="Times New Roman"/>
                <a:cs typeface="Times New Roman"/>
              </a:rPr>
              <a:t> </a:t>
            </a:r>
            <a:r>
              <a:rPr sz="1900" dirty="0">
                <a:solidFill>
                  <a:srgbClr val="FFFFFF"/>
                </a:solidFill>
                <a:latin typeface="Times New Roman"/>
                <a:cs typeface="Times New Roman"/>
              </a:rPr>
              <a:t>other</a:t>
            </a:r>
            <a:r>
              <a:rPr sz="1900" spc="-5" dirty="0">
                <a:solidFill>
                  <a:srgbClr val="FFFFFF"/>
                </a:solidFill>
                <a:latin typeface="Times New Roman"/>
                <a:cs typeface="Times New Roman"/>
              </a:rPr>
              <a:t> work</a:t>
            </a:r>
            <a:r>
              <a:rPr sz="1900" spc="-10" dirty="0">
                <a:solidFill>
                  <a:srgbClr val="FFFFFF"/>
                </a:solidFill>
                <a:latin typeface="Times New Roman"/>
                <a:cs typeface="Times New Roman"/>
              </a:rPr>
              <a:t> </a:t>
            </a:r>
            <a:r>
              <a:rPr sz="1900" dirty="0">
                <a:solidFill>
                  <a:srgbClr val="FFFFFF"/>
                </a:solidFill>
                <a:latin typeface="Times New Roman"/>
                <a:cs typeface="Times New Roman"/>
              </a:rPr>
              <a:t>records</a:t>
            </a:r>
            <a:endParaRPr sz="1900">
              <a:latin typeface="Times New Roman"/>
              <a:cs typeface="Times New Roman"/>
            </a:endParaRPr>
          </a:p>
          <a:p>
            <a:pPr marL="652780" lvl="1" indent="-183515">
              <a:lnSpc>
                <a:spcPct val="100000"/>
              </a:lnSpc>
              <a:spcBef>
                <a:spcPts val="1639"/>
              </a:spcBef>
              <a:buSzPct val="123684"/>
              <a:buFont typeface="Arial MT"/>
              <a:buChar char="•"/>
              <a:tabLst>
                <a:tab pos="653415" algn="l"/>
              </a:tabLst>
            </a:pPr>
            <a:r>
              <a:rPr sz="1900" dirty="0">
                <a:solidFill>
                  <a:srgbClr val="FFFFFF"/>
                </a:solidFill>
                <a:latin typeface="Times New Roman"/>
                <a:cs typeface="Times New Roman"/>
              </a:rPr>
              <a:t>Inventory</a:t>
            </a:r>
            <a:r>
              <a:rPr sz="1900" spc="-45" dirty="0">
                <a:solidFill>
                  <a:srgbClr val="FFFFFF"/>
                </a:solidFill>
                <a:latin typeface="Times New Roman"/>
                <a:cs typeface="Times New Roman"/>
              </a:rPr>
              <a:t> </a:t>
            </a:r>
            <a:r>
              <a:rPr sz="1900" spc="-5" dirty="0">
                <a:solidFill>
                  <a:srgbClr val="FFFFFF"/>
                </a:solidFill>
                <a:latin typeface="Times New Roman"/>
                <a:cs typeface="Times New Roman"/>
              </a:rPr>
              <a:t>Control</a:t>
            </a:r>
            <a:endParaRPr sz="1900">
              <a:latin typeface="Times New Roman"/>
              <a:cs typeface="Times New Roman"/>
            </a:endParaRPr>
          </a:p>
          <a:p>
            <a:pPr marL="1109980" lvl="2" indent="-183515">
              <a:lnSpc>
                <a:spcPct val="100000"/>
              </a:lnSpc>
              <a:spcBef>
                <a:spcPts val="1639"/>
              </a:spcBef>
              <a:buSzPct val="123684"/>
              <a:buFont typeface="Arial MT"/>
              <a:buChar char="•"/>
              <a:tabLst>
                <a:tab pos="1110615" algn="l"/>
              </a:tabLst>
            </a:pPr>
            <a:r>
              <a:rPr sz="1900" spc="-5" dirty="0">
                <a:solidFill>
                  <a:srgbClr val="FFFFFF"/>
                </a:solidFill>
                <a:latin typeface="Times New Roman"/>
                <a:cs typeface="Times New Roman"/>
              </a:rPr>
              <a:t>Processes</a:t>
            </a:r>
            <a:r>
              <a:rPr sz="1900" spc="-15" dirty="0">
                <a:solidFill>
                  <a:srgbClr val="FFFFFF"/>
                </a:solidFill>
                <a:latin typeface="Times New Roman"/>
                <a:cs typeface="Times New Roman"/>
              </a:rPr>
              <a:t> </a:t>
            </a:r>
            <a:r>
              <a:rPr sz="1900" dirty="0">
                <a:solidFill>
                  <a:srgbClr val="FFFFFF"/>
                </a:solidFill>
                <a:latin typeface="Times New Roman"/>
                <a:cs typeface="Times New Roman"/>
              </a:rPr>
              <a:t>data</a:t>
            </a:r>
            <a:r>
              <a:rPr sz="1900" spc="-10" dirty="0">
                <a:solidFill>
                  <a:srgbClr val="FFFFFF"/>
                </a:solidFill>
                <a:latin typeface="Times New Roman"/>
                <a:cs typeface="Times New Roman"/>
              </a:rPr>
              <a:t> </a:t>
            </a:r>
            <a:r>
              <a:rPr sz="1900" dirty="0">
                <a:solidFill>
                  <a:srgbClr val="FFFFFF"/>
                </a:solidFill>
                <a:latin typeface="Times New Roman"/>
                <a:cs typeface="Times New Roman"/>
              </a:rPr>
              <a:t>reflecting</a:t>
            </a:r>
            <a:r>
              <a:rPr sz="1900" spc="-10" dirty="0">
                <a:solidFill>
                  <a:srgbClr val="FFFFFF"/>
                </a:solidFill>
                <a:latin typeface="Times New Roman"/>
                <a:cs typeface="Times New Roman"/>
              </a:rPr>
              <a:t> </a:t>
            </a:r>
            <a:r>
              <a:rPr sz="1900" spc="-5" dirty="0">
                <a:solidFill>
                  <a:srgbClr val="FFFFFF"/>
                </a:solidFill>
                <a:latin typeface="Times New Roman"/>
                <a:cs typeface="Times New Roman"/>
              </a:rPr>
              <a:t>changes</a:t>
            </a:r>
            <a:r>
              <a:rPr sz="1900" spc="-15" dirty="0">
                <a:solidFill>
                  <a:srgbClr val="FFFFFF"/>
                </a:solidFill>
                <a:latin typeface="Times New Roman"/>
                <a:cs typeface="Times New Roman"/>
              </a:rPr>
              <a:t> </a:t>
            </a:r>
            <a:r>
              <a:rPr sz="1900" spc="-5" dirty="0">
                <a:solidFill>
                  <a:srgbClr val="FFFFFF"/>
                </a:solidFill>
                <a:latin typeface="Times New Roman"/>
                <a:cs typeface="Times New Roman"/>
              </a:rPr>
              <a:t>in</a:t>
            </a:r>
            <a:r>
              <a:rPr sz="1900" spc="-10" dirty="0">
                <a:solidFill>
                  <a:srgbClr val="FFFFFF"/>
                </a:solidFill>
                <a:latin typeface="Times New Roman"/>
                <a:cs typeface="Times New Roman"/>
              </a:rPr>
              <a:t> </a:t>
            </a:r>
            <a:r>
              <a:rPr sz="1900" spc="-5" dirty="0">
                <a:solidFill>
                  <a:srgbClr val="FFFFFF"/>
                </a:solidFill>
                <a:latin typeface="Times New Roman"/>
                <a:cs typeface="Times New Roman"/>
              </a:rPr>
              <a:t>items</a:t>
            </a:r>
            <a:r>
              <a:rPr sz="1900" spc="-15" dirty="0">
                <a:solidFill>
                  <a:srgbClr val="FFFFFF"/>
                </a:solidFill>
                <a:latin typeface="Times New Roman"/>
                <a:cs typeface="Times New Roman"/>
              </a:rPr>
              <a:t> </a:t>
            </a:r>
            <a:r>
              <a:rPr sz="1900" spc="-5" dirty="0">
                <a:solidFill>
                  <a:srgbClr val="FFFFFF"/>
                </a:solidFill>
                <a:latin typeface="Times New Roman"/>
                <a:cs typeface="Times New Roman"/>
              </a:rPr>
              <a:t>in</a:t>
            </a:r>
            <a:r>
              <a:rPr sz="1900" spc="-15" dirty="0">
                <a:solidFill>
                  <a:srgbClr val="FFFFFF"/>
                </a:solidFill>
                <a:latin typeface="Times New Roman"/>
                <a:cs typeface="Times New Roman"/>
              </a:rPr>
              <a:t> </a:t>
            </a:r>
            <a:r>
              <a:rPr sz="1900" spc="-5" dirty="0">
                <a:solidFill>
                  <a:srgbClr val="FFFFFF"/>
                </a:solidFill>
                <a:latin typeface="Times New Roman"/>
                <a:cs typeface="Times New Roman"/>
              </a:rPr>
              <a:t>inventory</a:t>
            </a:r>
            <a:endParaRPr sz="1900">
              <a:latin typeface="Times New Roman"/>
              <a:cs typeface="Times New Roman"/>
            </a:endParaRPr>
          </a:p>
          <a:p>
            <a:pPr marL="1109980" lvl="2" indent="-183515">
              <a:lnSpc>
                <a:spcPct val="100000"/>
              </a:lnSpc>
              <a:spcBef>
                <a:spcPts val="1639"/>
              </a:spcBef>
              <a:buSzPct val="123684"/>
              <a:buFont typeface="Arial MT"/>
              <a:buChar char="•"/>
              <a:tabLst>
                <a:tab pos="1110615" algn="l"/>
              </a:tabLst>
            </a:pPr>
            <a:r>
              <a:rPr sz="1900" spc="-5" dirty="0">
                <a:solidFill>
                  <a:srgbClr val="FFFFFF"/>
                </a:solidFill>
                <a:latin typeface="Times New Roman"/>
                <a:cs typeface="Times New Roman"/>
              </a:rPr>
              <a:t>Helps</a:t>
            </a:r>
            <a:r>
              <a:rPr sz="1900" spc="-15" dirty="0">
                <a:solidFill>
                  <a:srgbClr val="FFFFFF"/>
                </a:solidFill>
                <a:latin typeface="Times New Roman"/>
                <a:cs typeface="Times New Roman"/>
              </a:rPr>
              <a:t> </a:t>
            </a:r>
            <a:r>
              <a:rPr sz="1900" dirty="0">
                <a:solidFill>
                  <a:srgbClr val="FFFFFF"/>
                </a:solidFill>
                <a:latin typeface="Times New Roman"/>
                <a:cs typeface="Times New Roman"/>
              </a:rPr>
              <a:t>provide</a:t>
            </a:r>
            <a:r>
              <a:rPr sz="1900" spc="-5" dirty="0">
                <a:solidFill>
                  <a:srgbClr val="FFFFFF"/>
                </a:solidFill>
                <a:latin typeface="Times New Roman"/>
                <a:cs typeface="Times New Roman"/>
              </a:rPr>
              <a:t> </a:t>
            </a:r>
            <a:r>
              <a:rPr sz="1900" dirty="0">
                <a:solidFill>
                  <a:srgbClr val="FFFFFF"/>
                </a:solidFill>
                <a:latin typeface="Times New Roman"/>
                <a:cs typeface="Times New Roman"/>
              </a:rPr>
              <a:t>high-quality</a:t>
            </a:r>
            <a:r>
              <a:rPr sz="1900" spc="-5" dirty="0">
                <a:solidFill>
                  <a:srgbClr val="FFFFFF"/>
                </a:solidFill>
                <a:latin typeface="Times New Roman"/>
                <a:cs typeface="Times New Roman"/>
              </a:rPr>
              <a:t> service</a:t>
            </a:r>
            <a:r>
              <a:rPr sz="1900" spc="-15" dirty="0">
                <a:solidFill>
                  <a:srgbClr val="FFFFFF"/>
                </a:solidFill>
                <a:latin typeface="Times New Roman"/>
                <a:cs typeface="Times New Roman"/>
              </a:rPr>
              <a:t> </a:t>
            </a:r>
            <a:r>
              <a:rPr sz="1900" spc="-5" dirty="0">
                <a:solidFill>
                  <a:srgbClr val="FFFFFF"/>
                </a:solidFill>
                <a:latin typeface="Times New Roman"/>
                <a:cs typeface="Times New Roman"/>
              </a:rPr>
              <a:t>while</a:t>
            </a:r>
            <a:r>
              <a:rPr sz="1900" spc="-10" dirty="0">
                <a:solidFill>
                  <a:srgbClr val="FFFFFF"/>
                </a:solidFill>
                <a:latin typeface="Times New Roman"/>
                <a:cs typeface="Times New Roman"/>
              </a:rPr>
              <a:t> </a:t>
            </a:r>
            <a:r>
              <a:rPr sz="1900" spc="-5" dirty="0">
                <a:solidFill>
                  <a:srgbClr val="FFFFFF"/>
                </a:solidFill>
                <a:latin typeface="Times New Roman"/>
                <a:cs typeface="Times New Roman"/>
              </a:rPr>
              <a:t>minimizing</a:t>
            </a:r>
            <a:r>
              <a:rPr sz="1900" spc="-10" dirty="0">
                <a:solidFill>
                  <a:srgbClr val="FFFFFF"/>
                </a:solidFill>
                <a:latin typeface="Times New Roman"/>
                <a:cs typeface="Times New Roman"/>
              </a:rPr>
              <a:t> </a:t>
            </a:r>
            <a:r>
              <a:rPr sz="1900" spc="-5" dirty="0">
                <a:solidFill>
                  <a:srgbClr val="FFFFFF"/>
                </a:solidFill>
                <a:latin typeface="Times New Roman"/>
                <a:cs typeface="Times New Roman"/>
              </a:rPr>
              <a:t>investment</a:t>
            </a:r>
            <a:r>
              <a:rPr sz="1900" spc="-10" dirty="0">
                <a:solidFill>
                  <a:srgbClr val="FFFFFF"/>
                </a:solidFill>
                <a:latin typeface="Times New Roman"/>
                <a:cs typeface="Times New Roman"/>
              </a:rPr>
              <a:t> </a:t>
            </a:r>
            <a:r>
              <a:rPr sz="1900" spc="-5" dirty="0">
                <a:solidFill>
                  <a:srgbClr val="FFFFFF"/>
                </a:solidFill>
                <a:latin typeface="Times New Roman"/>
                <a:cs typeface="Times New Roman"/>
              </a:rPr>
              <a:t>in</a:t>
            </a:r>
            <a:r>
              <a:rPr sz="1900" spc="-15" dirty="0">
                <a:solidFill>
                  <a:srgbClr val="FFFFFF"/>
                </a:solidFill>
                <a:latin typeface="Times New Roman"/>
                <a:cs typeface="Times New Roman"/>
              </a:rPr>
              <a:t> </a:t>
            </a:r>
            <a:r>
              <a:rPr sz="1900" spc="-5" dirty="0">
                <a:solidFill>
                  <a:srgbClr val="FFFFFF"/>
                </a:solidFill>
                <a:latin typeface="Times New Roman"/>
                <a:cs typeface="Times New Roman"/>
              </a:rPr>
              <a:t>inventory</a:t>
            </a:r>
            <a:r>
              <a:rPr sz="1900" spc="-10" dirty="0">
                <a:solidFill>
                  <a:srgbClr val="FFFFFF"/>
                </a:solidFill>
                <a:latin typeface="Times New Roman"/>
                <a:cs typeface="Times New Roman"/>
              </a:rPr>
              <a:t> </a:t>
            </a:r>
            <a:r>
              <a:rPr sz="1900" dirty="0">
                <a:solidFill>
                  <a:srgbClr val="FFFFFF"/>
                </a:solidFill>
                <a:latin typeface="Times New Roman"/>
                <a:cs typeface="Times New Roman"/>
              </a:rPr>
              <a:t>&amp;</a:t>
            </a:r>
            <a:endParaRPr sz="1900">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4964430" cy="574040"/>
          </a:xfrm>
          <a:prstGeom prst="rect">
            <a:avLst/>
          </a:prstGeom>
        </p:spPr>
        <p:txBody>
          <a:bodyPr vert="horz" wrap="square" lIns="0" tIns="12700" rIns="0" bIns="0" rtlCol="0">
            <a:spAutoFit/>
          </a:bodyPr>
          <a:lstStyle/>
          <a:p>
            <a:pPr marL="12700">
              <a:lnSpc>
                <a:spcPct val="100000"/>
              </a:lnSpc>
              <a:spcBef>
                <a:spcPts val="100"/>
              </a:spcBef>
            </a:pPr>
            <a:r>
              <a:rPr spc="-5" dirty="0"/>
              <a:t>ACCOUNTING</a:t>
            </a:r>
            <a:r>
              <a:rPr spc="-85" dirty="0"/>
              <a:t> </a:t>
            </a:r>
            <a:r>
              <a:rPr spc="-5" dirty="0"/>
              <a:t>SYSTEM</a:t>
            </a:r>
          </a:p>
        </p:txBody>
      </p:sp>
      <p:sp>
        <p:nvSpPr>
          <p:cNvPr id="3" name="object 3"/>
          <p:cNvSpPr txBox="1"/>
          <p:nvPr/>
        </p:nvSpPr>
        <p:spPr>
          <a:xfrm>
            <a:off x="1266825" y="2201734"/>
            <a:ext cx="9697085" cy="4287520"/>
          </a:xfrm>
          <a:prstGeom prst="rect">
            <a:avLst/>
          </a:prstGeom>
        </p:spPr>
        <p:txBody>
          <a:bodyPr vert="horz" wrap="square" lIns="0" tIns="141605" rIns="0" bIns="0" rtlCol="0">
            <a:spAutoFit/>
          </a:bodyPr>
          <a:lstStyle/>
          <a:p>
            <a:pPr marL="188595" indent="-176530">
              <a:lnSpc>
                <a:spcPct val="100000"/>
              </a:lnSpc>
              <a:spcBef>
                <a:spcPts val="1115"/>
              </a:spcBef>
              <a:buSzPct val="125000"/>
              <a:buFont typeface="Arial MT"/>
              <a:buChar char="•"/>
              <a:tabLst>
                <a:tab pos="189230" algn="l"/>
              </a:tabLst>
            </a:pPr>
            <a:r>
              <a:rPr sz="2200" spc="-5" dirty="0">
                <a:solidFill>
                  <a:srgbClr val="FFFFFF"/>
                </a:solidFill>
                <a:latin typeface="Times New Roman"/>
                <a:cs typeface="Times New Roman"/>
              </a:rPr>
              <a:t>Accounts</a:t>
            </a:r>
            <a:r>
              <a:rPr sz="2200" spc="-50" dirty="0">
                <a:solidFill>
                  <a:srgbClr val="FFFFFF"/>
                </a:solidFill>
                <a:latin typeface="Times New Roman"/>
                <a:cs typeface="Times New Roman"/>
              </a:rPr>
              <a:t> </a:t>
            </a:r>
            <a:r>
              <a:rPr sz="2200" spc="-5" dirty="0">
                <a:solidFill>
                  <a:srgbClr val="FFFFFF"/>
                </a:solidFill>
                <a:latin typeface="Times New Roman"/>
                <a:cs typeface="Times New Roman"/>
              </a:rPr>
              <a:t>Receivable</a:t>
            </a:r>
            <a:endParaRPr sz="2200">
              <a:latin typeface="Times New Roman"/>
              <a:cs typeface="Times New Roman"/>
            </a:endParaRPr>
          </a:p>
          <a:p>
            <a:pPr marL="645795" marR="5080" lvl="1" indent="-176530">
              <a:lnSpc>
                <a:spcPct val="130000"/>
              </a:lnSpc>
              <a:spcBef>
                <a:spcPts val="1030"/>
              </a:spcBef>
              <a:buSzPct val="125000"/>
              <a:buFont typeface="Arial MT"/>
              <a:buChar char="•"/>
              <a:tabLst>
                <a:tab pos="646430" algn="l"/>
              </a:tabLst>
            </a:pPr>
            <a:r>
              <a:rPr sz="2200" spc="-5" dirty="0">
                <a:solidFill>
                  <a:srgbClr val="FFFFFF"/>
                </a:solidFill>
                <a:latin typeface="Times New Roman"/>
                <a:cs typeface="Times New Roman"/>
              </a:rPr>
              <a:t>Keeps</a:t>
            </a:r>
            <a:r>
              <a:rPr sz="2200" spc="105" dirty="0">
                <a:solidFill>
                  <a:srgbClr val="FFFFFF"/>
                </a:solidFill>
                <a:latin typeface="Times New Roman"/>
                <a:cs typeface="Times New Roman"/>
              </a:rPr>
              <a:t> </a:t>
            </a:r>
            <a:r>
              <a:rPr sz="2200" dirty="0">
                <a:solidFill>
                  <a:srgbClr val="FFFFFF"/>
                </a:solidFill>
                <a:latin typeface="Times New Roman"/>
                <a:cs typeface="Times New Roman"/>
              </a:rPr>
              <a:t>records</a:t>
            </a:r>
            <a:r>
              <a:rPr sz="2200" spc="105" dirty="0">
                <a:solidFill>
                  <a:srgbClr val="FFFFFF"/>
                </a:solidFill>
                <a:latin typeface="Times New Roman"/>
                <a:cs typeface="Times New Roman"/>
              </a:rPr>
              <a:t> </a:t>
            </a:r>
            <a:r>
              <a:rPr sz="2200" dirty="0">
                <a:solidFill>
                  <a:srgbClr val="FFFFFF"/>
                </a:solidFill>
                <a:latin typeface="Times New Roman"/>
                <a:cs typeface="Times New Roman"/>
              </a:rPr>
              <a:t>of</a:t>
            </a:r>
            <a:r>
              <a:rPr sz="2200" spc="110" dirty="0">
                <a:solidFill>
                  <a:srgbClr val="FFFFFF"/>
                </a:solidFill>
                <a:latin typeface="Times New Roman"/>
                <a:cs typeface="Times New Roman"/>
              </a:rPr>
              <a:t> </a:t>
            </a:r>
            <a:r>
              <a:rPr sz="2200" spc="-5" dirty="0">
                <a:solidFill>
                  <a:srgbClr val="FFFFFF"/>
                </a:solidFill>
                <a:latin typeface="Times New Roman"/>
                <a:cs typeface="Times New Roman"/>
              </a:rPr>
              <a:t>amounts</a:t>
            </a:r>
            <a:r>
              <a:rPr sz="2200" spc="105" dirty="0">
                <a:solidFill>
                  <a:srgbClr val="FFFFFF"/>
                </a:solidFill>
                <a:latin typeface="Times New Roman"/>
                <a:cs typeface="Times New Roman"/>
              </a:rPr>
              <a:t> </a:t>
            </a:r>
            <a:r>
              <a:rPr sz="2200" dirty="0">
                <a:solidFill>
                  <a:srgbClr val="FFFFFF"/>
                </a:solidFill>
                <a:latin typeface="Times New Roman"/>
                <a:cs typeface="Times New Roman"/>
              </a:rPr>
              <a:t>owed</a:t>
            </a:r>
            <a:r>
              <a:rPr sz="2200" spc="110" dirty="0">
                <a:solidFill>
                  <a:srgbClr val="FFFFFF"/>
                </a:solidFill>
                <a:latin typeface="Times New Roman"/>
                <a:cs typeface="Times New Roman"/>
              </a:rPr>
              <a:t> </a:t>
            </a:r>
            <a:r>
              <a:rPr sz="2200" dirty="0">
                <a:solidFill>
                  <a:srgbClr val="FFFFFF"/>
                </a:solidFill>
                <a:latin typeface="Times New Roman"/>
                <a:cs typeface="Times New Roman"/>
              </a:rPr>
              <a:t>by</a:t>
            </a:r>
            <a:r>
              <a:rPr sz="2200" spc="105" dirty="0">
                <a:solidFill>
                  <a:srgbClr val="FFFFFF"/>
                </a:solidFill>
                <a:latin typeface="Times New Roman"/>
                <a:cs typeface="Times New Roman"/>
              </a:rPr>
              <a:t> </a:t>
            </a:r>
            <a:r>
              <a:rPr sz="2200" spc="-5" dirty="0">
                <a:solidFill>
                  <a:srgbClr val="FFFFFF"/>
                </a:solidFill>
                <a:latin typeface="Times New Roman"/>
                <a:cs typeface="Times New Roman"/>
              </a:rPr>
              <a:t>customers</a:t>
            </a:r>
            <a:r>
              <a:rPr sz="2200" spc="110" dirty="0">
                <a:solidFill>
                  <a:srgbClr val="FFFFFF"/>
                </a:solidFill>
                <a:latin typeface="Times New Roman"/>
                <a:cs typeface="Times New Roman"/>
              </a:rPr>
              <a:t> </a:t>
            </a:r>
            <a:r>
              <a:rPr sz="2200" dirty="0">
                <a:solidFill>
                  <a:srgbClr val="FFFFFF"/>
                </a:solidFill>
                <a:latin typeface="Times New Roman"/>
                <a:cs typeface="Times New Roman"/>
              </a:rPr>
              <a:t>from</a:t>
            </a:r>
            <a:r>
              <a:rPr sz="2200" spc="105" dirty="0">
                <a:solidFill>
                  <a:srgbClr val="FFFFFF"/>
                </a:solidFill>
                <a:latin typeface="Times New Roman"/>
                <a:cs typeface="Times New Roman"/>
              </a:rPr>
              <a:t> </a:t>
            </a:r>
            <a:r>
              <a:rPr sz="2200" dirty="0">
                <a:solidFill>
                  <a:srgbClr val="FFFFFF"/>
                </a:solidFill>
                <a:latin typeface="Times New Roman"/>
                <a:cs typeface="Times New Roman"/>
              </a:rPr>
              <a:t>data</a:t>
            </a:r>
            <a:r>
              <a:rPr sz="2200" spc="110" dirty="0">
                <a:solidFill>
                  <a:srgbClr val="FFFFFF"/>
                </a:solidFill>
                <a:latin typeface="Times New Roman"/>
                <a:cs typeface="Times New Roman"/>
              </a:rPr>
              <a:t> </a:t>
            </a:r>
            <a:r>
              <a:rPr sz="2200" dirty="0">
                <a:solidFill>
                  <a:srgbClr val="FFFFFF"/>
                </a:solidFill>
                <a:latin typeface="Times New Roman"/>
                <a:cs typeface="Times New Roman"/>
              </a:rPr>
              <a:t>generated</a:t>
            </a:r>
            <a:r>
              <a:rPr sz="2200" spc="105" dirty="0">
                <a:solidFill>
                  <a:srgbClr val="FFFFFF"/>
                </a:solidFill>
                <a:latin typeface="Times New Roman"/>
                <a:cs typeface="Times New Roman"/>
              </a:rPr>
              <a:t> </a:t>
            </a:r>
            <a:r>
              <a:rPr sz="2200" dirty="0">
                <a:solidFill>
                  <a:srgbClr val="FFFFFF"/>
                </a:solidFill>
                <a:latin typeface="Times New Roman"/>
                <a:cs typeface="Times New Roman"/>
              </a:rPr>
              <a:t>by</a:t>
            </a:r>
            <a:r>
              <a:rPr sz="2200" spc="110" dirty="0">
                <a:solidFill>
                  <a:srgbClr val="FFFFFF"/>
                </a:solidFill>
                <a:latin typeface="Times New Roman"/>
                <a:cs typeface="Times New Roman"/>
              </a:rPr>
              <a:t> </a:t>
            </a:r>
            <a:r>
              <a:rPr sz="2200" spc="-5" dirty="0">
                <a:solidFill>
                  <a:srgbClr val="FFFFFF"/>
                </a:solidFill>
                <a:latin typeface="Times New Roman"/>
                <a:cs typeface="Times New Roman"/>
              </a:rPr>
              <a:t>customer </a:t>
            </a:r>
            <a:r>
              <a:rPr sz="2200" spc="-535" dirty="0">
                <a:solidFill>
                  <a:srgbClr val="FFFFFF"/>
                </a:solidFill>
                <a:latin typeface="Times New Roman"/>
                <a:cs typeface="Times New Roman"/>
              </a:rPr>
              <a:t> </a:t>
            </a:r>
            <a:r>
              <a:rPr sz="2200" dirty="0">
                <a:solidFill>
                  <a:srgbClr val="FFFFFF"/>
                </a:solidFill>
                <a:latin typeface="Times New Roman"/>
                <a:cs typeface="Times New Roman"/>
              </a:rPr>
              <a:t>purchases</a:t>
            </a:r>
            <a:r>
              <a:rPr sz="2200" spc="-5" dirty="0">
                <a:solidFill>
                  <a:srgbClr val="FFFFFF"/>
                </a:solidFill>
                <a:latin typeface="Times New Roman"/>
                <a:cs typeface="Times New Roman"/>
              </a:rPr>
              <a:t> and </a:t>
            </a:r>
            <a:r>
              <a:rPr sz="2200" dirty="0">
                <a:solidFill>
                  <a:srgbClr val="FFFFFF"/>
                </a:solidFill>
                <a:latin typeface="Times New Roman"/>
                <a:cs typeface="Times New Roman"/>
              </a:rPr>
              <a:t>payments</a:t>
            </a:r>
            <a:endParaRPr sz="2200">
              <a:latin typeface="Times New Roman"/>
              <a:cs typeface="Times New Roman"/>
            </a:endParaRPr>
          </a:p>
          <a:p>
            <a:pPr marL="188595" indent="-176530">
              <a:lnSpc>
                <a:spcPct val="100000"/>
              </a:lnSpc>
              <a:spcBef>
                <a:spcPts val="2055"/>
              </a:spcBef>
              <a:buSzPct val="125000"/>
              <a:buFont typeface="Arial MT"/>
              <a:buChar char="•"/>
              <a:tabLst>
                <a:tab pos="189230" algn="l"/>
              </a:tabLst>
            </a:pPr>
            <a:r>
              <a:rPr sz="2200" spc="-5" dirty="0">
                <a:solidFill>
                  <a:srgbClr val="FFFFFF"/>
                </a:solidFill>
                <a:latin typeface="Times New Roman"/>
                <a:cs typeface="Times New Roman"/>
              </a:rPr>
              <a:t>Accounts</a:t>
            </a:r>
            <a:r>
              <a:rPr sz="2200" spc="-50" dirty="0">
                <a:solidFill>
                  <a:srgbClr val="FFFFFF"/>
                </a:solidFill>
                <a:latin typeface="Times New Roman"/>
                <a:cs typeface="Times New Roman"/>
              </a:rPr>
              <a:t> </a:t>
            </a:r>
            <a:r>
              <a:rPr sz="2200" spc="-5" dirty="0">
                <a:solidFill>
                  <a:srgbClr val="FFFFFF"/>
                </a:solidFill>
                <a:latin typeface="Times New Roman"/>
                <a:cs typeface="Times New Roman"/>
              </a:rPr>
              <a:t>Payable</a:t>
            </a:r>
            <a:endParaRPr sz="2200">
              <a:latin typeface="Times New Roman"/>
              <a:cs typeface="Times New Roman"/>
            </a:endParaRPr>
          </a:p>
          <a:p>
            <a:pPr marL="645795" lvl="1" indent="-176530">
              <a:lnSpc>
                <a:spcPct val="100000"/>
              </a:lnSpc>
              <a:spcBef>
                <a:spcPts val="1820"/>
              </a:spcBef>
              <a:buSzPct val="125000"/>
              <a:buFont typeface="Arial MT"/>
              <a:buChar char="•"/>
              <a:tabLst>
                <a:tab pos="646430" algn="l"/>
              </a:tabLst>
            </a:pPr>
            <a:r>
              <a:rPr sz="2200" spc="-5" dirty="0">
                <a:solidFill>
                  <a:srgbClr val="FFFFFF"/>
                </a:solidFill>
                <a:latin typeface="Times New Roman"/>
                <a:cs typeface="Times New Roman"/>
              </a:rPr>
              <a:t>Keeps</a:t>
            </a:r>
            <a:r>
              <a:rPr sz="2200" spc="-15" dirty="0">
                <a:solidFill>
                  <a:srgbClr val="FFFFFF"/>
                </a:solidFill>
                <a:latin typeface="Times New Roman"/>
                <a:cs typeface="Times New Roman"/>
              </a:rPr>
              <a:t> </a:t>
            </a:r>
            <a:r>
              <a:rPr sz="2200" spc="-5" dirty="0">
                <a:solidFill>
                  <a:srgbClr val="FFFFFF"/>
                </a:solidFill>
                <a:latin typeface="Times New Roman"/>
                <a:cs typeface="Times New Roman"/>
              </a:rPr>
              <a:t>track</a:t>
            </a:r>
            <a:r>
              <a:rPr sz="2200" spc="-10" dirty="0">
                <a:solidFill>
                  <a:srgbClr val="FFFFFF"/>
                </a:solidFill>
                <a:latin typeface="Times New Roman"/>
                <a:cs typeface="Times New Roman"/>
              </a:rPr>
              <a:t> </a:t>
            </a:r>
            <a:r>
              <a:rPr sz="2200" dirty="0">
                <a:solidFill>
                  <a:srgbClr val="FFFFFF"/>
                </a:solidFill>
                <a:latin typeface="Times New Roman"/>
                <a:cs typeface="Times New Roman"/>
              </a:rPr>
              <a:t>of</a:t>
            </a:r>
            <a:r>
              <a:rPr sz="2200" spc="-5" dirty="0">
                <a:solidFill>
                  <a:srgbClr val="FFFFFF"/>
                </a:solidFill>
                <a:latin typeface="Times New Roman"/>
                <a:cs typeface="Times New Roman"/>
              </a:rPr>
              <a:t> </a:t>
            </a:r>
            <a:r>
              <a:rPr sz="2200" dirty="0">
                <a:solidFill>
                  <a:srgbClr val="FFFFFF"/>
                </a:solidFill>
                <a:latin typeface="Times New Roman"/>
                <a:cs typeface="Times New Roman"/>
              </a:rPr>
              <a:t>data</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concerning</a:t>
            </a:r>
            <a:r>
              <a:rPr sz="2200" spc="-10" dirty="0">
                <a:solidFill>
                  <a:srgbClr val="FFFFFF"/>
                </a:solidFill>
                <a:latin typeface="Times New Roman"/>
                <a:cs typeface="Times New Roman"/>
              </a:rPr>
              <a:t> </a:t>
            </a:r>
            <a:r>
              <a:rPr sz="2200" dirty="0">
                <a:solidFill>
                  <a:srgbClr val="FFFFFF"/>
                </a:solidFill>
                <a:latin typeface="Times New Roman"/>
                <a:cs typeface="Times New Roman"/>
              </a:rPr>
              <a:t>purchases</a:t>
            </a:r>
            <a:r>
              <a:rPr sz="2200" spc="-5" dirty="0">
                <a:solidFill>
                  <a:srgbClr val="FFFFFF"/>
                </a:solidFill>
                <a:latin typeface="Times New Roman"/>
                <a:cs typeface="Times New Roman"/>
              </a:rPr>
              <a:t> </a:t>
            </a:r>
            <a:r>
              <a:rPr sz="2200" dirty="0">
                <a:solidFill>
                  <a:srgbClr val="FFFFFF"/>
                </a:solidFill>
                <a:latin typeface="Times New Roman"/>
                <a:cs typeface="Times New Roman"/>
              </a:rPr>
              <a:t>from,</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and</a:t>
            </a:r>
            <a:r>
              <a:rPr sz="2200" spc="-10" dirty="0">
                <a:solidFill>
                  <a:srgbClr val="FFFFFF"/>
                </a:solidFill>
                <a:latin typeface="Times New Roman"/>
                <a:cs typeface="Times New Roman"/>
              </a:rPr>
              <a:t> </a:t>
            </a:r>
            <a:r>
              <a:rPr sz="2200" dirty="0">
                <a:solidFill>
                  <a:srgbClr val="FFFFFF"/>
                </a:solidFill>
                <a:latin typeface="Times New Roman"/>
                <a:cs typeface="Times New Roman"/>
              </a:rPr>
              <a:t>payments</a:t>
            </a:r>
            <a:r>
              <a:rPr sz="2200" spc="-5" dirty="0">
                <a:solidFill>
                  <a:srgbClr val="FFFFFF"/>
                </a:solidFill>
                <a:latin typeface="Times New Roman"/>
                <a:cs typeface="Times New Roman"/>
              </a:rPr>
              <a:t> to,</a:t>
            </a:r>
            <a:r>
              <a:rPr sz="2200" spc="-15" dirty="0">
                <a:solidFill>
                  <a:srgbClr val="FFFFFF"/>
                </a:solidFill>
                <a:latin typeface="Times New Roman"/>
                <a:cs typeface="Times New Roman"/>
              </a:rPr>
              <a:t> </a:t>
            </a:r>
            <a:r>
              <a:rPr sz="2200" spc="-5" dirty="0">
                <a:solidFill>
                  <a:srgbClr val="FFFFFF"/>
                </a:solidFill>
                <a:latin typeface="Times New Roman"/>
                <a:cs typeface="Times New Roman"/>
              </a:rPr>
              <a:t>suppliers</a:t>
            </a:r>
            <a:endParaRPr sz="2200">
              <a:latin typeface="Times New Roman"/>
              <a:cs typeface="Times New Roman"/>
            </a:endParaRPr>
          </a:p>
          <a:p>
            <a:pPr marL="188595" indent="-176530">
              <a:lnSpc>
                <a:spcPct val="100000"/>
              </a:lnSpc>
              <a:spcBef>
                <a:spcPts val="2320"/>
              </a:spcBef>
              <a:buSzPct val="125000"/>
              <a:buFont typeface="Arial MT"/>
              <a:buChar char="•"/>
              <a:tabLst>
                <a:tab pos="189230" algn="l"/>
              </a:tabLst>
            </a:pPr>
            <a:r>
              <a:rPr sz="2200" spc="-5" dirty="0">
                <a:solidFill>
                  <a:srgbClr val="FFFFFF"/>
                </a:solidFill>
                <a:latin typeface="Times New Roman"/>
                <a:cs typeface="Times New Roman"/>
              </a:rPr>
              <a:t>General</a:t>
            </a:r>
            <a:r>
              <a:rPr sz="2200" spc="-50" dirty="0">
                <a:solidFill>
                  <a:srgbClr val="FFFFFF"/>
                </a:solidFill>
                <a:latin typeface="Times New Roman"/>
                <a:cs typeface="Times New Roman"/>
              </a:rPr>
              <a:t> </a:t>
            </a:r>
            <a:r>
              <a:rPr sz="2200" spc="-5" dirty="0">
                <a:solidFill>
                  <a:srgbClr val="FFFFFF"/>
                </a:solidFill>
                <a:latin typeface="Times New Roman"/>
                <a:cs typeface="Times New Roman"/>
              </a:rPr>
              <a:t>Ledger</a:t>
            </a:r>
            <a:endParaRPr sz="2200">
              <a:latin typeface="Times New Roman"/>
              <a:cs typeface="Times New Roman"/>
            </a:endParaRPr>
          </a:p>
          <a:p>
            <a:pPr marL="645795" marR="6985" lvl="1" indent="-176530">
              <a:lnSpc>
                <a:spcPct val="130000"/>
              </a:lnSpc>
              <a:spcBef>
                <a:spcPts val="1025"/>
              </a:spcBef>
              <a:buSzPct val="125000"/>
              <a:buFont typeface="Arial MT"/>
              <a:buChar char="•"/>
              <a:tabLst>
                <a:tab pos="646430" algn="l"/>
              </a:tabLst>
            </a:pPr>
            <a:r>
              <a:rPr sz="2200" spc="-5" dirty="0">
                <a:solidFill>
                  <a:srgbClr val="FFFFFF"/>
                </a:solidFill>
                <a:latin typeface="Times New Roman"/>
                <a:cs typeface="Times New Roman"/>
              </a:rPr>
              <a:t>Consolidates</a:t>
            </a:r>
            <a:r>
              <a:rPr sz="2200" spc="95" dirty="0">
                <a:solidFill>
                  <a:srgbClr val="FFFFFF"/>
                </a:solidFill>
                <a:latin typeface="Times New Roman"/>
                <a:cs typeface="Times New Roman"/>
              </a:rPr>
              <a:t> </a:t>
            </a:r>
            <a:r>
              <a:rPr sz="2200" dirty="0">
                <a:solidFill>
                  <a:srgbClr val="FFFFFF"/>
                </a:solidFill>
                <a:latin typeface="Times New Roman"/>
                <a:cs typeface="Times New Roman"/>
              </a:rPr>
              <a:t>data</a:t>
            </a:r>
            <a:r>
              <a:rPr sz="2200" spc="105" dirty="0">
                <a:solidFill>
                  <a:srgbClr val="FFFFFF"/>
                </a:solidFill>
                <a:latin typeface="Times New Roman"/>
                <a:cs typeface="Times New Roman"/>
              </a:rPr>
              <a:t> </a:t>
            </a:r>
            <a:r>
              <a:rPr sz="2200" dirty="0">
                <a:solidFill>
                  <a:srgbClr val="FFFFFF"/>
                </a:solidFill>
                <a:latin typeface="Times New Roman"/>
                <a:cs typeface="Times New Roman"/>
              </a:rPr>
              <a:t>received</a:t>
            </a:r>
            <a:r>
              <a:rPr sz="2200" spc="105" dirty="0">
                <a:solidFill>
                  <a:srgbClr val="FFFFFF"/>
                </a:solidFill>
                <a:latin typeface="Times New Roman"/>
                <a:cs typeface="Times New Roman"/>
              </a:rPr>
              <a:t> </a:t>
            </a:r>
            <a:r>
              <a:rPr sz="2200" dirty="0">
                <a:solidFill>
                  <a:srgbClr val="FFFFFF"/>
                </a:solidFill>
                <a:latin typeface="Times New Roman"/>
                <a:cs typeface="Times New Roman"/>
              </a:rPr>
              <a:t>from</a:t>
            </a:r>
            <a:r>
              <a:rPr sz="2200" spc="105" dirty="0">
                <a:solidFill>
                  <a:srgbClr val="FFFFFF"/>
                </a:solidFill>
                <a:latin typeface="Times New Roman"/>
                <a:cs typeface="Times New Roman"/>
              </a:rPr>
              <a:t> </a:t>
            </a:r>
            <a:r>
              <a:rPr sz="2200" spc="-5" dirty="0">
                <a:solidFill>
                  <a:srgbClr val="FFFFFF"/>
                </a:solidFill>
                <a:latin typeface="Times New Roman"/>
                <a:cs typeface="Times New Roman"/>
              </a:rPr>
              <a:t>accounts</a:t>
            </a:r>
            <a:r>
              <a:rPr sz="2200" spc="105" dirty="0">
                <a:solidFill>
                  <a:srgbClr val="FFFFFF"/>
                </a:solidFill>
                <a:latin typeface="Times New Roman"/>
                <a:cs typeface="Times New Roman"/>
              </a:rPr>
              <a:t> </a:t>
            </a:r>
            <a:r>
              <a:rPr sz="2200" dirty="0">
                <a:solidFill>
                  <a:srgbClr val="FFFFFF"/>
                </a:solidFill>
                <a:latin typeface="Times New Roman"/>
                <a:cs typeface="Times New Roman"/>
              </a:rPr>
              <a:t>receivable,</a:t>
            </a:r>
            <a:r>
              <a:rPr sz="2200" spc="105" dirty="0">
                <a:solidFill>
                  <a:srgbClr val="FFFFFF"/>
                </a:solidFill>
                <a:latin typeface="Times New Roman"/>
                <a:cs typeface="Times New Roman"/>
              </a:rPr>
              <a:t> </a:t>
            </a:r>
            <a:r>
              <a:rPr sz="2200" spc="-5" dirty="0">
                <a:solidFill>
                  <a:srgbClr val="FFFFFF"/>
                </a:solidFill>
                <a:latin typeface="Times New Roman"/>
                <a:cs typeface="Times New Roman"/>
              </a:rPr>
              <a:t>accounts</a:t>
            </a:r>
            <a:r>
              <a:rPr sz="2200" spc="105" dirty="0">
                <a:solidFill>
                  <a:srgbClr val="FFFFFF"/>
                </a:solidFill>
                <a:latin typeface="Times New Roman"/>
                <a:cs typeface="Times New Roman"/>
              </a:rPr>
              <a:t> </a:t>
            </a:r>
            <a:r>
              <a:rPr sz="2200" dirty="0">
                <a:solidFill>
                  <a:srgbClr val="FFFFFF"/>
                </a:solidFill>
                <a:latin typeface="Times New Roman"/>
                <a:cs typeface="Times New Roman"/>
              </a:rPr>
              <a:t>payable,</a:t>
            </a:r>
            <a:r>
              <a:rPr sz="2200" spc="105" dirty="0">
                <a:solidFill>
                  <a:srgbClr val="FFFFFF"/>
                </a:solidFill>
                <a:latin typeface="Times New Roman"/>
                <a:cs typeface="Times New Roman"/>
              </a:rPr>
              <a:t> </a:t>
            </a:r>
            <a:r>
              <a:rPr sz="2200" dirty="0">
                <a:solidFill>
                  <a:srgbClr val="FFFFFF"/>
                </a:solidFill>
                <a:latin typeface="Times New Roman"/>
                <a:cs typeface="Times New Roman"/>
              </a:rPr>
              <a:t>payroll, </a:t>
            </a:r>
            <a:r>
              <a:rPr sz="2200" spc="-535" dirty="0">
                <a:solidFill>
                  <a:srgbClr val="FFFFFF"/>
                </a:solidFill>
                <a:latin typeface="Times New Roman"/>
                <a:cs typeface="Times New Roman"/>
              </a:rPr>
              <a:t> </a:t>
            </a:r>
            <a:r>
              <a:rPr sz="2200" dirty="0">
                <a:solidFill>
                  <a:srgbClr val="FFFFFF"/>
                </a:solidFill>
                <a:latin typeface="Times New Roman"/>
                <a:cs typeface="Times New Roman"/>
              </a:rPr>
              <a:t>&amp;</a:t>
            </a:r>
            <a:r>
              <a:rPr sz="2200" spc="-10" dirty="0">
                <a:solidFill>
                  <a:srgbClr val="FFFFFF"/>
                </a:solidFill>
                <a:latin typeface="Times New Roman"/>
                <a:cs typeface="Times New Roman"/>
              </a:rPr>
              <a:t> </a:t>
            </a:r>
            <a:r>
              <a:rPr sz="2200" dirty="0">
                <a:solidFill>
                  <a:srgbClr val="FFFFFF"/>
                </a:solidFill>
                <a:latin typeface="Times New Roman"/>
                <a:cs typeface="Times New Roman"/>
              </a:rPr>
              <a:t>other </a:t>
            </a:r>
            <a:r>
              <a:rPr sz="2200" spc="-5" dirty="0">
                <a:solidFill>
                  <a:srgbClr val="FFFFFF"/>
                </a:solidFill>
                <a:latin typeface="Times New Roman"/>
                <a:cs typeface="Times New Roman"/>
              </a:rPr>
              <a:t>accounting information</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systems</a:t>
            </a:r>
            <a:endParaRPr sz="2200">
              <a:latin typeface="Times New Roman"/>
              <a:cs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8074659" cy="574040"/>
          </a:xfrm>
          <a:prstGeom prst="rect">
            <a:avLst/>
          </a:prstGeom>
        </p:spPr>
        <p:txBody>
          <a:bodyPr vert="horz" wrap="square" lIns="0" tIns="12700" rIns="0" bIns="0" rtlCol="0">
            <a:spAutoFit/>
          </a:bodyPr>
          <a:lstStyle/>
          <a:p>
            <a:pPr marL="12700">
              <a:lnSpc>
                <a:spcPct val="100000"/>
              </a:lnSpc>
              <a:spcBef>
                <a:spcPts val="100"/>
              </a:spcBef>
            </a:pPr>
            <a:r>
              <a:rPr spc="-5" dirty="0"/>
              <a:t>FINANCIAL</a:t>
            </a:r>
            <a:r>
              <a:rPr spc="-50" dirty="0"/>
              <a:t> </a:t>
            </a:r>
            <a:r>
              <a:rPr spc="-5" dirty="0"/>
              <a:t>MANAGEMENT</a:t>
            </a:r>
            <a:r>
              <a:rPr spc="-45" dirty="0"/>
              <a:t> </a:t>
            </a:r>
            <a:r>
              <a:rPr spc="-5" dirty="0"/>
              <a:t>SYSTEMS</a:t>
            </a:r>
          </a:p>
        </p:txBody>
      </p:sp>
      <p:sp>
        <p:nvSpPr>
          <p:cNvPr id="3" name="object 3"/>
          <p:cNvSpPr txBox="1"/>
          <p:nvPr/>
        </p:nvSpPr>
        <p:spPr>
          <a:xfrm>
            <a:off x="1271549" y="2199702"/>
            <a:ext cx="8834755" cy="1767205"/>
          </a:xfrm>
          <a:prstGeom prst="rect">
            <a:avLst/>
          </a:prstGeom>
        </p:spPr>
        <p:txBody>
          <a:bodyPr vert="horz" wrap="square" lIns="0" tIns="72390" rIns="0" bIns="0" rtlCol="0">
            <a:spAutoFit/>
          </a:bodyPr>
          <a:lstStyle/>
          <a:p>
            <a:pPr marL="184150" indent="-172085">
              <a:lnSpc>
                <a:spcPct val="100000"/>
              </a:lnSpc>
              <a:spcBef>
                <a:spcPts val="570"/>
              </a:spcBef>
              <a:buSzPct val="125000"/>
              <a:buFont typeface="Arial MT"/>
              <a:buChar char="•"/>
              <a:tabLst>
                <a:tab pos="184785" algn="l"/>
              </a:tabLst>
            </a:pPr>
            <a:r>
              <a:rPr sz="2400" spc="-5" dirty="0">
                <a:solidFill>
                  <a:srgbClr val="FFFFFF"/>
                </a:solidFill>
                <a:latin typeface="Times New Roman"/>
                <a:cs typeface="Times New Roman"/>
              </a:rPr>
              <a:t>Supports</a:t>
            </a:r>
            <a:r>
              <a:rPr sz="2400" spc="-20" dirty="0">
                <a:solidFill>
                  <a:srgbClr val="FFFFFF"/>
                </a:solidFill>
                <a:latin typeface="Times New Roman"/>
                <a:cs typeface="Times New Roman"/>
              </a:rPr>
              <a:t> </a:t>
            </a:r>
            <a:r>
              <a:rPr sz="2400" dirty="0">
                <a:solidFill>
                  <a:srgbClr val="FFFFFF"/>
                </a:solidFill>
                <a:latin typeface="Times New Roman"/>
                <a:cs typeface="Times New Roman"/>
              </a:rPr>
              <a:t>financial</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managers</a:t>
            </a:r>
            <a:r>
              <a:rPr sz="2400" spc="-20" dirty="0">
                <a:solidFill>
                  <a:srgbClr val="FFFFFF"/>
                </a:solidFill>
                <a:latin typeface="Times New Roman"/>
                <a:cs typeface="Times New Roman"/>
              </a:rPr>
              <a:t> </a:t>
            </a:r>
            <a:r>
              <a:rPr sz="2400" spc="-5" dirty="0">
                <a:solidFill>
                  <a:srgbClr val="FFFFFF"/>
                </a:solidFill>
                <a:latin typeface="Times New Roman"/>
                <a:cs typeface="Times New Roman"/>
              </a:rPr>
              <a:t>in</a:t>
            </a:r>
            <a:r>
              <a:rPr sz="2400" spc="-15" dirty="0">
                <a:solidFill>
                  <a:srgbClr val="FFFFFF"/>
                </a:solidFill>
                <a:latin typeface="Times New Roman"/>
                <a:cs typeface="Times New Roman"/>
              </a:rPr>
              <a:t> </a:t>
            </a:r>
            <a:r>
              <a:rPr sz="2400" dirty="0">
                <a:solidFill>
                  <a:srgbClr val="FFFFFF"/>
                </a:solidFill>
                <a:latin typeface="Times New Roman"/>
                <a:cs typeface="Times New Roman"/>
              </a:rPr>
              <a:t>decisions</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concerning</a:t>
            </a:r>
            <a:endParaRPr sz="2400">
              <a:latin typeface="Times New Roman"/>
              <a:cs typeface="Times New Roman"/>
            </a:endParaRPr>
          </a:p>
          <a:p>
            <a:pPr marL="641350" lvl="1" indent="-172085">
              <a:lnSpc>
                <a:spcPct val="100000"/>
              </a:lnSpc>
              <a:spcBef>
                <a:spcPts val="1220"/>
              </a:spcBef>
              <a:buSzPct val="125000"/>
              <a:buFont typeface="Arial MT"/>
              <a:buChar char="•"/>
              <a:tabLst>
                <a:tab pos="641985" algn="l"/>
              </a:tabLst>
            </a:pPr>
            <a:r>
              <a:rPr sz="2400" spc="-5" dirty="0">
                <a:solidFill>
                  <a:srgbClr val="FFFFFF"/>
                </a:solidFill>
                <a:latin typeface="Times New Roman"/>
                <a:cs typeface="Times New Roman"/>
              </a:rPr>
              <a:t>The</a:t>
            </a:r>
            <a:r>
              <a:rPr sz="2400" spc="-25" dirty="0">
                <a:solidFill>
                  <a:srgbClr val="FFFFFF"/>
                </a:solidFill>
                <a:latin typeface="Times New Roman"/>
                <a:cs typeface="Times New Roman"/>
              </a:rPr>
              <a:t> </a:t>
            </a:r>
            <a:r>
              <a:rPr sz="2400" dirty="0">
                <a:solidFill>
                  <a:srgbClr val="FFFFFF"/>
                </a:solidFill>
                <a:latin typeface="Times New Roman"/>
                <a:cs typeface="Times New Roman"/>
              </a:rPr>
              <a:t>financing</a:t>
            </a:r>
            <a:r>
              <a:rPr sz="2400" spc="-15" dirty="0">
                <a:solidFill>
                  <a:srgbClr val="FFFFFF"/>
                </a:solidFill>
                <a:latin typeface="Times New Roman"/>
                <a:cs typeface="Times New Roman"/>
              </a:rPr>
              <a:t> </a:t>
            </a:r>
            <a:r>
              <a:rPr sz="2400" dirty="0">
                <a:solidFill>
                  <a:srgbClr val="FFFFFF"/>
                </a:solidFill>
                <a:latin typeface="Times New Roman"/>
                <a:cs typeface="Times New Roman"/>
              </a:rPr>
              <a:t>of</a:t>
            </a:r>
            <a:r>
              <a:rPr sz="2400" spc="-20" dirty="0">
                <a:solidFill>
                  <a:srgbClr val="FFFFFF"/>
                </a:solidFill>
                <a:latin typeface="Times New Roman"/>
                <a:cs typeface="Times New Roman"/>
              </a:rPr>
              <a:t> </a:t>
            </a:r>
            <a:r>
              <a:rPr sz="2400" spc="-5" dirty="0">
                <a:solidFill>
                  <a:srgbClr val="FFFFFF"/>
                </a:solidFill>
                <a:latin typeface="Times New Roman"/>
                <a:cs typeface="Times New Roman"/>
              </a:rPr>
              <a:t>the</a:t>
            </a:r>
            <a:r>
              <a:rPr sz="2400" spc="-20" dirty="0">
                <a:solidFill>
                  <a:srgbClr val="FFFFFF"/>
                </a:solidFill>
                <a:latin typeface="Times New Roman"/>
                <a:cs typeface="Times New Roman"/>
              </a:rPr>
              <a:t> </a:t>
            </a:r>
            <a:r>
              <a:rPr sz="2400" dirty="0">
                <a:solidFill>
                  <a:srgbClr val="FFFFFF"/>
                </a:solidFill>
                <a:latin typeface="Times New Roman"/>
                <a:cs typeface="Times New Roman"/>
              </a:rPr>
              <a:t>business</a:t>
            </a:r>
            <a:endParaRPr sz="2400">
              <a:latin typeface="Times New Roman"/>
              <a:cs typeface="Times New Roman"/>
            </a:endParaRPr>
          </a:p>
          <a:p>
            <a:pPr marL="641350" lvl="1" indent="-172085">
              <a:lnSpc>
                <a:spcPct val="100000"/>
              </a:lnSpc>
              <a:spcBef>
                <a:spcPts val="1220"/>
              </a:spcBef>
              <a:buSzPct val="125000"/>
              <a:buFont typeface="Arial MT"/>
              <a:buChar char="•"/>
              <a:tabLst>
                <a:tab pos="641985" algn="l"/>
              </a:tabLst>
            </a:pPr>
            <a:r>
              <a:rPr sz="2400" spc="-5" dirty="0">
                <a:solidFill>
                  <a:srgbClr val="FFFFFF"/>
                </a:solidFill>
                <a:latin typeface="Times New Roman"/>
                <a:cs typeface="Times New Roman"/>
              </a:rPr>
              <a:t>The</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allocation</a:t>
            </a:r>
            <a:r>
              <a:rPr sz="2400" spc="-15" dirty="0">
                <a:solidFill>
                  <a:srgbClr val="FFFFFF"/>
                </a:solidFill>
                <a:latin typeface="Times New Roman"/>
                <a:cs typeface="Times New Roman"/>
              </a:rPr>
              <a:t> </a:t>
            </a:r>
            <a:r>
              <a:rPr sz="2400" dirty="0">
                <a:solidFill>
                  <a:srgbClr val="FFFFFF"/>
                </a:solidFill>
                <a:latin typeface="Times New Roman"/>
                <a:cs typeface="Times New Roman"/>
              </a:rPr>
              <a:t>&amp;</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control</a:t>
            </a:r>
            <a:r>
              <a:rPr sz="2400" spc="-15" dirty="0">
                <a:solidFill>
                  <a:srgbClr val="FFFFFF"/>
                </a:solidFill>
                <a:latin typeface="Times New Roman"/>
                <a:cs typeface="Times New Roman"/>
              </a:rPr>
              <a:t> </a:t>
            </a:r>
            <a:r>
              <a:rPr sz="2400" dirty="0">
                <a:solidFill>
                  <a:srgbClr val="FFFFFF"/>
                </a:solidFill>
                <a:latin typeface="Times New Roman"/>
                <a:cs typeface="Times New Roman"/>
              </a:rPr>
              <a:t>of</a:t>
            </a:r>
            <a:r>
              <a:rPr sz="2400" spc="-10" dirty="0">
                <a:solidFill>
                  <a:srgbClr val="FFFFFF"/>
                </a:solidFill>
                <a:latin typeface="Times New Roman"/>
                <a:cs typeface="Times New Roman"/>
              </a:rPr>
              <a:t> </a:t>
            </a:r>
            <a:r>
              <a:rPr sz="2400" dirty="0">
                <a:solidFill>
                  <a:srgbClr val="FFFFFF"/>
                </a:solidFill>
                <a:latin typeface="Times New Roman"/>
                <a:cs typeface="Times New Roman"/>
              </a:rPr>
              <a:t>financial</a:t>
            </a:r>
            <a:r>
              <a:rPr sz="2400" spc="-5" dirty="0">
                <a:solidFill>
                  <a:srgbClr val="FFFFFF"/>
                </a:solidFill>
                <a:latin typeface="Times New Roman"/>
                <a:cs typeface="Times New Roman"/>
              </a:rPr>
              <a:t> </a:t>
            </a:r>
            <a:r>
              <a:rPr sz="2400" dirty="0">
                <a:solidFill>
                  <a:srgbClr val="FFFFFF"/>
                </a:solidFill>
                <a:latin typeface="Times New Roman"/>
                <a:cs typeface="Times New Roman"/>
              </a:rPr>
              <a:t>resources</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within</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the</a:t>
            </a:r>
            <a:r>
              <a:rPr sz="2400" spc="-15" dirty="0">
                <a:solidFill>
                  <a:srgbClr val="FFFFFF"/>
                </a:solidFill>
                <a:latin typeface="Times New Roman"/>
                <a:cs typeface="Times New Roman"/>
              </a:rPr>
              <a:t> </a:t>
            </a:r>
            <a:r>
              <a:rPr sz="2400" dirty="0">
                <a:solidFill>
                  <a:srgbClr val="FFFFFF"/>
                </a:solidFill>
                <a:latin typeface="Times New Roman"/>
                <a:cs typeface="Times New Roman"/>
              </a:rPr>
              <a:t>business.</a:t>
            </a:r>
            <a:endParaRPr sz="2400">
              <a:latin typeface="Times New Roman"/>
              <a:cs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4295" rIns="0" bIns="0" rtlCol="0">
            <a:spAutoFit/>
          </a:bodyPr>
          <a:lstStyle/>
          <a:p>
            <a:pPr marL="12700" marR="5080">
              <a:lnSpc>
                <a:spcPts val="3890"/>
              </a:lnSpc>
              <a:spcBef>
                <a:spcPts val="585"/>
              </a:spcBef>
            </a:pPr>
            <a:r>
              <a:rPr spc="-5" dirty="0"/>
              <a:t>FINANCIAL MANAGEMENT SYSTEM </a:t>
            </a:r>
            <a:r>
              <a:rPr spc="-885" dirty="0"/>
              <a:t> </a:t>
            </a:r>
            <a:r>
              <a:rPr spc="-5" dirty="0"/>
              <a:t>COMPONENTS</a:t>
            </a:r>
          </a:p>
        </p:txBody>
      </p:sp>
      <p:sp>
        <p:nvSpPr>
          <p:cNvPr id="3" name="object 3"/>
          <p:cNvSpPr txBox="1"/>
          <p:nvPr/>
        </p:nvSpPr>
        <p:spPr>
          <a:xfrm>
            <a:off x="1271549" y="2148902"/>
            <a:ext cx="9692005" cy="3059430"/>
          </a:xfrm>
          <a:prstGeom prst="rect">
            <a:avLst/>
          </a:prstGeom>
        </p:spPr>
        <p:txBody>
          <a:bodyPr vert="horz" wrap="square" lIns="0" tIns="123189" rIns="0" bIns="0" rtlCol="0">
            <a:spAutoFit/>
          </a:bodyPr>
          <a:lstStyle/>
          <a:p>
            <a:pPr marL="184150" indent="-172085">
              <a:lnSpc>
                <a:spcPct val="100000"/>
              </a:lnSpc>
              <a:spcBef>
                <a:spcPts val="969"/>
              </a:spcBef>
              <a:buSzPct val="125000"/>
              <a:buFont typeface="Arial MT"/>
              <a:buChar char="•"/>
              <a:tabLst>
                <a:tab pos="184785" algn="l"/>
              </a:tabLst>
            </a:pPr>
            <a:r>
              <a:rPr sz="2400" spc="-5" dirty="0">
                <a:solidFill>
                  <a:srgbClr val="FFFFFF"/>
                </a:solidFill>
                <a:latin typeface="Times New Roman"/>
                <a:cs typeface="Times New Roman"/>
              </a:rPr>
              <a:t>Cash</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Management:</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Forecast</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and</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manage</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cash</a:t>
            </a:r>
            <a:r>
              <a:rPr sz="2400" spc="-15" dirty="0">
                <a:solidFill>
                  <a:srgbClr val="FFFFFF"/>
                </a:solidFill>
                <a:latin typeface="Times New Roman"/>
                <a:cs typeface="Times New Roman"/>
              </a:rPr>
              <a:t> </a:t>
            </a:r>
            <a:r>
              <a:rPr sz="2400" dirty="0">
                <a:solidFill>
                  <a:srgbClr val="FFFFFF"/>
                </a:solidFill>
                <a:latin typeface="Times New Roman"/>
                <a:cs typeface="Times New Roman"/>
              </a:rPr>
              <a:t>position</a:t>
            </a:r>
            <a:endParaRPr sz="2400">
              <a:latin typeface="Times New Roman"/>
              <a:cs typeface="Times New Roman"/>
            </a:endParaRPr>
          </a:p>
          <a:p>
            <a:pPr marL="184150" marR="5080" indent="-172085">
              <a:lnSpc>
                <a:spcPct val="120700"/>
              </a:lnSpc>
              <a:spcBef>
                <a:spcPts val="975"/>
              </a:spcBef>
              <a:buSzPct val="125000"/>
              <a:buFont typeface="Arial MT"/>
              <a:buChar char="•"/>
              <a:tabLst>
                <a:tab pos="184785" algn="l"/>
              </a:tabLst>
            </a:pPr>
            <a:r>
              <a:rPr sz="2400" dirty="0">
                <a:solidFill>
                  <a:srgbClr val="FFFFFF"/>
                </a:solidFill>
                <a:latin typeface="Times New Roman"/>
                <a:cs typeface="Times New Roman"/>
              </a:rPr>
              <a:t>Investment</a:t>
            </a:r>
            <a:r>
              <a:rPr sz="2400" spc="290" dirty="0">
                <a:solidFill>
                  <a:srgbClr val="FFFFFF"/>
                </a:solidFill>
                <a:latin typeface="Times New Roman"/>
                <a:cs typeface="Times New Roman"/>
              </a:rPr>
              <a:t> </a:t>
            </a:r>
            <a:r>
              <a:rPr sz="2400" spc="-5" dirty="0">
                <a:solidFill>
                  <a:srgbClr val="FFFFFF"/>
                </a:solidFill>
                <a:latin typeface="Times New Roman"/>
                <a:cs typeface="Times New Roman"/>
              </a:rPr>
              <a:t>Management:</a:t>
            </a:r>
            <a:r>
              <a:rPr sz="2400" spc="285" dirty="0">
                <a:solidFill>
                  <a:srgbClr val="FFFFFF"/>
                </a:solidFill>
                <a:latin typeface="Times New Roman"/>
                <a:cs typeface="Times New Roman"/>
              </a:rPr>
              <a:t> </a:t>
            </a:r>
            <a:r>
              <a:rPr sz="2400" spc="-5" dirty="0">
                <a:solidFill>
                  <a:srgbClr val="FFFFFF"/>
                </a:solidFill>
                <a:latin typeface="Times New Roman"/>
                <a:cs typeface="Times New Roman"/>
              </a:rPr>
              <a:t>Manage</a:t>
            </a:r>
            <a:r>
              <a:rPr sz="2400" spc="285" dirty="0">
                <a:solidFill>
                  <a:srgbClr val="FFFFFF"/>
                </a:solidFill>
                <a:latin typeface="Times New Roman"/>
                <a:cs typeface="Times New Roman"/>
              </a:rPr>
              <a:t> </a:t>
            </a:r>
            <a:r>
              <a:rPr sz="2400" spc="-5" dirty="0">
                <a:solidFill>
                  <a:srgbClr val="FFFFFF"/>
                </a:solidFill>
                <a:latin typeface="Times New Roman"/>
                <a:cs typeface="Times New Roman"/>
              </a:rPr>
              <a:t>short-term</a:t>
            </a:r>
            <a:r>
              <a:rPr sz="2400" spc="290" dirty="0">
                <a:solidFill>
                  <a:srgbClr val="FFFFFF"/>
                </a:solidFill>
                <a:latin typeface="Times New Roman"/>
                <a:cs typeface="Times New Roman"/>
              </a:rPr>
              <a:t> </a:t>
            </a:r>
            <a:r>
              <a:rPr sz="2400" spc="-5" dirty="0">
                <a:solidFill>
                  <a:srgbClr val="FFFFFF"/>
                </a:solidFill>
                <a:latin typeface="Times New Roman"/>
                <a:cs typeface="Times New Roman"/>
              </a:rPr>
              <a:t>and</a:t>
            </a:r>
            <a:r>
              <a:rPr sz="2400" spc="285" dirty="0">
                <a:solidFill>
                  <a:srgbClr val="FFFFFF"/>
                </a:solidFill>
                <a:latin typeface="Times New Roman"/>
                <a:cs typeface="Times New Roman"/>
              </a:rPr>
              <a:t> </a:t>
            </a:r>
            <a:r>
              <a:rPr sz="2400" spc="-5" dirty="0">
                <a:solidFill>
                  <a:srgbClr val="FFFFFF"/>
                </a:solidFill>
                <a:latin typeface="Times New Roman"/>
                <a:cs typeface="Times New Roman"/>
              </a:rPr>
              <a:t>long-term</a:t>
            </a:r>
            <a:r>
              <a:rPr sz="2400" spc="285" dirty="0">
                <a:solidFill>
                  <a:srgbClr val="FFFFFF"/>
                </a:solidFill>
                <a:latin typeface="Times New Roman"/>
                <a:cs typeface="Times New Roman"/>
              </a:rPr>
              <a:t> </a:t>
            </a:r>
            <a:r>
              <a:rPr sz="2400" dirty="0">
                <a:solidFill>
                  <a:srgbClr val="FFFFFF"/>
                </a:solidFill>
                <a:latin typeface="Times New Roman"/>
                <a:cs typeface="Times New Roman"/>
              </a:rPr>
              <a:t>debt,</a:t>
            </a:r>
            <a:r>
              <a:rPr sz="2400" spc="290" dirty="0">
                <a:solidFill>
                  <a:srgbClr val="FFFFFF"/>
                </a:solidFill>
                <a:latin typeface="Times New Roman"/>
                <a:cs typeface="Times New Roman"/>
              </a:rPr>
              <a:t> </a:t>
            </a:r>
            <a:r>
              <a:rPr sz="2400" spc="-5" dirty="0">
                <a:solidFill>
                  <a:srgbClr val="FFFFFF"/>
                </a:solidFill>
                <a:latin typeface="Times New Roman"/>
                <a:cs typeface="Times New Roman"/>
              </a:rPr>
              <a:t>and</a:t>
            </a:r>
            <a:r>
              <a:rPr sz="2400" spc="290" dirty="0">
                <a:solidFill>
                  <a:srgbClr val="FFFFFF"/>
                </a:solidFill>
                <a:latin typeface="Times New Roman"/>
                <a:cs typeface="Times New Roman"/>
              </a:rPr>
              <a:t> </a:t>
            </a:r>
            <a:r>
              <a:rPr sz="2400" dirty="0">
                <a:solidFill>
                  <a:srgbClr val="FFFFFF"/>
                </a:solidFill>
                <a:latin typeface="Times New Roman"/>
                <a:cs typeface="Times New Roman"/>
              </a:rPr>
              <a:t>other </a:t>
            </a:r>
            <a:r>
              <a:rPr sz="2400" spc="-585" dirty="0">
                <a:solidFill>
                  <a:srgbClr val="FFFFFF"/>
                </a:solidFill>
                <a:latin typeface="Times New Roman"/>
                <a:cs typeface="Times New Roman"/>
              </a:rPr>
              <a:t> </a:t>
            </a:r>
            <a:r>
              <a:rPr sz="2400" spc="-5" dirty="0">
                <a:solidFill>
                  <a:srgbClr val="FFFFFF"/>
                </a:solidFill>
                <a:latin typeface="Times New Roman"/>
                <a:cs typeface="Times New Roman"/>
              </a:rPr>
              <a:t>securities</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e.g. </a:t>
            </a:r>
            <a:r>
              <a:rPr sz="2400" dirty="0">
                <a:solidFill>
                  <a:srgbClr val="FFFFFF"/>
                </a:solidFill>
                <a:latin typeface="Times New Roman"/>
                <a:cs typeface="Times New Roman"/>
              </a:rPr>
              <a:t>bond,</a:t>
            </a:r>
            <a:r>
              <a:rPr sz="2400" spc="-5" dirty="0">
                <a:solidFill>
                  <a:srgbClr val="FFFFFF"/>
                </a:solidFill>
                <a:latin typeface="Times New Roman"/>
                <a:cs typeface="Times New Roman"/>
              </a:rPr>
              <a:t> stock, certificate </a:t>
            </a:r>
            <a:r>
              <a:rPr sz="2400" dirty="0">
                <a:solidFill>
                  <a:srgbClr val="FFFFFF"/>
                </a:solidFill>
                <a:latin typeface="Times New Roman"/>
                <a:cs typeface="Times New Roman"/>
              </a:rPr>
              <a:t>of</a:t>
            </a:r>
            <a:r>
              <a:rPr sz="2400" spc="-5" dirty="0">
                <a:solidFill>
                  <a:srgbClr val="FFFFFF"/>
                </a:solidFill>
                <a:latin typeface="Times New Roman"/>
                <a:cs typeface="Times New Roman"/>
              </a:rPr>
              <a:t> </a:t>
            </a:r>
            <a:r>
              <a:rPr sz="2400" dirty="0">
                <a:solidFill>
                  <a:srgbClr val="FFFFFF"/>
                </a:solidFill>
                <a:latin typeface="Times New Roman"/>
                <a:cs typeface="Times New Roman"/>
              </a:rPr>
              <a:t>deposits (CDs)</a:t>
            </a:r>
            <a:endParaRPr sz="2400">
              <a:latin typeface="Times New Roman"/>
              <a:cs typeface="Times New Roman"/>
            </a:endParaRPr>
          </a:p>
          <a:p>
            <a:pPr marL="184150" indent="-172085">
              <a:lnSpc>
                <a:spcPct val="100000"/>
              </a:lnSpc>
              <a:spcBef>
                <a:spcPts val="1550"/>
              </a:spcBef>
              <a:buSzPct val="125000"/>
              <a:buFont typeface="Arial MT"/>
              <a:buChar char="•"/>
              <a:tabLst>
                <a:tab pos="184785" algn="l"/>
              </a:tabLst>
            </a:pPr>
            <a:r>
              <a:rPr sz="2400" spc="-5" dirty="0">
                <a:solidFill>
                  <a:srgbClr val="FFFFFF"/>
                </a:solidFill>
                <a:latin typeface="Times New Roman"/>
                <a:cs typeface="Times New Roman"/>
              </a:rPr>
              <a:t>Capital</a:t>
            </a:r>
            <a:r>
              <a:rPr sz="2400" spc="-20" dirty="0">
                <a:solidFill>
                  <a:srgbClr val="FFFFFF"/>
                </a:solidFill>
                <a:latin typeface="Times New Roman"/>
                <a:cs typeface="Times New Roman"/>
              </a:rPr>
              <a:t> </a:t>
            </a:r>
            <a:r>
              <a:rPr sz="2400" spc="-5" dirty="0">
                <a:solidFill>
                  <a:srgbClr val="FFFFFF"/>
                </a:solidFill>
                <a:latin typeface="Times New Roman"/>
                <a:cs typeface="Times New Roman"/>
              </a:rPr>
              <a:t>Budgeting:</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Evaluate</a:t>
            </a:r>
            <a:r>
              <a:rPr sz="2400" spc="-15" dirty="0">
                <a:solidFill>
                  <a:srgbClr val="FFFFFF"/>
                </a:solidFill>
                <a:latin typeface="Times New Roman"/>
                <a:cs typeface="Times New Roman"/>
              </a:rPr>
              <a:t> </a:t>
            </a:r>
            <a:r>
              <a:rPr sz="2400" dirty="0">
                <a:solidFill>
                  <a:srgbClr val="FFFFFF"/>
                </a:solidFill>
                <a:latin typeface="Times New Roman"/>
                <a:cs typeface="Times New Roman"/>
              </a:rPr>
              <a:t>risk/return</a:t>
            </a:r>
            <a:r>
              <a:rPr sz="2400" spc="-10" dirty="0">
                <a:solidFill>
                  <a:srgbClr val="FFFFFF"/>
                </a:solidFill>
                <a:latin typeface="Times New Roman"/>
                <a:cs typeface="Times New Roman"/>
              </a:rPr>
              <a:t> </a:t>
            </a:r>
            <a:r>
              <a:rPr sz="2400" dirty="0">
                <a:solidFill>
                  <a:srgbClr val="FFFFFF"/>
                </a:solidFill>
                <a:latin typeface="Times New Roman"/>
                <a:cs typeface="Times New Roman"/>
              </a:rPr>
              <a:t>of</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capital</a:t>
            </a:r>
            <a:r>
              <a:rPr sz="2400" spc="-20" dirty="0">
                <a:solidFill>
                  <a:srgbClr val="FFFFFF"/>
                </a:solidFill>
                <a:latin typeface="Times New Roman"/>
                <a:cs typeface="Times New Roman"/>
              </a:rPr>
              <a:t> </a:t>
            </a:r>
            <a:r>
              <a:rPr sz="2400" spc="-5" dirty="0">
                <a:solidFill>
                  <a:srgbClr val="FFFFFF"/>
                </a:solidFill>
                <a:latin typeface="Times New Roman"/>
                <a:cs typeface="Times New Roman"/>
              </a:rPr>
              <a:t>expenditures</a:t>
            </a:r>
            <a:endParaRPr sz="2400">
              <a:latin typeface="Times New Roman"/>
              <a:cs typeface="Times New Roman"/>
            </a:endParaRPr>
          </a:p>
          <a:p>
            <a:pPr marL="184150" indent="-172085">
              <a:lnSpc>
                <a:spcPct val="100000"/>
              </a:lnSpc>
              <a:spcBef>
                <a:spcPts val="1720"/>
              </a:spcBef>
              <a:buSzPct val="125000"/>
              <a:buFont typeface="Arial MT"/>
              <a:buChar char="•"/>
              <a:tabLst>
                <a:tab pos="184785" algn="l"/>
              </a:tabLst>
            </a:pPr>
            <a:r>
              <a:rPr sz="2400" spc="-5" dirty="0">
                <a:solidFill>
                  <a:srgbClr val="FFFFFF"/>
                </a:solidFill>
                <a:latin typeface="Times New Roman"/>
                <a:cs typeface="Times New Roman"/>
              </a:rPr>
              <a:t>Financial</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Planning:</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Forecast</a:t>
            </a:r>
            <a:r>
              <a:rPr sz="2400" spc="-15" dirty="0">
                <a:solidFill>
                  <a:srgbClr val="FFFFFF"/>
                </a:solidFill>
                <a:latin typeface="Times New Roman"/>
                <a:cs typeface="Times New Roman"/>
              </a:rPr>
              <a:t> </a:t>
            </a:r>
            <a:r>
              <a:rPr sz="2400" dirty="0">
                <a:solidFill>
                  <a:srgbClr val="FFFFFF"/>
                </a:solidFill>
                <a:latin typeface="Times New Roman"/>
                <a:cs typeface="Times New Roman"/>
              </a:rPr>
              <a:t>financial</a:t>
            </a:r>
            <a:r>
              <a:rPr sz="2400" spc="-10" dirty="0">
                <a:solidFill>
                  <a:srgbClr val="FFFFFF"/>
                </a:solidFill>
                <a:latin typeface="Times New Roman"/>
                <a:cs typeface="Times New Roman"/>
              </a:rPr>
              <a:t> </a:t>
            </a:r>
            <a:r>
              <a:rPr sz="2400" dirty="0">
                <a:solidFill>
                  <a:srgbClr val="FFFFFF"/>
                </a:solidFill>
                <a:latin typeface="Times New Roman"/>
                <a:cs typeface="Times New Roman"/>
              </a:rPr>
              <a:t>performance</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and</a:t>
            </a:r>
            <a:r>
              <a:rPr sz="2400" spc="-15" dirty="0">
                <a:solidFill>
                  <a:srgbClr val="FFFFFF"/>
                </a:solidFill>
                <a:latin typeface="Times New Roman"/>
                <a:cs typeface="Times New Roman"/>
              </a:rPr>
              <a:t> </a:t>
            </a:r>
            <a:r>
              <a:rPr sz="2400" dirty="0">
                <a:solidFill>
                  <a:srgbClr val="FFFFFF"/>
                </a:solidFill>
                <a:latin typeface="Times New Roman"/>
                <a:cs typeface="Times New Roman"/>
              </a:rPr>
              <a:t>financing</a:t>
            </a:r>
            <a:r>
              <a:rPr sz="2400" spc="-10" dirty="0">
                <a:solidFill>
                  <a:srgbClr val="FFFFFF"/>
                </a:solidFill>
                <a:latin typeface="Times New Roman"/>
                <a:cs typeface="Times New Roman"/>
              </a:rPr>
              <a:t> </a:t>
            </a:r>
            <a:r>
              <a:rPr sz="2400" dirty="0">
                <a:solidFill>
                  <a:srgbClr val="FFFFFF"/>
                </a:solidFill>
                <a:latin typeface="Times New Roman"/>
                <a:cs typeface="Times New Roman"/>
              </a:rPr>
              <a:t>needs</a:t>
            </a:r>
            <a:endParaRPr sz="2400">
              <a:latin typeface="Times New Roman"/>
              <a:cs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9500235" cy="574040"/>
          </a:xfrm>
          <a:prstGeom prst="rect">
            <a:avLst/>
          </a:prstGeom>
        </p:spPr>
        <p:txBody>
          <a:bodyPr vert="horz" wrap="square" lIns="0" tIns="12700" rIns="0" bIns="0" rtlCol="0">
            <a:spAutoFit/>
          </a:bodyPr>
          <a:lstStyle/>
          <a:p>
            <a:pPr marL="12700">
              <a:lnSpc>
                <a:spcPct val="100000"/>
              </a:lnSpc>
              <a:spcBef>
                <a:spcPts val="100"/>
              </a:spcBef>
            </a:pPr>
            <a:r>
              <a:rPr spc="-10" dirty="0"/>
              <a:t>CROSS</a:t>
            </a:r>
            <a:r>
              <a:rPr spc="-35" dirty="0"/>
              <a:t> </a:t>
            </a:r>
            <a:r>
              <a:rPr spc="-5" dirty="0"/>
              <a:t>FUNCTIONAL</a:t>
            </a:r>
            <a:r>
              <a:rPr spc="-30" dirty="0"/>
              <a:t> </a:t>
            </a:r>
            <a:r>
              <a:rPr spc="-10" dirty="0"/>
              <a:t>ENTERPRISE</a:t>
            </a:r>
            <a:r>
              <a:rPr spc="-30" dirty="0"/>
              <a:t> </a:t>
            </a:r>
            <a:r>
              <a:rPr spc="-5" dirty="0"/>
              <a:t>SYSTEMS</a:t>
            </a:r>
          </a:p>
        </p:txBody>
      </p:sp>
      <p:sp>
        <p:nvSpPr>
          <p:cNvPr id="3" name="object 3"/>
          <p:cNvSpPr txBox="1"/>
          <p:nvPr/>
        </p:nvSpPr>
        <p:spPr>
          <a:xfrm>
            <a:off x="1271549" y="2226118"/>
            <a:ext cx="9692640" cy="3408045"/>
          </a:xfrm>
          <a:prstGeom prst="rect">
            <a:avLst/>
          </a:prstGeom>
        </p:spPr>
        <p:txBody>
          <a:bodyPr vert="horz" wrap="square" lIns="0" tIns="46355" rIns="0" bIns="0" rtlCol="0">
            <a:spAutoFit/>
          </a:bodyPr>
          <a:lstStyle/>
          <a:p>
            <a:pPr marL="184150" indent="-172085" algn="just">
              <a:lnSpc>
                <a:spcPct val="100000"/>
              </a:lnSpc>
              <a:spcBef>
                <a:spcPts val="365"/>
              </a:spcBef>
              <a:buSzPct val="125000"/>
              <a:buFont typeface="Arial MT"/>
              <a:buChar char="•"/>
              <a:tabLst>
                <a:tab pos="184785" algn="l"/>
              </a:tabLst>
            </a:pPr>
            <a:r>
              <a:rPr sz="2400" dirty="0">
                <a:solidFill>
                  <a:srgbClr val="FFFFFF"/>
                </a:solidFill>
                <a:latin typeface="Times New Roman"/>
                <a:cs typeface="Times New Roman"/>
              </a:rPr>
              <a:t>Information</a:t>
            </a:r>
            <a:r>
              <a:rPr sz="2400" spc="1110" dirty="0">
                <a:solidFill>
                  <a:srgbClr val="FFFFFF"/>
                </a:solidFill>
                <a:latin typeface="Times New Roman"/>
                <a:cs typeface="Times New Roman"/>
              </a:rPr>
              <a:t> </a:t>
            </a:r>
            <a:r>
              <a:rPr sz="2400" spc="-5" dirty="0">
                <a:solidFill>
                  <a:srgbClr val="FFFFFF"/>
                </a:solidFill>
                <a:latin typeface="Times New Roman"/>
                <a:cs typeface="Times New Roman"/>
              </a:rPr>
              <a:t>systems</a:t>
            </a:r>
            <a:r>
              <a:rPr sz="2400" spc="1110" dirty="0">
                <a:solidFill>
                  <a:srgbClr val="FFFFFF"/>
                </a:solidFill>
                <a:latin typeface="Times New Roman"/>
                <a:cs typeface="Times New Roman"/>
              </a:rPr>
              <a:t> </a:t>
            </a:r>
            <a:r>
              <a:rPr sz="2400" spc="-5" dirty="0">
                <a:solidFill>
                  <a:srgbClr val="FFFFFF"/>
                </a:solidFill>
                <a:latin typeface="Times New Roman"/>
                <a:cs typeface="Times New Roman"/>
              </a:rPr>
              <a:t>that</a:t>
            </a:r>
            <a:r>
              <a:rPr sz="2400" spc="1105" dirty="0">
                <a:solidFill>
                  <a:srgbClr val="FFFFFF"/>
                </a:solidFill>
                <a:latin typeface="Times New Roman"/>
                <a:cs typeface="Times New Roman"/>
              </a:rPr>
              <a:t> </a:t>
            </a:r>
            <a:r>
              <a:rPr sz="2400" spc="-5" dirty="0">
                <a:solidFill>
                  <a:srgbClr val="FFFFFF"/>
                </a:solidFill>
                <a:latin typeface="Times New Roman"/>
                <a:cs typeface="Times New Roman"/>
              </a:rPr>
              <a:t>cross</a:t>
            </a:r>
            <a:r>
              <a:rPr sz="2400" spc="1105" dirty="0">
                <a:solidFill>
                  <a:srgbClr val="FFFFFF"/>
                </a:solidFill>
                <a:latin typeface="Times New Roman"/>
                <a:cs typeface="Times New Roman"/>
              </a:rPr>
              <a:t> </a:t>
            </a:r>
            <a:r>
              <a:rPr sz="2400" spc="-5" dirty="0">
                <a:solidFill>
                  <a:srgbClr val="FFFFFF"/>
                </a:solidFill>
                <a:latin typeface="Times New Roman"/>
                <a:cs typeface="Times New Roman"/>
              </a:rPr>
              <a:t>the</a:t>
            </a:r>
            <a:r>
              <a:rPr sz="2400" spc="1105" dirty="0">
                <a:solidFill>
                  <a:srgbClr val="FFFFFF"/>
                </a:solidFill>
                <a:latin typeface="Times New Roman"/>
                <a:cs typeface="Times New Roman"/>
              </a:rPr>
              <a:t> </a:t>
            </a:r>
            <a:r>
              <a:rPr sz="2400" dirty="0">
                <a:solidFill>
                  <a:srgbClr val="FFFFFF"/>
                </a:solidFill>
                <a:latin typeface="Times New Roman"/>
                <a:cs typeface="Times New Roman"/>
              </a:rPr>
              <a:t>boundaries</a:t>
            </a:r>
            <a:r>
              <a:rPr sz="2400" spc="1110" dirty="0">
                <a:solidFill>
                  <a:srgbClr val="FFFFFF"/>
                </a:solidFill>
                <a:latin typeface="Times New Roman"/>
                <a:cs typeface="Times New Roman"/>
              </a:rPr>
              <a:t> </a:t>
            </a:r>
            <a:r>
              <a:rPr sz="2400" dirty="0">
                <a:solidFill>
                  <a:srgbClr val="FFFFFF"/>
                </a:solidFill>
                <a:latin typeface="Times New Roman"/>
                <a:cs typeface="Times New Roman"/>
              </a:rPr>
              <a:t>of</a:t>
            </a:r>
            <a:r>
              <a:rPr sz="2400" spc="1115" dirty="0">
                <a:solidFill>
                  <a:srgbClr val="FFFFFF"/>
                </a:solidFill>
                <a:latin typeface="Times New Roman"/>
                <a:cs typeface="Times New Roman"/>
              </a:rPr>
              <a:t> </a:t>
            </a:r>
            <a:r>
              <a:rPr sz="2400" spc="-5" dirty="0">
                <a:solidFill>
                  <a:srgbClr val="FFFFFF"/>
                </a:solidFill>
                <a:latin typeface="Times New Roman"/>
                <a:cs typeface="Times New Roman"/>
              </a:rPr>
              <a:t>traditional</a:t>
            </a:r>
            <a:r>
              <a:rPr sz="2400" spc="1105" dirty="0">
                <a:solidFill>
                  <a:srgbClr val="FFFFFF"/>
                </a:solidFill>
                <a:latin typeface="Times New Roman"/>
                <a:cs typeface="Times New Roman"/>
              </a:rPr>
              <a:t> </a:t>
            </a:r>
            <a:r>
              <a:rPr sz="2400" dirty="0">
                <a:solidFill>
                  <a:srgbClr val="FFFFFF"/>
                </a:solidFill>
                <a:latin typeface="Times New Roman"/>
                <a:cs typeface="Times New Roman"/>
              </a:rPr>
              <a:t>business</a:t>
            </a:r>
            <a:endParaRPr sz="2400">
              <a:latin typeface="Times New Roman"/>
              <a:cs typeface="Times New Roman"/>
            </a:endParaRPr>
          </a:p>
          <a:p>
            <a:pPr marL="184150" marR="7620" algn="just">
              <a:lnSpc>
                <a:spcPct val="120000"/>
              </a:lnSpc>
              <a:spcBef>
                <a:spcPts val="165"/>
              </a:spcBef>
            </a:pPr>
            <a:r>
              <a:rPr sz="2400" dirty="0">
                <a:solidFill>
                  <a:srgbClr val="FFFFFF"/>
                </a:solidFill>
                <a:latin typeface="Times New Roman"/>
                <a:cs typeface="Times New Roman"/>
              </a:rPr>
              <a:t>functions </a:t>
            </a:r>
            <a:r>
              <a:rPr sz="2400" spc="-5" dirty="0">
                <a:solidFill>
                  <a:srgbClr val="FFFFFF"/>
                </a:solidFill>
                <a:latin typeface="Times New Roman"/>
                <a:cs typeface="Times New Roman"/>
              </a:rPr>
              <a:t>in </a:t>
            </a:r>
            <a:r>
              <a:rPr sz="2400" dirty="0">
                <a:solidFill>
                  <a:srgbClr val="FFFFFF"/>
                </a:solidFill>
                <a:latin typeface="Times New Roman"/>
                <a:cs typeface="Times New Roman"/>
              </a:rPr>
              <a:t>order </a:t>
            </a:r>
            <a:r>
              <a:rPr sz="2400" spc="-5" dirty="0">
                <a:solidFill>
                  <a:srgbClr val="FFFFFF"/>
                </a:solidFill>
                <a:latin typeface="Times New Roman"/>
                <a:cs typeface="Times New Roman"/>
              </a:rPr>
              <a:t>to </a:t>
            </a:r>
            <a:r>
              <a:rPr sz="2400" dirty="0">
                <a:solidFill>
                  <a:srgbClr val="FFFFFF"/>
                </a:solidFill>
                <a:latin typeface="Times New Roman"/>
                <a:cs typeface="Times New Roman"/>
              </a:rPr>
              <a:t>reengineer </a:t>
            </a:r>
            <a:r>
              <a:rPr sz="2400" spc="-5" dirty="0">
                <a:solidFill>
                  <a:srgbClr val="FFFFFF"/>
                </a:solidFill>
                <a:latin typeface="Times New Roman"/>
                <a:cs typeface="Times New Roman"/>
              </a:rPr>
              <a:t>and improve </a:t>
            </a:r>
            <a:r>
              <a:rPr sz="2400" dirty="0">
                <a:solidFill>
                  <a:srgbClr val="FFFFFF"/>
                </a:solidFill>
                <a:latin typeface="Times New Roman"/>
                <a:cs typeface="Times New Roman"/>
              </a:rPr>
              <a:t>vital business process </a:t>
            </a:r>
            <a:r>
              <a:rPr sz="2400" spc="-5" dirty="0">
                <a:solidFill>
                  <a:srgbClr val="FFFFFF"/>
                </a:solidFill>
                <a:latin typeface="Times New Roman"/>
                <a:cs typeface="Times New Roman"/>
              </a:rPr>
              <a:t>all across </a:t>
            </a:r>
            <a:r>
              <a:rPr sz="2400" dirty="0">
                <a:solidFill>
                  <a:srgbClr val="FFFFFF"/>
                </a:solidFill>
                <a:latin typeface="Times New Roman"/>
                <a:cs typeface="Times New Roman"/>
              </a:rPr>
              <a:t> </a:t>
            </a:r>
            <a:r>
              <a:rPr sz="2400" spc="-5" dirty="0">
                <a:solidFill>
                  <a:srgbClr val="FFFFFF"/>
                </a:solidFill>
                <a:latin typeface="Times New Roman"/>
                <a:cs typeface="Times New Roman"/>
              </a:rPr>
              <a:t>the</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enterprise.</a:t>
            </a:r>
            <a:endParaRPr sz="2400">
              <a:latin typeface="Times New Roman"/>
              <a:cs typeface="Times New Roman"/>
            </a:endParaRPr>
          </a:p>
          <a:p>
            <a:pPr marL="184150" marR="5080" indent="-172085" algn="just">
              <a:lnSpc>
                <a:spcPct val="120200"/>
              </a:lnSpc>
              <a:spcBef>
                <a:spcPts val="825"/>
              </a:spcBef>
              <a:buSzPct val="125000"/>
              <a:buFont typeface="Arial MT"/>
              <a:buChar char="•"/>
              <a:tabLst>
                <a:tab pos="184785" algn="l"/>
              </a:tabLst>
            </a:pPr>
            <a:r>
              <a:rPr sz="2400" spc="-5" dirty="0">
                <a:solidFill>
                  <a:srgbClr val="FFFFFF"/>
                </a:solidFill>
                <a:latin typeface="Times New Roman"/>
                <a:cs typeface="Times New Roman"/>
              </a:rPr>
              <a:t>The </a:t>
            </a:r>
            <a:r>
              <a:rPr sz="2400" dirty="0">
                <a:solidFill>
                  <a:srgbClr val="FFFFFF"/>
                </a:solidFill>
                <a:latin typeface="Times New Roman"/>
                <a:cs typeface="Times New Roman"/>
              </a:rPr>
              <a:t>organizations view </a:t>
            </a:r>
            <a:r>
              <a:rPr sz="2400" spc="-5" dirty="0">
                <a:solidFill>
                  <a:srgbClr val="FFFFFF"/>
                </a:solidFill>
                <a:latin typeface="Times New Roman"/>
                <a:cs typeface="Times New Roman"/>
              </a:rPr>
              <a:t>cross-functional enterprise systems as </a:t>
            </a:r>
            <a:r>
              <a:rPr sz="2400" dirty="0">
                <a:solidFill>
                  <a:srgbClr val="FFFFFF"/>
                </a:solidFill>
                <a:latin typeface="Times New Roman"/>
                <a:cs typeface="Times New Roman"/>
              </a:rPr>
              <a:t>a </a:t>
            </a:r>
            <a:r>
              <a:rPr sz="2400" spc="-5" dirty="0">
                <a:solidFill>
                  <a:srgbClr val="FFFFFF"/>
                </a:solidFill>
                <a:latin typeface="Times New Roman"/>
                <a:cs typeface="Times New Roman"/>
              </a:rPr>
              <a:t>strategic way </a:t>
            </a:r>
            <a:r>
              <a:rPr sz="2400" spc="-585" dirty="0">
                <a:solidFill>
                  <a:srgbClr val="FFFFFF"/>
                </a:solidFill>
                <a:latin typeface="Times New Roman"/>
                <a:cs typeface="Times New Roman"/>
              </a:rPr>
              <a:t> </a:t>
            </a:r>
            <a:r>
              <a:rPr sz="2400" spc="-5" dirty="0">
                <a:solidFill>
                  <a:srgbClr val="FFFFFF"/>
                </a:solidFill>
                <a:latin typeface="Times New Roman"/>
                <a:cs typeface="Times New Roman"/>
              </a:rPr>
              <a:t>to </a:t>
            </a:r>
            <a:r>
              <a:rPr sz="2400" dirty="0">
                <a:solidFill>
                  <a:srgbClr val="FFFFFF"/>
                </a:solidFill>
                <a:latin typeface="Times New Roman"/>
                <a:cs typeface="Times New Roman"/>
              </a:rPr>
              <a:t>use IT </a:t>
            </a:r>
            <a:r>
              <a:rPr sz="2400" spc="-5" dirty="0">
                <a:solidFill>
                  <a:srgbClr val="FFFFFF"/>
                </a:solidFill>
                <a:latin typeface="Times New Roman"/>
                <a:cs typeface="Times New Roman"/>
              </a:rPr>
              <a:t>to share</a:t>
            </a:r>
            <a:r>
              <a:rPr sz="2400" dirty="0">
                <a:solidFill>
                  <a:srgbClr val="FFFFFF"/>
                </a:solidFill>
                <a:latin typeface="Times New Roman"/>
                <a:cs typeface="Times New Roman"/>
              </a:rPr>
              <a:t> </a:t>
            </a:r>
            <a:r>
              <a:rPr sz="2400" spc="-5" dirty="0">
                <a:solidFill>
                  <a:srgbClr val="FFFFFF"/>
                </a:solidFill>
                <a:latin typeface="Times New Roman"/>
                <a:cs typeface="Times New Roman"/>
              </a:rPr>
              <a:t>information </a:t>
            </a:r>
            <a:r>
              <a:rPr sz="2400" dirty="0">
                <a:solidFill>
                  <a:srgbClr val="FFFFFF"/>
                </a:solidFill>
                <a:latin typeface="Times New Roman"/>
                <a:cs typeface="Times New Roman"/>
              </a:rPr>
              <a:t>resources </a:t>
            </a:r>
            <a:r>
              <a:rPr sz="2400" spc="-5" dirty="0">
                <a:solidFill>
                  <a:srgbClr val="FFFFFF"/>
                </a:solidFill>
                <a:latin typeface="Times New Roman"/>
                <a:cs typeface="Times New Roman"/>
              </a:rPr>
              <a:t>and improve the efficiency and </a:t>
            </a:r>
            <a:r>
              <a:rPr sz="2400" dirty="0">
                <a:solidFill>
                  <a:srgbClr val="FFFFFF"/>
                </a:solidFill>
                <a:latin typeface="Times New Roman"/>
                <a:cs typeface="Times New Roman"/>
              </a:rPr>
              <a:t> </a:t>
            </a:r>
            <a:r>
              <a:rPr sz="2400" spc="-5" dirty="0">
                <a:solidFill>
                  <a:srgbClr val="FFFFFF"/>
                </a:solidFill>
                <a:latin typeface="Times New Roman"/>
                <a:cs typeface="Times New Roman"/>
              </a:rPr>
              <a:t>effectiveness </a:t>
            </a:r>
            <a:r>
              <a:rPr sz="2400" dirty="0">
                <a:solidFill>
                  <a:srgbClr val="FFFFFF"/>
                </a:solidFill>
                <a:latin typeface="Times New Roman"/>
                <a:cs typeface="Times New Roman"/>
              </a:rPr>
              <a:t>of business processes, </a:t>
            </a:r>
            <a:r>
              <a:rPr sz="2400" spc="-5" dirty="0">
                <a:solidFill>
                  <a:srgbClr val="FFFFFF"/>
                </a:solidFill>
                <a:latin typeface="Times New Roman"/>
                <a:cs typeface="Times New Roman"/>
              </a:rPr>
              <a:t>and </a:t>
            </a:r>
            <a:r>
              <a:rPr sz="2400" dirty="0">
                <a:solidFill>
                  <a:srgbClr val="FFFFFF"/>
                </a:solidFill>
                <a:latin typeface="Times New Roman"/>
                <a:cs typeface="Times New Roman"/>
              </a:rPr>
              <a:t>develop </a:t>
            </a:r>
            <a:r>
              <a:rPr sz="2400" spc="-5" dirty="0">
                <a:solidFill>
                  <a:srgbClr val="FFFFFF"/>
                </a:solidFill>
                <a:latin typeface="Times New Roman"/>
                <a:cs typeface="Times New Roman"/>
              </a:rPr>
              <a:t>strategic </a:t>
            </a:r>
            <a:r>
              <a:rPr sz="2400" dirty="0">
                <a:solidFill>
                  <a:srgbClr val="FFFFFF"/>
                </a:solidFill>
                <a:latin typeface="Times New Roman"/>
                <a:cs typeface="Times New Roman"/>
              </a:rPr>
              <a:t>relationships </a:t>
            </a:r>
            <a:r>
              <a:rPr sz="2400" spc="-5" dirty="0">
                <a:solidFill>
                  <a:srgbClr val="FFFFFF"/>
                </a:solidFill>
                <a:latin typeface="Times New Roman"/>
                <a:cs typeface="Times New Roman"/>
              </a:rPr>
              <a:t>with </a:t>
            </a:r>
            <a:r>
              <a:rPr sz="2400" dirty="0">
                <a:solidFill>
                  <a:srgbClr val="FFFFFF"/>
                </a:solidFill>
                <a:latin typeface="Times New Roman"/>
                <a:cs typeface="Times New Roman"/>
              </a:rPr>
              <a:t> </a:t>
            </a:r>
            <a:r>
              <a:rPr sz="2400" spc="-5" dirty="0">
                <a:solidFill>
                  <a:srgbClr val="FFFFFF"/>
                </a:solidFill>
                <a:latin typeface="Times New Roman"/>
                <a:cs typeface="Times New Roman"/>
              </a:rPr>
              <a:t>customers,</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suppliers, and </a:t>
            </a:r>
            <a:r>
              <a:rPr sz="2400" dirty="0">
                <a:solidFill>
                  <a:srgbClr val="FFFFFF"/>
                </a:solidFill>
                <a:latin typeface="Times New Roman"/>
                <a:cs typeface="Times New Roman"/>
              </a:rPr>
              <a:t>business</a:t>
            </a:r>
            <a:r>
              <a:rPr sz="2400" spc="-5" dirty="0">
                <a:solidFill>
                  <a:srgbClr val="FFFFFF"/>
                </a:solidFill>
                <a:latin typeface="Times New Roman"/>
                <a:cs typeface="Times New Roman"/>
              </a:rPr>
              <a:t> </a:t>
            </a:r>
            <a:r>
              <a:rPr sz="2400" dirty="0">
                <a:solidFill>
                  <a:srgbClr val="FFFFFF"/>
                </a:solidFill>
                <a:latin typeface="Times New Roman"/>
                <a:cs typeface="Times New Roman"/>
              </a:rPr>
              <a:t>partners.</a:t>
            </a:r>
            <a:endParaRPr sz="2400">
              <a:latin typeface="Times New Roman"/>
              <a:cs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9500235" cy="574040"/>
          </a:xfrm>
          <a:prstGeom prst="rect">
            <a:avLst/>
          </a:prstGeom>
        </p:spPr>
        <p:txBody>
          <a:bodyPr vert="horz" wrap="square" lIns="0" tIns="12700" rIns="0" bIns="0" rtlCol="0">
            <a:spAutoFit/>
          </a:bodyPr>
          <a:lstStyle/>
          <a:p>
            <a:pPr marL="12700">
              <a:lnSpc>
                <a:spcPct val="100000"/>
              </a:lnSpc>
              <a:spcBef>
                <a:spcPts val="100"/>
              </a:spcBef>
            </a:pPr>
            <a:r>
              <a:rPr spc="-10" dirty="0"/>
              <a:t>CROSS</a:t>
            </a:r>
            <a:r>
              <a:rPr spc="-35" dirty="0"/>
              <a:t> </a:t>
            </a:r>
            <a:r>
              <a:rPr spc="-5" dirty="0"/>
              <a:t>FUNCTIONAL</a:t>
            </a:r>
            <a:r>
              <a:rPr spc="-30" dirty="0"/>
              <a:t> </a:t>
            </a:r>
            <a:r>
              <a:rPr spc="-10" dirty="0"/>
              <a:t>ENTERPRISE</a:t>
            </a:r>
            <a:r>
              <a:rPr spc="-30" dirty="0"/>
              <a:t> </a:t>
            </a:r>
            <a:r>
              <a:rPr spc="-5" dirty="0"/>
              <a:t>SYSTEMS</a:t>
            </a:r>
          </a:p>
        </p:txBody>
      </p:sp>
      <p:sp>
        <p:nvSpPr>
          <p:cNvPr id="3" name="object 3"/>
          <p:cNvSpPr txBox="1"/>
          <p:nvPr/>
        </p:nvSpPr>
        <p:spPr>
          <a:xfrm>
            <a:off x="1271549" y="2271839"/>
            <a:ext cx="9683115" cy="4395470"/>
          </a:xfrm>
          <a:prstGeom prst="rect">
            <a:avLst/>
          </a:prstGeom>
        </p:spPr>
        <p:txBody>
          <a:bodyPr vert="horz" wrap="square" lIns="0" tIns="0" rIns="0" bIns="0" rtlCol="0">
            <a:spAutoFit/>
          </a:bodyPr>
          <a:lstStyle/>
          <a:p>
            <a:pPr marL="184150" indent="-172085">
              <a:lnSpc>
                <a:spcPct val="100000"/>
              </a:lnSpc>
              <a:buSzPct val="125000"/>
              <a:buFont typeface="Arial MT"/>
              <a:buChar char="•"/>
              <a:tabLst>
                <a:tab pos="184785" algn="l"/>
                <a:tab pos="2348865" algn="l"/>
                <a:tab pos="3688079" algn="l"/>
                <a:tab pos="4795520" algn="l"/>
                <a:tab pos="5513705" algn="l"/>
                <a:tab pos="5892800" algn="l"/>
                <a:tab pos="7084059" algn="l"/>
                <a:tab pos="8693785" algn="l"/>
                <a:tab pos="9291955" algn="l"/>
              </a:tabLst>
            </a:pPr>
            <a:r>
              <a:rPr sz="2400" spc="-5" dirty="0">
                <a:solidFill>
                  <a:srgbClr val="FFFFFF"/>
                </a:solidFill>
                <a:latin typeface="Times New Roman"/>
                <a:cs typeface="Times New Roman"/>
              </a:rPr>
              <a:t>Cross-functional	enterprise	systems	</a:t>
            </a:r>
            <a:r>
              <a:rPr sz="2400" dirty="0">
                <a:solidFill>
                  <a:srgbClr val="FFFFFF"/>
                </a:solidFill>
                <a:latin typeface="Times New Roman"/>
                <a:cs typeface="Times New Roman"/>
              </a:rPr>
              <a:t>refer	</a:t>
            </a:r>
            <a:r>
              <a:rPr sz="2400" spc="-5" dirty="0">
                <a:solidFill>
                  <a:srgbClr val="FFFFFF"/>
                </a:solidFill>
                <a:latin typeface="Times New Roman"/>
                <a:cs typeface="Times New Roman"/>
              </a:rPr>
              <a:t>to	software	applications	that	are</a:t>
            </a:r>
            <a:endParaRPr sz="2400" dirty="0">
              <a:latin typeface="Times New Roman"/>
              <a:cs typeface="Times New Roman"/>
            </a:endParaRPr>
          </a:p>
          <a:p>
            <a:pPr marL="184150" marR="12065">
              <a:lnSpc>
                <a:spcPct val="110000"/>
              </a:lnSpc>
              <a:spcBef>
                <a:spcPts val="100"/>
              </a:spcBef>
              <a:tabLst>
                <a:tab pos="1412240" algn="l"/>
                <a:tab pos="1793239" algn="l"/>
                <a:tab pos="2852420" algn="l"/>
                <a:tab pos="4674235" algn="l"/>
                <a:tab pos="6353810" algn="l"/>
                <a:tab pos="6937375" algn="l"/>
                <a:tab pos="8515985" algn="l"/>
              </a:tabLst>
            </a:pPr>
            <a:r>
              <a:rPr sz="2400" dirty="0">
                <a:solidFill>
                  <a:srgbClr val="FFFFFF"/>
                </a:solidFill>
                <a:latin typeface="Times New Roman"/>
                <a:cs typeface="Times New Roman"/>
              </a:rPr>
              <a:t>designed	</a:t>
            </a:r>
            <a:r>
              <a:rPr sz="2400" spc="-5" dirty="0">
                <a:solidFill>
                  <a:srgbClr val="FFFFFF"/>
                </a:solidFill>
                <a:latin typeface="Times New Roman"/>
                <a:cs typeface="Times New Roman"/>
              </a:rPr>
              <a:t>t</a:t>
            </a:r>
            <a:r>
              <a:rPr sz="2400" dirty="0">
                <a:solidFill>
                  <a:srgbClr val="FFFFFF"/>
                </a:solidFill>
                <a:latin typeface="Times New Roman"/>
                <a:cs typeface="Times New Roman"/>
              </a:rPr>
              <a:t>o	</a:t>
            </a:r>
            <a:r>
              <a:rPr sz="2400" spc="-5" dirty="0">
                <a:solidFill>
                  <a:srgbClr val="FFFFFF"/>
                </a:solidFill>
                <a:latin typeface="Times New Roman"/>
                <a:cs typeface="Times New Roman"/>
              </a:rPr>
              <a:t>suppor</a:t>
            </a:r>
            <a:r>
              <a:rPr sz="2400" dirty="0">
                <a:solidFill>
                  <a:srgbClr val="FFFFFF"/>
                </a:solidFill>
                <a:latin typeface="Times New Roman"/>
                <a:cs typeface="Times New Roman"/>
              </a:rPr>
              <a:t>t	</a:t>
            </a:r>
            <a:r>
              <a:rPr sz="2400" spc="-5" dirty="0">
                <a:solidFill>
                  <a:srgbClr val="FFFFFF"/>
                </a:solidFill>
                <a:latin typeface="Times New Roman"/>
                <a:cs typeface="Times New Roman"/>
              </a:rPr>
              <a:t>collaboration</a:t>
            </a:r>
            <a:r>
              <a:rPr sz="2400" dirty="0">
                <a:solidFill>
                  <a:srgbClr val="FFFFFF"/>
                </a:solidFill>
                <a:latin typeface="Times New Roman"/>
                <a:cs typeface="Times New Roman"/>
              </a:rPr>
              <a:t>,	</a:t>
            </a:r>
            <a:r>
              <a:rPr sz="2400" spc="-5" dirty="0">
                <a:solidFill>
                  <a:srgbClr val="FFFFFF"/>
                </a:solidFill>
                <a:latin typeface="Times New Roman"/>
                <a:cs typeface="Times New Roman"/>
              </a:rPr>
              <a:t>coordinatio</a:t>
            </a:r>
            <a:r>
              <a:rPr sz="2400" dirty="0">
                <a:solidFill>
                  <a:srgbClr val="FFFFFF"/>
                </a:solidFill>
                <a:latin typeface="Times New Roman"/>
                <a:cs typeface="Times New Roman"/>
              </a:rPr>
              <a:t>n	</a:t>
            </a:r>
            <a:r>
              <a:rPr sz="2400" spc="-5" dirty="0">
                <a:solidFill>
                  <a:srgbClr val="FFFFFF"/>
                </a:solidFill>
                <a:latin typeface="Times New Roman"/>
                <a:cs typeface="Times New Roman"/>
              </a:rPr>
              <a:t>an</a:t>
            </a:r>
            <a:r>
              <a:rPr sz="2400" dirty="0">
                <a:solidFill>
                  <a:srgbClr val="FFFFFF"/>
                </a:solidFill>
                <a:latin typeface="Times New Roman"/>
                <a:cs typeface="Times New Roman"/>
              </a:rPr>
              <a:t>d	</a:t>
            </a:r>
            <a:r>
              <a:rPr sz="2400" spc="-5" dirty="0">
                <a:solidFill>
                  <a:srgbClr val="FFFFFF"/>
                </a:solidFill>
                <a:latin typeface="Times New Roman"/>
                <a:cs typeface="Times New Roman"/>
              </a:rPr>
              <a:t>informatio</a:t>
            </a:r>
            <a:r>
              <a:rPr sz="2400" dirty="0">
                <a:solidFill>
                  <a:srgbClr val="FFFFFF"/>
                </a:solidFill>
                <a:latin typeface="Times New Roman"/>
                <a:cs typeface="Times New Roman"/>
              </a:rPr>
              <a:t>n	</a:t>
            </a:r>
            <a:r>
              <a:rPr sz="2400" spc="-5" dirty="0">
                <a:solidFill>
                  <a:srgbClr val="FFFFFF"/>
                </a:solidFill>
                <a:latin typeface="Times New Roman"/>
                <a:cs typeface="Times New Roman"/>
              </a:rPr>
              <a:t>exchange  </a:t>
            </a:r>
            <a:r>
              <a:rPr sz="2400" dirty="0">
                <a:solidFill>
                  <a:srgbClr val="FFFFFF"/>
                </a:solidFill>
                <a:latin typeface="Times New Roman"/>
                <a:cs typeface="Times New Roman"/>
              </a:rPr>
              <a:t>between</a:t>
            </a:r>
            <a:r>
              <a:rPr sz="2400" spc="-5" dirty="0">
                <a:solidFill>
                  <a:srgbClr val="FFFFFF"/>
                </a:solidFill>
                <a:latin typeface="Times New Roman"/>
                <a:cs typeface="Times New Roman"/>
              </a:rPr>
              <a:t> multiple </a:t>
            </a:r>
            <a:r>
              <a:rPr sz="2400" dirty="0">
                <a:solidFill>
                  <a:srgbClr val="FFFFFF"/>
                </a:solidFill>
                <a:latin typeface="Times New Roman"/>
                <a:cs typeface="Times New Roman"/>
              </a:rPr>
              <a:t>departments</a:t>
            </a:r>
            <a:r>
              <a:rPr sz="2400" spc="-5" dirty="0">
                <a:solidFill>
                  <a:srgbClr val="FFFFFF"/>
                </a:solidFill>
                <a:latin typeface="Times New Roman"/>
                <a:cs typeface="Times New Roman"/>
              </a:rPr>
              <a:t> with an </a:t>
            </a:r>
            <a:r>
              <a:rPr sz="2400" dirty="0">
                <a:solidFill>
                  <a:srgbClr val="FFFFFF"/>
                </a:solidFill>
                <a:latin typeface="Times New Roman"/>
                <a:cs typeface="Times New Roman"/>
              </a:rPr>
              <a:t>organization.</a:t>
            </a:r>
            <a:endParaRPr sz="2400" dirty="0">
              <a:latin typeface="Times New Roman"/>
              <a:cs typeface="Times New Roman"/>
            </a:endParaRPr>
          </a:p>
          <a:p>
            <a:pPr marL="184150" marR="5080" indent="-172085">
              <a:lnSpc>
                <a:spcPct val="110700"/>
              </a:lnSpc>
              <a:spcBef>
                <a:spcPts val="875"/>
              </a:spcBef>
              <a:buSzPct val="125000"/>
              <a:buFont typeface="Arial MT"/>
              <a:buChar char="•"/>
              <a:tabLst>
                <a:tab pos="184785" algn="l"/>
              </a:tabLst>
            </a:pPr>
            <a:r>
              <a:rPr sz="2400" spc="-5" dirty="0">
                <a:solidFill>
                  <a:srgbClr val="FFFFFF"/>
                </a:solidFill>
                <a:latin typeface="Times New Roman"/>
                <a:cs typeface="Times New Roman"/>
              </a:rPr>
              <a:t>These</a:t>
            </a:r>
            <a:r>
              <a:rPr sz="2400" dirty="0">
                <a:solidFill>
                  <a:srgbClr val="FFFFFF"/>
                </a:solidFill>
                <a:latin typeface="Times New Roman"/>
                <a:cs typeface="Times New Roman"/>
              </a:rPr>
              <a:t> </a:t>
            </a:r>
            <a:r>
              <a:rPr sz="2400" spc="-5" dirty="0">
                <a:solidFill>
                  <a:srgbClr val="FFFFFF"/>
                </a:solidFill>
                <a:latin typeface="Times New Roman"/>
                <a:cs typeface="Times New Roman"/>
              </a:rPr>
              <a:t>systems</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can</a:t>
            </a:r>
            <a:r>
              <a:rPr sz="2400" spc="5" dirty="0">
                <a:solidFill>
                  <a:srgbClr val="FFFFFF"/>
                </a:solidFill>
                <a:latin typeface="Times New Roman"/>
                <a:cs typeface="Times New Roman"/>
              </a:rPr>
              <a:t> </a:t>
            </a:r>
            <a:r>
              <a:rPr sz="2400" dirty="0">
                <a:solidFill>
                  <a:srgbClr val="FFFFFF"/>
                </a:solidFill>
                <a:latin typeface="Times New Roman"/>
                <a:cs typeface="Times New Roman"/>
              </a:rPr>
              <a:t>be</a:t>
            </a:r>
            <a:r>
              <a:rPr sz="2400" spc="10" dirty="0">
                <a:solidFill>
                  <a:srgbClr val="FFFFFF"/>
                </a:solidFill>
                <a:latin typeface="Times New Roman"/>
                <a:cs typeface="Times New Roman"/>
              </a:rPr>
              <a:t> </a:t>
            </a:r>
            <a:r>
              <a:rPr sz="2400" dirty="0">
                <a:solidFill>
                  <a:srgbClr val="FFFFFF"/>
                </a:solidFill>
                <a:latin typeface="Times New Roman"/>
                <a:cs typeface="Times New Roman"/>
              </a:rPr>
              <a:t>used</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to</a:t>
            </a:r>
            <a:r>
              <a:rPr sz="2400" spc="5" dirty="0">
                <a:solidFill>
                  <a:srgbClr val="FFFFFF"/>
                </a:solidFill>
                <a:latin typeface="Times New Roman"/>
                <a:cs typeface="Times New Roman"/>
              </a:rPr>
              <a:t> </a:t>
            </a:r>
            <a:r>
              <a:rPr sz="2400" spc="-5" dirty="0">
                <a:solidFill>
                  <a:srgbClr val="FFFFFF"/>
                </a:solidFill>
                <a:latin typeface="Times New Roman"/>
                <a:cs typeface="Times New Roman"/>
              </a:rPr>
              <a:t>automate</a:t>
            </a:r>
            <a:r>
              <a:rPr sz="2400" spc="5" dirty="0">
                <a:solidFill>
                  <a:srgbClr val="FFFFFF"/>
                </a:solidFill>
                <a:latin typeface="Times New Roman"/>
                <a:cs typeface="Times New Roman"/>
              </a:rPr>
              <a:t> </a:t>
            </a:r>
            <a:r>
              <a:rPr sz="2400" spc="-5" dirty="0">
                <a:solidFill>
                  <a:srgbClr val="FFFFFF"/>
                </a:solidFill>
                <a:latin typeface="Times New Roman"/>
                <a:cs typeface="Times New Roman"/>
              </a:rPr>
              <a:t>and</a:t>
            </a:r>
            <a:r>
              <a:rPr sz="2400" spc="5" dirty="0">
                <a:solidFill>
                  <a:srgbClr val="FFFFFF"/>
                </a:solidFill>
                <a:latin typeface="Times New Roman"/>
                <a:cs typeface="Times New Roman"/>
              </a:rPr>
              <a:t> </a:t>
            </a:r>
            <a:r>
              <a:rPr sz="2400" spc="-5" dirty="0">
                <a:solidFill>
                  <a:srgbClr val="FFFFFF"/>
                </a:solidFill>
                <a:latin typeface="Times New Roman"/>
                <a:cs typeface="Times New Roman"/>
              </a:rPr>
              <a:t>streamline</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work</a:t>
            </a:r>
            <a:r>
              <a:rPr sz="2400" spc="10" dirty="0">
                <a:solidFill>
                  <a:srgbClr val="FFFFFF"/>
                </a:solidFill>
                <a:latin typeface="Times New Roman"/>
                <a:cs typeface="Times New Roman"/>
              </a:rPr>
              <a:t> </a:t>
            </a:r>
            <a:r>
              <a:rPr sz="2400" dirty="0">
                <a:solidFill>
                  <a:srgbClr val="FFFFFF"/>
                </a:solidFill>
                <a:latin typeface="Times New Roman"/>
                <a:cs typeface="Times New Roman"/>
              </a:rPr>
              <a:t>process,</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increase </a:t>
            </a:r>
            <a:r>
              <a:rPr sz="2400" spc="-585" dirty="0">
                <a:solidFill>
                  <a:srgbClr val="FFFFFF"/>
                </a:solidFill>
                <a:latin typeface="Times New Roman"/>
                <a:cs typeface="Times New Roman"/>
              </a:rPr>
              <a:t> </a:t>
            </a:r>
            <a:r>
              <a:rPr sz="2400" dirty="0">
                <a:solidFill>
                  <a:srgbClr val="FFFFFF"/>
                </a:solidFill>
                <a:latin typeface="Times New Roman"/>
                <a:cs typeface="Times New Roman"/>
              </a:rPr>
              <a:t>operational</a:t>
            </a:r>
            <a:r>
              <a:rPr sz="2400" spc="-5" dirty="0">
                <a:solidFill>
                  <a:srgbClr val="FFFFFF"/>
                </a:solidFill>
                <a:latin typeface="Times New Roman"/>
                <a:cs typeface="Times New Roman"/>
              </a:rPr>
              <a:t> efficiency and</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improve </a:t>
            </a:r>
            <a:r>
              <a:rPr sz="2400" dirty="0">
                <a:solidFill>
                  <a:srgbClr val="FFFFFF"/>
                </a:solidFill>
                <a:latin typeface="Times New Roman"/>
                <a:cs typeface="Times New Roman"/>
              </a:rPr>
              <a:t>decision </a:t>
            </a:r>
            <a:r>
              <a:rPr sz="2400" spc="-5" dirty="0">
                <a:solidFill>
                  <a:srgbClr val="FFFFFF"/>
                </a:solidFill>
                <a:latin typeface="Times New Roman"/>
                <a:cs typeface="Times New Roman"/>
              </a:rPr>
              <a:t>making.</a:t>
            </a:r>
            <a:endParaRPr sz="2400" dirty="0">
              <a:latin typeface="Times New Roman"/>
              <a:cs typeface="Times New Roman"/>
            </a:endParaRPr>
          </a:p>
          <a:p>
            <a:pPr marL="184150" indent="-172085">
              <a:lnSpc>
                <a:spcPct val="100000"/>
              </a:lnSpc>
              <a:spcBef>
                <a:spcPts val="1265"/>
              </a:spcBef>
              <a:buSzPct val="125000"/>
              <a:buFont typeface="Arial MT"/>
              <a:buChar char="•"/>
              <a:tabLst>
                <a:tab pos="184785" algn="l"/>
              </a:tabLst>
            </a:pPr>
            <a:r>
              <a:rPr sz="2400" spc="-5" dirty="0">
                <a:solidFill>
                  <a:srgbClr val="FFFFFF"/>
                </a:solidFill>
                <a:latin typeface="Times New Roman"/>
                <a:cs typeface="Times New Roman"/>
              </a:rPr>
              <a:t>Examples:</a:t>
            </a:r>
            <a:endParaRPr sz="2400" dirty="0">
              <a:latin typeface="Times New Roman"/>
              <a:cs typeface="Times New Roman"/>
            </a:endParaRPr>
          </a:p>
          <a:p>
            <a:pPr marL="641350" lvl="1" indent="-181610">
              <a:lnSpc>
                <a:spcPct val="100000"/>
              </a:lnSpc>
              <a:spcBef>
                <a:spcPts val="1380"/>
              </a:spcBef>
              <a:buSzPct val="125000"/>
              <a:buFont typeface="Arial MT"/>
              <a:buChar char="•"/>
              <a:tabLst>
                <a:tab pos="641985" algn="l"/>
              </a:tabLst>
            </a:pPr>
            <a:r>
              <a:rPr sz="2000" spc="-5" dirty="0">
                <a:solidFill>
                  <a:srgbClr val="FFFFFF"/>
                </a:solidFill>
                <a:latin typeface="Times New Roman"/>
                <a:cs typeface="Times New Roman"/>
              </a:rPr>
              <a:t>ERP</a:t>
            </a:r>
            <a:endParaRPr sz="2000" dirty="0">
              <a:latin typeface="Times New Roman"/>
              <a:cs typeface="Times New Roman"/>
            </a:endParaRPr>
          </a:p>
          <a:p>
            <a:pPr marL="641350" lvl="1" indent="-181610">
              <a:lnSpc>
                <a:spcPct val="100000"/>
              </a:lnSpc>
              <a:spcBef>
                <a:spcPts val="1400"/>
              </a:spcBef>
              <a:buSzPct val="125000"/>
              <a:buFont typeface="Arial MT"/>
              <a:buChar char="•"/>
              <a:tabLst>
                <a:tab pos="641985" algn="l"/>
              </a:tabLst>
            </a:pPr>
            <a:r>
              <a:rPr sz="2000" spc="-5" dirty="0">
                <a:solidFill>
                  <a:srgbClr val="FFFFFF"/>
                </a:solidFill>
                <a:latin typeface="Times New Roman"/>
                <a:cs typeface="Times New Roman"/>
              </a:rPr>
              <a:t>SCM</a:t>
            </a:r>
            <a:endParaRPr sz="2000" dirty="0">
              <a:latin typeface="Times New Roman"/>
              <a:cs typeface="Times New Roman"/>
            </a:endParaRPr>
          </a:p>
          <a:p>
            <a:pPr marL="641350" lvl="1" indent="-181610">
              <a:lnSpc>
                <a:spcPct val="100000"/>
              </a:lnSpc>
              <a:spcBef>
                <a:spcPts val="1400"/>
              </a:spcBef>
              <a:buSzPct val="125000"/>
              <a:buFont typeface="Arial MT"/>
              <a:buChar char="•"/>
              <a:tabLst>
                <a:tab pos="641985" algn="l"/>
              </a:tabLst>
            </a:pPr>
            <a:r>
              <a:rPr sz="2000" spc="-5" dirty="0">
                <a:solidFill>
                  <a:srgbClr val="FFFFFF"/>
                </a:solidFill>
                <a:latin typeface="Times New Roman"/>
                <a:cs typeface="Times New Roman"/>
              </a:rPr>
              <a:t>CRM</a:t>
            </a:r>
            <a:endParaRPr sz="2000" dirty="0">
              <a:latin typeface="Times New Roman"/>
              <a:cs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4295" rIns="0" bIns="0" rtlCol="0">
            <a:spAutoFit/>
          </a:bodyPr>
          <a:lstStyle/>
          <a:p>
            <a:pPr marL="12700" marR="5080">
              <a:lnSpc>
                <a:spcPts val="3890"/>
              </a:lnSpc>
              <a:spcBef>
                <a:spcPts val="585"/>
              </a:spcBef>
            </a:pPr>
            <a:r>
              <a:rPr spc="-10" dirty="0"/>
              <a:t>CROSS </a:t>
            </a:r>
            <a:r>
              <a:rPr spc="-5" dirty="0"/>
              <a:t>FUNCTIONAL </a:t>
            </a:r>
            <a:r>
              <a:rPr spc="-10" dirty="0"/>
              <a:t>ENTERPRISE </a:t>
            </a:r>
            <a:r>
              <a:rPr spc="-5" dirty="0"/>
              <a:t>SYSTEMS </a:t>
            </a:r>
            <a:r>
              <a:rPr spc="-885" dirty="0"/>
              <a:t> </a:t>
            </a:r>
            <a:r>
              <a:rPr spc="-5" dirty="0"/>
              <a:t>COMPONENTS</a:t>
            </a:r>
          </a:p>
        </p:txBody>
      </p:sp>
      <p:pic>
        <p:nvPicPr>
          <p:cNvPr id="3" name="object 3"/>
          <p:cNvPicPr/>
          <p:nvPr/>
        </p:nvPicPr>
        <p:blipFill>
          <a:blip r:embed="rId2" cstate="print"/>
          <a:stretch>
            <a:fillRect/>
          </a:stretch>
        </p:blipFill>
        <p:spPr>
          <a:xfrm>
            <a:off x="0" y="2454442"/>
            <a:ext cx="12191999" cy="378503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4295" rIns="0" bIns="0" rtlCol="0">
            <a:spAutoFit/>
          </a:bodyPr>
          <a:lstStyle/>
          <a:p>
            <a:pPr marL="12700" marR="5080">
              <a:lnSpc>
                <a:spcPts val="3890"/>
              </a:lnSpc>
              <a:spcBef>
                <a:spcPts val="585"/>
              </a:spcBef>
            </a:pPr>
            <a:r>
              <a:rPr spc="-10" dirty="0"/>
              <a:t>CROSS </a:t>
            </a:r>
            <a:r>
              <a:rPr spc="-5" dirty="0"/>
              <a:t>FUNCTIONAL </a:t>
            </a:r>
            <a:r>
              <a:rPr spc="-10" dirty="0"/>
              <a:t>ENTERPRISE </a:t>
            </a:r>
            <a:r>
              <a:rPr spc="-5" dirty="0"/>
              <a:t>SYSTEMS </a:t>
            </a:r>
            <a:r>
              <a:rPr spc="-885" dirty="0"/>
              <a:t> </a:t>
            </a:r>
            <a:r>
              <a:rPr spc="-5" dirty="0"/>
              <a:t>COMPONENTS</a:t>
            </a:r>
          </a:p>
        </p:txBody>
      </p:sp>
      <p:pic>
        <p:nvPicPr>
          <p:cNvPr id="3" name="object 3"/>
          <p:cNvPicPr/>
          <p:nvPr/>
        </p:nvPicPr>
        <p:blipFill>
          <a:blip r:embed="rId2" cstate="print"/>
          <a:stretch>
            <a:fillRect/>
          </a:stretch>
        </p:blipFill>
        <p:spPr>
          <a:xfrm>
            <a:off x="9883" y="2827421"/>
            <a:ext cx="12182116" cy="327964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427344"/>
            <a:ext cx="12191999" cy="600331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9500235" cy="1120820"/>
          </a:xfrm>
          <a:prstGeom prst="rect">
            <a:avLst/>
          </a:prstGeom>
        </p:spPr>
        <p:txBody>
          <a:bodyPr vert="horz" wrap="square" lIns="0" tIns="12700" rIns="0" bIns="0" rtlCol="0">
            <a:spAutoFit/>
          </a:bodyPr>
          <a:lstStyle/>
          <a:p>
            <a:pPr marL="12700">
              <a:lnSpc>
                <a:spcPct val="100000"/>
              </a:lnSpc>
              <a:spcBef>
                <a:spcPts val="100"/>
              </a:spcBef>
            </a:pPr>
            <a:r>
              <a:rPr lang="en-IN" spc="10" dirty="0"/>
              <a:t>CUSTOMER</a:t>
            </a:r>
            <a:r>
              <a:rPr lang="en-IN" spc="-50" dirty="0"/>
              <a:t> </a:t>
            </a:r>
            <a:r>
              <a:rPr lang="en-IN" spc="5" dirty="0"/>
              <a:t>RELATIONSHIP </a:t>
            </a:r>
            <a:r>
              <a:rPr lang="en-IN" spc="-925" dirty="0"/>
              <a:t> </a:t>
            </a:r>
            <a:r>
              <a:rPr lang="en-IN" spc="15" dirty="0"/>
              <a:t>MANAGEMENT</a:t>
            </a:r>
            <a:r>
              <a:rPr lang="en-IN" spc="-10" dirty="0"/>
              <a:t> </a:t>
            </a:r>
            <a:r>
              <a:rPr lang="en-IN" spc="10" dirty="0"/>
              <a:t>SYSTEMS</a:t>
            </a:r>
            <a:endParaRPr spc="-5" dirty="0"/>
          </a:p>
        </p:txBody>
      </p:sp>
      <p:sp>
        <p:nvSpPr>
          <p:cNvPr id="3" name="object 3"/>
          <p:cNvSpPr txBox="1"/>
          <p:nvPr/>
        </p:nvSpPr>
        <p:spPr>
          <a:xfrm>
            <a:off x="1271549" y="2271839"/>
            <a:ext cx="9683115" cy="4580741"/>
          </a:xfrm>
          <a:prstGeom prst="rect">
            <a:avLst/>
          </a:prstGeom>
        </p:spPr>
        <p:txBody>
          <a:bodyPr vert="horz" wrap="square" lIns="0" tIns="0" rIns="0" bIns="0" rtlCol="0">
            <a:spAutoFit/>
          </a:bodyPr>
          <a:lstStyle/>
          <a:p>
            <a:pPr marL="62865" marR="269875">
              <a:lnSpc>
                <a:spcPct val="100000"/>
              </a:lnSpc>
              <a:spcBef>
                <a:spcPts val="100"/>
              </a:spcBef>
            </a:pPr>
            <a:r>
              <a:rPr lang="en-US" sz="2400" dirty="0">
                <a:solidFill>
                  <a:schemeClr val="bg1"/>
                </a:solidFill>
                <a:latin typeface="Times New Roman"/>
                <a:cs typeface="Times New Roman"/>
              </a:rPr>
              <a:t>Information you need </a:t>
            </a:r>
            <a:r>
              <a:rPr lang="en-US" sz="2400" spc="-5" dirty="0">
                <a:solidFill>
                  <a:schemeClr val="bg1"/>
                </a:solidFill>
                <a:latin typeface="Times New Roman"/>
                <a:cs typeface="Times New Roman"/>
              </a:rPr>
              <a:t>to </a:t>
            </a:r>
            <a:r>
              <a:rPr lang="en-US" sz="2400" dirty="0">
                <a:solidFill>
                  <a:schemeClr val="bg1"/>
                </a:solidFill>
                <a:latin typeface="Times New Roman"/>
                <a:cs typeface="Times New Roman"/>
              </a:rPr>
              <a:t>build </a:t>
            </a:r>
            <a:r>
              <a:rPr lang="en-US" sz="2400" spc="-5" dirty="0">
                <a:solidFill>
                  <a:schemeClr val="bg1"/>
                </a:solidFill>
                <a:latin typeface="Times New Roman"/>
                <a:cs typeface="Times New Roman"/>
              </a:rPr>
              <a:t>and </a:t>
            </a:r>
            <a:r>
              <a:rPr lang="en-US" sz="2400" dirty="0">
                <a:solidFill>
                  <a:schemeClr val="bg1"/>
                </a:solidFill>
                <a:latin typeface="Times New Roman"/>
                <a:cs typeface="Times New Roman"/>
              </a:rPr>
              <a:t>nurture </a:t>
            </a:r>
            <a:r>
              <a:rPr lang="en-US" sz="2400" spc="-5" dirty="0">
                <a:solidFill>
                  <a:schemeClr val="bg1"/>
                </a:solidFill>
                <a:latin typeface="Times New Roman"/>
                <a:cs typeface="Times New Roman"/>
              </a:rPr>
              <a:t>strong, long-lasting </a:t>
            </a:r>
            <a:r>
              <a:rPr lang="en-US" sz="2400" dirty="0">
                <a:solidFill>
                  <a:schemeClr val="bg1"/>
                </a:solidFill>
                <a:latin typeface="Times New Roman"/>
                <a:cs typeface="Times New Roman"/>
              </a:rPr>
              <a:t>relationships </a:t>
            </a:r>
            <a:r>
              <a:rPr lang="en-US" sz="2400" spc="-5" dirty="0">
                <a:solidFill>
                  <a:schemeClr val="bg1"/>
                </a:solidFill>
                <a:latin typeface="Times New Roman"/>
                <a:cs typeface="Times New Roman"/>
              </a:rPr>
              <a:t>with </a:t>
            </a:r>
            <a:r>
              <a:rPr lang="en-US" sz="2400" spc="-490" dirty="0">
                <a:solidFill>
                  <a:schemeClr val="bg1"/>
                </a:solidFill>
                <a:latin typeface="Times New Roman"/>
                <a:cs typeface="Times New Roman"/>
              </a:rPr>
              <a:t> </a:t>
            </a:r>
            <a:r>
              <a:rPr lang="en-US" sz="2400" spc="-5" dirty="0">
                <a:solidFill>
                  <a:schemeClr val="bg1"/>
                </a:solidFill>
                <a:latin typeface="Times New Roman"/>
                <a:cs typeface="Times New Roman"/>
              </a:rPr>
              <a:t>customers:</a:t>
            </a:r>
            <a:endParaRPr lang="en-US" sz="2400" dirty="0">
              <a:solidFill>
                <a:schemeClr val="bg1"/>
              </a:solidFill>
              <a:latin typeface="Times New Roman"/>
              <a:cs typeface="Times New Roman"/>
            </a:endParaRPr>
          </a:p>
          <a:p>
            <a:pPr marL="405765" indent="-393700">
              <a:lnSpc>
                <a:spcPct val="100000"/>
              </a:lnSpc>
              <a:spcBef>
                <a:spcPts val="1000"/>
              </a:spcBef>
              <a:buClr>
                <a:srgbClr val="F4A408"/>
              </a:buClr>
              <a:buSzPct val="80000"/>
              <a:buFont typeface="Segoe UI Symbol"/>
              <a:buChar char="►"/>
              <a:tabLst>
                <a:tab pos="405765" algn="l"/>
                <a:tab pos="406400" algn="l"/>
              </a:tabLst>
            </a:pPr>
            <a:r>
              <a:rPr lang="en-US" sz="2400" spc="-5" dirty="0">
                <a:solidFill>
                  <a:schemeClr val="bg1"/>
                </a:solidFill>
                <a:latin typeface="Times New Roman"/>
                <a:cs typeface="Times New Roman"/>
              </a:rPr>
              <a:t>Exactly</a:t>
            </a:r>
            <a:r>
              <a:rPr lang="en-US" sz="2400" spc="-25" dirty="0">
                <a:solidFill>
                  <a:schemeClr val="bg1"/>
                </a:solidFill>
                <a:latin typeface="Times New Roman"/>
                <a:cs typeface="Times New Roman"/>
              </a:rPr>
              <a:t> </a:t>
            </a:r>
            <a:r>
              <a:rPr lang="en-US" sz="2400" spc="-5" dirty="0">
                <a:solidFill>
                  <a:schemeClr val="bg1"/>
                </a:solidFill>
                <a:latin typeface="Times New Roman"/>
                <a:cs typeface="Times New Roman"/>
              </a:rPr>
              <a:t>who</a:t>
            </a:r>
            <a:r>
              <a:rPr lang="en-US" sz="2400" spc="-20" dirty="0">
                <a:solidFill>
                  <a:schemeClr val="bg1"/>
                </a:solidFill>
                <a:latin typeface="Times New Roman"/>
                <a:cs typeface="Times New Roman"/>
              </a:rPr>
              <a:t> </a:t>
            </a:r>
            <a:r>
              <a:rPr lang="en-US" sz="2400" dirty="0">
                <a:solidFill>
                  <a:schemeClr val="bg1"/>
                </a:solidFill>
                <a:latin typeface="Times New Roman"/>
                <a:cs typeface="Times New Roman"/>
              </a:rPr>
              <a:t>your</a:t>
            </a:r>
            <a:r>
              <a:rPr lang="en-US" sz="2400" spc="-15" dirty="0">
                <a:solidFill>
                  <a:schemeClr val="bg1"/>
                </a:solidFill>
                <a:latin typeface="Times New Roman"/>
                <a:cs typeface="Times New Roman"/>
              </a:rPr>
              <a:t> </a:t>
            </a:r>
            <a:r>
              <a:rPr lang="en-US" sz="2400" spc="-5" dirty="0">
                <a:solidFill>
                  <a:schemeClr val="bg1"/>
                </a:solidFill>
                <a:latin typeface="Times New Roman"/>
                <a:cs typeface="Times New Roman"/>
              </a:rPr>
              <a:t>customers</a:t>
            </a:r>
            <a:r>
              <a:rPr lang="en-US" sz="2400" spc="-20" dirty="0">
                <a:solidFill>
                  <a:schemeClr val="bg1"/>
                </a:solidFill>
                <a:latin typeface="Times New Roman"/>
                <a:cs typeface="Times New Roman"/>
              </a:rPr>
              <a:t> </a:t>
            </a:r>
            <a:r>
              <a:rPr lang="en-US" sz="2400" spc="-5" dirty="0">
                <a:solidFill>
                  <a:schemeClr val="bg1"/>
                </a:solidFill>
                <a:latin typeface="Times New Roman"/>
                <a:cs typeface="Times New Roman"/>
              </a:rPr>
              <a:t>are,</a:t>
            </a:r>
            <a:endParaRPr lang="en-US" sz="2400" dirty="0">
              <a:solidFill>
                <a:schemeClr val="bg1"/>
              </a:solidFill>
              <a:latin typeface="Times New Roman"/>
              <a:cs typeface="Times New Roman"/>
            </a:endParaRPr>
          </a:p>
          <a:p>
            <a:pPr marL="405765" indent="-393700">
              <a:lnSpc>
                <a:spcPct val="100000"/>
              </a:lnSpc>
              <a:spcBef>
                <a:spcPts val="1000"/>
              </a:spcBef>
              <a:buClr>
                <a:srgbClr val="F4A408"/>
              </a:buClr>
              <a:buSzPct val="80000"/>
              <a:buFont typeface="Segoe UI Symbol"/>
              <a:buChar char="►"/>
              <a:tabLst>
                <a:tab pos="405765" algn="l"/>
                <a:tab pos="406400" algn="l"/>
              </a:tabLst>
            </a:pPr>
            <a:r>
              <a:rPr lang="en-US" sz="2400" spc="-5" dirty="0">
                <a:solidFill>
                  <a:schemeClr val="bg1"/>
                </a:solidFill>
                <a:latin typeface="Times New Roman"/>
                <a:cs typeface="Times New Roman"/>
              </a:rPr>
              <a:t>How</a:t>
            </a:r>
            <a:r>
              <a:rPr lang="en-US" sz="2400" spc="-25" dirty="0">
                <a:solidFill>
                  <a:schemeClr val="bg1"/>
                </a:solidFill>
                <a:latin typeface="Times New Roman"/>
                <a:cs typeface="Times New Roman"/>
              </a:rPr>
              <a:t> </a:t>
            </a:r>
            <a:r>
              <a:rPr lang="en-US" sz="2400" spc="-5" dirty="0">
                <a:solidFill>
                  <a:schemeClr val="bg1"/>
                </a:solidFill>
                <a:latin typeface="Times New Roman"/>
                <a:cs typeface="Times New Roman"/>
              </a:rPr>
              <a:t>to</a:t>
            </a:r>
            <a:r>
              <a:rPr lang="en-US" sz="2400" spc="-25" dirty="0">
                <a:solidFill>
                  <a:schemeClr val="bg1"/>
                </a:solidFill>
                <a:latin typeface="Times New Roman"/>
                <a:cs typeface="Times New Roman"/>
              </a:rPr>
              <a:t> </a:t>
            </a:r>
            <a:r>
              <a:rPr lang="en-US" sz="2400" spc="-5" dirty="0">
                <a:solidFill>
                  <a:schemeClr val="bg1"/>
                </a:solidFill>
                <a:latin typeface="Times New Roman"/>
                <a:cs typeface="Times New Roman"/>
              </a:rPr>
              <a:t>contact</a:t>
            </a:r>
            <a:r>
              <a:rPr lang="en-US" sz="2400" spc="-25" dirty="0">
                <a:solidFill>
                  <a:schemeClr val="bg1"/>
                </a:solidFill>
                <a:latin typeface="Times New Roman"/>
                <a:cs typeface="Times New Roman"/>
              </a:rPr>
              <a:t> </a:t>
            </a:r>
            <a:r>
              <a:rPr lang="en-US" sz="2400" spc="-5" dirty="0">
                <a:solidFill>
                  <a:schemeClr val="bg1"/>
                </a:solidFill>
                <a:latin typeface="Times New Roman"/>
                <a:cs typeface="Times New Roman"/>
              </a:rPr>
              <a:t>them,</a:t>
            </a:r>
            <a:endParaRPr lang="en-US" sz="2400" dirty="0">
              <a:solidFill>
                <a:schemeClr val="bg1"/>
              </a:solidFill>
              <a:latin typeface="Times New Roman"/>
              <a:cs typeface="Times New Roman"/>
            </a:endParaRPr>
          </a:p>
          <a:p>
            <a:pPr marL="405765" indent="-393700">
              <a:lnSpc>
                <a:spcPct val="100000"/>
              </a:lnSpc>
              <a:spcBef>
                <a:spcPts val="1000"/>
              </a:spcBef>
              <a:buClr>
                <a:srgbClr val="F4A408"/>
              </a:buClr>
              <a:buSzPct val="80000"/>
              <a:buFont typeface="Segoe UI Symbol"/>
              <a:buChar char="►"/>
              <a:tabLst>
                <a:tab pos="405765" algn="l"/>
                <a:tab pos="406400" algn="l"/>
              </a:tabLst>
            </a:pPr>
            <a:r>
              <a:rPr lang="en-US" sz="2400" spc="-5" dirty="0">
                <a:solidFill>
                  <a:schemeClr val="bg1"/>
                </a:solidFill>
                <a:latin typeface="Times New Roman"/>
                <a:cs typeface="Times New Roman"/>
              </a:rPr>
              <a:t>What</a:t>
            </a:r>
            <a:r>
              <a:rPr lang="en-US" sz="2400" spc="-15" dirty="0">
                <a:solidFill>
                  <a:schemeClr val="bg1"/>
                </a:solidFill>
                <a:latin typeface="Times New Roman"/>
                <a:cs typeface="Times New Roman"/>
              </a:rPr>
              <a:t> </a:t>
            </a:r>
            <a:r>
              <a:rPr lang="en-US" sz="2400" dirty="0">
                <a:solidFill>
                  <a:schemeClr val="bg1"/>
                </a:solidFill>
                <a:latin typeface="Times New Roman"/>
                <a:cs typeface="Times New Roman"/>
              </a:rPr>
              <a:t>kinds</a:t>
            </a:r>
            <a:r>
              <a:rPr lang="en-US" sz="2400" spc="-5" dirty="0">
                <a:solidFill>
                  <a:schemeClr val="bg1"/>
                </a:solidFill>
                <a:latin typeface="Times New Roman"/>
                <a:cs typeface="Times New Roman"/>
              </a:rPr>
              <a:t> </a:t>
            </a:r>
            <a:r>
              <a:rPr lang="en-US" sz="2400" dirty="0">
                <a:solidFill>
                  <a:schemeClr val="bg1"/>
                </a:solidFill>
                <a:latin typeface="Times New Roman"/>
                <a:cs typeface="Times New Roman"/>
              </a:rPr>
              <a:t>of</a:t>
            </a:r>
            <a:r>
              <a:rPr lang="en-US" sz="2400" spc="-5" dirty="0">
                <a:solidFill>
                  <a:schemeClr val="bg1"/>
                </a:solidFill>
                <a:latin typeface="Times New Roman"/>
                <a:cs typeface="Times New Roman"/>
              </a:rPr>
              <a:t> </a:t>
            </a:r>
            <a:r>
              <a:rPr lang="en-US" sz="2400" dirty="0">
                <a:solidFill>
                  <a:schemeClr val="bg1"/>
                </a:solidFill>
                <a:latin typeface="Times New Roman"/>
                <a:cs typeface="Times New Roman"/>
              </a:rPr>
              <a:t>products</a:t>
            </a:r>
            <a:r>
              <a:rPr lang="en-US" sz="2400" spc="-5" dirty="0">
                <a:solidFill>
                  <a:schemeClr val="bg1"/>
                </a:solidFill>
                <a:latin typeface="Times New Roman"/>
                <a:cs typeface="Times New Roman"/>
              </a:rPr>
              <a:t> and</a:t>
            </a:r>
            <a:r>
              <a:rPr lang="en-US" sz="2400" spc="-10" dirty="0">
                <a:solidFill>
                  <a:schemeClr val="bg1"/>
                </a:solidFill>
                <a:latin typeface="Times New Roman"/>
                <a:cs typeface="Times New Roman"/>
              </a:rPr>
              <a:t> </a:t>
            </a:r>
            <a:r>
              <a:rPr lang="en-US" sz="2400" spc="-5" dirty="0">
                <a:solidFill>
                  <a:schemeClr val="bg1"/>
                </a:solidFill>
                <a:latin typeface="Times New Roman"/>
                <a:cs typeface="Times New Roman"/>
              </a:rPr>
              <a:t>services</a:t>
            </a:r>
            <a:r>
              <a:rPr lang="en-US" sz="2400" spc="-10" dirty="0">
                <a:solidFill>
                  <a:schemeClr val="bg1"/>
                </a:solidFill>
                <a:latin typeface="Times New Roman"/>
                <a:cs typeface="Times New Roman"/>
              </a:rPr>
              <a:t> </a:t>
            </a:r>
            <a:r>
              <a:rPr lang="en-US" sz="2400" spc="-5" dirty="0">
                <a:solidFill>
                  <a:schemeClr val="bg1"/>
                </a:solidFill>
                <a:latin typeface="Times New Roman"/>
                <a:cs typeface="Times New Roman"/>
              </a:rPr>
              <a:t>they</a:t>
            </a:r>
            <a:r>
              <a:rPr lang="en-US" sz="2400" spc="-15" dirty="0">
                <a:solidFill>
                  <a:schemeClr val="bg1"/>
                </a:solidFill>
                <a:latin typeface="Times New Roman"/>
                <a:cs typeface="Times New Roman"/>
              </a:rPr>
              <a:t> </a:t>
            </a:r>
            <a:r>
              <a:rPr lang="en-US" sz="2400" spc="-5" dirty="0">
                <a:solidFill>
                  <a:schemeClr val="bg1"/>
                </a:solidFill>
                <a:latin typeface="Times New Roman"/>
                <a:cs typeface="Times New Roman"/>
              </a:rPr>
              <a:t>are</a:t>
            </a:r>
            <a:r>
              <a:rPr lang="en-US" sz="2400" spc="-10" dirty="0">
                <a:solidFill>
                  <a:schemeClr val="bg1"/>
                </a:solidFill>
                <a:latin typeface="Times New Roman"/>
                <a:cs typeface="Times New Roman"/>
              </a:rPr>
              <a:t> </a:t>
            </a:r>
            <a:r>
              <a:rPr lang="en-US" sz="2400" spc="-5" dirty="0">
                <a:solidFill>
                  <a:schemeClr val="bg1"/>
                </a:solidFill>
                <a:latin typeface="Times New Roman"/>
                <a:cs typeface="Times New Roman"/>
              </a:rPr>
              <a:t>interested</a:t>
            </a:r>
            <a:r>
              <a:rPr lang="en-US" sz="2400" spc="-10" dirty="0">
                <a:solidFill>
                  <a:schemeClr val="bg1"/>
                </a:solidFill>
                <a:latin typeface="Times New Roman"/>
                <a:cs typeface="Times New Roman"/>
              </a:rPr>
              <a:t> </a:t>
            </a:r>
            <a:r>
              <a:rPr lang="en-US" sz="2400" spc="-5" dirty="0">
                <a:solidFill>
                  <a:schemeClr val="bg1"/>
                </a:solidFill>
                <a:latin typeface="Times New Roman"/>
                <a:cs typeface="Times New Roman"/>
              </a:rPr>
              <a:t>in,</a:t>
            </a:r>
            <a:r>
              <a:rPr lang="en-US" sz="2400" spc="-10" dirty="0">
                <a:solidFill>
                  <a:schemeClr val="bg1"/>
                </a:solidFill>
                <a:latin typeface="Times New Roman"/>
                <a:cs typeface="Times New Roman"/>
              </a:rPr>
              <a:t> </a:t>
            </a:r>
            <a:r>
              <a:rPr lang="en-US" sz="2400" spc="-5" dirty="0">
                <a:solidFill>
                  <a:schemeClr val="bg1"/>
                </a:solidFill>
                <a:latin typeface="Times New Roman"/>
                <a:cs typeface="Times New Roman"/>
              </a:rPr>
              <a:t>and</a:t>
            </a:r>
            <a:endParaRPr lang="en-US" sz="2400" dirty="0">
              <a:solidFill>
                <a:schemeClr val="bg1"/>
              </a:solidFill>
              <a:latin typeface="Times New Roman"/>
              <a:cs typeface="Times New Roman"/>
            </a:endParaRPr>
          </a:p>
          <a:p>
            <a:pPr marL="405765" indent="-393700">
              <a:lnSpc>
                <a:spcPct val="100000"/>
              </a:lnSpc>
              <a:spcBef>
                <a:spcPts val="1000"/>
              </a:spcBef>
              <a:buClr>
                <a:srgbClr val="F4A408"/>
              </a:buClr>
              <a:buSzPct val="80000"/>
              <a:buFont typeface="Segoe UI Symbol"/>
              <a:buChar char="►"/>
              <a:tabLst>
                <a:tab pos="405765" algn="l"/>
                <a:tab pos="406400" algn="l"/>
              </a:tabLst>
            </a:pPr>
            <a:r>
              <a:rPr lang="en-US" sz="2400" spc="-5" dirty="0">
                <a:solidFill>
                  <a:schemeClr val="bg1"/>
                </a:solidFill>
                <a:latin typeface="Times New Roman"/>
                <a:cs typeface="Times New Roman"/>
              </a:rPr>
              <a:t>How</a:t>
            </a:r>
            <a:r>
              <a:rPr lang="en-US" sz="2400" spc="-15" dirty="0">
                <a:solidFill>
                  <a:schemeClr val="bg1"/>
                </a:solidFill>
                <a:latin typeface="Times New Roman"/>
                <a:cs typeface="Times New Roman"/>
              </a:rPr>
              <a:t> </a:t>
            </a:r>
            <a:r>
              <a:rPr lang="en-US" sz="2400" spc="-5" dirty="0">
                <a:solidFill>
                  <a:schemeClr val="bg1"/>
                </a:solidFill>
                <a:latin typeface="Times New Roman"/>
                <a:cs typeface="Times New Roman"/>
              </a:rPr>
              <a:t>much</a:t>
            </a:r>
            <a:r>
              <a:rPr lang="en-US" sz="2400" spc="-15" dirty="0">
                <a:solidFill>
                  <a:schemeClr val="bg1"/>
                </a:solidFill>
                <a:latin typeface="Times New Roman"/>
                <a:cs typeface="Times New Roman"/>
              </a:rPr>
              <a:t> </a:t>
            </a:r>
            <a:r>
              <a:rPr lang="en-US" sz="2400" spc="-5" dirty="0">
                <a:solidFill>
                  <a:schemeClr val="bg1"/>
                </a:solidFill>
                <a:latin typeface="Times New Roman"/>
                <a:cs typeface="Times New Roman"/>
              </a:rPr>
              <a:t>money</a:t>
            </a:r>
            <a:r>
              <a:rPr lang="en-US" sz="2400" spc="-15" dirty="0">
                <a:solidFill>
                  <a:schemeClr val="bg1"/>
                </a:solidFill>
                <a:latin typeface="Times New Roman"/>
                <a:cs typeface="Times New Roman"/>
              </a:rPr>
              <a:t> </a:t>
            </a:r>
            <a:r>
              <a:rPr lang="en-US" sz="2400" spc="-5" dirty="0">
                <a:solidFill>
                  <a:schemeClr val="bg1"/>
                </a:solidFill>
                <a:latin typeface="Times New Roman"/>
                <a:cs typeface="Times New Roman"/>
              </a:rPr>
              <a:t>they</a:t>
            </a:r>
            <a:r>
              <a:rPr lang="en-US" sz="2400" spc="-15" dirty="0">
                <a:solidFill>
                  <a:schemeClr val="bg1"/>
                </a:solidFill>
                <a:latin typeface="Times New Roman"/>
                <a:cs typeface="Times New Roman"/>
              </a:rPr>
              <a:t> </a:t>
            </a:r>
            <a:r>
              <a:rPr lang="en-US" sz="2400" spc="-5" dirty="0">
                <a:solidFill>
                  <a:schemeClr val="bg1"/>
                </a:solidFill>
                <a:latin typeface="Times New Roman"/>
                <a:cs typeface="Times New Roman"/>
              </a:rPr>
              <a:t>spend</a:t>
            </a:r>
            <a:r>
              <a:rPr lang="en-US" sz="2400" spc="-10" dirty="0">
                <a:solidFill>
                  <a:schemeClr val="bg1"/>
                </a:solidFill>
                <a:latin typeface="Times New Roman"/>
                <a:cs typeface="Times New Roman"/>
              </a:rPr>
              <a:t> </a:t>
            </a:r>
            <a:r>
              <a:rPr lang="en-US" sz="2400" dirty="0">
                <a:solidFill>
                  <a:schemeClr val="bg1"/>
                </a:solidFill>
                <a:latin typeface="Times New Roman"/>
                <a:cs typeface="Times New Roman"/>
              </a:rPr>
              <a:t>on</a:t>
            </a:r>
            <a:r>
              <a:rPr lang="en-US" sz="2400" spc="-10" dirty="0">
                <a:solidFill>
                  <a:schemeClr val="bg1"/>
                </a:solidFill>
                <a:latin typeface="Times New Roman"/>
                <a:cs typeface="Times New Roman"/>
              </a:rPr>
              <a:t> </a:t>
            </a:r>
            <a:r>
              <a:rPr lang="en-US" sz="2400" dirty="0">
                <a:solidFill>
                  <a:schemeClr val="bg1"/>
                </a:solidFill>
                <a:latin typeface="Times New Roman"/>
                <a:cs typeface="Times New Roman"/>
              </a:rPr>
              <a:t>your</a:t>
            </a:r>
            <a:r>
              <a:rPr lang="en-US" sz="2400" spc="-10" dirty="0">
                <a:solidFill>
                  <a:schemeClr val="bg1"/>
                </a:solidFill>
                <a:latin typeface="Times New Roman"/>
                <a:cs typeface="Times New Roman"/>
              </a:rPr>
              <a:t> </a:t>
            </a:r>
            <a:r>
              <a:rPr lang="en-US" sz="2400" spc="-5" dirty="0">
                <a:solidFill>
                  <a:schemeClr val="bg1"/>
                </a:solidFill>
                <a:latin typeface="Times New Roman"/>
                <a:cs typeface="Times New Roman"/>
              </a:rPr>
              <a:t>company.</a:t>
            </a:r>
            <a:endParaRPr lang="en-US" sz="2400" dirty="0">
              <a:solidFill>
                <a:schemeClr val="bg1"/>
              </a:solidFill>
              <a:latin typeface="Times New Roman"/>
              <a:cs typeface="Times New Roman"/>
            </a:endParaRPr>
          </a:p>
          <a:p>
            <a:pPr marL="62865" marR="5080">
              <a:lnSpc>
                <a:spcPct val="100000"/>
              </a:lnSpc>
              <a:spcBef>
                <a:spcPts val="1000"/>
              </a:spcBef>
            </a:pPr>
            <a:r>
              <a:rPr lang="en-US" sz="2400" spc="-5" dirty="0">
                <a:solidFill>
                  <a:schemeClr val="bg1"/>
                </a:solidFill>
                <a:latin typeface="Times New Roman"/>
                <a:cs typeface="Times New Roman"/>
              </a:rPr>
              <a:t>There is </a:t>
            </a:r>
            <a:r>
              <a:rPr lang="en-US" sz="2400" dirty="0">
                <a:solidFill>
                  <a:schemeClr val="bg1"/>
                </a:solidFill>
                <a:latin typeface="Times New Roman"/>
                <a:cs typeface="Times New Roman"/>
              </a:rPr>
              <a:t>no </a:t>
            </a:r>
            <a:r>
              <a:rPr lang="en-US" sz="2400" spc="-5" dirty="0">
                <a:solidFill>
                  <a:schemeClr val="bg1"/>
                </a:solidFill>
                <a:latin typeface="Times New Roman"/>
                <a:cs typeface="Times New Roman"/>
              </a:rPr>
              <a:t>way to consolidate all </a:t>
            </a:r>
            <a:r>
              <a:rPr lang="en-US" sz="2400" dirty="0">
                <a:solidFill>
                  <a:schemeClr val="bg1"/>
                </a:solidFill>
                <a:latin typeface="Times New Roman"/>
                <a:cs typeface="Times New Roman"/>
              </a:rPr>
              <a:t>of </a:t>
            </a:r>
            <a:r>
              <a:rPr lang="en-US" sz="2400" spc="-5" dirty="0">
                <a:solidFill>
                  <a:schemeClr val="bg1"/>
                </a:solidFill>
                <a:latin typeface="Times New Roman"/>
                <a:cs typeface="Times New Roman"/>
              </a:rPr>
              <a:t>this information to </a:t>
            </a:r>
            <a:r>
              <a:rPr lang="en-US" sz="2400" dirty="0">
                <a:solidFill>
                  <a:schemeClr val="bg1"/>
                </a:solidFill>
                <a:latin typeface="Times New Roman"/>
                <a:cs typeface="Times New Roman"/>
              </a:rPr>
              <a:t>provide a unified view of a </a:t>
            </a:r>
            <a:r>
              <a:rPr lang="en-US" sz="2400" spc="-484" dirty="0">
                <a:solidFill>
                  <a:schemeClr val="bg1"/>
                </a:solidFill>
                <a:latin typeface="Times New Roman"/>
                <a:cs typeface="Times New Roman"/>
              </a:rPr>
              <a:t> </a:t>
            </a:r>
            <a:r>
              <a:rPr lang="en-US" sz="2400" spc="-5" dirty="0">
                <a:solidFill>
                  <a:schemeClr val="bg1"/>
                </a:solidFill>
                <a:latin typeface="Times New Roman"/>
                <a:cs typeface="Times New Roman"/>
              </a:rPr>
              <a:t>customer</a:t>
            </a:r>
            <a:r>
              <a:rPr lang="en-US" sz="2400" spc="-10" dirty="0">
                <a:solidFill>
                  <a:schemeClr val="bg1"/>
                </a:solidFill>
                <a:latin typeface="Times New Roman"/>
                <a:cs typeface="Times New Roman"/>
              </a:rPr>
              <a:t> </a:t>
            </a:r>
            <a:r>
              <a:rPr lang="en-US" sz="2400" spc="-5" dirty="0">
                <a:solidFill>
                  <a:schemeClr val="bg1"/>
                </a:solidFill>
                <a:latin typeface="Times New Roman"/>
                <a:cs typeface="Times New Roman"/>
              </a:rPr>
              <a:t>across the company.</a:t>
            </a:r>
            <a:endParaRPr lang="en-US" sz="2400" dirty="0">
              <a:solidFill>
                <a:schemeClr val="bg1"/>
              </a:solidFill>
              <a:latin typeface="Times New Roman"/>
              <a:cs typeface="Times New Roman"/>
            </a:endParaRPr>
          </a:p>
          <a:p>
            <a:pPr marL="62865">
              <a:lnSpc>
                <a:spcPct val="100000"/>
              </a:lnSpc>
              <a:spcBef>
                <a:spcPts val="1000"/>
              </a:spcBef>
            </a:pPr>
            <a:r>
              <a:rPr lang="en-US" sz="2400" spc="-5" dirty="0">
                <a:solidFill>
                  <a:schemeClr val="bg1"/>
                </a:solidFill>
                <a:latin typeface="Times New Roman"/>
                <a:cs typeface="Times New Roman"/>
              </a:rPr>
              <a:t>This</a:t>
            </a:r>
            <a:r>
              <a:rPr lang="en-US" sz="2400" spc="-15" dirty="0">
                <a:solidFill>
                  <a:schemeClr val="bg1"/>
                </a:solidFill>
                <a:latin typeface="Times New Roman"/>
                <a:cs typeface="Times New Roman"/>
              </a:rPr>
              <a:t> </a:t>
            </a:r>
            <a:r>
              <a:rPr lang="en-US" sz="2400" spc="-5" dirty="0">
                <a:solidFill>
                  <a:schemeClr val="bg1"/>
                </a:solidFill>
                <a:latin typeface="Times New Roman"/>
                <a:cs typeface="Times New Roman"/>
              </a:rPr>
              <a:t>is</a:t>
            </a:r>
            <a:r>
              <a:rPr lang="en-US" sz="2400" spc="-15" dirty="0">
                <a:solidFill>
                  <a:schemeClr val="bg1"/>
                </a:solidFill>
                <a:latin typeface="Times New Roman"/>
                <a:cs typeface="Times New Roman"/>
              </a:rPr>
              <a:t> </a:t>
            </a:r>
            <a:r>
              <a:rPr lang="en-US" sz="2400" spc="-5" dirty="0">
                <a:solidFill>
                  <a:schemeClr val="bg1"/>
                </a:solidFill>
                <a:latin typeface="Times New Roman"/>
                <a:cs typeface="Times New Roman"/>
              </a:rPr>
              <a:t>where</a:t>
            </a:r>
            <a:r>
              <a:rPr lang="en-US" sz="2400" spc="-15" dirty="0">
                <a:solidFill>
                  <a:schemeClr val="bg1"/>
                </a:solidFill>
                <a:latin typeface="Times New Roman"/>
                <a:cs typeface="Times New Roman"/>
              </a:rPr>
              <a:t> </a:t>
            </a:r>
            <a:r>
              <a:rPr lang="en-US" sz="2400" spc="-5" dirty="0">
                <a:solidFill>
                  <a:schemeClr val="bg1"/>
                </a:solidFill>
                <a:latin typeface="Times New Roman"/>
                <a:cs typeface="Times New Roman"/>
              </a:rPr>
              <a:t>customer</a:t>
            </a:r>
            <a:r>
              <a:rPr lang="en-US" sz="2400" spc="-10" dirty="0">
                <a:solidFill>
                  <a:schemeClr val="bg1"/>
                </a:solidFill>
                <a:latin typeface="Times New Roman"/>
                <a:cs typeface="Times New Roman"/>
              </a:rPr>
              <a:t> </a:t>
            </a:r>
            <a:r>
              <a:rPr lang="en-US" sz="2400" dirty="0">
                <a:solidFill>
                  <a:schemeClr val="bg1"/>
                </a:solidFill>
                <a:latin typeface="Times New Roman"/>
                <a:cs typeface="Times New Roman"/>
              </a:rPr>
              <a:t>relationship</a:t>
            </a:r>
            <a:r>
              <a:rPr lang="en-US" sz="2400" spc="-10" dirty="0">
                <a:solidFill>
                  <a:schemeClr val="bg1"/>
                </a:solidFill>
                <a:latin typeface="Times New Roman"/>
                <a:cs typeface="Times New Roman"/>
              </a:rPr>
              <a:t> </a:t>
            </a:r>
            <a:r>
              <a:rPr lang="en-US" sz="2400" spc="-5" dirty="0">
                <a:solidFill>
                  <a:schemeClr val="bg1"/>
                </a:solidFill>
                <a:latin typeface="Times New Roman"/>
                <a:cs typeface="Times New Roman"/>
              </a:rPr>
              <a:t>management</a:t>
            </a:r>
            <a:r>
              <a:rPr lang="en-US" sz="2400" spc="-15" dirty="0">
                <a:solidFill>
                  <a:schemeClr val="bg1"/>
                </a:solidFill>
                <a:latin typeface="Times New Roman"/>
                <a:cs typeface="Times New Roman"/>
              </a:rPr>
              <a:t> </a:t>
            </a:r>
            <a:r>
              <a:rPr lang="en-US" sz="2400" spc="-5" dirty="0">
                <a:solidFill>
                  <a:schemeClr val="bg1"/>
                </a:solidFill>
                <a:latin typeface="Times New Roman"/>
                <a:cs typeface="Times New Roman"/>
              </a:rPr>
              <a:t>systems</a:t>
            </a:r>
            <a:r>
              <a:rPr lang="en-US" sz="2400" spc="-10" dirty="0">
                <a:solidFill>
                  <a:schemeClr val="bg1"/>
                </a:solidFill>
                <a:latin typeface="Times New Roman"/>
                <a:cs typeface="Times New Roman"/>
              </a:rPr>
              <a:t> </a:t>
            </a:r>
            <a:r>
              <a:rPr lang="en-US" sz="2400" dirty="0">
                <a:solidFill>
                  <a:schemeClr val="bg1"/>
                </a:solidFill>
                <a:latin typeface="Times New Roman"/>
                <a:cs typeface="Times New Roman"/>
              </a:rPr>
              <a:t>help.</a:t>
            </a:r>
          </a:p>
          <a:p>
            <a:pPr marL="641350" lvl="1" indent="-181610">
              <a:lnSpc>
                <a:spcPct val="100000"/>
              </a:lnSpc>
              <a:spcBef>
                <a:spcPts val="1400"/>
              </a:spcBef>
              <a:buSzPct val="125000"/>
              <a:buFont typeface="Arial MT"/>
              <a:buChar char="•"/>
              <a:tabLst>
                <a:tab pos="641985" algn="l"/>
              </a:tabLst>
            </a:pPr>
            <a:endParaRPr sz="2000" dirty="0">
              <a:latin typeface="Times New Roman"/>
              <a:cs typeface="Times New Roman"/>
            </a:endParaRPr>
          </a:p>
        </p:txBody>
      </p:sp>
    </p:spTree>
    <p:extLst>
      <p:ext uri="{BB962C8B-B14F-4D97-AF65-F5344CB8AC3E}">
        <p14:creationId xmlns:p14="http://schemas.microsoft.com/office/powerpoint/2010/main" val="20605127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9500235" cy="1120820"/>
          </a:xfrm>
          <a:prstGeom prst="rect">
            <a:avLst/>
          </a:prstGeom>
        </p:spPr>
        <p:txBody>
          <a:bodyPr vert="horz" wrap="square" lIns="0" tIns="12700" rIns="0" bIns="0" rtlCol="0">
            <a:spAutoFit/>
          </a:bodyPr>
          <a:lstStyle/>
          <a:p>
            <a:pPr marL="12700">
              <a:lnSpc>
                <a:spcPct val="100000"/>
              </a:lnSpc>
              <a:spcBef>
                <a:spcPts val="100"/>
              </a:spcBef>
            </a:pPr>
            <a:r>
              <a:rPr lang="en-IN" spc="10" dirty="0"/>
              <a:t>CUSTOMER</a:t>
            </a:r>
            <a:r>
              <a:rPr lang="en-IN" spc="-50" dirty="0"/>
              <a:t> </a:t>
            </a:r>
            <a:r>
              <a:rPr lang="en-IN" spc="5" dirty="0"/>
              <a:t>RELATIONSHIP </a:t>
            </a:r>
            <a:r>
              <a:rPr lang="en-IN" spc="-925" dirty="0"/>
              <a:t> </a:t>
            </a:r>
            <a:r>
              <a:rPr lang="en-IN" spc="15" dirty="0"/>
              <a:t>MANAGEMENT</a:t>
            </a:r>
            <a:r>
              <a:rPr lang="en-IN" spc="-10" dirty="0"/>
              <a:t> </a:t>
            </a:r>
            <a:r>
              <a:rPr lang="en-IN" spc="10" dirty="0"/>
              <a:t>SYSTEMS</a:t>
            </a:r>
            <a:endParaRPr spc="-5" dirty="0"/>
          </a:p>
        </p:txBody>
      </p:sp>
      <p:sp>
        <p:nvSpPr>
          <p:cNvPr id="3" name="object 3"/>
          <p:cNvSpPr txBox="1"/>
          <p:nvPr/>
        </p:nvSpPr>
        <p:spPr>
          <a:xfrm>
            <a:off x="1271549" y="2271839"/>
            <a:ext cx="9683115" cy="3949799"/>
          </a:xfrm>
          <a:prstGeom prst="rect">
            <a:avLst/>
          </a:prstGeom>
        </p:spPr>
        <p:txBody>
          <a:bodyPr vert="horz" wrap="square" lIns="0" tIns="0" rIns="0" bIns="0" rtlCol="0">
            <a:spAutoFit/>
          </a:bodyPr>
          <a:lstStyle/>
          <a:p>
            <a:pPr marL="405765" marR="5080" indent="-393700">
              <a:spcBef>
                <a:spcPts val="100"/>
              </a:spcBef>
              <a:buClr>
                <a:srgbClr val="F4A408"/>
              </a:buClr>
              <a:buSzPct val="80000"/>
              <a:buFont typeface="Segoe UI Symbol"/>
              <a:buChar char="►"/>
              <a:tabLst>
                <a:tab pos="406400" algn="l"/>
              </a:tabLst>
            </a:pPr>
            <a:r>
              <a:rPr lang="en-US" sz="2400" dirty="0">
                <a:solidFill>
                  <a:schemeClr val="bg1"/>
                </a:solidFill>
                <a:latin typeface="Times New Roman"/>
                <a:cs typeface="Times New Roman"/>
              </a:rPr>
              <a:t>Customer relationship management (CRM) systems, capture and integrate  customer data from all over the organization, consolidate the data, analyze the  data, and then distribute the results to various systems and customer touch points  across the enterprise.</a:t>
            </a:r>
          </a:p>
          <a:p>
            <a:pPr marL="405765" marR="8890" indent="-393700">
              <a:spcBef>
                <a:spcPts val="1000"/>
              </a:spcBef>
              <a:buClr>
                <a:srgbClr val="F4A408"/>
              </a:buClr>
              <a:buSzPct val="80000"/>
              <a:buFont typeface="Segoe UI Symbol"/>
              <a:buChar char="►"/>
              <a:tabLst>
                <a:tab pos="406400" algn="l"/>
              </a:tabLst>
            </a:pPr>
            <a:r>
              <a:rPr lang="en-US" sz="2400" dirty="0">
                <a:solidFill>
                  <a:schemeClr val="bg1"/>
                </a:solidFill>
                <a:latin typeface="Times New Roman"/>
                <a:cs typeface="Times New Roman"/>
              </a:rPr>
              <a:t>A touch point (also known as a contact point) is a method of interaction with the  customer, such as telephone, e-mail, customer service desk, conventional mail,  Facebook, Twitter, Web site, wireless device, or retail store.</a:t>
            </a:r>
          </a:p>
          <a:p>
            <a:pPr marL="405765" marR="12065" indent="-393700">
              <a:spcBef>
                <a:spcPts val="1000"/>
              </a:spcBef>
              <a:buClr>
                <a:srgbClr val="F4A408"/>
              </a:buClr>
              <a:buSzPct val="80000"/>
              <a:buFont typeface="Segoe UI Symbol"/>
              <a:buChar char="►"/>
              <a:tabLst>
                <a:tab pos="406400" algn="l"/>
              </a:tabLst>
            </a:pPr>
            <a:r>
              <a:rPr lang="en-US" sz="2400" dirty="0">
                <a:solidFill>
                  <a:schemeClr val="bg1"/>
                </a:solidFill>
                <a:latin typeface="Times New Roman"/>
                <a:cs typeface="Times New Roman"/>
              </a:rPr>
              <a:t>Well-designed CRM systems provide a single enterprise view of customers that is  useful for improving both sales and customer service.</a:t>
            </a:r>
            <a:endParaRPr sz="2400" dirty="0">
              <a:solidFill>
                <a:schemeClr val="bg1"/>
              </a:solidFill>
              <a:latin typeface="Times New Roman"/>
              <a:cs typeface="Times New Roman"/>
            </a:endParaRPr>
          </a:p>
        </p:txBody>
      </p:sp>
    </p:spTree>
    <p:extLst>
      <p:ext uri="{BB962C8B-B14F-4D97-AF65-F5344CB8AC3E}">
        <p14:creationId xmlns:p14="http://schemas.microsoft.com/office/powerpoint/2010/main" val="36541185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9500235" cy="1120820"/>
          </a:xfrm>
          <a:prstGeom prst="rect">
            <a:avLst/>
          </a:prstGeom>
        </p:spPr>
        <p:txBody>
          <a:bodyPr vert="horz" wrap="square" lIns="0" tIns="12700" rIns="0" bIns="0" rtlCol="0">
            <a:spAutoFit/>
          </a:bodyPr>
          <a:lstStyle/>
          <a:p>
            <a:pPr marL="12700">
              <a:lnSpc>
                <a:spcPct val="100000"/>
              </a:lnSpc>
              <a:spcBef>
                <a:spcPts val="100"/>
              </a:spcBef>
            </a:pPr>
            <a:r>
              <a:rPr lang="en-IN" spc="10" dirty="0"/>
              <a:t>CUSTOMER</a:t>
            </a:r>
            <a:r>
              <a:rPr lang="en-IN" spc="-50" dirty="0"/>
              <a:t> </a:t>
            </a:r>
            <a:r>
              <a:rPr lang="en-IN" spc="5" dirty="0"/>
              <a:t>RELATIONSHIP </a:t>
            </a:r>
            <a:r>
              <a:rPr lang="en-IN" spc="-925" dirty="0"/>
              <a:t> </a:t>
            </a:r>
            <a:r>
              <a:rPr lang="en-IN" spc="15" dirty="0"/>
              <a:t>MANAGEMENT</a:t>
            </a:r>
            <a:r>
              <a:rPr lang="en-IN" spc="-10" dirty="0"/>
              <a:t> </a:t>
            </a:r>
            <a:r>
              <a:rPr lang="en-IN" spc="10" dirty="0"/>
              <a:t>SYSTEMS</a:t>
            </a:r>
            <a:endParaRPr spc="-5" dirty="0"/>
          </a:p>
        </p:txBody>
      </p:sp>
      <p:sp>
        <p:nvSpPr>
          <p:cNvPr id="3" name="object 3"/>
          <p:cNvSpPr txBox="1"/>
          <p:nvPr/>
        </p:nvSpPr>
        <p:spPr>
          <a:xfrm>
            <a:off x="1271549" y="2271839"/>
            <a:ext cx="9683115" cy="3949799"/>
          </a:xfrm>
          <a:prstGeom prst="rect">
            <a:avLst/>
          </a:prstGeom>
        </p:spPr>
        <p:txBody>
          <a:bodyPr vert="horz" wrap="square" lIns="0" tIns="0" rIns="0" bIns="0" rtlCol="0">
            <a:spAutoFit/>
          </a:bodyPr>
          <a:lstStyle/>
          <a:p>
            <a:pPr marL="405765" marR="5080" indent="-393700">
              <a:spcBef>
                <a:spcPts val="100"/>
              </a:spcBef>
              <a:buClr>
                <a:srgbClr val="F4A408"/>
              </a:buClr>
              <a:buSzPct val="80000"/>
              <a:buFont typeface="Segoe UI Symbol"/>
              <a:buChar char="►"/>
              <a:tabLst>
                <a:tab pos="406400" algn="l"/>
              </a:tabLst>
            </a:pPr>
            <a:r>
              <a:rPr lang="en-US" sz="2400" dirty="0">
                <a:solidFill>
                  <a:schemeClr val="bg1"/>
                </a:solidFill>
                <a:latin typeface="Times New Roman"/>
                <a:cs typeface="Times New Roman"/>
              </a:rPr>
              <a:t>Customer relationship management (CRM) systems, capture and integrate  customer data from all over the organization, consolidate the data, analyze the  data, and then distribute the results to various systems and customer touch points  across the enterprise.</a:t>
            </a:r>
          </a:p>
          <a:p>
            <a:pPr marL="405765" marR="8890" indent="-393700">
              <a:spcBef>
                <a:spcPts val="1000"/>
              </a:spcBef>
              <a:buClr>
                <a:srgbClr val="F4A408"/>
              </a:buClr>
              <a:buSzPct val="80000"/>
              <a:buFont typeface="Segoe UI Symbol"/>
              <a:buChar char="►"/>
              <a:tabLst>
                <a:tab pos="406400" algn="l"/>
              </a:tabLst>
            </a:pPr>
            <a:r>
              <a:rPr lang="en-US" sz="2400" dirty="0">
                <a:solidFill>
                  <a:schemeClr val="bg1"/>
                </a:solidFill>
                <a:latin typeface="Times New Roman"/>
                <a:cs typeface="Times New Roman"/>
              </a:rPr>
              <a:t>A touch point (also known as a contact point) is a method of interaction with the  customer, such as telephone, e-mail, customer service desk, conventional mail,  Facebook, Twitter, Web site, wireless device, or retail store.</a:t>
            </a:r>
          </a:p>
          <a:p>
            <a:pPr marL="405765" marR="12065" indent="-393700">
              <a:spcBef>
                <a:spcPts val="1000"/>
              </a:spcBef>
              <a:buClr>
                <a:srgbClr val="F4A408"/>
              </a:buClr>
              <a:buSzPct val="80000"/>
              <a:buFont typeface="Segoe UI Symbol"/>
              <a:buChar char="►"/>
              <a:tabLst>
                <a:tab pos="406400" algn="l"/>
              </a:tabLst>
            </a:pPr>
            <a:r>
              <a:rPr lang="en-US" sz="2400" dirty="0">
                <a:solidFill>
                  <a:schemeClr val="bg1"/>
                </a:solidFill>
                <a:latin typeface="Times New Roman"/>
                <a:cs typeface="Times New Roman"/>
              </a:rPr>
              <a:t>Well-designed CRM systems provide a single enterprise view of customers that is  useful for improving both sales and customer service.</a:t>
            </a:r>
            <a:endParaRPr sz="2400" dirty="0">
              <a:solidFill>
                <a:schemeClr val="bg1"/>
              </a:solidFill>
              <a:latin typeface="Times New Roman"/>
              <a:cs typeface="Times New Roman"/>
            </a:endParaRPr>
          </a:p>
        </p:txBody>
      </p:sp>
      <p:pic>
        <p:nvPicPr>
          <p:cNvPr id="4" name="object 2">
            <a:extLst>
              <a:ext uri="{FF2B5EF4-FFF2-40B4-BE49-F238E27FC236}">
                <a16:creationId xmlns:a16="http://schemas.microsoft.com/office/drawing/2014/main" id="{ECB777EE-DA6D-1E41-3DB8-7362AE3C71F1}"/>
              </a:ext>
            </a:extLst>
          </p:cNvPr>
          <p:cNvPicPr/>
          <p:nvPr/>
        </p:nvPicPr>
        <p:blipFill>
          <a:blip r:embed="rId2" cstate="print"/>
          <a:stretch>
            <a:fillRect/>
          </a:stretch>
        </p:blipFill>
        <p:spPr>
          <a:xfrm>
            <a:off x="76200" y="0"/>
            <a:ext cx="12115800" cy="6781800"/>
          </a:xfrm>
          <a:prstGeom prst="rect">
            <a:avLst/>
          </a:prstGeom>
        </p:spPr>
      </p:pic>
    </p:spTree>
    <p:extLst>
      <p:ext uri="{BB962C8B-B14F-4D97-AF65-F5344CB8AC3E}">
        <p14:creationId xmlns:p14="http://schemas.microsoft.com/office/powerpoint/2010/main" val="32232663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9500235" cy="1120820"/>
          </a:xfrm>
          <a:prstGeom prst="rect">
            <a:avLst/>
          </a:prstGeom>
        </p:spPr>
        <p:txBody>
          <a:bodyPr vert="horz" wrap="square" lIns="0" tIns="12700" rIns="0" bIns="0" rtlCol="0">
            <a:spAutoFit/>
          </a:bodyPr>
          <a:lstStyle/>
          <a:p>
            <a:pPr marL="12700">
              <a:lnSpc>
                <a:spcPct val="100000"/>
              </a:lnSpc>
              <a:spcBef>
                <a:spcPts val="100"/>
              </a:spcBef>
            </a:pPr>
            <a:r>
              <a:rPr lang="en-IN" spc="10" dirty="0"/>
              <a:t>CUSTOMER</a:t>
            </a:r>
            <a:r>
              <a:rPr lang="en-IN" spc="-50" dirty="0"/>
              <a:t> </a:t>
            </a:r>
            <a:r>
              <a:rPr lang="en-IN" spc="5" dirty="0"/>
              <a:t>RELATIONSHIP </a:t>
            </a:r>
            <a:r>
              <a:rPr lang="en-IN" spc="-925" dirty="0"/>
              <a:t> </a:t>
            </a:r>
            <a:r>
              <a:rPr lang="en-IN" spc="15" dirty="0"/>
              <a:t>MANAGEMENT: THE BUSINESS FOCUS</a:t>
            </a:r>
            <a:endParaRPr lang="en-IN" spc="-5" dirty="0"/>
          </a:p>
        </p:txBody>
      </p:sp>
      <p:sp>
        <p:nvSpPr>
          <p:cNvPr id="3" name="object 3"/>
          <p:cNvSpPr txBox="1"/>
          <p:nvPr/>
        </p:nvSpPr>
        <p:spPr>
          <a:xfrm>
            <a:off x="1271549" y="2271839"/>
            <a:ext cx="9683115" cy="3452227"/>
          </a:xfrm>
          <a:prstGeom prst="rect">
            <a:avLst/>
          </a:prstGeom>
        </p:spPr>
        <p:txBody>
          <a:bodyPr vert="horz" wrap="square" lIns="0" tIns="0" rIns="0" bIns="0" rtlCol="0">
            <a:spAutoFit/>
          </a:bodyPr>
          <a:lstStyle/>
          <a:p>
            <a:pPr marL="405765" marR="5080" indent="-393700">
              <a:spcBef>
                <a:spcPts val="100"/>
              </a:spcBef>
              <a:buClr>
                <a:srgbClr val="F4A408"/>
              </a:buClr>
              <a:buSzPct val="80000"/>
              <a:buFont typeface="Segoe UI Symbol"/>
              <a:buChar char="►"/>
              <a:tabLst>
                <a:tab pos="406400" algn="l"/>
              </a:tabLst>
            </a:pPr>
            <a:r>
              <a:rPr lang="en-US" sz="2400" dirty="0">
                <a:solidFill>
                  <a:schemeClr val="bg1"/>
                </a:solidFill>
                <a:latin typeface="Times New Roman"/>
                <a:cs typeface="Times New Roman"/>
              </a:rPr>
              <a:t>Understanding Customer Needs: Businesses focus on comprehending the desires, preferences, and pain points of their customers to tailor products and services accordingly. This involves gathering feedback through surveys, market research, and customer interactions..</a:t>
            </a:r>
          </a:p>
          <a:p>
            <a:pPr marL="405765" marR="8890" indent="-393700">
              <a:spcBef>
                <a:spcPts val="1000"/>
              </a:spcBef>
              <a:buClr>
                <a:srgbClr val="F4A408"/>
              </a:buClr>
              <a:buSzPct val="80000"/>
              <a:buFont typeface="Segoe UI Symbol"/>
              <a:buChar char="►"/>
              <a:tabLst>
                <a:tab pos="406400" algn="l"/>
              </a:tabLst>
            </a:pPr>
            <a:r>
              <a:rPr lang="en-US" sz="2400" dirty="0">
                <a:solidFill>
                  <a:schemeClr val="bg1"/>
                </a:solidFill>
                <a:latin typeface="Times New Roman"/>
                <a:cs typeface="Times New Roman"/>
              </a:rPr>
              <a:t>Analyzing Data for Insights: CRM involves collecting and analyzing customer data such as demographics, purchase history, and interactions across various channels. By leveraging data analytics tools, businesses gain valuable insights into customer behavior patterns, enabling personalized marketing and sales strategies.</a:t>
            </a:r>
          </a:p>
        </p:txBody>
      </p:sp>
    </p:spTree>
    <p:extLst>
      <p:ext uri="{BB962C8B-B14F-4D97-AF65-F5344CB8AC3E}">
        <p14:creationId xmlns:p14="http://schemas.microsoft.com/office/powerpoint/2010/main" val="25363735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9500235" cy="1120820"/>
          </a:xfrm>
          <a:prstGeom prst="rect">
            <a:avLst/>
          </a:prstGeom>
        </p:spPr>
        <p:txBody>
          <a:bodyPr vert="horz" wrap="square" lIns="0" tIns="12700" rIns="0" bIns="0" rtlCol="0">
            <a:spAutoFit/>
          </a:bodyPr>
          <a:lstStyle/>
          <a:p>
            <a:pPr marL="12700">
              <a:lnSpc>
                <a:spcPct val="100000"/>
              </a:lnSpc>
              <a:spcBef>
                <a:spcPts val="100"/>
              </a:spcBef>
            </a:pPr>
            <a:r>
              <a:rPr lang="en-IN" spc="10" dirty="0"/>
              <a:t>CUSTOMER</a:t>
            </a:r>
            <a:r>
              <a:rPr lang="en-IN" spc="-50" dirty="0"/>
              <a:t> </a:t>
            </a:r>
            <a:r>
              <a:rPr lang="en-IN" spc="5" dirty="0"/>
              <a:t>RELATIONSHIP </a:t>
            </a:r>
            <a:r>
              <a:rPr lang="en-IN" spc="-925" dirty="0"/>
              <a:t> </a:t>
            </a:r>
            <a:r>
              <a:rPr lang="en-IN" spc="15" dirty="0"/>
              <a:t>MANAGEMENT: THE BUSINESS FOCUS</a:t>
            </a:r>
            <a:endParaRPr lang="en-IN" spc="-5" dirty="0"/>
          </a:p>
        </p:txBody>
      </p:sp>
      <p:sp>
        <p:nvSpPr>
          <p:cNvPr id="3" name="object 3"/>
          <p:cNvSpPr txBox="1"/>
          <p:nvPr/>
        </p:nvSpPr>
        <p:spPr>
          <a:xfrm>
            <a:off x="1271549" y="2271839"/>
            <a:ext cx="9683115" cy="3336811"/>
          </a:xfrm>
          <a:prstGeom prst="rect">
            <a:avLst/>
          </a:prstGeom>
        </p:spPr>
        <p:txBody>
          <a:bodyPr vert="horz" wrap="square" lIns="0" tIns="0" rIns="0" bIns="0" rtlCol="0">
            <a:spAutoFit/>
          </a:bodyPr>
          <a:lstStyle/>
          <a:p>
            <a:pPr marL="405765" marR="5080" indent="-393700">
              <a:spcBef>
                <a:spcPts val="100"/>
              </a:spcBef>
              <a:buClr>
                <a:srgbClr val="F4A408"/>
              </a:buClr>
              <a:buSzPct val="80000"/>
              <a:buFont typeface="Segoe UI Symbol"/>
              <a:buChar char="►"/>
              <a:tabLst>
                <a:tab pos="406400" algn="l"/>
              </a:tabLst>
            </a:pPr>
            <a:r>
              <a:rPr lang="en-US" sz="2400" dirty="0">
                <a:solidFill>
                  <a:schemeClr val="bg1"/>
                </a:solidFill>
                <a:latin typeface="Times New Roman"/>
                <a:cs typeface="Times New Roman"/>
              </a:rPr>
              <a:t>Building Loyalty: CRM emphasizes nurturing long-term relationships with customers by providing exceptional experiences and consistent support. This includes personalized communications, loyalty programs, and proactive problem-solving to enhance customer satisfaction and loyalty.</a:t>
            </a:r>
          </a:p>
          <a:p>
            <a:pPr marL="405765" marR="5080" indent="-393700">
              <a:spcBef>
                <a:spcPts val="100"/>
              </a:spcBef>
              <a:buClr>
                <a:srgbClr val="F4A408"/>
              </a:buClr>
              <a:buSzPct val="80000"/>
              <a:buFont typeface="Segoe UI Symbol"/>
              <a:buChar char="►"/>
              <a:tabLst>
                <a:tab pos="406400" algn="l"/>
              </a:tabLst>
            </a:pPr>
            <a:r>
              <a:rPr lang="en-US" sz="2400" dirty="0">
                <a:solidFill>
                  <a:schemeClr val="bg1"/>
                </a:solidFill>
                <a:latin typeface="Times New Roman"/>
                <a:cs typeface="Times New Roman"/>
              </a:rPr>
              <a:t>Aligning Sales and Marketing Efforts: Integrating sales and marketing functions within CRM systems enables seamless collaboration and coordination. By sharing customer insights and aligning strategies, businesses ensure a cohesive approach to customer acquisition, engagement, and retention.</a:t>
            </a:r>
          </a:p>
        </p:txBody>
      </p:sp>
    </p:spTree>
    <p:extLst>
      <p:ext uri="{BB962C8B-B14F-4D97-AF65-F5344CB8AC3E}">
        <p14:creationId xmlns:p14="http://schemas.microsoft.com/office/powerpoint/2010/main" val="30373728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9500235" cy="1120820"/>
          </a:xfrm>
          <a:prstGeom prst="rect">
            <a:avLst/>
          </a:prstGeom>
        </p:spPr>
        <p:txBody>
          <a:bodyPr vert="horz" wrap="square" lIns="0" tIns="12700" rIns="0" bIns="0" rtlCol="0">
            <a:spAutoFit/>
          </a:bodyPr>
          <a:lstStyle/>
          <a:p>
            <a:pPr marL="12700">
              <a:lnSpc>
                <a:spcPct val="100000"/>
              </a:lnSpc>
              <a:spcBef>
                <a:spcPts val="100"/>
              </a:spcBef>
            </a:pPr>
            <a:r>
              <a:rPr lang="en-IN" spc="10" dirty="0"/>
              <a:t>CUSTOMER</a:t>
            </a:r>
            <a:r>
              <a:rPr lang="en-IN" spc="-50" dirty="0"/>
              <a:t> </a:t>
            </a:r>
            <a:r>
              <a:rPr lang="en-IN" spc="5" dirty="0"/>
              <a:t>RELATIONSHIP </a:t>
            </a:r>
            <a:r>
              <a:rPr lang="en-IN" spc="-925" dirty="0"/>
              <a:t> </a:t>
            </a:r>
            <a:r>
              <a:rPr lang="en-IN" spc="15" dirty="0"/>
              <a:t>MANAGEMENT: THE BUSINESS FOCUS</a:t>
            </a:r>
            <a:endParaRPr lang="en-IN" spc="-5" dirty="0"/>
          </a:p>
        </p:txBody>
      </p:sp>
      <p:sp>
        <p:nvSpPr>
          <p:cNvPr id="3" name="object 3"/>
          <p:cNvSpPr txBox="1"/>
          <p:nvPr/>
        </p:nvSpPr>
        <p:spPr>
          <a:xfrm>
            <a:off x="1271549" y="2271839"/>
            <a:ext cx="9683115" cy="3706143"/>
          </a:xfrm>
          <a:prstGeom prst="rect">
            <a:avLst/>
          </a:prstGeom>
        </p:spPr>
        <p:txBody>
          <a:bodyPr vert="horz" wrap="square" lIns="0" tIns="0" rIns="0" bIns="0" rtlCol="0">
            <a:spAutoFit/>
          </a:bodyPr>
          <a:lstStyle/>
          <a:p>
            <a:pPr marL="405765" marR="5080" indent="-393700">
              <a:spcBef>
                <a:spcPts val="100"/>
              </a:spcBef>
              <a:buClr>
                <a:srgbClr val="F4A408"/>
              </a:buClr>
              <a:buSzPct val="80000"/>
              <a:buFont typeface="Segoe UI Symbol"/>
              <a:buChar char="►"/>
              <a:tabLst>
                <a:tab pos="406400" algn="l"/>
              </a:tabLst>
            </a:pPr>
            <a:r>
              <a:rPr lang="en-US" sz="2400" dirty="0">
                <a:solidFill>
                  <a:schemeClr val="bg1"/>
                </a:solidFill>
                <a:latin typeface="Times New Roman"/>
                <a:cs typeface="Times New Roman"/>
              </a:rPr>
              <a:t>Managing the Customer Lifecycle: CRM facilitates managing the entire customer journey, from initial contact to post-purchase support. This involves effectively nurturing leads, converting prospects into customers, and providing ongoing support and assistance to maximize customer lifetime value.</a:t>
            </a:r>
          </a:p>
          <a:p>
            <a:pPr marL="405765" marR="5080" indent="-393700">
              <a:spcBef>
                <a:spcPts val="100"/>
              </a:spcBef>
              <a:buClr>
                <a:srgbClr val="F4A408"/>
              </a:buClr>
              <a:buSzPct val="80000"/>
              <a:buFont typeface="Segoe UI Symbol"/>
              <a:buChar char="►"/>
              <a:tabLst>
                <a:tab pos="406400" algn="l"/>
              </a:tabLst>
            </a:pPr>
            <a:r>
              <a:rPr lang="en-US" sz="2400" dirty="0">
                <a:solidFill>
                  <a:schemeClr val="bg1"/>
                </a:solidFill>
                <a:latin typeface="Times New Roman"/>
                <a:cs typeface="Times New Roman"/>
              </a:rPr>
              <a:t>Providing Excellent Service: Customer service is a critical aspect of CRM, focusing on delivering timely, personalized support across various channels. Businesses strive to address customer inquiries, resolve issues promptly, and exceed expectations to foster positive relationships and satisfaction.</a:t>
            </a:r>
          </a:p>
        </p:txBody>
      </p:sp>
    </p:spTree>
    <p:extLst>
      <p:ext uri="{BB962C8B-B14F-4D97-AF65-F5344CB8AC3E}">
        <p14:creationId xmlns:p14="http://schemas.microsoft.com/office/powerpoint/2010/main" val="16553698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76063-79A4-C3B6-6839-8A068B8758D2}"/>
              </a:ext>
            </a:extLst>
          </p:cNvPr>
          <p:cNvSpPr>
            <a:spLocks noGrp="1"/>
          </p:cNvSpPr>
          <p:nvPr>
            <p:ph type="title"/>
          </p:nvPr>
        </p:nvSpPr>
        <p:spPr>
          <a:xfrm>
            <a:off x="1214438" y="789147"/>
            <a:ext cx="9763123" cy="1107996"/>
          </a:xfrm>
        </p:spPr>
        <p:txBody>
          <a:bodyPr/>
          <a:lstStyle/>
          <a:p>
            <a:r>
              <a:rPr lang="en-IN" dirty="0"/>
              <a:t>ENTERPRISE RESOURSE PLANNING: THE BUSINESS BACKBONE</a:t>
            </a:r>
          </a:p>
        </p:txBody>
      </p:sp>
      <p:sp>
        <p:nvSpPr>
          <p:cNvPr id="3" name="Text Placeholder 2">
            <a:extLst>
              <a:ext uri="{FF2B5EF4-FFF2-40B4-BE49-F238E27FC236}">
                <a16:creationId xmlns:a16="http://schemas.microsoft.com/office/drawing/2014/main" id="{F7AB7FF3-BEF4-A811-BE8E-D717F96E2C7F}"/>
              </a:ext>
            </a:extLst>
          </p:cNvPr>
          <p:cNvSpPr>
            <a:spLocks noGrp="1"/>
          </p:cNvSpPr>
          <p:nvPr>
            <p:ph type="body" idx="1"/>
          </p:nvPr>
        </p:nvSpPr>
        <p:spPr>
          <a:xfrm>
            <a:off x="1239240" y="2057400"/>
            <a:ext cx="9713519" cy="4062651"/>
          </a:xfrm>
        </p:spPr>
        <p:txBody>
          <a:bodyPr/>
          <a:lstStyle/>
          <a:p>
            <a:r>
              <a:rPr lang="en-US" dirty="0"/>
              <a:t>Enterprise Resource Planning (ERP) systems indeed serve as the backbone of many businesses, integrating various functions and processes across an organization into one comprehensive system. Here's why ERP is often referred to as the business backbone:</a:t>
            </a:r>
          </a:p>
          <a:p>
            <a:endParaRPr lang="en-US" dirty="0"/>
          </a:p>
          <a:p>
            <a:r>
              <a:rPr lang="en-US" dirty="0"/>
              <a:t>Integration: ERP software integrates different functions like finance, human resources, supply chain, manufacturing, and more into one cohesive system. This integration streamlines operations and facilitates better communication and collaboration across departments.</a:t>
            </a:r>
          </a:p>
          <a:p>
            <a:endParaRPr lang="en-US" dirty="0"/>
          </a:p>
          <a:p>
            <a:endParaRPr lang="en-IN" dirty="0"/>
          </a:p>
        </p:txBody>
      </p:sp>
    </p:spTree>
    <p:extLst>
      <p:ext uri="{BB962C8B-B14F-4D97-AF65-F5344CB8AC3E}">
        <p14:creationId xmlns:p14="http://schemas.microsoft.com/office/powerpoint/2010/main" val="8807823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76063-79A4-C3B6-6839-8A068B8758D2}"/>
              </a:ext>
            </a:extLst>
          </p:cNvPr>
          <p:cNvSpPr>
            <a:spLocks noGrp="1"/>
          </p:cNvSpPr>
          <p:nvPr>
            <p:ph type="title"/>
          </p:nvPr>
        </p:nvSpPr>
        <p:spPr>
          <a:xfrm>
            <a:off x="1214438" y="789147"/>
            <a:ext cx="9763123" cy="1107996"/>
          </a:xfrm>
        </p:spPr>
        <p:txBody>
          <a:bodyPr/>
          <a:lstStyle/>
          <a:p>
            <a:r>
              <a:rPr lang="en-IN" dirty="0"/>
              <a:t>ENTERPRISE RESOURSE PLANNING: THE BUSINESS BACKBONE</a:t>
            </a:r>
          </a:p>
        </p:txBody>
      </p:sp>
      <p:sp>
        <p:nvSpPr>
          <p:cNvPr id="3" name="Text Placeholder 2">
            <a:extLst>
              <a:ext uri="{FF2B5EF4-FFF2-40B4-BE49-F238E27FC236}">
                <a16:creationId xmlns:a16="http://schemas.microsoft.com/office/drawing/2014/main" id="{F7AB7FF3-BEF4-A811-BE8E-D717F96E2C7F}"/>
              </a:ext>
            </a:extLst>
          </p:cNvPr>
          <p:cNvSpPr>
            <a:spLocks noGrp="1"/>
          </p:cNvSpPr>
          <p:nvPr>
            <p:ph type="body" idx="1"/>
          </p:nvPr>
        </p:nvSpPr>
        <p:spPr>
          <a:xfrm>
            <a:off x="1239240" y="2057400"/>
            <a:ext cx="9713519" cy="4062651"/>
          </a:xfrm>
        </p:spPr>
        <p:txBody>
          <a:bodyPr/>
          <a:lstStyle/>
          <a:p>
            <a:r>
              <a:rPr lang="en-US" dirty="0"/>
              <a:t>Enterprise Resource Planning (ERP) systems indeed serve as the backbone of many businesses, integrating various functions and processes across an organization into one comprehensive system. Here's why ERP is often referred to as the business backbone:</a:t>
            </a:r>
          </a:p>
          <a:p>
            <a:endParaRPr lang="en-US" dirty="0"/>
          </a:p>
          <a:p>
            <a:r>
              <a:rPr lang="en-US" dirty="0"/>
              <a:t>1. Integration: ERP software integrates different functions like finance, human resources, supply chain, manufacturing, and more into one cohesive system. This integration streamlines operations and facilitates better communication and collaboration across departments.</a:t>
            </a:r>
          </a:p>
          <a:p>
            <a:endParaRPr lang="en-US" dirty="0"/>
          </a:p>
          <a:p>
            <a:endParaRPr lang="en-IN" dirty="0"/>
          </a:p>
        </p:txBody>
      </p:sp>
    </p:spTree>
    <p:extLst>
      <p:ext uri="{BB962C8B-B14F-4D97-AF65-F5344CB8AC3E}">
        <p14:creationId xmlns:p14="http://schemas.microsoft.com/office/powerpoint/2010/main" val="41617275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76063-79A4-C3B6-6839-8A068B8758D2}"/>
              </a:ext>
            </a:extLst>
          </p:cNvPr>
          <p:cNvSpPr>
            <a:spLocks noGrp="1"/>
          </p:cNvSpPr>
          <p:nvPr>
            <p:ph type="title"/>
          </p:nvPr>
        </p:nvSpPr>
        <p:spPr>
          <a:xfrm>
            <a:off x="1214438" y="789147"/>
            <a:ext cx="9763123" cy="1107996"/>
          </a:xfrm>
        </p:spPr>
        <p:txBody>
          <a:bodyPr/>
          <a:lstStyle/>
          <a:p>
            <a:r>
              <a:rPr lang="en-IN" dirty="0"/>
              <a:t>ENTERPRISE RESOURSE PLANNING: THE BUSINESS BACKBONE</a:t>
            </a:r>
          </a:p>
        </p:txBody>
      </p:sp>
      <p:sp>
        <p:nvSpPr>
          <p:cNvPr id="3" name="Text Placeholder 2">
            <a:extLst>
              <a:ext uri="{FF2B5EF4-FFF2-40B4-BE49-F238E27FC236}">
                <a16:creationId xmlns:a16="http://schemas.microsoft.com/office/drawing/2014/main" id="{F7AB7FF3-BEF4-A811-BE8E-D717F96E2C7F}"/>
              </a:ext>
            </a:extLst>
          </p:cNvPr>
          <p:cNvSpPr>
            <a:spLocks noGrp="1"/>
          </p:cNvSpPr>
          <p:nvPr>
            <p:ph type="body" idx="1"/>
          </p:nvPr>
        </p:nvSpPr>
        <p:spPr>
          <a:xfrm>
            <a:off x="1239240" y="2057400"/>
            <a:ext cx="9713519" cy="3693319"/>
          </a:xfrm>
        </p:spPr>
        <p:txBody>
          <a:bodyPr/>
          <a:lstStyle/>
          <a:p>
            <a:r>
              <a:rPr lang="en-US" dirty="0"/>
              <a:t>2. Centralized Data: ERP systems centralize data storage, providing a single source of truth for the entire organization. This ensures data consistency and accuracy across different departments, reducing errors and duplication of efforts.</a:t>
            </a:r>
          </a:p>
          <a:p>
            <a:endParaRPr lang="en-US" dirty="0"/>
          </a:p>
          <a:p>
            <a:r>
              <a:rPr lang="en-US" dirty="0"/>
              <a:t>3. Efficiency: By automating repetitive tasks and standardizing processes, ERP systems improve operational efficiency. This allows employees to focus on more strategic tasks rather than spending time on manual data entry or reconciliation.</a:t>
            </a:r>
          </a:p>
          <a:p>
            <a:endParaRPr lang="en-IN" dirty="0"/>
          </a:p>
        </p:txBody>
      </p:sp>
    </p:spTree>
    <p:extLst>
      <p:ext uri="{BB962C8B-B14F-4D97-AF65-F5344CB8AC3E}">
        <p14:creationId xmlns:p14="http://schemas.microsoft.com/office/powerpoint/2010/main" val="28041935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76063-79A4-C3B6-6839-8A068B8758D2}"/>
              </a:ext>
            </a:extLst>
          </p:cNvPr>
          <p:cNvSpPr>
            <a:spLocks noGrp="1"/>
          </p:cNvSpPr>
          <p:nvPr>
            <p:ph type="title"/>
          </p:nvPr>
        </p:nvSpPr>
        <p:spPr>
          <a:xfrm>
            <a:off x="1214438" y="789147"/>
            <a:ext cx="9763123" cy="1107996"/>
          </a:xfrm>
        </p:spPr>
        <p:txBody>
          <a:bodyPr/>
          <a:lstStyle/>
          <a:p>
            <a:r>
              <a:rPr lang="en-IN" dirty="0"/>
              <a:t>ENTERPRISE RESOURSE PLANNING: THE BUSINESS BACKBONE</a:t>
            </a:r>
          </a:p>
        </p:txBody>
      </p:sp>
      <p:sp>
        <p:nvSpPr>
          <p:cNvPr id="3" name="Text Placeholder 2">
            <a:extLst>
              <a:ext uri="{FF2B5EF4-FFF2-40B4-BE49-F238E27FC236}">
                <a16:creationId xmlns:a16="http://schemas.microsoft.com/office/drawing/2014/main" id="{F7AB7FF3-BEF4-A811-BE8E-D717F96E2C7F}"/>
              </a:ext>
            </a:extLst>
          </p:cNvPr>
          <p:cNvSpPr>
            <a:spLocks noGrp="1"/>
          </p:cNvSpPr>
          <p:nvPr>
            <p:ph type="body" idx="1"/>
          </p:nvPr>
        </p:nvSpPr>
        <p:spPr>
          <a:xfrm>
            <a:off x="1239240" y="2057400"/>
            <a:ext cx="9713519" cy="5170646"/>
          </a:xfrm>
        </p:spPr>
        <p:txBody>
          <a:bodyPr/>
          <a:lstStyle/>
          <a:p>
            <a:r>
              <a:rPr lang="en-US" dirty="0"/>
              <a:t>4. Improved Decision Making: With real-time access to accurate data, ERP enables better decision-making at all levels of the organization. Managers can quickly generate reports and analyze key performance indicators to make informed decisions that drive business growth.</a:t>
            </a:r>
          </a:p>
          <a:p>
            <a:endParaRPr lang="en-US" dirty="0"/>
          </a:p>
          <a:p>
            <a:r>
              <a:rPr lang="en-US" dirty="0"/>
              <a:t>5. Scalability: ERP systems are designed to scale with the growth of the business. Whether the company expands into new markets, adds more product lines, or increases its workforce, ERP can accommodate these changes and support the evolving needs of the organization.</a:t>
            </a:r>
          </a:p>
          <a:p>
            <a:endParaRPr lang="en-US" dirty="0"/>
          </a:p>
          <a:p>
            <a:r>
              <a:rPr lang="en-US" dirty="0"/>
              <a:t>6. Regulatory Compliance: Many ERP systems incorporate features to ensure compliance with industry regulations and standards. This helps organizations adhere to legal requirements and avoid penalties or fines.</a:t>
            </a:r>
          </a:p>
          <a:p>
            <a:endParaRPr lang="en-IN" dirty="0"/>
          </a:p>
        </p:txBody>
      </p:sp>
    </p:spTree>
    <p:extLst>
      <p:ext uri="{BB962C8B-B14F-4D97-AF65-F5344CB8AC3E}">
        <p14:creationId xmlns:p14="http://schemas.microsoft.com/office/powerpoint/2010/main" val="4467198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76063-79A4-C3B6-6839-8A068B8758D2}"/>
              </a:ext>
            </a:extLst>
          </p:cNvPr>
          <p:cNvSpPr>
            <a:spLocks noGrp="1"/>
          </p:cNvSpPr>
          <p:nvPr>
            <p:ph type="title"/>
          </p:nvPr>
        </p:nvSpPr>
        <p:spPr>
          <a:xfrm>
            <a:off x="1214438" y="789147"/>
            <a:ext cx="9763123" cy="1107996"/>
          </a:xfrm>
        </p:spPr>
        <p:txBody>
          <a:bodyPr/>
          <a:lstStyle/>
          <a:p>
            <a:r>
              <a:rPr lang="en-IN" dirty="0"/>
              <a:t>ENTERPRISE RESOURSE PLANNING: THE BUSINESS BACKBONE</a:t>
            </a:r>
          </a:p>
        </p:txBody>
      </p:sp>
      <p:sp>
        <p:nvSpPr>
          <p:cNvPr id="3" name="Text Placeholder 2">
            <a:extLst>
              <a:ext uri="{FF2B5EF4-FFF2-40B4-BE49-F238E27FC236}">
                <a16:creationId xmlns:a16="http://schemas.microsoft.com/office/drawing/2014/main" id="{F7AB7FF3-BEF4-A811-BE8E-D717F96E2C7F}"/>
              </a:ext>
            </a:extLst>
          </p:cNvPr>
          <p:cNvSpPr>
            <a:spLocks noGrp="1"/>
          </p:cNvSpPr>
          <p:nvPr>
            <p:ph type="body" idx="1"/>
          </p:nvPr>
        </p:nvSpPr>
        <p:spPr>
          <a:xfrm>
            <a:off x="1239240" y="2057400"/>
            <a:ext cx="9713519" cy="4062651"/>
          </a:xfrm>
        </p:spPr>
        <p:txBody>
          <a:bodyPr/>
          <a:lstStyle/>
          <a:p>
            <a:r>
              <a:rPr lang="en-US" dirty="0"/>
              <a:t>7. Customer Satisfaction: ERP systems often include customer relationship management (CRM) modules, allowing businesses to manage customer interactions, track sales leads, and provide better customer service. This leads to higher customer satisfaction and loyalty.</a:t>
            </a:r>
          </a:p>
          <a:p>
            <a:endParaRPr lang="en-US" dirty="0"/>
          </a:p>
          <a:p>
            <a:r>
              <a:rPr lang="en-US" dirty="0"/>
              <a:t>8. Cost Savings: While implementing an ERP system can involve significant upfront costs, it can result in long-term cost savings through improved efficiency, reduced operational errors, and better resource allocation.</a:t>
            </a:r>
          </a:p>
          <a:p>
            <a:endParaRPr lang="en-US" dirty="0"/>
          </a:p>
          <a:p>
            <a:r>
              <a:rPr lang="en-US" dirty="0"/>
              <a:t>Overall, ERP serves as the backbone of a business by providing the foundation for streamlined operations, enhanced decision-making, and sustained growth.</a:t>
            </a:r>
            <a:endParaRPr lang="en-IN" dirty="0"/>
          </a:p>
        </p:txBody>
      </p:sp>
    </p:spTree>
    <p:extLst>
      <p:ext uri="{BB962C8B-B14F-4D97-AF65-F5344CB8AC3E}">
        <p14:creationId xmlns:p14="http://schemas.microsoft.com/office/powerpoint/2010/main" val="37903091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B0A35-D9FF-579B-E9DC-2A9046284625}"/>
              </a:ext>
            </a:extLst>
          </p:cNvPr>
          <p:cNvSpPr>
            <a:spLocks noGrp="1"/>
          </p:cNvSpPr>
          <p:nvPr>
            <p:ph type="title"/>
          </p:nvPr>
        </p:nvSpPr>
        <p:spPr>
          <a:xfrm>
            <a:off x="1214438" y="789147"/>
            <a:ext cx="9763123" cy="1107996"/>
          </a:xfrm>
        </p:spPr>
        <p:txBody>
          <a:bodyPr/>
          <a:lstStyle/>
          <a:p>
            <a:r>
              <a:rPr lang="en-US" dirty="0"/>
              <a:t>SUPPLY CHAIN MANAGEMENT: </a:t>
            </a:r>
            <a:r>
              <a:rPr lang="en-US" spc="-5" dirty="0"/>
              <a:t>Business Network</a:t>
            </a:r>
            <a:endParaRPr lang="en-IN" dirty="0"/>
          </a:p>
        </p:txBody>
      </p:sp>
      <p:sp>
        <p:nvSpPr>
          <p:cNvPr id="3" name="Text Placeholder 2">
            <a:extLst>
              <a:ext uri="{FF2B5EF4-FFF2-40B4-BE49-F238E27FC236}">
                <a16:creationId xmlns:a16="http://schemas.microsoft.com/office/drawing/2014/main" id="{F471DBD2-7825-1CE7-33D7-D479A68C4081}"/>
              </a:ext>
            </a:extLst>
          </p:cNvPr>
          <p:cNvSpPr>
            <a:spLocks noGrp="1"/>
          </p:cNvSpPr>
          <p:nvPr>
            <p:ph type="body" idx="1"/>
          </p:nvPr>
        </p:nvSpPr>
        <p:spPr>
          <a:xfrm>
            <a:off x="1239240" y="2148902"/>
            <a:ext cx="9713519" cy="4431983"/>
          </a:xfrm>
        </p:spPr>
        <p:txBody>
          <a:bodyPr/>
          <a:lstStyle/>
          <a:p>
            <a:pPr marL="342900" indent="-342900">
              <a:buFont typeface="Arial" panose="020B0604020202020204" pitchFamily="34" charset="0"/>
              <a:buChar char="•"/>
            </a:pPr>
            <a:r>
              <a:rPr lang="en-US" dirty="0"/>
              <a:t>A firm’s supply chain is a network of organizations and business processes for  procuring raw materials, transforming these materials into intermediate and  finished products, and distributing the finished products to customers.</a:t>
            </a:r>
          </a:p>
          <a:p>
            <a:pPr marL="342900" indent="-342900">
              <a:buFont typeface="Arial" panose="020B0604020202020204" pitchFamily="34" charset="0"/>
              <a:buChar char="•"/>
            </a:pPr>
            <a:r>
              <a:rPr lang="en-US" dirty="0"/>
              <a:t>It links suppliers, manufacturing plants, distribution centers, retail outlets, and  customers to supply goods and services from source through consumption.</a:t>
            </a:r>
          </a:p>
          <a:p>
            <a:pPr marL="342900" indent="-342900">
              <a:buFont typeface="Arial" panose="020B0604020202020204" pitchFamily="34" charset="0"/>
              <a:buChar char="•"/>
            </a:pPr>
            <a:r>
              <a:rPr lang="en-US" dirty="0"/>
              <a:t>Materials, information, and payments flow through the supply chain in both  directions.</a:t>
            </a:r>
          </a:p>
          <a:p>
            <a:pPr marL="342900" indent="-342900">
              <a:buFont typeface="Arial" panose="020B0604020202020204" pitchFamily="34" charset="0"/>
              <a:buChar char="•"/>
            </a:pPr>
            <a:r>
              <a:rPr lang="en-US" dirty="0"/>
              <a:t>Goods start out as raw materials and, as they move through the supply chain, are  transformed into intermediate products and finally, into finished products.</a:t>
            </a:r>
          </a:p>
          <a:p>
            <a:endParaRPr lang="en-IN" dirty="0"/>
          </a:p>
        </p:txBody>
      </p:sp>
    </p:spTree>
    <p:extLst>
      <p:ext uri="{BB962C8B-B14F-4D97-AF65-F5344CB8AC3E}">
        <p14:creationId xmlns:p14="http://schemas.microsoft.com/office/powerpoint/2010/main" val="38071044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91DFB-FB0C-9961-F723-9683EECCDDE9}"/>
              </a:ext>
            </a:extLst>
          </p:cNvPr>
          <p:cNvSpPr>
            <a:spLocks noGrp="1"/>
          </p:cNvSpPr>
          <p:nvPr>
            <p:ph type="title"/>
          </p:nvPr>
        </p:nvSpPr>
        <p:spPr>
          <a:xfrm>
            <a:off x="1214438" y="789147"/>
            <a:ext cx="9763123" cy="553998"/>
          </a:xfrm>
        </p:spPr>
        <p:txBody>
          <a:bodyPr/>
          <a:lstStyle/>
          <a:p>
            <a:r>
              <a:rPr lang="en-IN" sz="3600" spc="-5" dirty="0"/>
              <a:t>EXAMPLE</a:t>
            </a:r>
            <a:endParaRPr lang="en-IN" dirty="0"/>
          </a:p>
        </p:txBody>
      </p:sp>
      <p:sp>
        <p:nvSpPr>
          <p:cNvPr id="3" name="Text Placeholder 2">
            <a:extLst>
              <a:ext uri="{FF2B5EF4-FFF2-40B4-BE49-F238E27FC236}">
                <a16:creationId xmlns:a16="http://schemas.microsoft.com/office/drawing/2014/main" id="{28E15C37-1CC6-5958-D944-672929B23856}"/>
              </a:ext>
            </a:extLst>
          </p:cNvPr>
          <p:cNvSpPr>
            <a:spLocks noGrp="1"/>
          </p:cNvSpPr>
          <p:nvPr>
            <p:ph type="body" idx="1"/>
          </p:nvPr>
        </p:nvSpPr>
        <p:spPr>
          <a:xfrm>
            <a:off x="1239240" y="2057400"/>
            <a:ext cx="9713519" cy="5262148"/>
          </a:xfrm>
        </p:spPr>
        <p:txBody>
          <a:bodyPr/>
          <a:lstStyle/>
          <a:p>
            <a:r>
              <a:rPr lang="en-US" dirty="0"/>
              <a:t>Let’s look at the supply chain for Nike sneakers as an example. Nike designs, markets,  and sells sneakers, socks, athletic clothing, and accessories throughout the world. Its  primary suppliers are contract manufacturers with factories in China, Thailand,  Indonesia, Brazil, and other countries. These companies fashion Nike’s finished  products.</a:t>
            </a:r>
          </a:p>
          <a:p>
            <a:r>
              <a:rPr lang="en-US" dirty="0"/>
              <a:t>Nike’s contract suppliers do not manufacture sneakers from scratch. They obtain  components for the sneakers—the laces, eyelets, uppers, and soles—from other  suppliers and then assemble them into finished sneakers.</a:t>
            </a:r>
          </a:p>
          <a:p>
            <a:r>
              <a:rPr lang="en-US" dirty="0"/>
              <a:t>These suppliers in turn have their own suppliers. For example, the suppliers of soles  have suppliers for synthetic rubber, suppliers for chemicals used to melt the rubber for  molding, and suppliers for the molds into which to pour the rubber. Suppliers of laces  have suppliers for their thread, for dyes, and for the plastic lace tips.</a:t>
            </a:r>
          </a:p>
          <a:p>
            <a:endParaRPr lang="en-IN" dirty="0"/>
          </a:p>
        </p:txBody>
      </p:sp>
    </p:spTree>
    <p:extLst>
      <p:ext uri="{BB962C8B-B14F-4D97-AF65-F5344CB8AC3E}">
        <p14:creationId xmlns:p14="http://schemas.microsoft.com/office/powerpoint/2010/main" val="24487331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6F5B7-37F6-30DF-081F-3F33D1E22CB8}"/>
              </a:ext>
            </a:extLst>
          </p:cNvPr>
          <p:cNvSpPr>
            <a:spLocks noGrp="1"/>
          </p:cNvSpPr>
          <p:nvPr>
            <p:ph type="title"/>
          </p:nvPr>
        </p:nvSpPr>
        <p:spPr>
          <a:xfrm>
            <a:off x="1214438" y="789147"/>
            <a:ext cx="9763123" cy="553998"/>
          </a:xfrm>
        </p:spPr>
        <p:txBody>
          <a:bodyPr/>
          <a:lstStyle/>
          <a:p>
            <a:r>
              <a:rPr lang="en-US" spc="-5" dirty="0"/>
              <a:t>Supply chain Management: Business Network</a:t>
            </a:r>
            <a:endParaRPr lang="en-IN" spc="-5" dirty="0"/>
          </a:p>
        </p:txBody>
      </p:sp>
      <p:pic>
        <p:nvPicPr>
          <p:cNvPr id="4" name="Picture 3">
            <a:extLst>
              <a:ext uri="{FF2B5EF4-FFF2-40B4-BE49-F238E27FC236}">
                <a16:creationId xmlns:a16="http://schemas.microsoft.com/office/drawing/2014/main" id="{8D49A56D-39FF-F311-79A4-A27FDB41047C}"/>
              </a:ext>
            </a:extLst>
          </p:cNvPr>
          <p:cNvPicPr>
            <a:picLocks noChangeAspect="1"/>
          </p:cNvPicPr>
          <p:nvPr/>
        </p:nvPicPr>
        <p:blipFill>
          <a:blip r:embed="rId2"/>
          <a:stretch>
            <a:fillRect/>
          </a:stretch>
        </p:blipFill>
        <p:spPr>
          <a:xfrm rot="5400000">
            <a:off x="4419597" y="-284758"/>
            <a:ext cx="3352805" cy="9713520"/>
          </a:xfrm>
          <a:prstGeom prst="rect">
            <a:avLst/>
          </a:prstGeom>
        </p:spPr>
      </p:pic>
      <p:sp>
        <p:nvSpPr>
          <p:cNvPr id="3" name="Text Placeholder 2">
            <a:extLst>
              <a:ext uri="{FF2B5EF4-FFF2-40B4-BE49-F238E27FC236}">
                <a16:creationId xmlns:a16="http://schemas.microsoft.com/office/drawing/2014/main" id="{B134EB18-0968-183A-6434-E250039367D8}"/>
              </a:ext>
            </a:extLst>
          </p:cNvPr>
          <p:cNvSpPr>
            <a:spLocks noGrp="1"/>
          </p:cNvSpPr>
          <p:nvPr>
            <p:ph type="body" idx="1"/>
          </p:nvPr>
        </p:nvSpPr>
        <p:spPr>
          <a:xfrm>
            <a:off x="1239240" y="2148902"/>
            <a:ext cx="9713519" cy="4480498"/>
          </a:xfrm>
        </p:spPr>
        <p:txBody>
          <a:bodyPr/>
          <a:lstStyle/>
          <a:p>
            <a:endParaRPr lang="en-IN" dirty="0"/>
          </a:p>
        </p:txBody>
      </p:sp>
    </p:spTree>
    <p:extLst>
      <p:ext uri="{BB962C8B-B14F-4D97-AF65-F5344CB8AC3E}">
        <p14:creationId xmlns:p14="http://schemas.microsoft.com/office/powerpoint/2010/main" val="10550933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B8F39-F615-FD03-609E-30B2C69A78FD}"/>
              </a:ext>
            </a:extLst>
          </p:cNvPr>
          <p:cNvSpPr>
            <a:spLocks noGrp="1"/>
          </p:cNvSpPr>
          <p:nvPr>
            <p:ph type="title"/>
          </p:nvPr>
        </p:nvSpPr>
        <p:spPr>
          <a:xfrm>
            <a:off x="1214438" y="789147"/>
            <a:ext cx="9763123" cy="553998"/>
          </a:xfrm>
        </p:spPr>
        <p:txBody>
          <a:bodyPr/>
          <a:lstStyle/>
          <a:p>
            <a:r>
              <a:rPr lang="en-US" spc="-5" dirty="0"/>
              <a:t>Electronic Commerce Systems: Fundamentals</a:t>
            </a:r>
            <a:endParaRPr lang="en-IN" spc="-5" dirty="0"/>
          </a:p>
        </p:txBody>
      </p:sp>
      <p:sp>
        <p:nvSpPr>
          <p:cNvPr id="3" name="Text Placeholder 2">
            <a:extLst>
              <a:ext uri="{FF2B5EF4-FFF2-40B4-BE49-F238E27FC236}">
                <a16:creationId xmlns:a16="http://schemas.microsoft.com/office/drawing/2014/main" id="{5D1B1DAD-8643-301A-61FE-A9DB7410D3E4}"/>
              </a:ext>
            </a:extLst>
          </p:cNvPr>
          <p:cNvSpPr>
            <a:spLocks noGrp="1"/>
          </p:cNvSpPr>
          <p:nvPr>
            <p:ph type="body" idx="1"/>
          </p:nvPr>
        </p:nvSpPr>
        <p:spPr>
          <a:xfrm>
            <a:off x="1239240" y="2148902"/>
            <a:ext cx="9713519" cy="4431983"/>
          </a:xfrm>
        </p:spPr>
        <p:txBody>
          <a:bodyPr/>
          <a:lstStyle/>
          <a:p>
            <a:r>
              <a:rPr lang="en-US" dirty="0"/>
              <a:t>Electronic Commerce Systems, or e-commerce, form the backbone of online business transactions, enabling buying and selling of goods and services over the internet. Here are some fundamental aspects:</a:t>
            </a:r>
          </a:p>
          <a:p>
            <a:endParaRPr lang="en-US" dirty="0"/>
          </a:p>
          <a:p>
            <a:r>
              <a:rPr lang="en-US" dirty="0"/>
              <a:t>1. Online Storefronts: These are virtual platforms where businesses showcase their products or services. They can be standalone websites, social media pages, or marketplaces like Amazon or eBay.</a:t>
            </a:r>
          </a:p>
          <a:p>
            <a:endParaRPr lang="en-US" dirty="0"/>
          </a:p>
          <a:p>
            <a:r>
              <a:rPr lang="en-US" dirty="0"/>
              <a:t>2. Payment Gateways: These facilitate secure online transactions by encrypting sensitive information such as credit card numbers. Popular examples include PayPal, Stripe, and Square.</a:t>
            </a:r>
          </a:p>
          <a:p>
            <a:endParaRPr lang="en-US" dirty="0"/>
          </a:p>
        </p:txBody>
      </p:sp>
    </p:spTree>
    <p:extLst>
      <p:ext uri="{BB962C8B-B14F-4D97-AF65-F5344CB8AC3E}">
        <p14:creationId xmlns:p14="http://schemas.microsoft.com/office/powerpoint/2010/main" val="32896577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B8F39-F615-FD03-609E-30B2C69A78FD}"/>
              </a:ext>
            </a:extLst>
          </p:cNvPr>
          <p:cNvSpPr>
            <a:spLocks noGrp="1"/>
          </p:cNvSpPr>
          <p:nvPr>
            <p:ph type="title"/>
          </p:nvPr>
        </p:nvSpPr>
        <p:spPr>
          <a:xfrm>
            <a:off x="1214438" y="789147"/>
            <a:ext cx="9763123" cy="553998"/>
          </a:xfrm>
        </p:spPr>
        <p:txBody>
          <a:bodyPr/>
          <a:lstStyle/>
          <a:p>
            <a:r>
              <a:rPr lang="en-US" spc="-5" dirty="0"/>
              <a:t>Electronic Commerce Systems: Fundamentals</a:t>
            </a:r>
            <a:endParaRPr lang="en-IN" spc="-5" dirty="0"/>
          </a:p>
        </p:txBody>
      </p:sp>
      <p:sp>
        <p:nvSpPr>
          <p:cNvPr id="3" name="Text Placeholder 2">
            <a:extLst>
              <a:ext uri="{FF2B5EF4-FFF2-40B4-BE49-F238E27FC236}">
                <a16:creationId xmlns:a16="http://schemas.microsoft.com/office/drawing/2014/main" id="{5D1B1DAD-8643-301A-61FE-A9DB7410D3E4}"/>
              </a:ext>
            </a:extLst>
          </p:cNvPr>
          <p:cNvSpPr>
            <a:spLocks noGrp="1"/>
          </p:cNvSpPr>
          <p:nvPr>
            <p:ph type="body" idx="1"/>
          </p:nvPr>
        </p:nvSpPr>
        <p:spPr>
          <a:xfrm>
            <a:off x="1239240" y="2148902"/>
            <a:ext cx="9713519" cy="3693319"/>
          </a:xfrm>
        </p:spPr>
        <p:txBody>
          <a:bodyPr/>
          <a:lstStyle/>
          <a:p>
            <a:r>
              <a:rPr lang="en-US" dirty="0"/>
              <a:t>3. Shopping Carts: Essential for online shopping, these software applications allow users to select items for purchase, review their choices, and proceed to checkout.</a:t>
            </a:r>
          </a:p>
          <a:p>
            <a:endParaRPr lang="en-US" dirty="0"/>
          </a:p>
          <a:p>
            <a:r>
              <a:rPr lang="en-US" dirty="0"/>
              <a:t>4. Digital Marketing: Strategies like search engine optimization (SEO), social media marketing, and email marketing help drive traffic to e-commerce sites and increase sales.</a:t>
            </a:r>
          </a:p>
          <a:p>
            <a:endParaRPr lang="en-US" dirty="0"/>
          </a:p>
          <a:p>
            <a:r>
              <a:rPr lang="en-US" dirty="0"/>
              <a:t>5. Inventory Management: Efficiently tracking stock levels, restocking, and managing product variations are crucial for smooth e-commerce operations.</a:t>
            </a:r>
          </a:p>
        </p:txBody>
      </p:sp>
    </p:spTree>
    <p:extLst>
      <p:ext uri="{BB962C8B-B14F-4D97-AF65-F5344CB8AC3E}">
        <p14:creationId xmlns:p14="http://schemas.microsoft.com/office/powerpoint/2010/main" val="41627934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B8F39-F615-FD03-609E-30B2C69A78FD}"/>
              </a:ext>
            </a:extLst>
          </p:cNvPr>
          <p:cNvSpPr>
            <a:spLocks noGrp="1"/>
          </p:cNvSpPr>
          <p:nvPr>
            <p:ph type="title"/>
          </p:nvPr>
        </p:nvSpPr>
        <p:spPr>
          <a:xfrm>
            <a:off x="1214438" y="789147"/>
            <a:ext cx="9763123" cy="553998"/>
          </a:xfrm>
        </p:spPr>
        <p:txBody>
          <a:bodyPr/>
          <a:lstStyle/>
          <a:p>
            <a:r>
              <a:rPr lang="en-US" spc="-5" dirty="0"/>
              <a:t>Electronic Commerce Systems: Fundamentals</a:t>
            </a:r>
            <a:endParaRPr lang="en-IN" spc="-5" dirty="0"/>
          </a:p>
        </p:txBody>
      </p:sp>
      <p:sp>
        <p:nvSpPr>
          <p:cNvPr id="3" name="Text Placeholder 2">
            <a:extLst>
              <a:ext uri="{FF2B5EF4-FFF2-40B4-BE49-F238E27FC236}">
                <a16:creationId xmlns:a16="http://schemas.microsoft.com/office/drawing/2014/main" id="{5D1B1DAD-8643-301A-61FE-A9DB7410D3E4}"/>
              </a:ext>
            </a:extLst>
          </p:cNvPr>
          <p:cNvSpPr>
            <a:spLocks noGrp="1"/>
          </p:cNvSpPr>
          <p:nvPr>
            <p:ph type="body" idx="1"/>
          </p:nvPr>
        </p:nvSpPr>
        <p:spPr>
          <a:xfrm>
            <a:off x="1239240" y="2148902"/>
            <a:ext cx="9713519" cy="2585323"/>
          </a:xfrm>
        </p:spPr>
        <p:txBody>
          <a:bodyPr/>
          <a:lstStyle/>
          <a:p>
            <a:r>
              <a:rPr lang="en-US" dirty="0"/>
              <a:t>6. Mobile Commerce: With the proliferation of smartphones, ensuring that e-commerce platforms are mobile-friendly or have dedicated apps is vital for reaching a broader customer base.</a:t>
            </a:r>
          </a:p>
          <a:p>
            <a:endParaRPr lang="en-US" dirty="0"/>
          </a:p>
          <a:p>
            <a:r>
              <a:rPr lang="en-US" dirty="0"/>
              <a:t>7. Analytics and Reporting: Tracking key metrics such as website traffic, conversion rates, and customer demographics provides valuable insights for optimizing marketing strategies and improving overall </a:t>
            </a:r>
            <a:r>
              <a:rPr lang="en-US" dirty="0" err="1"/>
              <a:t>performance.operations</a:t>
            </a:r>
            <a:r>
              <a:rPr lang="en-US" dirty="0"/>
              <a:t>.</a:t>
            </a:r>
          </a:p>
        </p:txBody>
      </p:sp>
    </p:spTree>
    <p:extLst>
      <p:ext uri="{BB962C8B-B14F-4D97-AF65-F5344CB8AC3E}">
        <p14:creationId xmlns:p14="http://schemas.microsoft.com/office/powerpoint/2010/main" val="30098826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6431280" cy="574040"/>
          </a:xfrm>
          <a:prstGeom prst="rect">
            <a:avLst/>
          </a:prstGeom>
        </p:spPr>
        <p:txBody>
          <a:bodyPr vert="horz" wrap="square" lIns="0" tIns="12700" rIns="0" bIns="0" rtlCol="0">
            <a:spAutoFit/>
          </a:bodyPr>
          <a:lstStyle/>
          <a:p>
            <a:pPr marL="12700">
              <a:lnSpc>
                <a:spcPct val="100000"/>
              </a:lnSpc>
              <a:spcBef>
                <a:spcPts val="100"/>
              </a:spcBef>
            </a:pPr>
            <a:r>
              <a:rPr spc="-10" dirty="0"/>
              <a:t>E-COMMERCE</a:t>
            </a:r>
            <a:r>
              <a:rPr spc="-85" dirty="0"/>
              <a:t> </a:t>
            </a:r>
            <a:r>
              <a:rPr spc="-5" dirty="0"/>
              <a:t>APPLICATIONS</a:t>
            </a:r>
          </a:p>
        </p:txBody>
      </p:sp>
      <p:sp>
        <p:nvSpPr>
          <p:cNvPr id="3" name="object 3"/>
          <p:cNvSpPr txBox="1"/>
          <p:nvPr/>
        </p:nvSpPr>
        <p:spPr>
          <a:xfrm>
            <a:off x="1271549" y="2148901"/>
            <a:ext cx="7948651" cy="3581749"/>
          </a:xfrm>
          <a:prstGeom prst="rect">
            <a:avLst/>
          </a:prstGeom>
        </p:spPr>
        <p:txBody>
          <a:bodyPr vert="horz" wrap="square" lIns="0" tIns="123189" rIns="0" bIns="0" rtlCol="0">
            <a:spAutoFit/>
          </a:bodyPr>
          <a:lstStyle/>
          <a:p>
            <a:pPr marL="184150" indent="-172085">
              <a:lnSpc>
                <a:spcPct val="100000"/>
              </a:lnSpc>
              <a:spcBef>
                <a:spcPts val="969"/>
              </a:spcBef>
              <a:buSzPct val="125000"/>
              <a:buFont typeface="Arial MT"/>
              <a:buChar char="•"/>
              <a:tabLst>
                <a:tab pos="184785" algn="l"/>
              </a:tabLst>
            </a:pPr>
            <a:r>
              <a:rPr sz="2400" spc="-5" dirty="0">
                <a:solidFill>
                  <a:srgbClr val="FFFFFF"/>
                </a:solidFill>
                <a:latin typeface="Times New Roman"/>
                <a:cs typeface="Times New Roman"/>
              </a:rPr>
              <a:t>Online</a:t>
            </a:r>
            <a:r>
              <a:rPr sz="2400" spc="-50" dirty="0">
                <a:solidFill>
                  <a:srgbClr val="FFFFFF"/>
                </a:solidFill>
                <a:latin typeface="Times New Roman"/>
                <a:cs typeface="Times New Roman"/>
              </a:rPr>
              <a:t> </a:t>
            </a:r>
            <a:r>
              <a:rPr sz="2400" spc="-5" dirty="0">
                <a:solidFill>
                  <a:srgbClr val="FFFFFF"/>
                </a:solidFill>
                <a:latin typeface="Times New Roman"/>
                <a:cs typeface="Times New Roman"/>
              </a:rPr>
              <a:t>Shopping</a:t>
            </a:r>
            <a:endParaRPr sz="2400" dirty="0">
              <a:latin typeface="Times New Roman"/>
              <a:cs typeface="Times New Roman"/>
            </a:endParaRPr>
          </a:p>
          <a:p>
            <a:pPr marL="184150" indent="-172085">
              <a:lnSpc>
                <a:spcPct val="100000"/>
              </a:lnSpc>
              <a:spcBef>
                <a:spcPts val="1720"/>
              </a:spcBef>
              <a:buSzPct val="125000"/>
              <a:buFont typeface="Arial MT"/>
              <a:buChar char="•"/>
              <a:tabLst>
                <a:tab pos="184785" algn="l"/>
              </a:tabLst>
            </a:pPr>
            <a:r>
              <a:rPr sz="2400" spc="-5" dirty="0">
                <a:solidFill>
                  <a:srgbClr val="FFFFFF"/>
                </a:solidFill>
                <a:latin typeface="Times New Roman"/>
                <a:cs typeface="Times New Roman"/>
              </a:rPr>
              <a:t>Online</a:t>
            </a:r>
            <a:r>
              <a:rPr sz="2400" spc="-80" dirty="0">
                <a:solidFill>
                  <a:srgbClr val="FFFFFF"/>
                </a:solidFill>
                <a:latin typeface="Times New Roman"/>
                <a:cs typeface="Times New Roman"/>
              </a:rPr>
              <a:t> </a:t>
            </a:r>
            <a:r>
              <a:rPr sz="2400" spc="-5" dirty="0">
                <a:solidFill>
                  <a:srgbClr val="FFFFFF"/>
                </a:solidFill>
                <a:latin typeface="Times New Roman"/>
                <a:cs typeface="Times New Roman"/>
              </a:rPr>
              <a:t>Marketing</a:t>
            </a:r>
            <a:endParaRPr sz="2400" dirty="0">
              <a:latin typeface="Times New Roman"/>
              <a:cs typeface="Times New Roman"/>
            </a:endParaRPr>
          </a:p>
          <a:p>
            <a:pPr marL="184150" indent="-172085">
              <a:lnSpc>
                <a:spcPct val="100000"/>
              </a:lnSpc>
              <a:spcBef>
                <a:spcPts val="1720"/>
              </a:spcBef>
              <a:buSzPct val="125000"/>
              <a:buFont typeface="Arial MT"/>
              <a:buChar char="•"/>
              <a:tabLst>
                <a:tab pos="184785" algn="l"/>
              </a:tabLst>
            </a:pPr>
            <a:r>
              <a:rPr sz="2400" spc="-5" dirty="0">
                <a:solidFill>
                  <a:srgbClr val="FFFFFF"/>
                </a:solidFill>
                <a:latin typeface="Times New Roman"/>
                <a:cs typeface="Times New Roman"/>
              </a:rPr>
              <a:t>Finance</a:t>
            </a:r>
            <a:endParaRPr sz="2400" dirty="0">
              <a:latin typeface="Times New Roman"/>
              <a:cs typeface="Times New Roman"/>
            </a:endParaRPr>
          </a:p>
          <a:p>
            <a:pPr marL="184150" indent="-172085">
              <a:lnSpc>
                <a:spcPct val="100000"/>
              </a:lnSpc>
              <a:spcBef>
                <a:spcPts val="1720"/>
              </a:spcBef>
              <a:buSzPct val="125000"/>
              <a:buFont typeface="Arial MT"/>
              <a:buChar char="•"/>
              <a:tabLst>
                <a:tab pos="184785" algn="l"/>
              </a:tabLst>
            </a:pPr>
            <a:r>
              <a:rPr sz="2400" spc="-5" dirty="0">
                <a:solidFill>
                  <a:srgbClr val="FFFFFF"/>
                </a:solidFill>
                <a:latin typeface="Times New Roman"/>
                <a:cs typeface="Times New Roman"/>
              </a:rPr>
              <a:t>Manufacturing</a:t>
            </a:r>
            <a:endParaRPr lang="en-IN" sz="2400" spc="-5" dirty="0">
              <a:solidFill>
                <a:srgbClr val="FFFFFF"/>
              </a:solidFill>
              <a:latin typeface="Times New Roman"/>
              <a:cs typeface="Times New Roman"/>
            </a:endParaRPr>
          </a:p>
          <a:p>
            <a:pPr marL="184150" indent="-172085">
              <a:spcBef>
                <a:spcPts val="1720"/>
              </a:spcBef>
              <a:buSzPct val="125000"/>
              <a:buFont typeface="Arial MT"/>
              <a:buChar char="•"/>
              <a:tabLst>
                <a:tab pos="184785" algn="l"/>
              </a:tabLst>
            </a:pPr>
            <a:r>
              <a:rPr lang="en-US" sz="2400" spc="-5" dirty="0">
                <a:solidFill>
                  <a:srgbClr val="FFFFFF"/>
                </a:solidFill>
                <a:latin typeface="Times New Roman"/>
                <a:cs typeface="Times New Roman"/>
              </a:rPr>
              <a:t>For details, go to the below link: </a:t>
            </a:r>
            <a:r>
              <a:rPr lang="en-US" sz="2400" spc="-5" dirty="0">
                <a:solidFill>
                  <a:srgbClr val="FFFFFF"/>
                </a:solidFill>
                <a:latin typeface="Times New Roman"/>
                <a:cs typeface="Times New Roman"/>
                <a:hlinkClick r:id="rId2">
                  <a:extLst>
                    <a:ext uri="{A12FA001-AC4F-418D-AE19-62706E023703}">
                      <ahyp:hlinkClr xmlns:ahyp="http://schemas.microsoft.com/office/drawing/2018/hyperlinkcolor" val="tx"/>
                    </a:ext>
                  </a:extLst>
                </a:hlinkClick>
              </a:rPr>
              <a:t>https://www.businessgo.hsbc.com/en/article/8-applications-of-ecommerce-explore-new-opportunities-for-your-business</a:t>
            </a:r>
            <a:endParaRPr sz="2400" spc="-5" dirty="0">
              <a:solidFill>
                <a:srgbClr val="FFFFFF"/>
              </a:solidFill>
              <a:latin typeface="Times New Roman"/>
              <a:cs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4704715" cy="574040"/>
          </a:xfrm>
          <a:prstGeom prst="rect">
            <a:avLst/>
          </a:prstGeom>
        </p:spPr>
        <p:txBody>
          <a:bodyPr vert="horz" wrap="square" lIns="0" tIns="12700" rIns="0" bIns="0" rtlCol="0">
            <a:spAutoFit/>
          </a:bodyPr>
          <a:lstStyle/>
          <a:p>
            <a:pPr marL="12700">
              <a:lnSpc>
                <a:spcPct val="100000"/>
              </a:lnSpc>
              <a:spcBef>
                <a:spcPts val="100"/>
              </a:spcBef>
            </a:pPr>
            <a:r>
              <a:rPr spc="-10" dirty="0"/>
              <a:t>E-COMMERCE</a:t>
            </a:r>
            <a:r>
              <a:rPr spc="-90" dirty="0"/>
              <a:t> </a:t>
            </a:r>
            <a:r>
              <a:rPr dirty="0"/>
              <a:t>ISSUES</a:t>
            </a:r>
          </a:p>
        </p:txBody>
      </p:sp>
      <p:sp>
        <p:nvSpPr>
          <p:cNvPr id="3" name="object 3"/>
          <p:cNvSpPr txBox="1"/>
          <p:nvPr/>
        </p:nvSpPr>
        <p:spPr>
          <a:xfrm>
            <a:off x="1271549" y="2148902"/>
            <a:ext cx="5970270" cy="5931110"/>
          </a:xfrm>
          <a:prstGeom prst="rect">
            <a:avLst/>
          </a:prstGeom>
        </p:spPr>
        <p:txBody>
          <a:bodyPr vert="horz" wrap="square" lIns="0" tIns="123189" rIns="0" bIns="0" rtlCol="0">
            <a:spAutoFit/>
          </a:bodyPr>
          <a:lstStyle/>
          <a:p>
            <a:pPr marL="184150" indent="-172085">
              <a:lnSpc>
                <a:spcPct val="100000"/>
              </a:lnSpc>
              <a:spcBef>
                <a:spcPts val="969"/>
              </a:spcBef>
              <a:buSzPct val="125000"/>
              <a:buFont typeface="Arial MT"/>
              <a:buChar char="•"/>
              <a:tabLst>
                <a:tab pos="184785" algn="l"/>
              </a:tabLst>
            </a:pPr>
            <a:r>
              <a:rPr sz="2400" spc="-5" dirty="0">
                <a:solidFill>
                  <a:srgbClr val="FFFFFF"/>
                </a:solidFill>
                <a:latin typeface="Times New Roman"/>
                <a:cs typeface="Times New Roman"/>
              </a:rPr>
              <a:t>Technological</a:t>
            </a:r>
            <a:r>
              <a:rPr sz="2400" spc="-50" dirty="0">
                <a:solidFill>
                  <a:srgbClr val="FFFFFF"/>
                </a:solidFill>
                <a:latin typeface="Times New Roman"/>
                <a:cs typeface="Times New Roman"/>
              </a:rPr>
              <a:t> </a:t>
            </a:r>
            <a:r>
              <a:rPr sz="2400" spc="-5" dirty="0">
                <a:solidFill>
                  <a:srgbClr val="FFFFFF"/>
                </a:solidFill>
                <a:latin typeface="Times New Roman"/>
                <a:cs typeface="Times New Roman"/>
              </a:rPr>
              <a:t>Limitations</a:t>
            </a:r>
            <a:endParaRPr sz="2400" dirty="0">
              <a:latin typeface="Times New Roman"/>
              <a:cs typeface="Times New Roman"/>
            </a:endParaRPr>
          </a:p>
          <a:p>
            <a:pPr marL="184150" indent="-172085">
              <a:lnSpc>
                <a:spcPct val="100000"/>
              </a:lnSpc>
              <a:spcBef>
                <a:spcPts val="1720"/>
              </a:spcBef>
              <a:buSzPct val="125000"/>
              <a:buFont typeface="Arial MT"/>
              <a:buChar char="•"/>
              <a:tabLst>
                <a:tab pos="184785" algn="l"/>
              </a:tabLst>
            </a:pPr>
            <a:r>
              <a:rPr sz="2400" spc="-5" dirty="0">
                <a:solidFill>
                  <a:srgbClr val="FFFFFF"/>
                </a:solidFill>
                <a:latin typeface="Times New Roman"/>
                <a:cs typeface="Times New Roman"/>
              </a:rPr>
              <a:t>Lack</a:t>
            </a:r>
            <a:r>
              <a:rPr sz="2400" spc="-25" dirty="0">
                <a:solidFill>
                  <a:srgbClr val="FFFFFF"/>
                </a:solidFill>
                <a:latin typeface="Times New Roman"/>
                <a:cs typeface="Times New Roman"/>
              </a:rPr>
              <a:t> </a:t>
            </a:r>
            <a:r>
              <a:rPr sz="2400" dirty="0">
                <a:solidFill>
                  <a:srgbClr val="FFFFFF"/>
                </a:solidFill>
                <a:latin typeface="Times New Roman"/>
                <a:cs typeface="Times New Roman"/>
              </a:rPr>
              <a:t>of</a:t>
            </a:r>
            <a:r>
              <a:rPr sz="2400" spc="-15" dirty="0">
                <a:solidFill>
                  <a:srgbClr val="FFFFFF"/>
                </a:solidFill>
                <a:latin typeface="Times New Roman"/>
                <a:cs typeface="Times New Roman"/>
              </a:rPr>
              <a:t> </a:t>
            </a:r>
            <a:r>
              <a:rPr sz="2400" dirty="0">
                <a:solidFill>
                  <a:srgbClr val="FFFFFF"/>
                </a:solidFill>
                <a:latin typeface="Times New Roman"/>
                <a:cs typeface="Times New Roman"/>
              </a:rPr>
              <a:t>universally</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accepted</a:t>
            </a:r>
            <a:r>
              <a:rPr sz="2400" spc="-20" dirty="0">
                <a:solidFill>
                  <a:srgbClr val="FFFFFF"/>
                </a:solidFill>
                <a:latin typeface="Times New Roman"/>
                <a:cs typeface="Times New Roman"/>
              </a:rPr>
              <a:t> </a:t>
            </a:r>
            <a:r>
              <a:rPr sz="2400" spc="-5" dirty="0">
                <a:solidFill>
                  <a:srgbClr val="FFFFFF"/>
                </a:solidFill>
                <a:latin typeface="Times New Roman"/>
                <a:cs typeface="Times New Roman"/>
              </a:rPr>
              <a:t>security</a:t>
            </a:r>
            <a:r>
              <a:rPr sz="2400" spc="-20" dirty="0">
                <a:solidFill>
                  <a:srgbClr val="FFFFFF"/>
                </a:solidFill>
                <a:latin typeface="Times New Roman"/>
                <a:cs typeface="Times New Roman"/>
              </a:rPr>
              <a:t> </a:t>
            </a:r>
            <a:r>
              <a:rPr sz="2400" spc="-5" dirty="0">
                <a:solidFill>
                  <a:srgbClr val="FFFFFF"/>
                </a:solidFill>
                <a:latin typeface="Times New Roman"/>
                <a:cs typeface="Times New Roman"/>
              </a:rPr>
              <a:t>standards</a:t>
            </a:r>
            <a:endParaRPr sz="2400" dirty="0">
              <a:latin typeface="Times New Roman"/>
              <a:cs typeface="Times New Roman"/>
            </a:endParaRPr>
          </a:p>
          <a:p>
            <a:pPr marL="184150" indent="-172085">
              <a:lnSpc>
                <a:spcPct val="100000"/>
              </a:lnSpc>
              <a:spcBef>
                <a:spcPts val="1720"/>
              </a:spcBef>
              <a:buSzPct val="125000"/>
              <a:buFont typeface="Arial MT"/>
              <a:buChar char="•"/>
              <a:tabLst>
                <a:tab pos="184785" algn="l"/>
              </a:tabLst>
            </a:pPr>
            <a:r>
              <a:rPr sz="2400" spc="-5" dirty="0">
                <a:solidFill>
                  <a:srgbClr val="FFFFFF"/>
                </a:solidFill>
                <a:latin typeface="Times New Roman"/>
                <a:cs typeface="Times New Roman"/>
              </a:rPr>
              <a:t>Expensive</a:t>
            </a:r>
            <a:r>
              <a:rPr sz="2400" spc="-50" dirty="0">
                <a:solidFill>
                  <a:srgbClr val="FFFFFF"/>
                </a:solidFill>
                <a:latin typeface="Times New Roman"/>
                <a:cs typeface="Times New Roman"/>
              </a:rPr>
              <a:t> </a:t>
            </a:r>
            <a:r>
              <a:rPr sz="2400" spc="-5" dirty="0">
                <a:solidFill>
                  <a:srgbClr val="FFFFFF"/>
                </a:solidFill>
                <a:latin typeface="Times New Roman"/>
                <a:cs typeface="Times New Roman"/>
              </a:rPr>
              <a:t>accessibility</a:t>
            </a:r>
            <a:endParaRPr sz="2400" dirty="0">
              <a:latin typeface="Times New Roman"/>
              <a:cs typeface="Times New Roman"/>
            </a:endParaRPr>
          </a:p>
          <a:p>
            <a:pPr marL="184150" indent="-172085">
              <a:lnSpc>
                <a:spcPct val="100000"/>
              </a:lnSpc>
              <a:spcBef>
                <a:spcPts val="1720"/>
              </a:spcBef>
              <a:buSzPct val="125000"/>
              <a:buFont typeface="Arial MT"/>
              <a:buChar char="•"/>
              <a:tabLst>
                <a:tab pos="184785" algn="l"/>
              </a:tabLst>
            </a:pPr>
            <a:r>
              <a:rPr sz="2400" spc="-5" dirty="0">
                <a:solidFill>
                  <a:srgbClr val="FFFFFF"/>
                </a:solidFill>
                <a:latin typeface="Times New Roman"/>
                <a:cs typeface="Times New Roman"/>
              </a:rPr>
              <a:t>Perception</a:t>
            </a:r>
            <a:r>
              <a:rPr sz="2400" spc="-20" dirty="0">
                <a:solidFill>
                  <a:srgbClr val="FFFFFF"/>
                </a:solidFill>
                <a:latin typeface="Times New Roman"/>
                <a:cs typeface="Times New Roman"/>
              </a:rPr>
              <a:t> </a:t>
            </a:r>
            <a:r>
              <a:rPr sz="2400" spc="-5" dirty="0">
                <a:solidFill>
                  <a:srgbClr val="FFFFFF"/>
                </a:solidFill>
                <a:latin typeface="Times New Roman"/>
                <a:cs typeface="Times New Roman"/>
              </a:rPr>
              <a:t>that</a:t>
            </a:r>
            <a:r>
              <a:rPr sz="2400" spc="-20" dirty="0">
                <a:solidFill>
                  <a:srgbClr val="FFFFFF"/>
                </a:solidFill>
                <a:latin typeface="Times New Roman"/>
                <a:cs typeface="Times New Roman"/>
              </a:rPr>
              <a:t> </a:t>
            </a:r>
            <a:r>
              <a:rPr sz="2400" spc="-5" dirty="0">
                <a:solidFill>
                  <a:srgbClr val="FFFFFF"/>
                </a:solidFill>
                <a:latin typeface="Times New Roman"/>
                <a:cs typeface="Times New Roman"/>
              </a:rPr>
              <a:t>EC</a:t>
            </a:r>
            <a:r>
              <a:rPr sz="2400" spc="-20" dirty="0">
                <a:solidFill>
                  <a:srgbClr val="FFFFFF"/>
                </a:solidFill>
                <a:latin typeface="Times New Roman"/>
                <a:cs typeface="Times New Roman"/>
              </a:rPr>
              <a:t> </a:t>
            </a:r>
            <a:r>
              <a:rPr sz="2400" spc="-5" dirty="0">
                <a:solidFill>
                  <a:srgbClr val="FFFFFF"/>
                </a:solidFill>
                <a:latin typeface="Times New Roman"/>
                <a:cs typeface="Times New Roman"/>
              </a:rPr>
              <a:t>is</a:t>
            </a:r>
            <a:r>
              <a:rPr sz="2400" spc="-20" dirty="0">
                <a:solidFill>
                  <a:srgbClr val="FFFFFF"/>
                </a:solidFill>
                <a:latin typeface="Times New Roman"/>
                <a:cs typeface="Times New Roman"/>
              </a:rPr>
              <a:t> </a:t>
            </a:r>
            <a:r>
              <a:rPr sz="2400" dirty="0">
                <a:solidFill>
                  <a:srgbClr val="FFFFFF"/>
                </a:solidFill>
                <a:latin typeface="Times New Roman"/>
                <a:cs typeface="Times New Roman"/>
              </a:rPr>
              <a:t>unsecure</a:t>
            </a:r>
            <a:endParaRPr sz="2400" dirty="0">
              <a:latin typeface="Times New Roman"/>
              <a:cs typeface="Times New Roman"/>
            </a:endParaRPr>
          </a:p>
          <a:p>
            <a:pPr marL="184150" indent="-172085">
              <a:lnSpc>
                <a:spcPct val="100000"/>
              </a:lnSpc>
              <a:spcBef>
                <a:spcPts val="1720"/>
              </a:spcBef>
              <a:buSzPct val="125000"/>
              <a:buFont typeface="Arial MT"/>
              <a:buChar char="•"/>
              <a:tabLst>
                <a:tab pos="184785" algn="l"/>
              </a:tabLst>
            </a:pPr>
            <a:r>
              <a:rPr sz="2400" spc="-5" dirty="0">
                <a:solidFill>
                  <a:srgbClr val="FFFFFF"/>
                </a:solidFill>
                <a:latin typeface="Times New Roman"/>
                <a:cs typeface="Times New Roman"/>
              </a:rPr>
              <a:t>Return</a:t>
            </a:r>
            <a:r>
              <a:rPr sz="2400" spc="-30" dirty="0">
                <a:solidFill>
                  <a:srgbClr val="FFFFFF"/>
                </a:solidFill>
                <a:latin typeface="Times New Roman"/>
                <a:cs typeface="Times New Roman"/>
              </a:rPr>
              <a:t> </a:t>
            </a:r>
            <a:r>
              <a:rPr sz="2400" spc="-5" dirty="0">
                <a:solidFill>
                  <a:srgbClr val="FFFFFF"/>
                </a:solidFill>
                <a:latin typeface="Times New Roman"/>
                <a:cs typeface="Times New Roman"/>
              </a:rPr>
              <a:t>and</a:t>
            </a:r>
            <a:r>
              <a:rPr sz="2400" spc="-25" dirty="0">
                <a:solidFill>
                  <a:srgbClr val="FFFFFF"/>
                </a:solidFill>
                <a:latin typeface="Times New Roman"/>
                <a:cs typeface="Times New Roman"/>
              </a:rPr>
              <a:t> </a:t>
            </a:r>
            <a:r>
              <a:rPr sz="2400" dirty="0">
                <a:solidFill>
                  <a:srgbClr val="FFFFFF"/>
                </a:solidFill>
                <a:latin typeface="Times New Roman"/>
                <a:cs typeface="Times New Roman"/>
              </a:rPr>
              <a:t>refund</a:t>
            </a:r>
            <a:r>
              <a:rPr sz="2400" spc="-20" dirty="0">
                <a:solidFill>
                  <a:srgbClr val="FFFFFF"/>
                </a:solidFill>
                <a:latin typeface="Times New Roman"/>
                <a:cs typeface="Times New Roman"/>
              </a:rPr>
              <a:t> </a:t>
            </a:r>
            <a:r>
              <a:rPr sz="2400" dirty="0">
                <a:solidFill>
                  <a:srgbClr val="FFFFFF"/>
                </a:solidFill>
                <a:latin typeface="Times New Roman"/>
                <a:cs typeface="Times New Roman"/>
              </a:rPr>
              <a:t>policies</a:t>
            </a:r>
            <a:endParaRPr lang="en-IN" sz="2400" dirty="0">
              <a:solidFill>
                <a:srgbClr val="FFFFFF"/>
              </a:solidFill>
              <a:latin typeface="Times New Roman"/>
              <a:cs typeface="Times New Roman"/>
            </a:endParaRPr>
          </a:p>
          <a:p>
            <a:pPr marL="184150" indent="-172085">
              <a:spcBef>
                <a:spcPts val="1720"/>
              </a:spcBef>
              <a:buSzPct val="125000"/>
              <a:buFont typeface="Arial MT"/>
              <a:buChar char="•"/>
              <a:tabLst>
                <a:tab pos="184785" algn="l"/>
              </a:tabLst>
            </a:pPr>
            <a:r>
              <a:rPr lang="en-US" sz="2400" spc="-5" dirty="0">
                <a:solidFill>
                  <a:srgbClr val="FFFFFF"/>
                </a:solidFill>
                <a:latin typeface="Times New Roman"/>
                <a:cs typeface="Times New Roman"/>
              </a:rPr>
              <a:t>For details, go to the below link: </a:t>
            </a:r>
            <a:r>
              <a:rPr lang="en-US" sz="2400" spc="-5" dirty="0">
                <a:solidFill>
                  <a:schemeClr val="bg1"/>
                </a:solidFill>
                <a:latin typeface="Times New Roman"/>
                <a:cs typeface="Times New Roman"/>
                <a:hlinkClick r:id="" action="ppaction://hlinkshowjump?jump=nextslide">
                  <a:extLst>
                    <a:ext uri="{A12FA001-AC4F-418D-AE19-62706E023703}">
                      <ahyp:hlinkClr xmlns:ahyp="http://schemas.microsoft.com/office/drawing/2018/hyperlinkcolor" val="tx"/>
                    </a:ext>
                  </a:extLst>
                </a:hlinkClick>
              </a:rPr>
              <a:t>https://www.geeksforgeeks.org/e-commerce-issues/</a:t>
            </a:r>
            <a:endParaRPr lang="en-US" sz="2400" spc="-5" dirty="0">
              <a:solidFill>
                <a:schemeClr val="bg1"/>
              </a:solidFill>
              <a:latin typeface="Times New Roman"/>
              <a:cs typeface="Times New Roman"/>
            </a:endParaRPr>
          </a:p>
          <a:p>
            <a:pPr marL="184150" indent="-172085">
              <a:spcBef>
                <a:spcPts val="1720"/>
              </a:spcBef>
              <a:buSzPct val="125000"/>
              <a:buFont typeface="Arial MT"/>
              <a:buChar char="•"/>
              <a:tabLst>
                <a:tab pos="184785" algn="l"/>
              </a:tabLst>
            </a:pPr>
            <a:endParaRPr lang="en-US" sz="2400" dirty="0">
              <a:latin typeface="Times New Roman"/>
              <a:cs typeface="Times New Roman"/>
            </a:endParaRPr>
          </a:p>
          <a:p>
            <a:pPr marL="184150" indent="-172085">
              <a:lnSpc>
                <a:spcPct val="100000"/>
              </a:lnSpc>
              <a:spcBef>
                <a:spcPts val="1720"/>
              </a:spcBef>
              <a:buSzPct val="125000"/>
              <a:buFont typeface="Arial MT"/>
              <a:buChar char="•"/>
              <a:tabLst>
                <a:tab pos="184785" algn="l"/>
              </a:tabLst>
            </a:pPr>
            <a:endParaRPr lang="en-IN" sz="2400" dirty="0">
              <a:solidFill>
                <a:srgbClr val="FFFFFF"/>
              </a:solidFill>
              <a:latin typeface="Times New Roman"/>
              <a:cs typeface="Times New Roman"/>
            </a:endParaRPr>
          </a:p>
          <a:p>
            <a:pPr marL="184150" indent="-172085">
              <a:lnSpc>
                <a:spcPct val="100000"/>
              </a:lnSpc>
              <a:spcBef>
                <a:spcPts val="1720"/>
              </a:spcBef>
              <a:buSzPct val="125000"/>
              <a:buFont typeface="Arial MT"/>
              <a:buChar char="•"/>
              <a:tabLst>
                <a:tab pos="184785" algn="l"/>
              </a:tabLst>
            </a:pPr>
            <a:endParaRPr lang="en-IN" sz="2400" dirty="0">
              <a:solidFill>
                <a:srgbClr val="FFFFFF"/>
              </a:solidFill>
              <a:latin typeface="Times New Roman"/>
              <a:cs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6196330" cy="574040"/>
          </a:xfrm>
          <a:prstGeom prst="rect">
            <a:avLst/>
          </a:prstGeom>
        </p:spPr>
        <p:txBody>
          <a:bodyPr vert="horz" wrap="square" lIns="0" tIns="12700" rIns="0" bIns="0" rtlCol="0">
            <a:spAutoFit/>
          </a:bodyPr>
          <a:lstStyle/>
          <a:p>
            <a:pPr marL="12700">
              <a:lnSpc>
                <a:spcPct val="100000"/>
              </a:lnSpc>
              <a:spcBef>
                <a:spcPts val="100"/>
              </a:spcBef>
            </a:pPr>
            <a:r>
              <a:rPr spc="-5" dirty="0"/>
              <a:t>DECISION</a:t>
            </a:r>
            <a:r>
              <a:rPr spc="-50" dirty="0"/>
              <a:t> </a:t>
            </a:r>
            <a:r>
              <a:rPr spc="-5" dirty="0"/>
              <a:t>SUPPORT</a:t>
            </a:r>
            <a:r>
              <a:rPr spc="-45" dirty="0"/>
              <a:t> </a:t>
            </a:r>
            <a:r>
              <a:rPr spc="-5" dirty="0"/>
              <a:t>SYSTEM</a:t>
            </a:r>
          </a:p>
        </p:txBody>
      </p:sp>
      <p:sp>
        <p:nvSpPr>
          <p:cNvPr id="3" name="object 3"/>
          <p:cNvSpPr txBox="1"/>
          <p:nvPr/>
        </p:nvSpPr>
        <p:spPr>
          <a:xfrm>
            <a:off x="1271549" y="2226118"/>
            <a:ext cx="9695180" cy="3644900"/>
          </a:xfrm>
          <a:prstGeom prst="rect">
            <a:avLst/>
          </a:prstGeom>
        </p:spPr>
        <p:txBody>
          <a:bodyPr vert="horz" wrap="square" lIns="0" tIns="46990" rIns="0" bIns="0" rtlCol="0">
            <a:spAutoFit/>
          </a:bodyPr>
          <a:lstStyle/>
          <a:p>
            <a:pPr marL="184150" marR="12700" indent="-172085" algn="just">
              <a:lnSpc>
                <a:spcPts val="3740"/>
              </a:lnSpc>
              <a:spcBef>
                <a:spcPts val="370"/>
              </a:spcBef>
              <a:buSzPct val="125000"/>
              <a:buFont typeface="Arial MT"/>
              <a:buChar char="•"/>
              <a:tabLst>
                <a:tab pos="184785" algn="l"/>
              </a:tabLst>
            </a:pPr>
            <a:r>
              <a:rPr sz="2400" dirty="0">
                <a:solidFill>
                  <a:srgbClr val="FFFFFF"/>
                </a:solidFill>
                <a:latin typeface="Times New Roman"/>
                <a:cs typeface="Times New Roman"/>
              </a:rPr>
              <a:t>A decision </a:t>
            </a:r>
            <a:r>
              <a:rPr sz="2400" spc="-5" dirty="0">
                <a:solidFill>
                  <a:srgbClr val="FFFFFF"/>
                </a:solidFill>
                <a:latin typeface="Times New Roman"/>
                <a:cs typeface="Times New Roman"/>
              </a:rPr>
              <a:t>support system </a:t>
            </a:r>
            <a:r>
              <a:rPr sz="2400" dirty="0">
                <a:solidFill>
                  <a:srgbClr val="FFFFFF"/>
                </a:solidFill>
                <a:latin typeface="Times New Roman"/>
                <a:cs typeface="Times New Roman"/>
              </a:rPr>
              <a:t>(DSS) </a:t>
            </a:r>
            <a:r>
              <a:rPr sz="2400" spc="-5" dirty="0">
                <a:solidFill>
                  <a:srgbClr val="FFFFFF"/>
                </a:solidFill>
                <a:latin typeface="Times New Roman"/>
                <a:cs typeface="Times New Roman"/>
              </a:rPr>
              <a:t>is </a:t>
            </a:r>
            <a:r>
              <a:rPr sz="2400" dirty="0">
                <a:solidFill>
                  <a:srgbClr val="FFFFFF"/>
                </a:solidFill>
                <a:latin typeface="Times New Roman"/>
                <a:cs typeface="Times New Roman"/>
              </a:rPr>
              <a:t>a </a:t>
            </a:r>
            <a:r>
              <a:rPr sz="2400" spc="-5" dirty="0">
                <a:solidFill>
                  <a:srgbClr val="FFFFFF"/>
                </a:solidFill>
                <a:latin typeface="Times New Roman"/>
                <a:cs typeface="Times New Roman"/>
              </a:rPr>
              <a:t>computer </a:t>
            </a:r>
            <a:r>
              <a:rPr sz="2400" dirty="0">
                <a:solidFill>
                  <a:srgbClr val="FFFFFF"/>
                </a:solidFill>
                <a:latin typeface="Times New Roman"/>
                <a:cs typeface="Times New Roman"/>
              </a:rPr>
              <a:t>program </a:t>
            </a:r>
            <a:r>
              <a:rPr sz="2400" spc="-5" dirty="0">
                <a:solidFill>
                  <a:srgbClr val="FFFFFF"/>
                </a:solidFill>
                <a:latin typeface="Times New Roman"/>
                <a:cs typeface="Times New Roman"/>
              </a:rPr>
              <a:t>application </a:t>
            </a:r>
            <a:r>
              <a:rPr sz="2400" dirty="0">
                <a:solidFill>
                  <a:srgbClr val="FFFFFF"/>
                </a:solidFill>
                <a:latin typeface="Times New Roman"/>
                <a:cs typeface="Times New Roman"/>
              </a:rPr>
              <a:t>used </a:t>
            </a:r>
            <a:r>
              <a:rPr sz="2400" spc="-5" dirty="0">
                <a:solidFill>
                  <a:srgbClr val="FFFFFF"/>
                </a:solidFill>
                <a:latin typeface="Times New Roman"/>
                <a:cs typeface="Times New Roman"/>
              </a:rPr>
              <a:t>to </a:t>
            </a:r>
            <a:r>
              <a:rPr sz="2400" dirty="0">
                <a:solidFill>
                  <a:srgbClr val="FFFFFF"/>
                </a:solidFill>
                <a:latin typeface="Times New Roman"/>
                <a:cs typeface="Times New Roman"/>
              </a:rPr>
              <a:t> </a:t>
            </a:r>
            <a:r>
              <a:rPr sz="2400" spc="-5" dirty="0">
                <a:solidFill>
                  <a:srgbClr val="FFFFFF"/>
                </a:solidFill>
                <a:latin typeface="Times New Roman"/>
                <a:cs typeface="Times New Roman"/>
              </a:rPr>
              <a:t>improve</a:t>
            </a:r>
            <a:r>
              <a:rPr sz="2400" spc="-10" dirty="0">
                <a:solidFill>
                  <a:srgbClr val="FFFFFF"/>
                </a:solidFill>
                <a:latin typeface="Times New Roman"/>
                <a:cs typeface="Times New Roman"/>
              </a:rPr>
              <a:t> </a:t>
            </a:r>
            <a:r>
              <a:rPr sz="2400" dirty="0">
                <a:solidFill>
                  <a:srgbClr val="FFFFFF"/>
                </a:solidFill>
                <a:latin typeface="Times New Roman"/>
                <a:cs typeface="Times New Roman"/>
              </a:rPr>
              <a:t>a</a:t>
            </a:r>
            <a:r>
              <a:rPr sz="2400" spc="-5" dirty="0">
                <a:solidFill>
                  <a:srgbClr val="FFFFFF"/>
                </a:solidFill>
                <a:latin typeface="Times New Roman"/>
                <a:cs typeface="Times New Roman"/>
              </a:rPr>
              <a:t> company's</a:t>
            </a:r>
            <a:r>
              <a:rPr sz="2400" spc="-10" dirty="0">
                <a:solidFill>
                  <a:srgbClr val="FFFFFF"/>
                </a:solidFill>
                <a:latin typeface="Times New Roman"/>
                <a:cs typeface="Times New Roman"/>
              </a:rPr>
              <a:t> </a:t>
            </a:r>
            <a:r>
              <a:rPr sz="2400" dirty="0">
                <a:solidFill>
                  <a:srgbClr val="FFFFFF"/>
                </a:solidFill>
                <a:latin typeface="Times New Roman"/>
                <a:cs typeface="Times New Roman"/>
              </a:rPr>
              <a:t>decision-making </a:t>
            </a:r>
            <a:r>
              <a:rPr sz="2400" spc="-5" dirty="0">
                <a:solidFill>
                  <a:srgbClr val="FFFFFF"/>
                </a:solidFill>
                <a:latin typeface="Times New Roman"/>
                <a:cs typeface="Times New Roman"/>
              </a:rPr>
              <a:t>capabilities.</a:t>
            </a:r>
            <a:endParaRPr sz="2400">
              <a:latin typeface="Times New Roman"/>
              <a:cs typeface="Times New Roman"/>
            </a:endParaRPr>
          </a:p>
          <a:p>
            <a:pPr marL="184150" marR="12700" indent="-172085" algn="just">
              <a:lnSpc>
                <a:spcPct val="120700"/>
              </a:lnSpc>
              <a:spcBef>
                <a:spcPts val="545"/>
              </a:spcBef>
              <a:buSzPct val="125000"/>
              <a:buFont typeface="Arial MT"/>
              <a:buChar char="•"/>
              <a:tabLst>
                <a:tab pos="184785" algn="l"/>
              </a:tabLst>
            </a:pPr>
            <a:r>
              <a:rPr sz="2400" dirty="0">
                <a:solidFill>
                  <a:srgbClr val="FFFFFF"/>
                </a:solidFill>
                <a:latin typeface="Times New Roman"/>
                <a:cs typeface="Times New Roman"/>
              </a:rPr>
              <a:t>It </a:t>
            </a:r>
            <a:r>
              <a:rPr sz="2400" spc="-5" dirty="0">
                <a:solidFill>
                  <a:srgbClr val="FFFFFF"/>
                </a:solidFill>
                <a:latin typeface="Times New Roman"/>
                <a:cs typeface="Times New Roman"/>
              </a:rPr>
              <a:t>analyzes large amounts </a:t>
            </a:r>
            <a:r>
              <a:rPr sz="2400" dirty="0">
                <a:solidFill>
                  <a:srgbClr val="FFFFFF"/>
                </a:solidFill>
                <a:latin typeface="Times New Roman"/>
                <a:cs typeface="Times New Roman"/>
              </a:rPr>
              <a:t>of data </a:t>
            </a:r>
            <a:r>
              <a:rPr sz="2400" spc="-5" dirty="0">
                <a:solidFill>
                  <a:srgbClr val="FFFFFF"/>
                </a:solidFill>
                <a:latin typeface="Times New Roman"/>
                <a:cs typeface="Times New Roman"/>
              </a:rPr>
              <a:t>and </a:t>
            </a:r>
            <a:r>
              <a:rPr sz="2400" dirty="0">
                <a:solidFill>
                  <a:srgbClr val="FFFFFF"/>
                </a:solidFill>
                <a:latin typeface="Times New Roman"/>
                <a:cs typeface="Times New Roman"/>
              </a:rPr>
              <a:t>presents </a:t>
            </a:r>
            <a:r>
              <a:rPr sz="2400" spc="-5" dirty="0">
                <a:solidFill>
                  <a:srgbClr val="FFFFFF"/>
                </a:solidFill>
                <a:latin typeface="Times New Roman"/>
                <a:cs typeface="Times New Roman"/>
              </a:rPr>
              <a:t>an </a:t>
            </a:r>
            <a:r>
              <a:rPr sz="2400" dirty="0">
                <a:solidFill>
                  <a:srgbClr val="FFFFFF"/>
                </a:solidFill>
                <a:latin typeface="Times New Roman"/>
                <a:cs typeface="Times New Roman"/>
              </a:rPr>
              <a:t>organization </a:t>
            </a:r>
            <a:r>
              <a:rPr sz="2400" spc="-5" dirty="0">
                <a:solidFill>
                  <a:srgbClr val="FFFFFF"/>
                </a:solidFill>
                <a:latin typeface="Times New Roman"/>
                <a:cs typeface="Times New Roman"/>
              </a:rPr>
              <a:t>with the </a:t>
            </a:r>
            <a:r>
              <a:rPr sz="2400" dirty="0">
                <a:solidFill>
                  <a:srgbClr val="FFFFFF"/>
                </a:solidFill>
                <a:latin typeface="Times New Roman"/>
                <a:cs typeface="Times New Roman"/>
              </a:rPr>
              <a:t>best </a:t>
            </a:r>
            <a:r>
              <a:rPr sz="2400" spc="5" dirty="0">
                <a:solidFill>
                  <a:srgbClr val="FFFFFF"/>
                </a:solidFill>
                <a:latin typeface="Times New Roman"/>
                <a:cs typeface="Times New Roman"/>
              </a:rPr>
              <a:t> </a:t>
            </a:r>
            <a:r>
              <a:rPr sz="2400" dirty="0">
                <a:solidFill>
                  <a:srgbClr val="FFFFFF"/>
                </a:solidFill>
                <a:latin typeface="Times New Roman"/>
                <a:cs typeface="Times New Roman"/>
              </a:rPr>
              <a:t>possible</a:t>
            </a:r>
            <a:r>
              <a:rPr sz="2400" spc="-5" dirty="0">
                <a:solidFill>
                  <a:srgbClr val="FFFFFF"/>
                </a:solidFill>
                <a:latin typeface="Times New Roman"/>
                <a:cs typeface="Times New Roman"/>
              </a:rPr>
              <a:t> </a:t>
            </a:r>
            <a:r>
              <a:rPr sz="2400" dirty="0">
                <a:solidFill>
                  <a:srgbClr val="FFFFFF"/>
                </a:solidFill>
                <a:latin typeface="Times New Roman"/>
                <a:cs typeface="Times New Roman"/>
              </a:rPr>
              <a:t>options </a:t>
            </a:r>
            <a:r>
              <a:rPr sz="2400" spc="-5" dirty="0">
                <a:solidFill>
                  <a:srgbClr val="FFFFFF"/>
                </a:solidFill>
                <a:latin typeface="Times New Roman"/>
                <a:cs typeface="Times New Roman"/>
              </a:rPr>
              <a:t>available.</a:t>
            </a:r>
            <a:endParaRPr sz="2400">
              <a:latin typeface="Times New Roman"/>
              <a:cs typeface="Times New Roman"/>
            </a:endParaRPr>
          </a:p>
          <a:p>
            <a:pPr marL="184150" marR="5080" indent="-172085" algn="just">
              <a:lnSpc>
                <a:spcPct val="120300"/>
              </a:lnSpc>
              <a:spcBef>
                <a:spcPts val="819"/>
              </a:spcBef>
              <a:buSzPct val="125000"/>
              <a:buFont typeface="Arial MT"/>
              <a:buChar char="•"/>
              <a:tabLst>
                <a:tab pos="184785" algn="l"/>
              </a:tabLst>
            </a:pPr>
            <a:r>
              <a:rPr sz="2400" spc="-5" dirty="0">
                <a:solidFill>
                  <a:srgbClr val="FFFFFF"/>
                </a:solidFill>
                <a:latin typeface="Times New Roman"/>
                <a:cs typeface="Times New Roman"/>
              </a:rPr>
              <a:t>Decision support systems </a:t>
            </a:r>
            <a:r>
              <a:rPr sz="2400" dirty="0">
                <a:solidFill>
                  <a:srgbClr val="FFFFFF"/>
                </a:solidFill>
                <a:latin typeface="Times New Roman"/>
                <a:cs typeface="Times New Roman"/>
              </a:rPr>
              <a:t>bring </a:t>
            </a:r>
            <a:r>
              <a:rPr sz="2400" spc="-5" dirty="0">
                <a:solidFill>
                  <a:srgbClr val="FFFFFF"/>
                </a:solidFill>
                <a:latin typeface="Times New Roman"/>
                <a:cs typeface="Times New Roman"/>
              </a:rPr>
              <a:t>together </a:t>
            </a:r>
            <a:r>
              <a:rPr sz="2400" dirty="0">
                <a:solidFill>
                  <a:srgbClr val="FFFFFF"/>
                </a:solidFill>
                <a:latin typeface="Times New Roman"/>
                <a:cs typeface="Times New Roman"/>
              </a:rPr>
              <a:t>data </a:t>
            </a:r>
            <a:r>
              <a:rPr sz="2400" spc="-5" dirty="0">
                <a:solidFill>
                  <a:srgbClr val="FFFFFF"/>
                </a:solidFill>
                <a:latin typeface="Times New Roman"/>
                <a:cs typeface="Times New Roman"/>
              </a:rPr>
              <a:t>and </a:t>
            </a:r>
            <a:r>
              <a:rPr sz="2400" dirty="0">
                <a:solidFill>
                  <a:srgbClr val="FFFFFF"/>
                </a:solidFill>
                <a:latin typeface="Times New Roman"/>
                <a:cs typeface="Times New Roman"/>
              </a:rPr>
              <a:t>knowledge from different </a:t>
            </a:r>
            <a:r>
              <a:rPr sz="2400" spc="5" dirty="0">
                <a:solidFill>
                  <a:srgbClr val="FFFFFF"/>
                </a:solidFill>
                <a:latin typeface="Times New Roman"/>
                <a:cs typeface="Times New Roman"/>
              </a:rPr>
              <a:t> </a:t>
            </a:r>
            <a:r>
              <a:rPr sz="2400" spc="-5" dirty="0">
                <a:solidFill>
                  <a:srgbClr val="FFFFFF"/>
                </a:solidFill>
                <a:latin typeface="Times New Roman"/>
                <a:cs typeface="Times New Roman"/>
              </a:rPr>
              <a:t>areas and sources to </a:t>
            </a:r>
            <a:r>
              <a:rPr sz="2400" dirty="0">
                <a:solidFill>
                  <a:srgbClr val="FFFFFF"/>
                </a:solidFill>
                <a:latin typeface="Times New Roman"/>
                <a:cs typeface="Times New Roman"/>
              </a:rPr>
              <a:t>provide users </a:t>
            </a:r>
            <a:r>
              <a:rPr sz="2400" spc="-5" dirty="0">
                <a:solidFill>
                  <a:srgbClr val="FFFFFF"/>
                </a:solidFill>
                <a:latin typeface="Times New Roman"/>
                <a:cs typeface="Times New Roman"/>
              </a:rPr>
              <a:t>with information </a:t>
            </a:r>
            <a:r>
              <a:rPr sz="2400" dirty="0">
                <a:solidFill>
                  <a:srgbClr val="FFFFFF"/>
                </a:solidFill>
                <a:latin typeface="Times New Roman"/>
                <a:cs typeface="Times New Roman"/>
              </a:rPr>
              <a:t>beyond </a:t>
            </a:r>
            <a:r>
              <a:rPr sz="2400" spc="-5" dirty="0">
                <a:solidFill>
                  <a:srgbClr val="FFFFFF"/>
                </a:solidFill>
                <a:latin typeface="Times New Roman"/>
                <a:cs typeface="Times New Roman"/>
              </a:rPr>
              <a:t>the </a:t>
            </a:r>
            <a:r>
              <a:rPr sz="2400" dirty="0">
                <a:solidFill>
                  <a:srgbClr val="FFFFFF"/>
                </a:solidFill>
                <a:latin typeface="Times New Roman"/>
                <a:cs typeface="Times New Roman"/>
              </a:rPr>
              <a:t>usual reports </a:t>
            </a:r>
            <a:r>
              <a:rPr sz="2400" spc="5" dirty="0">
                <a:solidFill>
                  <a:srgbClr val="FFFFFF"/>
                </a:solidFill>
                <a:latin typeface="Times New Roman"/>
                <a:cs typeface="Times New Roman"/>
              </a:rPr>
              <a:t> </a:t>
            </a:r>
            <a:r>
              <a:rPr sz="2400" spc="-5" dirty="0">
                <a:solidFill>
                  <a:srgbClr val="FFFFFF"/>
                </a:solidFill>
                <a:latin typeface="Times New Roman"/>
                <a:cs typeface="Times New Roman"/>
              </a:rPr>
              <a:t>and</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summaries.</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This</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is intended</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to</a:t>
            </a:r>
            <a:r>
              <a:rPr sz="2400" spc="-10" dirty="0">
                <a:solidFill>
                  <a:srgbClr val="FFFFFF"/>
                </a:solidFill>
                <a:latin typeface="Times New Roman"/>
                <a:cs typeface="Times New Roman"/>
              </a:rPr>
              <a:t> </a:t>
            </a:r>
            <a:r>
              <a:rPr sz="2400" dirty="0">
                <a:solidFill>
                  <a:srgbClr val="FFFFFF"/>
                </a:solidFill>
                <a:latin typeface="Times New Roman"/>
                <a:cs typeface="Times New Roman"/>
              </a:rPr>
              <a:t>help people</a:t>
            </a:r>
            <a:r>
              <a:rPr sz="2400" spc="-5" dirty="0">
                <a:solidFill>
                  <a:srgbClr val="FFFFFF"/>
                </a:solidFill>
                <a:latin typeface="Times New Roman"/>
                <a:cs typeface="Times New Roman"/>
              </a:rPr>
              <a:t> make</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informed </a:t>
            </a:r>
            <a:r>
              <a:rPr sz="2400" dirty="0">
                <a:solidFill>
                  <a:srgbClr val="FFFFFF"/>
                </a:solidFill>
                <a:latin typeface="Times New Roman"/>
                <a:cs typeface="Times New Roman"/>
              </a:rPr>
              <a:t>decisions.</a:t>
            </a:r>
            <a:endParaRPr sz="2400">
              <a:latin typeface="Times New Roman"/>
              <a:cs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6196330" cy="574040"/>
          </a:xfrm>
          <a:prstGeom prst="rect">
            <a:avLst/>
          </a:prstGeom>
        </p:spPr>
        <p:txBody>
          <a:bodyPr vert="horz" wrap="square" lIns="0" tIns="12700" rIns="0" bIns="0" rtlCol="0">
            <a:spAutoFit/>
          </a:bodyPr>
          <a:lstStyle/>
          <a:p>
            <a:pPr marL="12700">
              <a:lnSpc>
                <a:spcPct val="100000"/>
              </a:lnSpc>
              <a:spcBef>
                <a:spcPts val="100"/>
              </a:spcBef>
            </a:pPr>
            <a:r>
              <a:rPr spc="-5" dirty="0"/>
              <a:t>DECISION</a:t>
            </a:r>
            <a:r>
              <a:rPr spc="-50" dirty="0"/>
              <a:t> </a:t>
            </a:r>
            <a:r>
              <a:rPr spc="-5" dirty="0"/>
              <a:t>SUPPORT</a:t>
            </a:r>
            <a:r>
              <a:rPr spc="-45" dirty="0"/>
              <a:t> </a:t>
            </a:r>
            <a:r>
              <a:rPr spc="-5" dirty="0"/>
              <a:t>SYSTEM</a:t>
            </a:r>
          </a:p>
        </p:txBody>
      </p:sp>
      <p:sp>
        <p:nvSpPr>
          <p:cNvPr id="3" name="object 3"/>
          <p:cNvSpPr txBox="1">
            <a:spLocks noGrp="1"/>
          </p:cNvSpPr>
          <p:nvPr>
            <p:ph type="body" idx="1"/>
          </p:nvPr>
        </p:nvSpPr>
        <p:spPr>
          <a:prstGeom prst="rect">
            <a:avLst/>
          </a:prstGeom>
        </p:spPr>
        <p:txBody>
          <a:bodyPr vert="horz" wrap="square" lIns="0" tIns="124206" rIns="0" bIns="0" rtlCol="0">
            <a:spAutoFit/>
          </a:bodyPr>
          <a:lstStyle/>
          <a:p>
            <a:pPr marL="215900" marR="5080" indent="-172085">
              <a:lnSpc>
                <a:spcPts val="3740"/>
              </a:lnSpc>
              <a:spcBef>
                <a:spcPts val="370"/>
              </a:spcBef>
              <a:buSzPct val="125000"/>
              <a:buFont typeface="Arial MT"/>
              <a:buChar char="•"/>
              <a:tabLst>
                <a:tab pos="217170" algn="l"/>
              </a:tabLst>
            </a:pPr>
            <a:r>
              <a:rPr spc="-5" dirty="0"/>
              <a:t>Typical</a:t>
            </a:r>
            <a:r>
              <a:rPr spc="190" dirty="0"/>
              <a:t> </a:t>
            </a:r>
            <a:r>
              <a:rPr spc="-5" dirty="0"/>
              <a:t>information</a:t>
            </a:r>
            <a:r>
              <a:rPr spc="190" dirty="0"/>
              <a:t> </a:t>
            </a:r>
            <a:r>
              <a:rPr dirty="0"/>
              <a:t>a</a:t>
            </a:r>
            <a:r>
              <a:rPr spc="195" dirty="0"/>
              <a:t> </a:t>
            </a:r>
            <a:r>
              <a:rPr dirty="0"/>
              <a:t>decision</a:t>
            </a:r>
            <a:r>
              <a:rPr spc="195" dirty="0"/>
              <a:t> </a:t>
            </a:r>
            <a:r>
              <a:rPr spc="-5" dirty="0"/>
              <a:t>support</a:t>
            </a:r>
            <a:r>
              <a:rPr spc="200" dirty="0"/>
              <a:t> </a:t>
            </a:r>
            <a:r>
              <a:rPr spc="-5" dirty="0"/>
              <a:t>application</a:t>
            </a:r>
            <a:r>
              <a:rPr spc="190" dirty="0"/>
              <a:t> </a:t>
            </a:r>
            <a:r>
              <a:rPr spc="-5" dirty="0"/>
              <a:t>might</a:t>
            </a:r>
            <a:r>
              <a:rPr spc="195" dirty="0"/>
              <a:t> </a:t>
            </a:r>
            <a:r>
              <a:rPr dirty="0"/>
              <a:t>gather</a:t>
            </a:r>
            <a:r>
              <a:rPr spc="195" dirty="0"/>
              <a:t> </a:t>
            </a:r>
            <a:r>
              <a:rPr spc="-5" dirty="0"/>
              <a:t>and</a:t>
            </a:r>
            <a:r>
              <a:rPr spc="195" dirty="0"/>
              <a:t> </a:t>
            </a:r>
            <a:r>
              <a:rPr dirty="0"/>
              <a:t>present </a:t>
            </a:r>
            <a:r>
              <a:rPr spc="-585" dirty="0"/>
              <a:t> </a:t>
            </a:r>
            <a:r>
              <a:rPr spc="-5" dirty="0"/>
              <a:t>include</a:t>
            </a:r>
            <a:r>
              <a:rPr spc="-10" dirty="0"/>
              <a:t> </a:t>
            </a:r>
            <a:r>
              <a:rPr spc="-5" dirty="0"/>
              <a:t>the </a:t>
            </a:r>
            <a:r>
              <a:rPr dirty="0"/>
              <a:t>following:</a:t>
            </a:r>
          </a:p>
          <a:p>
            <a:pPr marL="673100" lvl="1" indent="-172085">
              <a:lnSpc>
                <a:spcPct val="100000"/>
              </a:lnSpc>
              <a:spcBef>
                <a:spcPts val="790"/>
              </a:spcBef>
              <a:buSzPct val="125000"/>
              <a:buFont typeface="Arial MT"/>
              <a:buChar char="•"/>
              <a:tabLst>
                <a:tab pos="674370" algn="l"/>
              </a:tabLst>
            </a:pPr>
            <a:r>
              <a:rPr sz="2400" spc="-5" dirty="0">
                <a:solidFill>
                  <a:srgbClr val="FFFFFF"/>
                </a:solidFill>
                <a:latin typeface="Times New Roman"/>
                <a:cs typeface="Times New Roman"/>
              </a:rPr>
              <a:t>comparative</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sales</a:t>
            </a:r>
            <a:r>
              <a:rPr sz="2400" spc="-15" dirty="0">
                <a:solidFill>
                  <a:srgbClr val="FFFFFF"/>
                </a:solidFill>
                <a:latin typeface="Times New Roman"/>
                <a:cs typeface="Times New Roman"/>
              </a:rPr>
              <a:t> </a:t>
            </a:r>
            <a:r>
              <a:rPr sz="2400" dirty="0">
                <a:solidFill>
                  <a:srgbClr val="FFFFFF"/>
                </a:solidFill>
                <a:latin typeface="Times New Roman"/>
                <a:cs typeface="Times New Roman"/>
              </a:rPr>
              <a:t>figures</a:t>
            </a:r>
            <a:r>
              <a:rPr sz="2400" spc="-5" dirty="0">
                <a:solidFill>
                  <a:srgbClr val="FFFFFF"/>
                </a:solidFill>
                <a:latin typeface="Times New Roman"/>
                <a:cs typeface="Times New Roman"/>
              </a:rPr>
              <a:t> </a:t>
            </a:r>
            <a:r>
              <a:rPr sz="2400" dirty="0">
                <a:solidFill>
                  <a:srgbClr val="FFFFFF"/>
                </a:solidFill>
                <a:latin typeface="Times New Roman"/>
                <a:cs typeface="Times New Roman"/>
              </a:rPr>
              <a:t>between</a:t>
            </a:r>
            <a:r>
              <a:rPr sz="2400" spc="-10" dirty="0">
                <a:solidFill>
                  <a:srgbClr val="FFFFFF"/>
                </a:solidFill>
                <a:latin typeface="Times New Roman"/>
                <a:cs typeface="Times New Roman"/>
              </a:rPr>
              <a:t> </a:t>
            </a:r>
            <a:r>
              <a:rPr sz="2400" dirty="0">
                <a:solidFill>
                  <a:srgbClr val="FFFFFF"/>
                </a:solidFill>
                <a:latin typeface="Times New Roman"/>
                <a:cs typeface="Times New Roman"/>
              </a:rPr>
              <a:t>one</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week</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and</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the</a:t>
            </a:r>
            <a:r>
              <a:rPr sz="2400" spc="-10" dirty="0">
                <a:solidFill>
                  <a:srgbClr val="FFFFFF"/>
                </a:solidFill>
                <a:latin typeface="Times New Roman"/>
                <a:cs typeface="Times New Roman"/>
              </a:rPr>
              <a:t> </a:t>
            </a:r>
            <a:r>
              <a:rPr sz="2400" dirty="0">
                <a:solidFill>
                  <a:srgbClr val="FFFFFF"/>
                </a:solidFill>
                <a:latin typeface="Times New Roman"/>
                <a:cs typeface="Times New Roman"/>
              </a:rPr>
              <a:t>next;</a:t>
            </a:r>
            <a:endParaRPr sz="2400">
              <a:latin typeface="Times New Roman"/>
              <a:cs typeface="Times New Roman"/>
            </a:endParaRPr>
          </a:p>
          <a:p>
            <a:pPr marL="673100" lvl="1" indent="-172085">
              <a:lnSpc>
                <a:spcPct val="100000"/>
              </a:lnSpc>
              <a:spcBef>
                <a:spcPts val="1220"/>
              </a:spcBef>
              <a:buSzPct val="125000"/>
              <a:buFont typeface="Arial MT"/>
              <a:buChar char="•"/>
              <a:tabLst>
                <a:tab pos="674370" algn="l"/>
              </a:tabLst>
            </a:pPr>
            <a:r>
              <a:rPr sz="2400" dirty="0">
                <a:solidFill>
                  <a:srgbClr val="FFFFFF"/>
                </a:solidFill>
                <a:latin typeface="Times New Roman"/>
                <a:cs typeface="Times New Roman"/>
              </a:rPr>
              <a:t>projected</a:t>
            </a:r>
            <a:r>
              <a:rPr sz="2400" spc="-10" dirty="0">
                <a:solidFill>
                  <a:srgbClr val="FFFFFF"/>
                </a:solidFill>
                <a:latin typeface="Times New Roman"/>
                <a:cs typeface="Times New Roman"/>
              </a:rPr>
              <a:t> </a:t>
            </a:r>
            <a:r>
              <a:rPr sz="2400" dirty="0">
                <a:solidFill>
                  <a:srgbClr val="FFFFFF"/>
                </a:solidFill>
                <a:latin typeface="Times New Roman"/>
                <a:cs typeface="Times New Roman"/>
              </a:rPr>
              <a:t>revenue</a:t>
            </a:r>
            <a:r>
              <a:rPr sz="2400" spc="-10" dirty="0">
                <a:solidFill>
                  <a:srgbClr val="FFFFFF"/>
                </a:solidFill>
                <a:latin typeface="Times New Roman"/>
                <a:cs typeface="Times New Roman"/>
              </a:rPr>
              <a:t> </a:t>
            </a:r>
            <a:r>
              <a:rPr sz="2400" dirty="0">
                <a:solidFill>
                  <a:srgbClr val="FFFFFF"/>
                </a:solidFill>
                <a:latin typeface="Times New Roman"/>
                <a:cs typeface="Times New Roman"/>
              </a:rPr>
              <a:t>figures</a:t>
            </a:r>
            <a:r>
              <a:rPr sz="2400" spc="-10" dirty="0">
                <a:solidFill>
                  <a:srgbClr val="FFFFFF"/>
                </a:solidFill>
                <a:latin typeface="Times New Roman"/>
                <a:cs typeface="Times New Roman"/>
              </a:rPr>
              <a:t> </a:t>
            </a:r>
            <a:r>
              <a:rPr sz="2400" dirty="0">
                <a:solidFill>
                  <a:srgbClr val="FFFFFF"/>
                </a:solidFill>
                <a:latin typeface="Times New Roman"/>
                <a:cs typeface="Times New Roman"/>
              </a:rPr>
              <a:t>based</a:t>
            </a:r>
            <a:r>
              <a:rPr sz="2400" spc="-5" dirty="0">
                <a:solidFill>
                  <a:srgbClr val="FFFFFF"/>
                </a:solidFill>
                <a:latin typeface="Times New Roman"/>
                <a:cs typeface="Times New Roman"/>
              </a:rPr>
              <a:t> </a:t>
            </a:r>
            <a:r>
              <a:rPr sz="2400" dirty="0">
                <a:solidFill>
                  <a:srgbClr val="FFFFFF"/>
                </a:solidFill>
                <a:latin typeface="Times New Roman"/>
                <a:cs typeface="Times New Roman"/>
              </a:rPr>
              <a:t>on</a:t>
            </a:r>
            <a:r>
              <a:rPr sz="2400" spc="-10" dirty="0">
                <a:solidFill>
                  <a:srgbClr val="FFFFFF"/>
                </a:solidFill>
                <a:latin typeface="Times New Roman"/>
                <a:cs typeface="Times New Roman"/>
              </a:rPr>
              <a:t> </a:t>
            </a:r>
            <a:r>
              <a:rPr sz="2400" dirty="0">
                <a:solidFill>
                  <a:srgbClr val="FFFFFF"/>
                </a:solidFill>
                <a:latin typeface="Times New Roman"/>
                <a:cs typeface="Times New Roman"/>
              </a:rPr>
              <a:t>new</a:t>
            </a:r>
            <a:r>
              <a:rPr sz="2400" spc="-10" dirty="0">
                <a:solidFill>
                  <a:srgbClr val="FFFFFF"/>
                </a:solidFill>
                <a:latin typeface="Times New Roman"/>
                <a:cs typeface="Times New Roman"/>
              </a:rPr>
              <a:t> </a:t>
            </a:r>
            <a:r>
              <a:rPr sz="2400" dirty="0">
                <a:solidFill>
                  <a:srgbClr val="FFFFFF"/>
                </a:solidFill>
                <a:latin typeface="Times New Roman"/>
                <a:cs typeface="Times New Roman"/>
              </a:rPr>
              <a:t>product</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sales</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assumptions;</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and</a:t>
            </a:r>
            <a:endParaRPr sz="2400">
              <a:latin typeface="Times New Roman"/>
              <a:cs typeface="Times New Roman"/>
            </a:endParaRPr>
          </a:p>
          <a:p>
            <a:pPr marL="673100" lvl="1" indent="-172085">
              <a:lnSpc>
                <a:spcPct val="100000"/>
              </a:lnSpc>
              <a:spcBef>
                <a:spcPts val="1220"/>
              </a:spcBef>
              <a:buSzPct val="125000"/>
              <a:buFont typeface="Arial MT"/>
              <a:buChar char="•"/>
              <a:tabLst>
                <a:tab pos="674370" algn="l"/>
              </a:tabLst>
            </a:pPr>
            <a:r>
              <a:rPr sz="2400" spc="-5" dirty="0">
                <a:solidFill>
                  <a:srgbClr val="FFFFFF"/>
                </a:solidFill>
                <a:latin typeface="Times New Roman"/>
                <a:cs typeface="Times New Roman"/>
              </a:rPr>
              <a:t>the</a:t>
            </a:r>
            <a:r>
              <a:rPr sz="2400" spc="-25" dirty="0">
                <a:solidFill>
                  <a:srgbClr val="FFFFFF"/>
                </a:solidFill>
                <a:latin typeface="Times New Roman"/>
                <a:cs typeface="Times New Roman"/>
              </a:rPr>
              <a:t> </a:t>
            </a:r>
            <a:r>
              <a:rPr sz="2400" spc="-5" dirty="0">
                <a:solidFill>
                  <a:srgbClr val="FFFFFF"/>
                </a:solidFill>
                <a:latin typeface="Times New Roman"/>
                <a:cs typeface="Times New Roman"/>
              </a:rPr>
              <a:t>consequences</a:t>
            </a:r>
            <a:r>
              <a:rPr sz="2400" spc="-20" dirty="0">
                <a:solidFill>
                  <a:srgbClr val="FFFFFF"/>
                </a:solidFill>
                <a:latin typeface="Times New Roman"/>
                <a:cs typeface="Times New Roman"/>
              </a:rPr>
              <a:t> </a:t>
            </a:r>
            <a:r>
              <a:rPr sz="2400" dirty="0">
                <a:solidFill>
                  <a:srgbClr val="FFFFFF"/>
                </a:solidFill>
                <a:latin typeface="Times New Roman"/>
                <a:cs typeface="Times New Roman"/>
              </a:rPr>
              <a:t>of</a:t>
            </a:r>
            <a:r>
              <a:rPr sz="2400" spc="-20" dirty="0">
                <a:solidFill>
                  <a:srgbClr val="FFFFFF"/>
                </a:solidFill>
                <a:latin typeface="Times New Roman"/>
                <a:cs typeface="Times New Roman"/>
              </a:rPr>
              <a:t> </a:t>
            </a:r>
            <a:r>
              <a:rPr sz="2400" dirty="0">
                <a:solidFill>
                  <a:srgbClr val="FFFFFF"/>
                </a:solidFill>
                <a:latin typeface="Times New Roman"/>
                <a:cs typeface="Times New Roman"/>
              </a:rPr>
              <a:t>different</a:t>
            </a:r>
            <a:r>
              <a:rPr sz="2400" spc="-15" dirty="0">
                <a:solidFill>
                  <a:srgbClr val="FFFFFF"/>
                </a:solidFill>
                <a:latin typeface="Times New Roman"/>
                <a:cs typeface="Times New Roman"/>
              </a:rPr>
              <a:t> </a:t>
            </a:r>
            <a:r>
              <a:rPr sz="2400" dirty="0">
                <a:solidFill>
                  <a:srgbClr val="FFFFFF"/>
                </a:solidFill>
                <a:latin typeface="Times New Roman"/>
                <a:cs typeface="Times New Roman"/>
              </a:rPr>
              <a:t>decisions.</a:t>
            </a:r>
            <a:endParaRPr sz="2400">
              <a:latin typeface="Times New Roman"/>
              <a:cs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9404985" cy="574040"/>
          </a:xfrm>
          <a:prstGeom prst="rect">
            <a:avLst/>
          </a:prstGeom>
        </p:spPr>
        <p:txBody>
          <a:bodyPr vert="horz" wrap="square" lIns="0" tIns="12700" rIns="0" bIns="0" rtlCol="0">
            <a:spAutoFit/>
          </a:bodyPr>
          <a:lstStyle/>
          <a:p>
            <a:pPr marL="12700">
              <a:lnSpc>
                <a:spcPct val="100000"/>
              </a:lnSpc>
              <a:spcBef>
                <a:spcPts val="100"/>
              </a:spcBef>
            </a:pPr>
            <a:r>
              <a:rPr spc="-5" dirty="0"/>
              <a:t>DECISION</a:t>
            </a:r>
            <a:r>
              <a:rPr spc="-35" dirty="0"/>
              <a:t> </a:t>
            </a:r>
            <a:r>
              <a:rPr spc="-5" dirty="0"/>
              <a:t>SUPPORT</a:t>
            </a:r>
            <a:r>
              <a:rPr spc="-30" dirty="0"/>
              <a:t> </a:t>
            </a:r>
            <a:r>
              <a:rPr spc="-5" dirty="0"/>
              <a:t>SYSTEM</a:t>
            </a:r>
            <a:r>
              <a:rPr spc="-30" dirty="0"/>
              <a:t> </a:t>
            </a:r>
            <a:r>
              <a:rPr spc="-5" dirty="0"/>
              <a:t>COMPONENTS</a:t>
            </a:r>
          </a:p>
        </p:txBody>
      </p:sp>
      <p:sp>
        <p:nvSpPr>
          <p:cNvPr id="3" name="object 3"/>
          <p:cNvSpPr txBox="1"/>
          <p:nvPr/>
        </p:nvSpPr>
        <p:spPr>
          <a:xfrm>
            <a:off x="1271549" y="2148902"/>
            <a:ext cx="2219325" cy="1945005"/>
          </a:xfrm>
          <a:prstGeom prst="rect">
            <a:avLst/>
          </a:prstGeom>
        </p:spPr>
        <p:txBody>
          <a:bodyPr vert="horz" wrap="square" lIns="0" tIns="123189" rIns="0" bIns="0" rtlCol="0">
            <a:spAutoFit/>
          </a:bodyPr>
          <a:lstStyle/>
          <a:p>
            <a:pPr marL="184150" indent="-172085">
              <a:lnSpc>
                <a:spcPct val="100000"/>
              </a:lnSpc>
              <a:spcBef>
                <a:spcPts val="969"/>
              </a:spcBef>
              <a:buSzPct val="125000"/>
              <a:buFont typeface="Arial MT"/>
              <a:buChar char="•"/>
              <a:tabLst>
                <a:tab pos="184785" algn="l"/>
              </a:tabLst>
            </a:pPr>
            <a:r>
              <a:rPr sz="2400" spc="-5" dirty="0">
                <a:solidFill>
                  <a:srgbClr val="FFFFFF"/>
                </a:solidFill>
                <a:latin typeface="Times New Roman"/>
                <a:cs typeface="Times New Roman"/>
              </a:rPr>
              <a:t>Knowledge</a:t>
            </a:r>
            <a:r>
              <a:rPr sz="2400" spc="-85" dirty="0">
                <a:solidFill>
                  <a:srgbClr val="FFFFFF"/>
                </a:solidFill>
                <a:latin typeface="Times New Roman"/>
                <a:cs typeface="Times New Roman"/>
              </a:rPr>
              <a:t> </a:t>
            </a:r>
            <a:r>
              <a:rPr sz="2400" dirty="0">
                <a:solidFill>
                  <a:srgbClr val="FFFFFF"/>
                </a:solidFill>
                <a:latin typeface="Times New Roman"/>
                <a:cs typeface="Times New Roman"/>
              </a:rPr>
              <a:t>base</a:t>
            </a:r>
            <a:endParaRPr sz="2400">
              <a:latin typeface="Times New Roman"/>
              <a:cs typeface="Times New Roman"/>
            </a:endParaRPr>
          </a:p>
          <a:p>
            <a:pPr marL="184150" indent="-172085">
              <a:lnSpc>
                <a:spcPct val="100000"/>
              </a:lnSpc>
              <a:spcBef>
                <a:spcPts val="1720"/>
              </a:spcBef>
              <a:buSzPct val="125000"/>
              <a:buFont typeface="Arial MT"/>
              <a:buChar char="•"/>
              <a:tabLst>
                <a:tab pos="184785" algn="l"/>
              </a:tabLst>
            </a:pPr>
            <a:r>
              <a:rPr sz="2400" spc="-5" dirty="0">
                <a:solidFill>
                  <a:srgbClr val="FFFFFF"/>
                </a:solidFill>
                <a:latin typeface="Times New Roman"/>
                <a:cs typeface="Times New Roman"/>
              </a:rPr>
              <a:t>Software</a:t>
            </a:r>
            <a:r>
              <a:rPr sz="2400" spc="-80" dirty="0">
                <a:solidFill>
                  <a:srgbClr val="FFFFFF"/>
                </a:solidFill>
                <a:latin typeface="Times New Roman"/>
                <a:cs typeface="Times New Roman"/>
              </a:rPr>
              <a:t> </a:t>
            </a:r>
            <a:r>
              <a:rPr sz="2400" spc="-5" dirty="0">
                <a:solidFill>
                  <a:srgbClr val="FFFFFF"/>
                </a:solidFill>
                <a:latin typeface="Times New Roman"/>
                <a:cs typeface="Times New Roman"/>
              </a:rPr>
              <a:t>system</a:t>
            </a:r>
            <a:endParaRPr sz="2400">
              <a:latin typeface="Times New Roman"/>
              <a:cs typeface="Times New Roman"/>
            </a:endParaRPr>
          </a:p>
          <a:p>
            <a:pPr marL="184150" indent="-172085">
              <a:lnSpc>
                <a:spcPct val="100000"/>
              </a:lnSpc>
              <a:spcBef>
                <a:spcPts val="1720"/>
              </a:spcBef>
              <a:buSzPct val="125000"/>
              <a:buFont typeface="Arial MT"/>
              <a:buChar char="•"/>
              <a:tabLst>
                <a:tab pos="184785" algn="l"/>
              </a:tabLst>
            </a:pPr>
            <a:r>
              <a:rPr sz="2400" spc="-5" dirty="0">
                <a:solidFill>
                  <a:srgbClr val="FFFFFF"/>
                </a:solidFill>
                <a:latin typeface="Times New Roman"/>
                <a:cs typeface="Times New Roman"/>
              </a:rPr>
              <a:t>User</a:t>
            </a:r>
            <a:r>
              <a:rPr sz="2400" spc="-50" dirty="0">
                <a:solidFill>
                  <a:srgbClr val="FFFFFF"/>
                </a:solidFill>
                <a:latin typeface="Times New Roman"/>
                <a:cs typeface="Times New Roman"/>
              </a:rPr>
              <a:t> </a:t>
            </a:r>
            <a:r>
              <a:rPr sz="2400" spc="-5" dirty="0">
                <a:solidFill>
                  <a:srgbClr val="FFFFFF"/>
                </a:solidFill>
                <a:latin typeface="Times New Roman"/>
                <a:cs typeface="Times New Roman"/>
              </a:rPr>
              <a:t>interface</a:t>
            </a:r>
            <a:endParaRPr sz="2400">
              <a:latin typeface="Times New Roman"/>
              <a:cs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4225925" cy="574040"/>
          </a:xfrm>
          <a:prstGeom prst="rect">
            <a:avLst/>
          </a:prstGeom>
        </p:spPr>
        <p:txBody>
          <a:bodyPr vert="horz" wrap="square" lIns="0" tIns="12700" rIns="0" bIns="0" rtlCol="0">
            <a:spAutoFit/>
          </a:bodyPr>
          <a:lstStyle/>
          <a:p>
            <a:pPr marL="12700">
              <a:lnSpc>
                <a:spcPct val="100000"/>
              </a:lnSpc>
              <a:spcBef>
                <a:spcPts val="100"/>
              </a:spcBef>
            </a:pPr>
            <a:r>
              <a:rPr spc="-5" dirty="0"/>
              <a:t>KNOWLEDGE</a:t>
            </a:r>
            <a:r>
              <a:rPr spc="-90" dirty="0"/>
              <a:t> </a:t>
            </a:r>
            <a:r>
              <a:rPr spc="-5" dirty="0"/>
              <a:t>BASE</a:t>
            </a:r>
          </a:p>
        </p:txBody>
      </p:sp>
      <p:sp>
        <p:nvSpPr>
          <p:cNvPr id="3" name="object 3"/>
          <p:cNvSpPr txBox="1"/>
          <p:nvPr/>
        </p:nvSpPr>
        <p:spPr>
          <a:xfrm>
            <a:off x="1271549" y="2226118"/>
            <a:ext cx="9695180" cy="2529840"/>
          </a:xfrm>
          <a:prstGeom prst="rect">
            <a:avLst/>
          </a:prstGeom>
        </p:spPr>
        <p:txBody>
          <a:bodyPr vert="horz" wrap="square" lIns="0" tIns="46990" rIns="0" bIns="0" rtlCol="0">
            <a:spAutoFit/>
          </a:bodyPr>
          <a:lstStyle/>
          <a:p>
            <a:pPr marL="184150" marR="5080" indent="-172085" algn="just">
              <a:lnSpc>
                <a:spcPts val="3740"/>
              </a:lnSpc>
              <a:spcBef>
                <a:spcPts val="370"/>
              </a:spcBef>
              <a:buSzPct val="125000"/>
              <a:buFont typeface="Arial MT"/>
              <a:buChar char="•"/>
              <a:tabLst>
                <a:tab pos="184785" algn="l"/>
              </a:tabLst>
            </a:pPr>
            <a:r>
              <a:rPr sz="2400" dirty="0">
                <a:solidFill>
                  <a:srgbClr val="FFFFFF"/>
                </a:solidFill>
                <a:latin typeface="Times New Roman"/>
                <a:cs typeface="Times New Roman"/>
              </a:rPr>
              <a:t>A knowledge base </a:t>
            </a:r>
            <a:r>
              <a:rPr sz="2400" spc="-5" dirty="0">
                <a:solidFill>
                  <a:srgbClr val="FFFFFF"/>
                </a:solidFill>
                <a:latin typeface="Times New Roman"/>
                <a:cs typeface="Times New Roman"/>
              </a:rPr>
              <a:t>is an integral </a:t>
            </a:r>
            <a:r>
              <a:rPr sz="2400" dirty="0">
                <a:solidFill>
                  <a:srgbClr val="FFFFFF"/>
                </a:solidFill>
                <a:latin typeface="Times New Roman"/>
                <a:cs typeface="Times New Roman"/>
              </a:rPr>
              <a:t>part of a decision </a:t>
            </a:r>
            <a:r>
              <a:rPr sz="2400" spc="-5" dirty="0">
                <a:solidFill>
                  <a:srgbClr val="FFFFFF"/>
                </a:solidFill>
                <a:latin typeface="Times New Roman"/>
                <a:cs typeface="Times New Roman"/>
              </a:rPr>
              <a:t>support system </a:t>
            </a:r>
            <a:r>
              <a:rPr sz="2400" dirty="0">
                <a:solidFill>
                  <a:srgbClr val="FFFFFF"/>
                </a:solidFill>
                <a:latin typeface="Times New Roman"/>
                <a:cs typeface="Times New Roman"/>
              </a:rPr>
              <a:t>database, </a:t>
            </a:r>
            <a:r>
              <a:rPr sz="2400" spc="5" dirty="0">
                <a:solidFill>
                  <a:srgbClr val="FFFFFF"/>
                </a:solidFill>
                <a:latin typeface="Times New Roman"/>
                <a:cs typeface="Times New Roman"/>
              </a:rPr>
              <a:t> </a:t>
            </a:r>
            <a:r>
              <a:rPr sz="2400" spc="-5" dirty="0">
                <a:solidFill>
                  <a:srgbClr val="FFFFFF"/>
                </a:solidFill>
                <a:latin typeface="Times New Roman"/>
                <a:cs typeface="Times New Roman"/>
              </a:rPr>
              <a:t>containing</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information </a:t>
            </a:r>
            <a:r>
              <a:rPr sz="2400" dirty="0">
                <a:solidFill>
                  <a:srgbClr val="FFFFFF"/>
                </a:solidFill>
                <a:latin typeface="Times New Roman"/>
                <a:cs typeface="Times New Roman"/>
              </a:rPr>
              <a:t>from</a:t>
            </a:r>
            <a:r>
              <a:rPr sz="2400" spc="-5" dirty="0">
                <a:solidFill>
                  <a:srgbClr val="FFFFFF"/>
                </a:solidFill>
                <a:latin typeface="Times New Roman"/>
                <a:cs typeface="Times New Roman"/>
              </a:rPr>
              <a:t> </a:t>
            </a:r>
            <a:r>
              <a:rPr sz="2400" dirty="0">
                <a:solidFill>
                  <a:srgbClr val="FFFFFF"/>
                </a:solidFill>
                <a:latin typeface="Times New Roman"/>
                <a:cs typeface="Times New Roman"/>
              </a:rPr>
              <a:t>both </a:t>
            </a:r>
            <a:r>
              <a:rPr sz="2400" spc="-5" dirty="0">
                <a:solidFill>
                  <a:srgbClr val="FFFFFF"/>
                </a:solidFill>
                <a:latin typeface="Times New Roman"/>
                <a:cs typeface="Times New Roman"/>
              </a:rPr>
              <a:t>internal</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and external</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sources.</a:t>
            </a:r>
            <a:endParaRPr sz="2400">
              <a:latin typeface="Times New Roman"/>
              <a:cs typeface="Times New Roman"/>
            </a:endParaRPr>
          </a:p>
          <a:p>
            <a:pPr marL="184150" marR="13335" indent="-172085" algn="just">
              <a:lnSpc>
                <a:spcPct val="120300"/>
              </a:lnSpc>
              <a:spcBef>
                <a:spcPts val="560"/>
              </a:spcBef>
              <a:buSzPct val="125000"/>
              <a:buFont typeface="Arial MT"/>
              <a:buChar char="•"/>
              <a:tabLst>
                <a:tab pos="184785" algn="l"/>
              </a:tabLst>
            </a:pPr>
            <a:r>
              <a:rPr sz="2400" dirty="0">
                <a:solidFill>
                  <a:srgbClr val="FFFFFF"/>
                </a:solidFill>
                <a:latin typeface="Times New Roman"/>
                <a:cs typeface="Times New Roman"/>
              </a:rPr>
              <a:t>It </a:t>
            </a:r>
            <a:r>
              <a:rPr sz="2400" spc="-5" dirty="0">
                <a:solidFill>
                  <a:srgbClr val="FFFFFF"/>
                </a:solidFill>
                <a:latin typeface="Times New Roman"/>
                <a:cs typeface="Times New Roman"/>
              </a:rPr>
              <a:t>is </a:t>
            </a:r>
            <a:r>
              <a:rPr sz="2400" dirty="0">
                <a:solidFill>
                  <a:srgbClr val="FFFFFF"/>
                </a:solidFill>
                <a:latin typeface="Times New Roman"/>
                <a:cs typeface="Times New Roman"/>
              </a:rPr>
              <a:t>a </a:t>
            </a:r>
            <a:r>
              <a:rPr sz="2400" spc="-5" dirty="0">
                <a:solidFill>
                  <a:srgbClr val="FFFFFF"/>
                </a:solidFill>
                <a:latin typeface="Times New Roman"/>
                <a:cs typeface="Times New Roman"/>
              </a:rPr>
              <a:t>library </a:t>
            </a:r>
            <a:r>
              <a:rPr sz="2400" dirty="0">
                <a:solidFill>
                  <a:srgbClr val="FFFFFF"/>
                </a:solidFill>
                <a:latin typeface="Times New Roman"/>
                <a:cs typeface="Times New Roman"/>
              </a:rPr>
              <a:t>of </a:t>
            </a:r>
            <a:r>
              <a:rPr sz="2400" spc="-5" dirty="0">
                <a:solidFill>
                  <a:srgbClr val="FFFFFF"/>
                </a:solidFill>
                <a:latin typeface="Times New Roman"/>
                <a:cs typeface="Times New Roman"/>
              </a:rPr>
              <a:t>information </a:t>
            </a:r>
            <a:r>
              <a:rPr sz="2400" dirty="0">
                <a:solidFill>
                  <a:srgbClr val="FFFFFF"/>
                </a:solidFill>
                <a:latin typeface="Times New Roman"/>
                <a:cs typeface="Times New Roman"/>
              </a:rPr>
              <a:t>related </a:t>
            </a:r>
            <a:r>
              <a:rPr sz="2400" spc="-5" dirty="0">
                <a:solidFill>
                  <a:srgbClr val="FFFFFF"/>
                </a:solidFill>
                <a:latin typeface="Times New Roman"/>
                <a:cs typeface="Times New Roman"/>
              </a:rPr>
              <a:t>to </a:t>
            </a:r>
            <a:r>
              <a:rPr sz="2400" dirty="0">
                <a:solidFill>
                  <a:srgbClr val="FFFFFF"/>
                </a:solidFill>
                <a:latin typeface="Times New Roman"/>
                <a:cs typeface="Times New Roman"/>
              </a:rPr>
              <a:t>particular </a:t>
            </a:r>
            <a:r>
              <a:rPr sz="2400" spc="-5" dirty="0">
                <a:solidFill>
                  <a:srgbClr val="FFFFFF"/>
                </a:solidFill>
                <a:latin typeface="Times New Roman"/>
                <a:cs typeface="Times New Roman"/>
              </a:rPr>
              <a:t>subjects and is the </a:t>
            </a:r>
            <a:r>
              <a:rPr sz="2400" dirty="0">
                <a:solidFill>
                  <a:srgbClr val="FFFFFF"/>
                </a:solidFill>
                <a:latin typeface="Times New Roman"/>
                <a:cs typeface="Times New Roman"/>
              </a:rPr>
              <a:t>part of a </a:t>
            </a:r>
            <a:r>
              <a:rPr sz="2400" spc="5" dirty="0">
                <a:solidFill>
                  <a:srgbClr val="FFFFFF"/>
                </a:solidFill>
                <a:latin typeface="Times New Roman"/>
                <a:cs typeface="Times New Roman"/>
              </a:rPr>
              <a:t> </a:t>
            </a:r>
            <a:r>
              <a:rPr sz="2400" spc="-5" dirty="0">
                <a:solidFill>
                  <a:srgbClr val="FFFFFF"/>
                </a:solidFill>
                <a:latin typeface="Times New Roman"/>
                <a:cs typeface="Times New Roman"/>
              </a:rPr>
              <a:t>DSS</a:t>
            </a:r>
            <a:r>
              <a:rPr sz="2400" dirty="0">
                <a:solidFill>
                  <a:srgbClr val="FFFFFF"/>
                </a:solidFill>
                <a:latin typeface="Times New Roman"/>
                <a:cs typeface="Times New Roman"/>
              </a:rPr>
              <a:t> </a:t>
            </a:r>
            <a:r>
              <a:rPr sz="2400" spc="-5" dirty="0">
                <a:solidFill>
                  <a:srgbClr val="FFFFFF"/>
                </a:solidFill>
                <a:latin typeface="Times New Roman"/>
                <a:cs typeface="Times New Roman"/>
              </a:rPr>
              <a:t>that</a:t>
            </a:r>
            <a:r>
              <a:rPr sz="2400" dirty="0">
                <a:solidFill>
                  <a:srgbClr val="FFFFFF"/>
                </a:solidFill>
                <a:latin typeface="Times New Roman"/>
                <a:cs typeface="Times New Roman"/>
              </a:rPr>
              <a:t> </a:t>
            </a:r>
            <a:r>
              <a:rPr sz="2400" spc="-5" dirty="0">
                <a:solidFill>
                  <a:srgbClr val="FFFFFF"/>
                </a:solidFill>
                <a:latin typeface="Times New Roman"/>
                <a:cs typeface="Times New Roman"/>
              </a:rPr>
              <a:t>stores</a:t>
            </a:r>
            <a:r>
              <a:rPr sz="2400" dirty="0">
                <a:solidFill>
                  <a:srgbClr val="FFFFFF"/>
                </a:solidFill>
                <a:latin typeface="Times New Roman"/>
                <a:cs typeface="Times New Roman"/>
              </a:rPr>
              <a:t> </a:t>
            </a:r>
            <a:r>
              <a:rPr sz="2400" spc="-5" dirty="0">
                <a:solidFill>
                  <a:srgbClr val="FFFFFF"/>
                </a:solidFill>
                <a:latin typeface="Times New Roman"/>
                <a:cs typeface="Times New Roman"/>
              </a:rPr>
              <a:t>information</a:t>
            </a:r>
            <a:r>
              <a:rPr sz="2400" dirty="0">
                <a:solidFill>
                  <a:srgbClr val="FFFFFF"/>
                </a:solidFill>
                <a:latin typeface="Times New Roman"/>
                <a:cs typeface="Times New Roman"/>
              </a:rPr>
              <a:t> used</a:t>
            </a:r>
            <a:r>
              <a:rPr sz="2400" spc="5" dirty="0">
                <a:solidFill>
                  <a:srgbClr val="FFFFFF"/>
                </a:solidFill>
                <a:latin typeface="Times New Roman"/>
                <a:cs typeface="Times New Roman"/>
              </a:rPr>
              <a:t> </a:t>
            </a:r>
            <a:r>
              <a:rPr sz="2400" dirty="0">
                <a:solidFill>
                  <a:srgbClr val="FFFFFF"/>
                </a:solidFill>
                <a:latin typeface="Times New Roman"/>
                <a:cs typeface="Times New Roman"/>
              </a:rPr>
              <a:t>by</a:t>
            </a:r>
            <a:r>
              <a:rPr sz="2400" spc="5" dirty="0">
                <a:solidFill>
                  <a:srgbClr val="FFFFFF"/>
                </a:solidFill>
                <a:latin typeface="Times New Roman"/>
                <a:cs typeface="Times New Roman"/>
              </a:rPr>
              <a:t> </a:t>
            </a:r>
            <a:r>
              <a:rPr sz="2400" spc="-5" dirty="0">
                <a:solidFill>
                  <a:srgbClr val="FFFFFF"/>
                </a:solidFill>
                <a:latin typeface="Times New Roman"/>
                <a:cs typeface="Times New Roman"/>
              </a:rPr>
              <a:t>the</a:t>
            </a:r>
            <a:r>
              <a:rPr sz="2400" dirty="0">
                <a:solidFill>
                  <a:srgbClr val="FFFFFF"/>
                </a:solidFill>
                <a:latin typeface="Times New Roman"/>
                <a:cs typeface="Times New Roman"/>
              </a:rPr>
              <a:t> </a:t>
            </a:r>
            <a:r>
              <a:rPr sz="2400" spc="-5" dirty="0">
                <a:solidFill>
                  <a:srgbClr val="FFFFFF"/>
                </a:solidFill>
                <a:latin typeface="Times New Roman"/>
                <a:cs typeface="Times New Roman"/>
              </a:rPr>
              <a:t>system's</a:t>
            </a:r>
            <a:r>
              <a:rPr sz="2400" dirty="0">
                <a:solidFill>
                  <a:srgbClr val="FFFFFF"/>
                </a:solidFill>
                <a:latin typeface="Times New Roman"/>
                <a:cs typeface="Times New Roman"/>
              </a:rPr>
              <a:t> reasoning</a:t>
            </a:r>
            <a:r>
              <a:rPr sz="2400" spc="5" dirty="0">
                <a:solidFill>
                  <a:srgbClr val="FFFFFF"/>
                </a:solidFill>
                <a:latin typeface="Times New Roman"/>
                <a:cs typeface="Times New Roman"/>
              </a:rPr>
              <a:t> </a:t>
            </a:r>
            <a:r>
              <a:rPr sz="2400" spc="-5" dirty="0">
                <a:solidFill>
                  <a:srgbClr val="FFFFFF"/>
                </a:solidFill>
                <a:latin typeface="Times New Roman"/>
                <a:cs typeface="Times New Roman"/>
              </a:rPr>
              <a:t>engine</a:t>
            </a:r>
            <a:r>
              <a:rPr sz="2400" dirty="0">
                <a:solidFill>
                  <a:srgbClr val="FFFFFF"/>
                </a:solidFill>
                <a:latin typeface="Times New Roman"/>
                <a:cs typeface="Times New Roman"/>
              </a:rPr>
              <a:t> </a:t>
            </a:r>
            <a:r>
              <a:rPr sz="2400" spc="-5" dirty="0">
                <a:solidFill>
                  <a:srgbClr val="FFFFFF"/>
                </a:solidFill>
                <a:latin typeface="Times New Roman"/>
                <a:cs typeface="Times New Roman"/>
              </a:rPr>
              <a:t>to </a:t>
            </a:r>
            <a:r>
              <a:rPr sz="2400" dirty="0">
                <a:solidFill>
                  <a:srgbClr val="FFFFFF"/>
                </a:solidFill>
                <a:latin typeface="Times New Roman"/>
                <a:cs typeface="Times New Roman"/>
              </a:rPr>
              <a:t> determine</a:t>
            </a:r>
            <a:r>
              <a:rPr sz="2400" spc="-5" dirty="0">
                <a:solidFill>
                  <a:srgbClr val="FFFFFF"/>
                </a:solidFill>
                <a:latin typeface="Times New Roman"/>
                <a:cs typeface="Times New Roman"/>
              </a:rPr>
              <a:t> </a:t>
            </a:r>
            <a:r>
              <a:rPr sz="2400" dirty="0">
                <a:solidFill>
                  <a:srgbClr val="FFFFFF"/>
                </a:solidFill>
                <a:latin typeface="Times New Roman"/>
                <a:cs typeface="Times New Roman"/>
              </a:rPr>
              <a:t>a</a:t>
            </a:r>
            <a:r>
              <a:rPr sz="2400" spc="-5" dirty="0">
                <a:solidFill>
                  <a:srgbClr val="FFFFFF"/>
                </a:solidFill>
                <a:latin typeface="Times New Roman"/>
                <a:cs typeface="Times New Roman"/>
              </a:rPr>
              <a:t> course </a:t>
            </a:r>
            <a:r>
              <a:rPr sz="2400" dirty="0">
                <a:solidFill>
                  <a:srgbClr val="FFFFFF"/>
                </a:solidFill>
                <a:latin typeface="Times New Roman"/>
                <a:cs typeface="Times New Roman"/>
              </a:rPr>
              <a:t>of </a:t>
            </a:r>
            <a:r>
              <a:rPr sz="2400" spc="-5" dirty="0">
                <a:solidFill>
                  <a:srgbClr val="FFFFFF"/>
                </a:solidFill>
                <a:latin typeface="Times New Roman"/>
                <a:cs typeface="Times New Roman"/>
              </a:rPr>
              <a:t>action.</a:t>
            </a:r>
            <a:endParaRPr sz="2400">
              <a:latin typeface="Times New Roman"/>
              <a:cs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4406265" cy="574040"/>
          </a:xfrm>
          <a:prstGeom prst="rect">
            <a:avLst/>
          </a:prstGeom>
        </p:spPr>
        <p:txBody>
          <a:bodyPr vert="horz" wrap="square" lIns="0" tIns="12700" rIns="0" bIns="0" rtlCol="0">
            <a:spAutoFit/>
          </a:bodyPr>
          <a:lstStyle/>
          <a:p>
            <a:pPr marL="12700">
              <a:lnSpc>
                <a:spcPct val="100000"/>
              </a:lnSpc>
              <a:spcBef>
                <a:spcPts val="100"/>
              </a:spcBef>
            </a:pPr>
            <a:r>
              <a:rPr spc="-5" dirty="0"/>
              <a:t>SOFTWARE</a:t>
            </a:r>
            <a:r>
              <a:rPr spc="-90" dirty="0"/>
              <a:t> </a:t>
            </a:r>
            <a:r>
              <a:rPr spc="-5" dirty="0"/>
              <a:t>SYSTEM</a:t>
            </a:r>
          </a:p>
        </p:txBody>
      </p:sp>
      <p:sp>
        <p:nvSpPr>
          <p:cNvPr id="3" name="object 3"/>
          <p:cNvSpPr txBox="1"/>
          <p:nvPr/>
        </p:nvSpPr>
        <p:spPr>
          <a:xfrm>
            <a:off x="1271549" y="2226118"/>
            <a:ext cx="9695180" cy="2529840"/>
          </a:xfrm>
          <a:prstGeom prst="rect">
            <a:avLst/>
          </a:prstGeom>
        </p:spPr>
        <p:txBody>
          <a:bodyPr vert="horz" wrap="square" lIns="0" tIns="46355" rIns="0" bIns="0" rtlCol="0">
            <a:spAutoFit/>
          </a:bodyPr>
          <a:lstStyle/>
          <a:p>
            <a:pPr marL="184150" indent="-172085">
              <a:lnSpc>
                <a:spcPct val="100000"/>
              </a:lnSpc>
              <a:spcBef>
                <a:spcPts val="365"/>
              </a:spcBef>
              <a:buSzPct val="125000"/>
              <a:buFont typeface="Arial MT"/>
              <a:buChar char="•"/>
              <a:tabLst>
                <a:tab pos="184785" algn="l"/>
              </a:tabLst>
            </a:pPr>
            <a:r>
              <a:rPr sz="2400" spc="-5" dirty="0">
                <a:solidFill>
                  <a:srgbClr val="FFFFFF"/>
                </a:solidFill>
                <a:latin typeface="Times New Roman"/>
                <a:cs typeface="Times New Roman"/>
              </a:rPr>
              <a:t>The</a:t>
            </a:r>
            <a:r>
              <a:rPr sz="2400" spc="35" dirty="0">
                <a:solidFill>
                  <a:srgbClr val="FFFFFF"/>
                </a:solidFill>
                <a:latin typeface="Times New Roman"/>
                <a:cs typeface="Times New Roman"/>
              </a:rPr>
              <a:t> </a:t>
            </a:r>
            <a:r>
              <a:rPr sz="2400" spc="-5" dirty="0">
                <a:solidFill>
                  <a:srgbClr val="FFFFFF"/>
                </a:solidFill>
                <a:latin typeface="Times New Roman"/>
                <a:cs typeface="Times New Roman"/>
              </a:rPr>
              <a:t>software</a:t>
            </a:r>
            <a:r>
              <a:rPr sz="2400" spc="35" dirty="0">
                <a:solidFill>
                  <a:srgbClr val="FFFFFF"/>
                </a:solidFill>
                <a:latin typeface="Times New Roman"/>
                <a:cs typeface="Times New Roman"/>
              </a:rPr>
              <a:t> </a:t>
            </a:r>
            <a:r>
              <a:rPr sz="2400" spc="-5" dirty="0">
                <a:solidFill>
                  <a:srgbClr val="FFFFFF"/>
                </a:solidFill>
                <a:latin typeface="Times New Roman"/>
                <a:cs typeface="Times New Roman"/>
              </a:rPr>
              <a:t>system</a:t>
            </a:r>
            <a:r>
              <a:rPr sz="2400" spc="35" dirty="0">
                <a:solidFill>
                  <a:srgbClr val="FFFFFF"/>
                </a:solidFill>
                <a:latin typeface="Times New Roman"/>
                <a:cs typeface="Times New Roman"/>
              </a:rPr>
              <a:t> </a:t>
            </a:r>
            <a:r>
              <a:rPr sz="2400" spc="-5" dirty="0">
                <a:solidFill>
                  <a:srgbClr val="FFFFFF"/>
                </a:solidFill>
                <a:latin typeface="Times New Roman"/>
                <a:cs typeface="Times New Roman"/>
              </a:rPr>
              <a:t>is</a:t>
            </a:r>
            <a:r>
              <a:rPr sz="2400" spc="35" dirty="0">
                <a:solidFill>
                  <a:srgbClr val="FFFFFF"/>
                </a:solidFill>
                <a:latin typeface="Times New Roman"/>
                <a:cs typeface="Times New Roman"/>
              </a:rPr>
              <a:t> </a:t>
            </a:r>
            <a:r>
              <a:rPr sz="2400" spc="-5" dirty="0">
                <a:solidFill>
                  <a:srgbClr val="FFFFFF"/>
                </a:solidFill>
                <a:latin typeface="Times New Roman"/>
                <a:cs typeface="Times New Roman"/>
              </a:rPr>
              <a:t>composed</a:t>
            </a:r>
            <a:r>
              <a:rPr sz="2400" spc="35" dirty="0">
                <a:solidFill>
                  <a:srgbClr val="FFFFFF"/>
                </a:solidFill>
                <a:latin typeface="Times New Roman"/>
                <a:cs typeface="Times New Roman"/>
              </a:rPr>
              <a:t> </a:t>
            </a:r>
            <a:r>
              <a:rPr sz="2400" dirty="0">
                <a:solidFill>
                  <a:srgbClr val="FFFFFF"/>
                </a:solidFill>
                <a:latin typeface="Times New Roman"/>
                <a:cs typeface="Times New Roman"/>
              </a:rPr>
              <a:t>of</a:t>
            </a:r>
            <a:r>
              <a:rPr sz="2400" spc="40" dirty="0">
                <a:solidFill>
                  <a:srgbClr val="FFFFFF"/>
                </a:solidFill>
                <a:latin typeface="Times New Roman"/>
                <a:cs typeface="Times New Roman"/>
              </a:rPr>
              <a:t> </a:t>
            </a:r>
            <a:r>
              <a:rPr sz="2400" spc="-5" dirty="0">
                <a:solidFill>
                  <a:srgbClr val="FFFFFF"/>
                </a:solidFill>
                <a:latin typeface="Times New Roman"/>
                <a:cs typeface="Times New Roman"/>
              </a:rPr>
              <a:t>model</a:t>
            </a:r>
            <a:r>
              <a:rPr sz="2400" spc="35" dirty="0">
                <a:solidFill>
                  <a:srgbClr val="FFFFFF"/>
                </a:solidFill>
                <a:latin typeface="Times New Roman"/>
                <a:cs typeface="Times New Roman"/>
              </a:rPr>
              <a:t> </a:t>
            </a:r>
            <a:r>
              <a:rPr sz="2400" spc="-5" dirty="0">
                <a:solidFill>
                  <a:srgbClr val="FFFFFF"/>
                </a:solidFill>
                <a:latin typeface="Times New Roman"/>
                <a:cs typeface="Times New Roman"/>
              </a:rPr>
              <a:t>management</a:t>
            </a:r>
            <a:r>
              <a:rPr sz="2400" spc="35" dirty="0">
                <a:solidFill>
                  <a:srgbClr val="FFFFFF"/>
                </a:solidFill>
                <a:latin typeface="Times New Roman"/>
                <a:cs typeface="Times New Roman"/>
              </a:rPr>
              <a:t> </a:t>
            </a:r>
            <a:r>
              <a:rPr sz="2400" spc="-5" dirty="0">
                <a:solidFill>
                  <a:srgbClr val="FFFFFF"/>
                </a:solidFill>
                <a:latin typeface="Times New Roman"/>
                <a:cs typeface="Times New Roman"/>
              </a:rPr>
              <a:t>systems.</a:t>
            </a:r>
            <a:r>
              <a:rPr sz="2400" spc="35" dirty="0">
                <a:solidFill>
                  <a:srgbClr val="FFFFFF"/>
                </a:solidFill>
                <a:latin typeface="Times New Roman"/>
                <a:cs typeface="Times New Roman"/>
              </a:rPr>
              <a:t> </a:t>
            </a:r>
            <a:r>
              <a:rPr sz="2400" dirty="0">
                <a:solidFill>
                  <a:srgbClr val="FFFFFF"/>
                </a:solidFill>
                <a:latin typeface="Times New Roman"/>
                <a:cs typeface="Times New Roman"/>
              </a:rPr>
              <a:t>A</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model</a:t>
            </a:r>
            <a:r>
              <a:rPr sz="2400" spc="35" dirty="0">
                <a:solidFill>
                  <a:srgbClr val="FFFFFF"/>
                </a:solidFill>
                <a:latin typeface="Times New Roman"/>
                <a:cs typeface="Times New Roman"/>
              </a:rPr>
              <a:t> </a:t>
            </a:r>
            <a:r>
              <a:rPr sz="2400" spc="-5" dirty="0">
                <a:solidFill>
                  <a:srgbClr val="FFFFFF"/>
                </a:solidFill>
                <a:latin typeface="Times New Roman"/>
                <a:cs typeface="Times New Roman"/>
              </a:rPr>
              <a:t>is</a:t>
            </a:r>
            <a:endParaRPr sz="2400">
              <a:latin typeface="Times New Roman"/>
              <a:cs typeface="Times New Roman"/>
            </a:endParaRPr>
          </a:p>
          <a:p>
            <a:pPr marL="184150" marR="5080">
              <a:lnSpc>
                <a:spcPct val="120000"/>
              </a:lnSpc>
              <a:spcBef>
                <a:spcPts val="165"/>
              </a:spcBef>
            </a:pPr>
            <a:r>
              <a:rPr sz="2400" dirty="0">
                <a:solidFill>
                  <a:srgbClr val="FFFFFF"/>
                </a:solidFill>
                <a:latin typeface="Times New Roman"/>
                <a:cs typeface="Times New Roman"/>
              </a:rPr>
              <a:t>a</a:t>
            </a:r>
            <a:r>
              <a:rPr sz="2400" spc="229" dirty="0">
                <a:solidFill>
                  <a:srgbClr val="FFFFFF"/>
                </a:solidFill>
                <a:latin typeface="Times New Roman"/>
                <a:cs typeface="Times New Roman"/>
              </a:rPr>
              <a:t> </a:t>
            </a:r>
            <a:r>
              <a:rPr sz="2400" spc="-5" dirty="0">
                <a:solidFill>
                  <a:srgbClr val="FFFFFF"/>
                </a:solidFill>
                <a:latin typeface="Times New Roman"/>
                <a:cs typeface="Times New Roman"/>
              </a:rPr>
              <a:t>simulation</a:t>
            </a:r>
            <a:r>
              <a:rPr sz="2400" spc="-10" dirty="0">
                <a:solidFill>
                  <a:srgbClr val="FFFFFF"/>
                </a:solidFill>
                <a:latin typeface="Times New Roman"/>
                <a:cs typeface="Times New Roman"/>
              </a:rPr>
              <a:t> </a:t>
            </a:r>
            <a:r>
              <a:rPr sz="2400" dirty="0">
                <a:solidFill>
                  <a:srgbClr val="FFFFFF"/>
                </a:solidFill>
                <a:latin typeface="Times New Roman"/>
                <a:cs typeface="Times New Roman"/>
              </a:rPr>
              <a:t>of</a:t>
            </a:r>
            <a:r>
              <a:rPr sz="2400" spc="240" dirty="0">
                <a:solidFill>
                  <a:srgbClr val="FFFFFF"/>
                </a:solidFill>
                <a:latin typeface="Times New Roman"/>
                <a:cs typeface="Times New Roman"/>
              </a:rPr>
              <a:t> </a:t>
            </a:r>
            <a:r>
              <a:rPr sz="2400" dirty="0">
                <a:solidFill>
                  <a:srgbClr val="FFFFFF"/>
                </a:solidFill>
                <a:latin typeface="Times New Roman"/>
                <a:cs typeface="Times New Roman"/>
              </a:rPr>
              <a:t>a</a:t>
            </a:r>
            <a:r>
              <a:rPr sz="2400" spc="235" dirty="0">
                <a:solidFill>
                  <a:srgbClr val="FFFFFF"/>
                </a:solidFill>
                <a:latin typeface="Times New Roman"/>
                <a:cs typeface="Times New Roman"/>
              </a:rPr>
              <a:t> </a:t>
            </a:r>
            <a:r>
              <a:rPr sz="2400" dirty="0">
                <a:solidFill>
                  <a:srgbClr val="FFFFFF"/>
                </a:solidFill>
                <a:latin typeface="Times New Roman"/>
                <a:cs typeface="Times New Roman"/>
              </a:rPr>
              <a:t>real-world</a:t>
            </a:r>
            <a:r>
              <a:rPr sz="2400" spc="235" dirty="0">
                <a:solidFill>
                  <a:srgbClr val="FFFFFF"/>
                </a:solidFill>
                <a:latin typeface="Times New Roman"/>
                <a:cs typeface="Times New Roman"/>
              </a:rPr>
              <a:t> </a:t>
            </a:r>
            <a:r>
              <a:rPr sz="2400" spc="-5" dirty="0">
                <a:solidFill>
                  <a:srgbClr val="FFFFFF"/>
                </a:solidFill>
                <a:latin typeface="Times New Roman"/>
                <a:cs typeface="Times New Roman"/>
              </a:rPr>
              <a:t>system</a:t>
            </a:r>
            <a:r>
              <a:rPr sz="2400" spc="240" dirty="0">
                <a:solidFill>
                  <a:srgbClr val="FFFFFF"/>
                </a:solidFill>
                <a:latin typeface="Times New Roman"/>
                <a:cs typeface="Times New Roman"/>
              </a:rPr>
              <a:t> </a:t>
            </a:r>
            <a:r>
              <a:rPr sz="2400" spc="-5" dirty="0">
                <a:solidFill>
                  <a:srgbClr val="FFFFFF"/>
                </a:solidFill>
                <a:latin typeface="Times New Roman"/>
                <a:cs typeface="Times New Roman"/>
              </a:rPr>
              <a:t>with</a:t>
            </a:r>
            <a:r>
              <a:rPr sz="2400" spc="235" dirty="0">
                <a:solidFill>
                  <a:srgbClr val="FFFFFF"/>
                </a:solidFill>
                <a:latin typeface="Times New Roman"/>
                <a:cs typeface="Times New Roman"/>
              </a:rPr>
              <a:t> </a:t>
            </a:r>
            <a:r>
              <a:rPr sz="2400" spc="-5" dirty="0">
                <a:solidFill>
                  <a:srgbClr val="FFFFFF"/>
                </a:solidFill>
                <a:latin typeface="Times New Roman"/>
                <a:cs typeface="Times New Roman"/>
              </a:rPr>
              <a:t>the</a:t>
            </a:r>
            <a:r>
              <a:rPr sz="2400" spc="235" dirty="0">
                <a:solidFill>
                  <a:srgbClr val="FFFFFF"/>
                </a:solidFill>
                <a:latin typeface="Times New Roman"/>
                <a:cs typeface="Times New Roman"/>
              </a:rPr>
              <a:t> </a:t>
            </a:r>
            <a:r>
              <a:rPr sz="2400" dirty="0">
                <a:solidFill>
                  <a:srgbClr val="FFFFFF"/>
                </a:solidFill>
                <a:latin typeface="Times New Roman"/>
                <a:cs typeface="Times New Roman"/>
              </a:rPr>
              <a:t>goal</a:t>
            </a:r>
            <a:r>
              <a:rPr sz="2400" spc="240" dirty="0">
                <a:solidFill>
                  <a:srgbClr val="FFFFFF"/>
                </a:solidFill>
                <a:latin typeface="Times New Roman"/>
                <a:cs typeface="Times New Roman"/>
              </a:rPr>
              <a:t> </a:t>
            </a:r>
            <a:r>
              <a:rPr sz="2400" dirty="0">
                <a:solidFill>
                  <a:srgbClr val="FFFFFF"/>
                </a:solidFill>
                <a:latin typeface="Times New Roman"/>
                <a:cs typeface="Times New Roman"/>
              </a:rPr>
              <a:t>of</a:t>
            </a:r>
            <a:r>
              <a:rPr sz="2400" spc="235" dirty="0">
                <a:solidFill>
                  <a:srgbClr val="FFFFFF"/>
                </a:solidFill>
                <a:latin typeface="Times New Roman"/>
                <a:cs typeface="Times New Roman"/>
              </a:rPr>
              <a:t> </a:t>
            </a:r>
            <a:r>
              <a:rPr sz="2400" dirty="0">
                <a:solidFill>
                  <a:srgbClr val="FFFFFF"/>
                </a:solidFill>
                <a:latin typeface="Times New Roman"/>
                <a:cs typeface="Times New Roman"/>
              </a:rPr>
              <a:t>understanding</a:t>
            </a:r>
            <a:r>
              <a:rPr sz="2400" spc="240" dirty="0">
                <a:solidFill>
                  <a:srgbClr val="FFFFFF"/>
                </a:solidFill>
                <a:latin typeface="Times New Roman"/>
                <a:cs typeface="Times New Roman"/>
              </a:rPr>
              <a:t> </a:t>
            </a:r>
            <a:r>
              <a:rPr sz="2400" dirty="0">
                <a:solidFill>
                  <a:srgbClr val="FFFFFF"/>
                </a:solidFill>
                <a:latin typeface="Times New Roman"/>
                <a:cs typeface="Times New Roman"/>
              </a:rPr>
              <a:t>how</a:t>
            </a:r>
            <a:r>
              <a:rPr sz="2400" spc="240" dirty="0">
                <a:solidFill>
                  <a:srgbClr val="FFFFFF"/>
                </a:solidFill>
                <a:latin typeface="Times New Roman"/>
                <a:cs typeface="Times New Roman"/>
              </a:rPr>
              <a:t> </a:t>
            </a:r>
            <a:r>
              <a:rPr sz="2400" spc="-5" dirty="0">
                <a:solidFill>
                  <a:srgbClr val="FFFFFF"/>
                </a:solidFill>
                <a:latin typeface="Times New Roman"/>
                <a:cs typeface="Times New Roman"/>
              </a:rPr>
              <a:t>the </a:t>
            </a:r>
            <a:r>
              <a:rPr sz="2400" spc="-585" dirty="0">
                <a:solidFill>
                  <a:srgbClr val="FFFFFF"/>
                </a:solidFill>
                <a:latin typeface="Times New Roman"/>
                <a:cs typeface="Times New Roman"/>
              </a:rPr>
              <a:t> </a:t>
            </a:r>
            <a:r>
              <a:rPr sz="2400" spc="-5" dirty="0">
                <a:solidFill>
                  <a:srgbClr val="FFFFFF"/>
                </a:solidFill>
                <a:latin typeface="Times New Roman"/>
                <a:cs typeface="Times New Roman"/>
              </a:rPr>
              <a:t>system</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works and </a:t>
            </a:r>
            <a:r>
              <a:rPr sz="2400" dirty="0">
                <a:solidFill>
                  <a:srgbClr val="FFFFFF"/>
                </a:solidFill>
                <a:latin typeface="Times New Roman"/>
                <a:cs typeface="Times New Roman"/>
              </a:rPr>
              <a:t>how </a:t>
            </a:r>
            <a:r>
              <a:rPr sz="2400" spc="-5" dirty="0">
                <a:solidFill>
                  <a:srgbClr val="FFFFFF"/>
                </a:solidFill>
                <a:latin typeface="Times New Roman"/>
                <a:cs typeface="Times New Roman"/>
              </a:rPr>
              <a:t>it</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can </a:t>
            </a:r>
            <a:r>
              <a:rPr sz="2400" dirty="0">
                <a:solidFill>
                  <a:srgbClr val="FFFFFF"/>
                </a:solidFill>
                <a:latin typeface="Times New Roman"/>
                <a:cs typeface="Times New Roman"/>
              </a:rPr>
              <a:t>be </a:t>
            </a:r>
            <a:r>
              <a:rPr sz="2400" spc="-5" dirty="0">
                <a:solidFill>
                  <a:srgbClr val="FFFFFF"/>
                </a:solidFill>
                <a:latin typeface="Times New Roman"/>
                <a:cs typeface="Times New Roman"/>
              </a:rPr>
              <a:t>improved.</a:t>
            </a:r>
            <a:endParaRPr sz="2400">
              <a:latin typeface="Times New Roman"/>
              <a:cs typeface="Times New Roman"/>
            </a:endParaRPr>
          </a:p>
          <a:p>
            <a:pPr marL="184150" marR="6350" indent="-172085">
              <a:lnSpc>
                <a:spcPct val="120700"/>
              </a:lnSpc>
              <a:spcBef>
                <a:spcPts val="805"/>
              </a:spcBef>
              <a:buSzPct val="125000"/>
              <a:buFont typeface="Arial MT"/>
              <a:buChar char="•"/>
              <a:tabLst>
                <a:tab pos="184785" algn="l"/>
              </a:tabLst>
            </a:pPr>
            <a:r>
              <a:rPr sz="2400" spc="-5" dirty="0">
                <a:solidFill>
                  <a:srgbClr val="FFFFFF"/>
                </a:solidFill>
                <a:latin typeface="Times New Roman"/>
                <a:cs typeface="Times New Roman"/>
              </a:rPr>
              <a:t>Organizations</a:t>
            </a:r>
            <a:r>
              <a:rPr sz="2400" spc="20" dirty="0">
                <a:solidFill>
                  <a:srgbClr val="FFFFFF"/>
                </a:solidFill>
                <a:latin typeface="Times New Roman"/>
                <a:cs typeface="Times New Roman"/>
              </a:rPr>
              <a:t> </a:t>
            </a:r>
            <a:r>
              <a:rPr sz="2400" dirty="0">
                <a:solidFill>
                  <a:srgbClr val="FFFFFF"/>
                </a:solidFill>
                <a:latin typeface="Times New Roman"/>
                <a:cs typeface="Times New Roman"/>
              </a:rPr>
              <a:t>use</a:t>
            </a:r>
            <a:r>
              <a:rPr sz="2400" spc="25" dirty="0">
                <a:solidFill>
                  <a:srgbClr val="FFFFFF"/>
                </a:solidFill>
                <a:latin typeface="Times New Roman"/>
                <a:cs typeface="Times New Roman"/>
              </a:rPr>
              <a:t> </a:t>
            </a:r>
            <a:r>
              <a:rPr sz="2400" spc="-5" dirty="0">
                <a:solidFill>
                  <a:srgbClr val="FFFFFF"/>
                </a:solidFill>
                <a:latin typeface="Times New Roman"/>
                <a:cs typeface="Times New Roman"/>
              </a:rPr>
              <a:t>models</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to</a:t>
            </a:r>
            <a:r>
              <a:rPr sz="2400" spc="20" dirty="0">
                <a:solidFill>
                  <a:srgbClr val="FFFFFF"/>
                </a:solidFill>
                <a:latin typeface="Times New Roman"/>
                <a:cs typeface="Times New Roman"/>
              </a:rPr>
              <a:t> </a:t>
            </a:r>
            <a:r>
              <a:rPr sz="2400" dirty="0">
                <a:solidFill>
                  <a:srgbClr val="FFFFFF"/>
                </a:solidFill>
                <a:latin typeface="Times New Roman"/>
                <a:cs typeface="Times New Roman"/>
              </a:rPr>
              <a:t>predict</a:t>
            </a:r>
            <a:r>
              <a:rPr sz="2400" spc="25" dirty="0">
                <a:solidFill>
                  <a:srgbClr val="FFFFFF"/>
                </a:solidFill>
                <a:latin typeface="Times New Roman"/>
                <a:cs typeface="Times New Roman"/>
              </a:rPr>
              <a:t> </a:t>
            </a:r>
            <a:r>
              <a:rPr sz="2400" dirty="0">
                <a:solidFill>
                  <a:srgbClr val="FFFFFF"/>
                </a:solidFill>
                <a:latin typeface="Times New Roman"/>
                <a:cs typeface="Times New Roman"/>
              </a:rPr>
              <a:t>how</a:t>
            </a:r>
            <a:r>
              <a:rPr sz="2400" spc="20" dirty="0">
                <a:solidFill>
                  <a:srgbClr val="FFFFFF"/>
                </a:solidFill>
                <a:latin typeface="Times New Roman"/>
                <a:cs typeface="Times New Roman"/>
              </a:rPr>
              <a:t> </a:t>
            </a:r>
            <a:r>
              <a:rPr sz="2400" dirty="0">
                <a:solidFill>
                  <a:srgbClr val="FFFFFF"/>
                </a:solidFill>
                <a:latin typeface="Times New Roman"/>
                <a:cs typeface="Times New Roman"/>
              </a:rPr>
              <a:t>outcomes</a:t>
            </a:r>
            <a:r>
              <a:rPr sz="2400" spc="25" dirty="0">
                <a:solidFill>
                  <a:srgbClr val="FFFFFF"/>
                </a:solidFill>
                <a:latin typeface="Times New Roman"/>
                <a:cs typeface="Times New Roman"/>
              </a:rPr>
              <a:t> </a:t>
            </a:r>
            <a:r>
              <a:rPr sz="2400" spc="-5" dirty="0">
                <a:solidFill>
                  <a:srgbClr val="FFFFFF"/>
                </a:solidFill>
                <a:latin typeface="Times New Roman"/>
                <a:cs typeface="Times New Roman"/>
              </a:rPr>
              <a:t>will</a:t>
            </a:r>
            <a:r>
              <a:rPr sz="2400" spc="25" dirty="0">
                <a:solidFill>
                  <a:srgbClr val="FFFFFF"/>
                </a:solidFill>
                <a:latin typeface="Times New Roman"/>
                <a:cs typeface="Times New Roman"/>
              </a:rPr>
              <a:t> </a:t>
            </a:r>
            <a:r>
              <a:rPr sz="2400" spc="-5" dirty="0">
                <a:solidFill>
                  <a:srgbClr val="FFFFFF"/>
                </a:solidFill>
                <a:latin typeface="Times New Roman"/>
                <a:cs typeface="Times New Roman"/>
              </a:rPr>
              <a:t>change</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with</a:t>
            </a:r>
            <a:r>
              <a:rPr sz="2400" spc="25" dirty="0">
                <a:solidFill>
                  <a:srgbClr val="FFFFFF"/>
                </a:solidFill>
                <a:latin typeface="Times New Roman"/>
                <a:cs typeface="Times New Roman"/>
              </a:rPr>
              <a:t> </a:t>
            </a:r>
            <a:r>
              <a:rPr sz="2400" dirty="0">
                <a:solidFill>
                  <a:srgbClr val="FFFFFF"/>
                </a:solidFill>
                <a:latin typeface="Times New Roman"/>
                <a:cs typeface="Times New Roman"/>
              </a:rPr>
              <a:t>different </a:t>
            </a:r>
            <a:r>
              <a:rPr sz="2400" spc="-585" dirty="0">
                <a:solidFill>
                  <a:srgbClr val="FFFFFF"/>
                </a:solidFill>
                <a:latin typeface="Times New Roman"/>
                <a:cs typeface="Times New Roman"/>
              </a:rPr>
              <a:t> </a:t>
            </a:r>
            <a:r>
              <a:rPr sz="2400" spc="-5" dirty="0">
                <a:solidFill>
                  <a:srgbClr val="FFFFFF"/>
                </a:solidFill>
                <a:latin typeface="Times New Roman"/>
                <a:cs typeface="Times New Roman"/>
              </a:rPr>
              <a:t>adjustments</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to the system.</a:t>
            </a:r>
            <a:endParaRPr sz="2400">
              <a:latin typeface="Times New Roman"/>
              <a:cs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3822700" cy="574040"/>
          </a:xfrm>
          <a:prstGeom prst="rect">
            <a:avLst/>
          </a:prstGeom>
        </p:spPr>
        <p:txBody>
          <a:bodyPr vert="horz" wrap="square" lIns="0" tIns="12700" rIns="0" bIns="0" rtlCol="0">
            <a:spAutoFit/>
          </a:bodyPr>
          <a:lstStyle/>
          <a:p>
            <a:pPr marL="12700">
              <a:lnSpc>
                <a:spcPct val="100000"/>
              </a:lnSpc>
              <a:spcBef>
                <a:spcPts val="100"/>
              </a:spcBef>
            </a:pPr>
            <a:r>
              <a:rPr spc="-5" dirty="0"/>
              <a:t>USER</a:t>
            </a:r>
            <a:r>
              <a:rPr spc="-90" dirty="0"/>
              <a:t> </a:t>
            </a:r>
            <a:r>
              <a:rPr dirty="0"/>
              <a:t>INTERFACE</a:t>
            </a:r>
          </a:p>
        </p:txBody>
      </p:sp>
      <p:sp>
        <p:nvSpPr>
          <p:cNvPr id="3" name="object 3"/>
          <p:cNvSpPr txBox="1"/>
          <p:nvPr/>
        </p:nvSpPr>
        <p:spPr>
          <a:xfrm>
            <a:off x="1271549" y="2148902"/>
            <a:ext cx="9688195" cy="2844165"/>
          </a:xfrm>
          <a:prstGeom prst="rect">
            <a:avLst/>
          </a:prstGeom>
        </p:spPr>
        <p:txBody>
          <a:bodyPr vert="horz" wrap="square" lIns="0" tIns="123189" rIns="0" bIns="0" rtlCol="0">
            <a:spAutoFit/>
          </a:bodyPr>
          <a:lstStyle/>
          <a:p>
            <a:pPr marL="184150" indent="-172085">
              <a:lnSpc>
                <a:spcPct val="100000"/>
              </a:lnSpc>
              <a:spcBef>
                <a:spcPts val="969"/>
              </a:spcBef>
              <a:buSzPct val="125000"/>
              <a:buFont typeface="Arial MT"/>
              <a:buChar char="•"/>
              <a:tabLst>
                <a:tab pos="184785" algn="l"/>
              </a:tabLst>
            </a:pPr>
            <a:r>
              <a:rPr sz="2400" spc="-5" dirty="0">
                <a:solidFill>
                  <a:srgbClr val="FFFFFF"/>
                </a:solidFill>
                <a:latin typeface="Times New Roman"/>
                <a:cs typeface="Times New Roman"/>
              </a:rPr>
              <a:t>The</a:t>
            </a:r>
            <a:r>
              <a:rPr sz="2400" spc="-20" dirty="0">
                <a:solidFill>
                  <a:srgbClr val="FFFFFF"/>
                </a:solidFill>
                <a:latin typeface="Times New Roman"/>
                <a:cs typeface="Times New Roman"/>
              </a:rPr>
              <a:t> </a:t>
            </a:r>
            <a:r>
              <a:rPr sz="2400" dirty="0">
                <a:solidFill>
                  <a:srgbClr val="FFFFFF"/>
                </a:solidFill>
                <a:latin typeface="Times New Roman"/>
                <a:cs typeface="Times New Roman"/>
              </a:rPr>
              <a:t>user</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interface</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enables</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easy</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system</a:t>
            </a:r>
            <a:r>
              <a:rPr sz="2400" spc="-15" dirty="0">
                <a:solidFill>
                  <a:srgbClr val="FFFFFF"/>
                </a:solidFill>
                <a:latin typeface="Times New Roman"/>
                <a:cs typeface="Times New Roman"/>
              </a:rPr>
              <a:t> </a:t>
            </a:r>
            <a:r>
              <a:rPr sz="2400" dirty="0">
                <a:solidFill>
                  <a:srgbClr val="FFFFFF"/>
                </a:solidFill>
                <a:latin typeface="Times New Roman"/>
                <a:cs typeface="Times New Roman"/>
              </a:rPr>
              <a:t>navigation.</a:t>
            </a:r>
            <a:endParaRPr sz="2400">
              <a:latin typeface="Times New Roman"/>
              <a:cs typeface="Times New Roman"/>
            </a:endParaRPr>
          </a:p>
          <a:p>
            <a:pPr marL="184150" marR="5080" indent="-172085">
              <a:lnSpc>
                <a:spcPct val="120700"/>
              </a:lnSpc>
              <a:spcBef>
                <a:spcPts val="975"/>
              </a:spcBef>
              <a:buSzPct val="125000"/>
              <a:buFont typeface="Arial MT"/>
              <a:buChar char="•"/>
              <a:tabLst>
                <a:tab pos="184785" algn="l"/>
              </a:tabLst>
            </a:pPr>
            <a:r>
              <a:rPr sz="2400" spc="-5" dirty="0">
                <a:solidFill>
                  <a:srgbClr val="FFFFFF"/>
                </a:solidFill>
                <a:latin typeface="Times New Roman"/>
                <a:cs typeface="Times New Roman"/>
              </a:rPr>
              <a:t>The</a:t>
            </a:r>
            <a:r>
              <a:rPr sz="2400" spc="70" dirty="0">
                <a:solidFill>
                  <a:srgbClr val="FFFFFF"/>
                </a:solidFill>
                <a:latin typeface="Times New Roman"/>
                <a:cs typeface="Times New Roman"/>
              </a:rPr>
              <a:t> </a:t>
            </a:r>
            <a:r>
              <a:rPr sz="2400" dirty="0">
                <a:solidFill>
                  <a:srgbClr val="FFFFFF"/>
                </a:solidFill>
                <a:latin typeface="Times New Roman"/>
                <a:cs typeface="Times New Roman"/>
              </a:rPr>
              <a:t>primary</a:t>
            </a:r>
            <a:r>
              <a:rPr sz="2400" spc="70" dirty="0">
                <a:solidFill>
                  <a:srgbClr val="FFFFFF"/>
                </a:solidFill>
                <a:latin typeface="Times New Roman"/>
                <a:cs typeface="Times New Roman"/>
              </a:rPr>
              <a:t> </a:t>
            </a:r>
            <a:r>
              <a:rPr sz="2400" dirty="0">
                <a:solidFill>
                  <a:srgbClr val="FFFFFF"/>
                </a:solidFill>
                <a:latin typeface="Times New Roman"/>
                <a:cs typeface="Times New Roman"/>
              </a:rPr>
              <a:t>goal</a:t>
            </a:r>
            <a:r>
              <a:rPr sz="2400" spc="70" dirty="0">
                <a:solidFill>
                  <a:srgbClr val="FFFFFF"/>
                </a:solidFill>
                <a:latin typeface="Times New Roman"/>
                <a:cs typeface="Times New Roman"/>
              </a:rPr>
              <a:t> </a:t>
            </a:r>
            <a:r>
              <a:rPr sz="2400" dirty="0">
                <a:solidFill>
                  <a:srgbClr val="FFFFFF"/>
                </a:solidFill>
                <a:latin typeface="Times New Roman"/>
                <a:cs typeface="Times New Roman"/>
              </a:rPr>
              <a:t>of</a:t>
            </a:r>
            <a:r>
              <a:rPr sz="2400" spc="70" dirty="0">
                <a:solidFill>
                  <a:srgbClr val="FFFFFF"/>
                </a:solidFill>
                <a:latin typeface="Times New Roman"/>
                <a:cs typeface="Times New Roman"/>
              </a:rPr>
              <a:t> </a:t>
            </a:r>
            <a:r>
              <a:rPr sz="2400" spc="-5" dirty="0">
                <a:solidFill>
                  <a:srgbClr val="FFFFFF"/>
                </a:solidFill>
                <a:latin typeface="Times New Roman"/>
                <a:cs typeface="Times New Roman"/>
              </a:rPr>
              <a:t>the</a:t>
            </a:r>
            <a:r>
              <a:rPr sz="2400" spc="70" dirty="0">
                <a:solidFill>
                  <a:srgbClr val="FFFFFF"/>
                </a:solidFill>
                <a:latin typeface="Times New Roman"/>
                <a:cs typeface="Times New Roman"/>
              </a:rPr>
              <a:t> </a:t>
            </a:r>
            <a:r>
              <a:rPr sz="2400" dirty="0">
                <a:solidFill>
                  <a:srgbClr val="FFFFFF"/>
                </a:solidFill>
                <a:latin typeface="Times New Roman"/>
                <a:cs typeface="Times New Roman"/>
              </a:rPr>
              <a:t>decision</a:t>
            </a:r>
            <a:r>
              <a:rPr sz="2400" spc="70" dirty="0">
                <a:solidFill>
                  <a:srgbClr val="FFFFFF"/>
                </a:solidFill>
                <a:latin typeface="Times New Roman"/>
                <a:cs typeface="Times New Roman"/>
              </a:rPr>
              <a:t> </a:t>
            </a:r>
            <a:r>
              <a:rPr sz="2400" spc="-5" dirty="0">
                <a:solidFill>
                  <a:srgbClr val="FFFFFF"/>
                </a:solidFill>
                <a:latin typeface="Times New Roman"/>
                <a:cs typeface="Times New Roman"/>
              </a:rPr>
              <a:t>support</a:t>
            </a:r>
            <a:r>
              <a:rPr sz="2400" spc="70" dirty="0">
                <a:solidFill>
                  <a:srgbClr val="FFFFFF"/>
                </a:solidFill>
                <a:latin typeface="Times New Roman"/>
                <a:cs typeface="Times New Roman"/>
              </a:rPr>
              <a:t> </a:t>
            </a:r>
            <a:r>
              <a:rPr sz="2400" spc="-5" dirty="0">
                <a:solidFill>
                  <a:srgbClr val="FFFFFF"/>
                </a:solidFill>
                <a:latin typeface="Times New Roman"/>
                <a:cs typeface="Times New Roman"/>
              </a:rPr>
              <a:t>system's</a:t>
            </a:r>
            <a:r>
              <a:rPr sz="2400" spc="70" dirty="0">
                <a:solidFill>
                  <a:srgbClr val="FFFFFF"/>
                </a:solidFill>
                <a:latin typeface="Times New Roman"/>
                <a:cs typeface="Times New Roman"/>
              </a:rPr>
              <a:t> </a:t>
            </a:r>
            <a:r>
              <a:rPr sz="2400" dirty="0">
                <a:solidFill>
                  <a:srgbClr val="FFFFFF"/>
                </a:solidFill>
                <a:latin typeface="Times New Roman"/>
                <a:cs typeface="Times New Roman"/>
              </a:rPr>
              <a:t>user</a:t>
            </a:r>
            <a:r>
              <a:rPr sz="2400" spc="70" dirty="0">
                <a:solidFill>
                  <a:srgbClr val="FFFFFF"/>
                </a:solidFill>
                <a:latin typeface="Times New Roman"/>
                <a:cs typeface="Times New Roman"/>
              </a:rPr>
              <a:t> </a:t>
            </a:r>
            <a:r>
              <a:rPr sz="2400" spc="-5" dirty="0">
                <a:solidFill>
                  <a:srgbClr val="FFFFFF"/>
                </a:solidFill>
                <a:latin typeface="Times New Roman"/>
                <a:cs typeface="Times New Roman"/>
              </a:rPr>
              <a:t>interface</a:t>
            </a:r>
            <a:r>
              <a:rPr sz="2400" spc="70" dirty="0">
                <a:solidFill>
                  <a:srgbClr val="FFFFFF"/>
                </a:solidFill>
                <a:latin typeface="Times New Roman"/>
                <a:cs typeface="Times New Roman"/>
              </a:rPr>
              <a:t> </a:t>
            </a:r>
            <a:r>
              <a:rPr sz="2400" spc="-5" dirty="0">
                <a:solidFill>
                  <a:srgbClr val="FFFFFF"/>
                </a:solidFill>
                <a:latin typeface="Times New Roman"/>
                <a:cs typeface="Times New Roman"/>
              </a:rPr>
              <a:t>is</a:t>
            </a:r>
            <a:r>
              <a:rPr sz="2400" spc="70" dirty="0">
                <a:solidFill>
                  <a:srgbClr val="FFFFFF"/>
                </a:solidFill>
                <a:latin typeface="Times New Roman"/>
                <a:cs typeface="Times New Roman"/>
              </a:rPr>
              <a:t> </a:t>
            </a:r>
            <a:r>
              <a:rPr sz="2400" spc="-5" dirty="0">
                <a:solidFill>
                  <a:srgbClr val="FFFFFF"/>
                </a:solidFill>
                <a:latin typeface="Times New Roman"/>
                <a:cs typeface="Times New Roman"/>
              </a:rPr>
              <a:t>to</a:t>
            </a:r>
            <a:r>
              <a:rPr sz="2400" spc="75" dirty="0">
                <a:solidFill>
                  <a:srgbClr val="FFFFFF"/>
                </a:solidFill>
                <a:latin typeface="Times New Roman"/>
                <a:cs typeface="Times New Roman"/>
              </a:rPr>
              <a:t> </a:t>
            </a:r>
            <a:r>
              <a:rPr sz="2400" spc="-5" dirty="0">
                <a:solidFill>
                  <a:srgbClr val="FFFFFF"/>
                </a:solidFill>
                <a:latin typeface="Times New Roman"/>
                <a:cs typeface="Times New Roman"/>
              </a:rPr>
              <a:t>make</a:t>
            </a:r>
            <a:r>
              <a:rPr sz="2400" spc="70" dirty="0">
                <a:solidFill>
                  <a:srgbClr val="FFFFFF"/>
                </a:solidFill>
                <a:latin typeface="Times New Roman"/>
                <a:cs typeface="Times New Roman"/>
              </a:rPr>
              <a:t> </a:t>
            </a:r>
            <a:r>
              <a:rPr sz="2400" spc="-5" dirty="0">
                <a:solidFill>
                  <a:srgbClr val="FFFFFF"/>
                </a:solidFill>
                <a:latin typeface="Times New Roman"/>
                <a:cs typeface="Times New Roman"/>
              </a:rPr>
              <a:t>it </a:t>
            </a:r>
            <a:r>
              <a:rPr sz="2400" spc="-585" dirty="0">
                <a:solidFill>
                  <a:srgbClr val="FFFFFF"/>
                </a:solidFill>
                <a:latin typeface="Times New Roman"/>
                <a:cs typeface="Times New Roman"/>
              </a:rPr>
              <a:t> </a:t>
            </a:r>
            <a:r>
              <a:rPr sz="2400" spc="-5" dirty="0">
                <a:solidFill>
                  <a:srgbClr val="FFFFFF"/>
                </a:solidFill>
                <a:latin typeface="Times New Roman"/>
                <a:cs typeface="Times New Roman"/>
              </a:rPr>
              <a:t>easy</a:t>
            </a:r>
            <a:r>
              <a:rPr sz="2400" spc="-10" dirty="0">
                <a:solidFill>
                  <a:srgbClr val="FFFFFF"/>
                </a:solidFill>
                <a:latin typeface="Times New Roman"/>
                <a:cs typeface="Times New Roman"/>
              </a:rPr>
              <a:t> </a:t>
            </a:r>
            <a:r>
              <a:rPr sz="2400" dirty="0">
                <a:solidFill>
                  <a:srgbClr val="FFFFFF"/>
                </a:solidFill>
                <a:latin typeface="Times New Roman"/>
                <a:cs typeface="Times New Roman"/>
              </a:rPr>
              <a:t>for </a:t>
            </a:r>
            <a:r>
              <a:rPr sz="2400" spc="-5" dirty="0">
                <a:solidFill>
                  <a:srgbClr val="FFFFFF"/>
                </a:solidFill>
                <a:latin typeface="Times New Roman"/>
                <a:cs typeface="Times New Roman"/>
              </a:rPr>
              <a:t>the </a:t>
            </a:r>
            <a:r>
              <a:rPr sz="2400" dirty="0">
                <a:solidFill>
                  <a:srgbClr val="FFFFFF"/>
                </a:solidFill>
                <a:latin typeface="Times New Roman"/>
                <a:cs typeface="Times New Roman"/>
              </a:rPr>
              <a:t>user</a:t>
            </a:r>
            <a:r>
              <a:rPr sz="2400" spc="-5" dirty="0">
                <a:solidFill>
                  <a:srgbClr val="FFFFFF"/>
                </a:solidFill>
                <a:latin typeface="Times New Roman"/>
                <a:cs typeface="Times New Roman"/>
              </a:rPr>
              <a:t> to manipulate the </a:t>
            </a:r>
            <a:r>
              <a:rPr sz="2400" dirty="0">
                <a:solidFill>
                  <a:srgbClr val="FFFFFF"/>
                </a:solidFill>
                <a:latin typeface="Times New Roman"/>
                <a:cs typeface="Times New Roman"/>
              </a:rPr>
              <a:t>data</a:t>
            </a:r>
            <a:r>
              <a:rPr sz="2400" spc="-5" dirty="0">
                <a:solidFill>
                  <a:srgbClr val="FFFFFF"/>
                </a:solidFill>
                <a:latin typeface="Times New Roman"/>
                <a:cs typeface="Times New Roman"/>
              </a:rPr>
              <a:t> that is stored</a:t>
            </a:r>
            <a:r>
              <a:rPr sz="2400" spc="-10" dirty="0">
                <a:solidFill>
                  <a:srgbClr val="FFFFFF"/>
                </a:solidFill>
                <a:latin typeface="Times New Roman"/>
                <a:cs typeface="Times New Roman"/>
              </a:rPr>
              <a:t> </a:t>
            </a:r>
            <a:r>
              <a:rPr sz="2400" dirty="0">
                <a:solidFill>
                  <a:srgbClr val="FFFFFF"/>
                </a:solidFill>
                <a:latin typeface="Times New Roman"/>
                <a:cs typeface="Times New Roman"/>
              </a:rPr>
              <a:t>on </a:t>
            </a:r>
            <a:r>
              <a:rPr sz="2400" spc="-5" dirty="0">
                <a:solidFill>
                  <a:srgbClr val="FFFFFF"/>
                </a:solidFill>
                <a:latin typeface="Times New Roman"/>
                <a:cs typeface="Times New Roman"/>
              </a:rPr>
              <a:t>it.</a:t>
            </a:r>
            <a:endParaRPr sz="2400">
              <a:latin typeface="Times New Roman"/>
              <a:cs typeface="Times New Roman"/>
            </a:endParaRPr>
          </a:p>
          <a:p>
            <a:pPr marL="184150" marR="15875" indent="-172085">
              <a:lnSpc>
                <a:spcPct val="120700"/>
              </a:lnSpc>
              <a:spcBef>
                <a:spcPts val="805"/>
              </a:spcBef>
              <a:buSzPct val="125000"/>
              <a:buFont typeface="Arial MT"/>
              <a:buChar char="•"/>
              <a:tabLst>
                <a:tab pos="184785" algn="l"/>
              </a:tabLst>
            </a:pPr>
            <a:r>
              <a:rPr sz="2400" spc="-5" dirty="0">
                <a:solidFill>
                  <a:srgbClr val="FFFFFF"/>
                </a:solidFill>
                <a:latin typeface="Times New Roman"/>
                <a:cs typeface="Times New Roman"/>
              </a:rPr>
              <a:t>DSS</a:t>
            </a:r>
            <a:r>
              <a:rPr sz="2400" spc="20" dirty="0">
                <a:solidFill>
                  <a:srgbClr val="FFFFFF"/>
                </a:solidFill>
                <a:latin typeface="Times New Roman"/>
                <a:cs typeface="Times New Roman"/>
              </a:rPr>
              <a:t> </a:t>
            </a:r>
            <a:r>
              <a:rPr sz="2400" spc="-5" dirty="0">
                <a:solidFill>
                  <a:srgbClr val="FFFFFF"/>
                </a:solidFill>
                <a:latin typeface="Times New Roman"/>
                <a:cs typeface="Times New Roman"/>
              </a:rPr>
              <a:t>interfaces</a:t>
            </a:r>
            <a:r>
              <a:rPr sz="2400" spc="20" dirty="0">
                <a:solidFill>
                  <a:srgbClr val="FFFFFF"/>
                </a:solidFill>
                <a:latin typeface="Times New Roman"/>
                <a:cs typeface="Times New Roman"/>
              </a:rPr>
              <a:t> </a:t>
            </a:r>
            <a:r>
              <a:rPr sz="2400" spc="-5" dirty="0">
                <a:solidFill>
                  <a:srgbClr val="FFFFFF"/>
                </a:solidFill>
                <a:latin typeface="Times New Roman"/>
                <a:cs typeface="Times New Roman"/>
              </a:rPr>
              <a:t>include</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simple</a:t>
            </a:r>
            <a:r>
              <a:rPr sz="2400" spc="25" dirty="0">
                <a:solidFill>
                  <a:srgbClr val="FFFFFF"/>
                </a:solidFill>
                <a:latin typeface="Times New Roman"/>
                <a:cs typeface="Times New Roman"/>
              </a:rPr>
              <a:t> </a:t>
            </a:r>
            <a:r>
              <a:rPr sz="2400" spc="-5" dirty="0">
                <a:solidFill>
                  <a:srgbClr val="FFFFFF"/>
                </a:solidFill>
                <a:latin typeface="Times New Roman"/>
                <a:cs typeface="Times New Roman"/>
              </a:rPr>
              <a:t>windows,</a:t>
            </a:r>
            <a:r>
              <a:rPr sz="2400" spc="20" dirty="0">
                <a:solidFill>
                  <a:srgbClr val="FFFFFF"/>
                </a:solidFill>
                <a:latin typeface="Times New Roman"/>
                <a:cs typeface="Times New Roman"/>
              </a:rPr>
              <a:t> </a:t>
            </a:r>
            <a:r>
              <a:rPr sz="2400" spc="-5" dirty="0">
                <a:solidFill>
                  <a:srgbClr val="FFFFFF"/>
                </a:solidFill>
                <a:latin typeface="Times New Roman"/>
                <a:cs typeface="Times New Roman"/>
              </a:rPr>
              <a:t>complex</a:t>
            </a:r>
            <a:r>
              <a:rPr sz="2400" spc="20" dirty="0">
                <a:solidFill>
                  <a:srgbClr val="FFFFFF"/>
                </a:solidFill>
                <a:latin typeface="Times New Roman"/>
                <a:cs typeface="Times New Roman"/>
              </a:rPr>
              <a:t> </a:t>
            </a:r>
            <a:r>
              <a:rPr sz="2400" spc="-5" dirty="0">
                <a:solidFill>
                  <a:srgbClr val="FFFFFF"/>
                </a:solidFill>
                <a:latin typeface="Times New Roman"/>
                <a:cs typeface="Times New Roman"/>
              </a:rPr>
              <a:t>menu-driven</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interfaces</a:t>
            </a:r>
            <a:r>
              <a:rPr sz="2400" spc="20" dirty="0">
                <a:solidFill>
                  <a:srgbClr val="FFFFFF"/>
                </a:solidFill>
                <a:latin typeface="Times New Roman"/>
                <a:cs typeface="Times New Roman"/>
              </a:rPr>
              <a:t> </a:t>
            </a:r>
            <a:r>
              <a:rPr sz="2400" spc="-5" dirty="0">
                <a:solidFill>
                  <a:srgbClr val="FFFFFF"/>
                </a:solidFill>
                <a:latin typeface="Times New Roman"/>
                <a:cs typeface="Times New Roman"/>
              </a:rPr>
              <a:t>and </a:t>
            </a:r>
            <a:r>
              <a:rPr sz="2400" spc="-585" dirty="0">
                <a:solidFill>
                  <a:srgbClr val="FFFFFF"/>
                </a:solidFill>
                <a:latin typeface="Times New Roman"/>
                <a:cs typeface="Times New Roman"/>
              </a:rPr>
              <a:t> </a:t>
            </a:r>
            <a:r>
              <a:rPr sz="2400" spc="-5" dirty="0">
                <a:solidFill>
                  <a:srgbClr val="FFFFFF"/>
                </a:solidFill>
                <a:latin typeface="Times New Roman"/>
                <a:cs typeface="Times New Roman"/>
              </a:rPr>
              <a:t>command-line</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interfaces.</a:t>
            </a:r>
            <a:endParaRPr sz="2400">
              <a:latin typeface="Times New Roman"/>
              <a:cs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7145655" cy="574040"/>
          </a:xfrm>
          <a:prstGeom prst="rect">
            <a:avLst/>
          </a:prstGeom>
        </p:spPr>
        <p:txBody>
          <a:bodyPr vert="horz" wrap="square" lIns="0" tIns="12700" rIns="0" bIns="0" rtlCol="0">
            <a:spAutoFit/>
          </a:bodyPr>
          <a:lstStyle/>
          <a:p>
            <a:pPr marL="12700">
              <a:lnSpc>
                <a:spcPct val="100000"/>
              </a:lnSpc>
              <a:spcBef>
                <a:spcPts val="100"/>
              </a:spcBef>
            </a:pPr>
            <a:r>
              <a:rPr spc="-5" dirty="0"/>
              <a:t>DECISION</a:t>
            </a:r>
            <a:r>
              <a:rPr spc="-35" dirty="0"/>
              <a:t> </a:t>
            </a:r>
            <a:r>
              <a:rPr spc="-5" dirty="0"/>
              <a:t>SUPPORT</a:t>
            </a:r>
            <a:r>
              <a:rPr spc="-30" dirty="0"/>
              <a:t> </a:t>
            </a:r>
            <a:r>
              <a:rPr spc="-5" dirty="0"/>
              <a:t>IN</a:t>
            </a:r>
            <a:r>
              <a:rPr spc="-25" dirty="0"/>
              <a:t> </a:t>
            </a:r>
            <a:r>
              <a:rPr spc="-5" dirty="0"/>
              <a:t>BUSINESS</a:t>
            </a:r>
          </a:p>
        </p:txBody>
      </p:sp>
      <p:sp>
        <p:nvSpPr>
          <p:cNvPr id="3" name="object 3"/>
          <p:cNvSpPr txBox="1"/>
          <p:nvPr/>
        </p:nvSpPr>
        <p:spPr>
          <a:xfrm>
            <a:off x="1267266" y="2272067"/>
            <a:ext cx="9700260" cy="3493770"/>
          </a:xfrm>
          <a:prstGeom prst="rect">
            <a:avLst/>
          </a:prstGeom>
        </p:spPr>
        <p:txBody>
          <a:bodyPr vert="horz" wrap="square" lIns="0" tIns="12065" rIns="0" bIns="0" rtlCol="0">
            <a:spAutoFit/>
          </a:bodyPr>
          <a:lstStyle/>
          <a:p>
            <a:pPr marL="187960" marR="8890" indent="-175895" algn="just">
              <a:lnSpc>
                <a:spcPct val="118600"/>
              </a:lnSpc>
              <a:spcBef>
                <a:spcPts val="95"/>
              </a:spcBef>
              <a:buSzPct val="125000"/>
              <a:buFont typeface="Arial MT"/>
              <a:buChar char="•"/>
              <a:tabLst>
                <a:tab pos="188595" algn="l"/>
              </a:tabLst>
            </a:pPr>
            <a:r>
              <a:rPr sz="2200" dirty="0">
                <a:solidFill>
                  <a:srgbClr val="FFFFFF"/>
                </a:solidFill>
                <a:latin typeface="Times New Roman"/>
                <a:cs typeface="Times New Roman"/>
              </a:rPr>
              <a:t>Agriculture: </a:t>
            </a:r>
            <a:r>
              <a:rPr sz="2200" spc="5" dirty="0">
                <a:solidFill>
                  <a:srgbClr val="FFFFFF"/>
                </a:solidFill>
                <a:latin typeface="Times New Roman"/>
                <a:cs typeface="Times New Roman"/>
              </a:rPr>
              <a:t>Farmers use DSS </a:t>
            </a:r>
            <a:r>
              <a:rPr sz="2200" dirty="0">
                <a:solidFill>
                  <a:srgbClr val="FFFFFF"/>
                </a:solidFill>
                <a:latin typeface="Times New Roman"/>
                <a:cs typeface="Times New Roman"/>
              </a:rPr>
              <a:t>tools </a:t>
            </a:r>
            <a:r>
              <a:rPr sz="2200" spc="5" dirty="0">
                <a:solidFill>
                  <a:srgbClr val="FFFFFF"/>
                </a:solidFill>
                <a:latin typeface="Times New Roman"/>
                <a:cs typeface="Times New Roman"/>
              </a:rPr>
              <a:t>for crop planning to help them determine </a:t>
            </a:r>
            <a:r>
              <a:rPr sz="2200" dirty="0">
                <a:solidFill>
                  <a:srgbClr val="FFFFFF"/>
                </a:solidFill>
                <a:latin typeface="Times New Roman"/>
                <a:cs typeface="Times New Roman"/>
              </a:rPr>
              <a:t>the </a:t>
            </a:r>
            <a:r>
              <a:rPr sz="2200" spc="5" dirty="0">
                <a:solidFill>
                  <a:srgbClr val="FFFFFF"/>
                </a:solidFill>
                <a:latin typeface="Times New Roman"/>
                <a:cs typeface="Times New Roman"/>
              </a:rPr>
              <a:t> best </a:t>
            </a:r>
            <a:r>
              <a:rPr sz="2200" dirty="0">
                <a:solidFill>
                  <a:srgbClr val="FFFFFF"/>
                </a:solidFill>
                <a:latin typeface="Times New Roman"/>
                <a:cs typeface="Times New Roman"/>
              </a:rPr>
              <a:t>times </a:t>
            </a:r>
            <a:r>
              <a:rPr sz="2200" spc="5" dirty="0">
                <a:solidFill>
                  <a:srgbClr val="FFFFFF"/>
                </a:solidFill>
                <a:latin typeface="Times New Roman"/>
                <a:cs typeface="Times New Roman"/>
              </a:rPr>
              <a:t>for planting, fertilization and</a:t>
            </a:r>
            <a:r>
              <a:rPr sz="2200" dirty="0">
                <a:solidFill>
                  <a:srgbClr val="FFFFFF"/>
                </a:solidFill>
                <a:latin typeface="Times New Roman"/>
                <a:cs typeface="Times New Roman"/>
              </a:rPr>
              <a:t> </a:t>
            </a:r>
            <a:r>
              <a:rPr sz="2200" spc="5" dirty="0">
                <a:solidFill>
                  <a:srgbClr val="FFFFFF"/>
                </a:solidFill>
                <a:latin typeface="Times New Roman"/>
                <a:cs typeface="Times New Roman"/>
              </a:rPr>
              <a:t>harvesting.</a:t>
            </a:r>
            <a:endParaRPr sz="2200" dirty="0">
              <a:latin typeface="Times New Roman"/>
              <a:cs typeface="Times New Roman"/>
            </a:endParaRPr>
          </a:p>
          <a:p>
            <a:pPr marL="187960" marR="14604" indent="-175895" algn="just">
              <a:lnSpc>
                <a:spcPct val="114799"/>
              </a:lnSpc>
              <a:spcBef>
                <a:spcPts val="1430"/>
              </a:spcBef>
              <a:buSzPct val="125000"/>
              <a:buFont typeface="Arial MT"/>
              <a:buChar char="•"/>
              <a:tabLst>
                <a:tab pos="188595" algn="l"/>
              </a:tabLst>
            </a:pPr>
            <a:r>
              <a:rPr sz="2200" dirty="0">
                <a:solidFill>
                  <a:srgbClr val="FFFFFF"/>
                </a:solidFill>
                <a:latin typeface="Times New Roman"/>
                <a:cs typeface="Times New Roman"/>
              </a:rPr>
              <a:t>Medicine: Clinical</a:t>
            </a:r>
            <a:r>
              <a:rPr sz="2200" spc="5" dirty="0">
                <a:solidFill>
                  <a:srgbClr val="FFFFFF"/>
                </a:solidFill>
                <a:latin typeface="Times New Roman"/>
                <a:cs typeface="Times New Roman"/>
              </a:rPr>
              <a:t> DSS</a:t>
            </a:r>
            <a:r>
              <a:rPr sz="2200" spc="10" dirty="0">
                <a:solidFill>
                  <a:srgbClr val="FFFFFF"/>
                </a:solidFill>
                <a:latin typeface="Times New Roman"/>
                <a:cs typeface="Times New Roman"/>
              </a:rPr>
              <a:t> </a:t>
            </a:r>
            <a:r>
              <a:rPr sz="2200" dirty="0">
                <a:solidFill>
                  <a:srgbClr val="FFFFFF"/>
                </a:solidFill>
                <a:latin typeface="Times New Roman"/>
                <a:cs typeface="Times New Roman"/>
              </a:rPr>
              <a:t>technology</a:t>
            </a:r>
            <a:r>
              <a:rPr sz="2200" spc="5" dirty="0">
                <a:solidFill>
                  <a:srgbClr val="FFFFFF"/>
                </a:solidFill>
                <a:latin typeface="Times New Roman"/>
                <a:cs typeface="Times New Roman"/>
              </a:rPr>
              <a:t> has</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many</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uses:</a:t>
            </a:r>
            <a:r>
              <a:rPr sz="2200" spc="10" dirty="0">
                <a:solidFill>
                  <a:srgbClr val="FFFFFF"/>
                </a:solidFill>
                <a:latin typeface="Times New Roman"/>
                <a:cs typeface="Times New Roman"/>
              </a:rPr>
              <a:t> </a:t>
            </a:r>
            <a:r>
              <a:rPr sz="2200" dirty="0">
                <a:solidFill>
                  <a:srgbClr val="FFFFFF"/>
                </a:solidFill>
                <a:latin typeface="Times New Roman"/>
                <a:cs typeface="Times New Roman"/>
              </a:rPr>
              <a:t>maintaining</a:t>
            </a:r>
            <a:r>
              <a:rPr sz="2200" spc="555" dirty="0">
                <a:solidFill>
                  <a:srgbClr val="FFFFFF"/>
                </a:solidFill>
                <a:latin typeface="Times New Roman"/>
                <a:cs typeface="Times New Roman"/>
              </a:rPr>
              <a:t> </a:t>
            </a:r>
            <a:r>
              <a:rPr sz="2200" spc="5" dirty="0">
                <a:solidFill>
                  <a:srgbClr val="FFFFFF"/>
                </a:solidFill>
                <a:latin typeface="Times New Roman"/>
                <a:cs typeface="Times New Roman"/>
              </a:rPr>
              <a:t>research </a:t>
            </a:r>
            <a:r>
              <a:rPr sz="2200" spc="10" dirty="0">
                <a:solidFill>
                  <a:srgbClr val="FFFFFF"/>
                </a:solidFill>
                <a:latin typeface="Times New Roman"/>
                <a:cs typeface="Times New Roman"/>
              </a:rPr>
              <a:t> </a:t>
            </a:r>
            <a:r>
              <a:rPr sz="2200" dirty="0">
                <a:solidFill>
                  <a:srgbClr val="FFFFFF"/>
                </a:solidFill>
                <a:latin typeface="Times New Roman"/>
                <a:cs typeface="Times New Roman"/>
              </a:rPr>
              <a:t>information</a:t>
            </a:r>
            <a:r>
              <a:rPr sz="2200" spc="5" dirty="0">
                <a:solidFill>
                  <a:srgbClr val="FFFFFF"/>
                </a:solidFill>
                <a:latin typeface="Times New Roman"/>
                <a:cs typeface="Times New Roman"/>
              </a:rPr>
              <a:t> </a:t>
            </a:r>
            <a:r>
              <a:rPr sz="2200" dirty="0">
                <a:solidFill>
                  <a:srgbClr val="FFFFFF"/>
                </a:solidFill>
                <a:latin typeface="Times New Roman"/>
                <a:cs typeface="Times New Roman"/>
              </a:rPr>
              <a:t>about</a:t>
            </a:r>
            <a:r>
              <a:rPr sz="2200" spc="5" dirty="0">
                <a:solidFill>
                  <a:srgbClr val="FFFFFF"/>
                </a:solidFill>
                <a:latin typeface="Times New Roman"/>
                <a:cs typeface="Times New Roman"/>
              </a:rPr>
              <a:t> </a:t>
            </a:r>
            <a:r>
              <a:rPr sz="2200" dirty="0">
                <a:solidFill>
                  <a:srgbClr val="FFFFFF"/>
                </a:solidFill>
                <a:latin typeface="Times New Roman"/>
                <a:cs typeface="Times New Roman"/>
              </a:rPr>
              <a:t>chemotherapy</a:t>
            </a:r>
            <a:r>
              <a:rPr sz="2200" spc="5" dirty="0">
                <a:solidFill>
                  <a:srgbClr val="FFFFFF"/>
                </a:solidFill>
                <a:latin typeface="Times New Roman"/>
                <a:cs typeface="Times New Roman"/>
              </a:rPr>
              <a:t> protocols,</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preventive</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and</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follow-up</a:t>
            </a:r>
            <a:r>
              <a:rPr sz="2200" spc="10" dirty="0">
                <a:solidFill>
                  <a:srgbClr val="FFFFFF"/>
                </a:solidFill>
                <a:latin typeface="Times New Roman"/>
                <a:cs typeface="Times New Roman"/>
              </a:rPr>
              <a:t> </a:t>
            </a:r>
            <a:r>
              <a:rPr sz="2200" dirty="0">
                <a:solidFill>
                  <a:srgbClr val="FFFFFF"/>
                </a:solidFill>
                <a:latin typeface="Times New Roman"/>
                <a:cs typeface="Times New Roman"/>
              </a:rPr>
              <a:t>care,</a:t>
            </a:r>
            <a:r>
              <a:rPr sz="2200" spc="5" dirty="0">
                <a:solidFill>
                  <a:srgbClr val="FFFFFF"/>
                </a:solidFill>
                <a:latin typeface="Times New Roman"/>
                <a:cs typeface="Times New Roman"/>
              </a:rPr>
              <a:t> </a:t>
            </a:r>
            <a:r>
              <a:rPr sz="2200" dirty="0">
                <a:solidFill>
                  <a:srgbClr val="FFFFFF"/>
                </a:solidFill>
                <a:latin typeface="Times New Roman"/>
                <a:cs typeface="Times New Roman"/>
              </a:rPr>
              <a:t>and </a:t>
            </a:r>
            <a:r>
              <a:rPr sz="2200" spc="5" dirty="0">
                <a:solidFill>
                  <a:srgbClr val="FFFFFF"/>
                </a:solidFill>
                <a:latin typeface="Times New Roman"/>
                <a:cs typeface="Times New Roman"/>
              </a:rPr>
              <a:t> </a:t>
            </a:r>
            <a:r>
              <a:rPr sz="2200" dirty="0">
                <a:solidFill>
                  <a:srgbClr val="FFFFFF"/>
                </a:solidFill>
                <a:latin typeface="Times New Roman"/>
                <a:cs typeface="Times New Roman"/>
              </a:rPr>
              <a:t>monitoring</a:t>
            </a:r>
            <a:r>
              <a:rPr sz="2200" spc="10" dirty="0">
                <a:solidFill>
                  <a:srgbClr val="FFFFFF"/>
                </a:solidFill>
                <a:latin typeface="Times New Roman"/>
                <a:cs typeface="Times New Roman"/>
              </a:rPr>
              <a:t> </a:t>
            </a:r>
            <a:r>
              <a:rPr sz="2200" dirty="0">
                <a:solidFill>
                  <a:srgbClr val="FFFFFF"/>
                </a:solidFill>
                <a:latin typeface="Times New Roman"/>
                <a:cs typeface="Times New Roman"/>
              </a:rPr>
              <a:t>medication</a:t>
            </a:r>
            <a:r>
              <a:rPr sz="2200" spc="15" dirty="0">
                <a:solidFill>
                  <a:srgbClr val="FFFFFF"/>
                </a:solidFill>
                <a:latin typeface="Times New Roman"/>
                <a:cs typeface="Times New Roman"/>
              </a:rPr>
              <a:t> </a:t>
            </a:r>
            <a:r>
              <a:rPr sz="2200" spc="5" dirty="0">
                <a:solidFill>
                  <a:srgbClr val="FFFFFF"/>
                </a:solidFill>
                <a:latin typeface="Times New Roman"/>
                <a:cs typeface="Times New Roman"/>
              </a:rPr>
              <a:t>orders.</a:t>
            </a:r>
            <a:r>
              <a:rPr sz="2200" spc="20" dirty="0">
                <a:solidFill>
                  <a:srgbClr val="FFFFFF"/>
                </a:solidFill>
                <a:latin typeface="Times New Roman"/>
                <a:cs typeface="Times New Roman"/>
              </a:rPr>
              <a:t> </a:t>
            </a:r>
            <a:r>
              <a:rPr sz="2200" spc="5" dirty="0">
                <a:solidFill>
                  <a:srgbClr val="FFFFFF"/>
                </a:solidFill>
                <a:latin typeface="Times New Roman"/>
                <a:cs typeface="Times New Roman"/>
              </a:rPr>
              <a:t>DSSs</a:t>
            </a:r>
            <a:r>
              <a:rPr sz="2200" spc="15" dirty="0">
                <a:solidFill>
                  <a:srgbClr val="FFFFFF"/>
                </a:solidFill>
                <a:latin typeface="Times New Roman"/>
                <a:cs typeface="Times New Roman"/>
              </a:rPr>
              <a:t> </a:t>
            </a:r>
            <a:r>
              <a:rPr sz="2200" dirty="0">
                <a:solidFill>
                  <a:srgbClr val="FFFFFF"/>
                </a:solidFill>
                <a:latin typeface="Times New Roman"/>
                <a:cs typeface="Times New Roman"/>
              </a:rPr>
              <a:t>are</a:t>
            </a:r>
            <a:r>
              <a:rPr sz="2200" spc="10" dirty="0">
                <a:solidFill>
                  <a:srgbClr val="FFFFFF"/>
                </a:solidFill>
                <a:latin typeface="Times New Roman"/>
                <a:cs typeface="Times New Roman"/>
              </a:rPr>
              <a:t> </a:t>
            </a:r>
            <a:r>
              <a:rPr sz="2200" dirty="0">
                <a:solidFill>
                  <a:srgbClr val="FFFFFF"/>
                </a:solidFill>
                <a:latin typeface="Times New Roman"/>
                <a:cs typeface="Times New Roman"/>
              </a:rPr>
              <a:t>also</a:t>
            </a:r>
            <a:r>
              <a:rPr sz="2200" spc="15" dirty="0">
                <a:solidFill>
                  <a:srgbClr val="FFFFFF"/>
                </a:solidFill>
                <a:latin typeface="Times New Roman"/>
                <a:cs typeface="Times New Roman"/>
              </a:rPr>
              <a:t> </a:t>
            </a:r>
            <a:r>
              <a:rPr sz="2200" spc="5" dirty="0">
                <a:solidFill>
                  <a:srgbClr val="FFFFFF"/>
                </a:solidFill>
                <a:latin typeface="Times New Roman"/>
                <a:cs typeface="Times New Roman"/>
              </a:rPr>
              <a:t>used</a:t>
            </a:r>
            <a:r>
              <a:rPr sz="2200" spc="20" dirty="0">
                <a:solidFill>
                  <a:srgbClr val="FFFFFF"/>
                </a:solidFill>
                <a:latin typeface="Times New Roman"/>
                <a:cs typeface="Times New Roman"/>
              </a:rPr>
              <a:t> </a:t>
            </a:r>
            <a:r>
              <a:rPr sz="2200" spc="5" dirty="0">
                <a:solidFill>
                  <a:srgbClr val="FFFFFF"/>
                </a:solidFill>
                <a:latin typeface="Times New Roman"/>
                <a:cs typeface="Times New Roman"/>
              </a:rPr>
              <a:t>with</a:t>
            </a:r>
            <a:r>
              <a:rPr sz="2200" spc="15" dirty="0">
                <a:solidFill>
                  <a:srgbClr val="FFFFFF"/>
                </a:solidFill>
                <a:latin typeface="Times New Roman"/>
                <a:cs typeface="Times New Roman"/>
              </a:rPr>
              <a:t> </a:t>
            </a:r>
            <a:r>
              <a:rPr sz="2200" dirty="0">
                <a:solidFill>
                  <a:srgbClr val="FFFFFF"/>
                </a:solidFill>
                <a:latin typeface="Times New Roman"/>
                <a:cs typeface="Times New Roman"/>
              </a:rPr>
              <a:t>medical</a:t>
            </a:r>
            <a:r>
              <a:rPr sz="2200" spc="15" dirty="0">
                <a:solidFill>
                  <a:srgbClr val="FFFFFF"/>
                </a:solidFill>
                <a:latin typeface="Times New Roman"/>
                <a:cs typeface="Times New Roman"/>
              </a:rPr>
              <a:t> </a:t>
            </a:r>
            <a:r>
              <a:rPr sz="2200" spc="5" dirty="0">
                <a:solidFill>
                  <a:srgbClr val="FFFFFF"/>
                </a:solidFill>
                <a:latin typeface="Times New Roman"/>
                <a:cs typeface="Times New Roman"/>
              </a:rPr>
              <a:t>diagnosis</a:t>
            </a:r>
            <a:r>
              <a:rPr sz="2200" spc="15" dirty="0">
                <a:solidFill>
                  <a:srgbClr val="FFFFFF"/>
                </a:solidFill>
                <a:latin typeface="Times New Roman"/>
                <a:cs typeface="Times New Roman"/>
              </a:rPr>
              <a:t> </a:t>
            </a:r>
            <a:r>
              <a:rPr sz="2200" dirty="0">
                <a:solidFill>
                  <a:srgbClr val="FFFFFF"/>
                </a:solidFill>
                <a:latin typeface="Times New Roman"/>
                <a:cs typeface="Times New Roman"/>
              </a:rPr>
              <a:t>software.</a:t>
            </a:r>
            <a:endParaRPr sz="2200" dirty="0">
              <a:latin typeface="Times New Roman"/>
              <a:cs typeface="Times New Roman"/>
            </a:endParaRPr>
          </a:p>
          <a:p>
            <a:pPr marL="187960" marR="5080" indent="-175895" algn="just">
              <a:lnSpc>
                <a:spcPct val="114799"/>
              </a:lnSpc>
              <a:spcBef>
                <a:spcPts val="1435"/>
              </a:spcBef>
              <a:buSzPct val="125000"/>
              <a:buFont typeface="Arial MT"/>
              <a:buChar char="•"/>
              <a:tabLst>
                <a:tab pos="188595" algn="l"/>
              </a:tabLst>
            </a:pPr>
            <a:r>
              <a:rPr sz="2200" spc="5" dirty="0">
                <a:solidFill>
                  <a:srgbClr val="FFFFFF"/>
                </a:solidFill>
                <a:latin typeface="Times New Roman"/>
                <a:cs typeface="Times New Roman"/>
              </a:rPr>
              <a:t>Weather forecasting: Some </a:t>
            </a:r>
            <a:r>
              <a:rPr sz="2200" dirty="0">
                <a:solidFill>
                  <a:srgbClr val="FFFFFF"/>
                </a:solidFill>
                <a:latin typeface="Times New Roman"/>
                <a:cs typeface="Times New Roman"/>
              </a:rPr>
              <a:t>states </a:t>
            </a:r>
            <a:r>
              <a:rPr sz="2200" spc="5" dirty="0">
                <a:solidFill>
                  <a:srgbClr val="FFFFFF"/>
                </a:solidFill>
                <a:latin typeface="Times New Roman"/>
                <a:cs typeface="Times New Roman"/>
              </a:rPr>
              <a:t>use DSSs to provide </a:t>
            </a:r>
            <a:r>
              <a:rPr sz="2200" dirty="0">
                <a:solidFill>
                  <a:srgbClr val="FFFFFF"/>
                </a:solidFill>
                <a:latin typeface="Times New Roman"/>
                <a:cs typeface="Times New Roman"/>
              </a:rPr>
              <a:t>information about </a:t>
            </a:r>
            <a:r>
              <a:rPr sz="2200" spc="5" dirty="0">
                <a:solidFill>
                  <a:srgbClr val="FFFFFF"/>
                </a:solidFill>
                <a:latin typeface="Times New Roman"/>
                <a:cs typeface="Times New Roman"/>
              </a:rPr>
              <a:t>potential </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future</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hazards</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such</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as</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floods.</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To</a:t>
            </a:r>
            <a:r>
              <a:rPr sz="2200" spc="10" dirty="0">
                <a:solidFill>
                  <a:srgbClr val="FFFFFF"/>
                </a:solidFill>
                <a:latin typeface="Times New Roman"/>
                <a:cs typeface="Times New Roman"/>
              </a:rPr>
              <a:t> do</a:t>
            </a:r>
            <a:r>
              <a:rPr sz="2200" spc="15" dirty="0">
                <a:solidFill>
                  <a:srgbClr val="FFFFFF"/>
                </a:solidFill>
                <a:latin typeface="Times New Roman"/>
                <a:cs typeface="Times New Roman"/>
              </a:rPr>
              <a:t> </a:t>
            </a:r>
            <a:r>
              <a:rPr sz="2200" dirty="0">
                <a:solidFill>
                  <a:srgbClr val="FFFFFF"/>
                </a:solidFill>
                <a:latin typeface="Times New Roman"/>
                <a:cs typeface="Times New Roman"/>
              </a:rPr>
              <a:t>this,</a:t>
            </a:r>
            <a:r>
              <a:rPr sz="2200" spc="5" dirty="0">
                <a:solidFill>
                  <a:srgbClr val="FFFFFF"/>
                </a:solidFill>
                <a:latin typeface="Times New Roman"/>
                <a:cs typeface="Times New Roman"/>
              </a:rPr>
              <a:t> </a:t>
            </a:r>
            <a:r>
              <a:rPr sz="2200" dirty="0">
                <a:solidFill>
                  <a:srgbClr val="FFFFFF"/>
                </a:solidFill>
                <a:latin typeface="Times New Roman"/>
                <a:cs typeface="Times New Roman"/>
              </a:rPr>
              <a:t>they</a:t>
            </a:r>
            <a:r>
              <a:rPr sz="2200" spc="5" dirty="0">
                <a:solidFill>
                  <a:srgbClr val="FFFFFF"/>
                </a:solidFill>
                <a:latin typeface="Times New Roman"/>
                <a:cs typeface="Times New Roman"/>
              </a:rPr>
              <a:t> factor</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in</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real-time  </a:t>
            </a:r>
            <a:r>
              <a:rPr sz="2200" dirty="0">
                <a:solidFill>
                  <a:srgbClr val="FFFFFF"/>
                </a:solidFill>
                <a:latin typeface="Times New Roman"/>
                <a:cs typeface="Times New Roman"/>
              </a:rPr>
              <a:t>weather </a:t>
            </a:r>
            <a:r>
              <a:rPr sz="2200" spc="5" dirty="0">
                <a:solidFill>
                  <a:srgbClr val="FFFFFF"/>
                </a:solidFill>
                <a:latin typeface="Times New Roman"/>
                <a:cs typeface="Times New Roman"/>
              </a:rPr>
              <a:t> </a:t>
            </a:r>
            <a:r>
              <a:rPr sz="2200" dirty="0">
                <a:solidFill>
                  <a:srgbClr val="FFFFFF"/>
                </a:solidFill>
                <a:latin typeface="Times New Roman"/>
                <a:cs typeface="Times New Roman"/>
              </a:rPr>
              <a:t>conditions,</a:t>
            </a:r>
            <a:r>
              <a:rPr sz="2200" spc="5" dirty="0">
                <a:solidFill>
                  <a:srgbClr val="FFFFFF"/>
                </a:solidFill>
                <a:latin typeface="Times New Roman"/>
                <a:cs typeface="Times New Roman"/>
              </a:rPr>
              <a:t> floodplain</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boundaries</a:t>
            </a:r>
            <a:r>
              <a:rPr sz="2200" spc="15" dirty="0">
                <a:solidFill>
                  <a:srgbClr val="FFFFFF"/>
                </a:solidFill>
                <a:latin typeface="Times New Roman"/>
                <a:cs typeface="Times New Roman"/>
              </a:rPr>
              <a:t> </a:t>
            </a:r>
            <a:r>
              <a:rPr sz="2200" dirty="0">
                <a:solidFill>
                  <a:srgbClr val="FFFFFF"/>
                </a:solidFill>
                <a:latin typeface="Times New Roman"/>
                <a:cs typeface="Times New Roman"/>
              </a:rPr>
              <a:t>information</a:t>
            </a:r>
            <a:r>
              <a:rPr sz="2200" spc="5" dirty="0">
                <a:solidFill>
                  <a:srgbClr val="FFFFFF"/>
                </a:solidFill>
                <a:latin typeface="Times New Roman"/>
                <a:cs typeface="Times New Roman"/>
              </a:rPr>
              <a:t> and historic</a:t>
            </a:r>
            <a:r>
              <a:rPr sz="2200" spc="15" dirty="0">
                <a:solidFill>
                  <a:srgbClr val="FFFFFF"/>
                </a:solidFill>
                <a:latin typeface="Times New Roman"/>
                <a:cs typeface="Times New Roman"/>
              </a:rPr>
              <a:t> </a:t>
            </a:r>
            <a:r>
              <a:rPr sz="2200" dirty="0">
                <a:solidFill>
                  <a:srgbClr val="FFFFFF"/>
                </a:solidFill>
                <a:latin typeface="Times New Roman"/>
                <a:cs typeface="Times New Roman"/>
              </a:rPr>
              <a:t>county</a:t>
            </a:r>
            <a:r>
              <a:rPr sz="2200" spc="5" dirty="0">
                <a:solidFill>
                  <a:srgbClr val="FFFFFF"/>
                </a:solidFill>
                <a:latin typeface="Times New Roman"/>
                <a:cs typeface="Times New Roman"/>
              </a:rPr>
              <a:t> flood</a:t>
            </a:r>
            <a:r>
              <a:rPr sz="2200" spc="15" dirty="0">
                <a:solidFill>
                  <a:srgbClr val="FFFFFF"/>
                </a:solidFill>
                <a:latin typeface="Times New Roman"/>
                <a:cs typeface="Times New Roman"/>
              </a:rPr>
              <a:t> </a:t>
            </a:r>
            <a:r>
              <a:rPr sz="2200" spc="5" dirty="0">
                <a:solidFill>
                  <a:srgbClr val="FFFFFF"/>
                </a:solidFill>
                <a:latin typeface="Times New Roman"/>
                <a:cs typeface="Times New Roman"/>
              </a:rPr>
              <a:t>data.</a:t>
            </a:r>
            <a:endParaRPr sz="2200" dirty="0">
              <a:latin typeface="Times New Roman"/>
              <a:cs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7145655" cy="574040"/>
          </a:xfrm>
          <a:prstGeom prst="rect">
            <a:avLst/>
          </a:prstGeom>
        </p:spPr>
        <p:txBody>
          <a:bodyPr vert="horz" wrap="square" lIns="0" tIns="12700" rIns="0" bIns="0" rtlCol="0">
            <a:spAutoFit/>
          </a:bodyPr>
          <a:lstStyle/>
          <a:p>
            <a:pPr marL="12700">
              <a:lnSpc>
                <a:spcPct val="100000"/>
              </a:lnSpc>
              <a:spcBef>
                <a:spcPts val="100"/>
              </a:spcBef>
            </a:pPr>
            <a:r>
              <a:rPr spc="-5" dirty="0"/>
              <a:t>DECISION</a:t>
            </a:r>
            <a:r>
              <a:rPr spc="-35" dirty="0"/>
              <a:t> </a:t>
            </a:r>
            <a:r>
              <a:rPr spc="-5" dirty="0"/>
              <a:t>SUPPORT</a:t>
            </a:r>
            <a:r>
              <a:rPr spc="-30" dirty="0"/>
              <a:t> </a:t>
            </a:r>
            <a:r>
              <a:rPr spc="-5" dirty="0"/>
              <a:t>IN</a:t>
            </a:r>
            <a:r>
              <a:rPr spc="-25" dirty="0"/>
              <a:t> </a:t>
            </a:r>
            <a:r>
              <a:rPr spc="-5" dirty="0"/>
              <a:t>BUSINESS</a:t>
            </a:r>
          </a:p>
        </p:txBody>
      </p:sp>
      <p:sp>
        <p:nvSpPr>
          <p:cNvPr id="3" name="object 3"/>
          <p:cNvSpPr txBox="1"/>
          <p:nvPr/>
        </p:nvSpPr>
        <p:spPr>
          <a:xfrm>
            <a:off x="1271549" y="2226118"/>
            <a:ext cx="9692005" cy="2969260"/>
          </a:xfrm>
          <a:prstGeom prst="rect">
            <a:avLst/>
          </a:prstGeom>
        </p:spPr>
        <p:txBody>
          <a:bodyPr vert="horz" wrap="square" lIns="0" tIns="46990" rIns="0" bIns="0" rtlCol="0">
            <a:spAutoFit/>
          </a:bodyPr>
          <a:lstStyle/>
          <a:p>
            <a:pPr marL="184150" marR="20320" indent="-172085" algn="just">
              <a:lnSpc>
                <a:spcPts val="3740"/>
              </a:lnSpc>
              <a:spcBef>
                <a:spcPts val="370"/>
              </a:spcBef>
              <a:buSzPct val="125000"/>
              <a:buFont typeface="Arial MT"/>
              <a:buChar char="•"/>
              <a:tabLst>
                <a:tab pos="184785" algn="l"/>
              </a:tabLst>
            </a:pPr>
            <a:r>
              <a:rPr sz="2400" spc="-5" dirty="0">
                <a:solidFill>
                  <a:srgbClr val="FFFFFF"/>
                </a:solidFill>
                <a:latin typeface="Times New Roman"/>
                <a:cs typeface="Times New Roman"/>
              </a:rPr>
              <a:t>Real estate: Real estate companies </a:t>
            </a:r>
            <a:r>
              <a:rPr sz="2400" dirty="0">
                <a:solidFill>
                  <a:srgbClr val="FFFFFF"/>
                </a:solidFill>
                <a:latin typeface="Times New Roman"/>
                <a:cs typeface="Times New Roman"/>
              </a:rPr>
              <a:t>use </a:t>
            </a:r>
            <a:r>
              <a:rPr sz="2400" spc="-5" dirty="0">
                <a:solidFill>
                  <a:srgbClr val="FFFFFF"/>
                </a:solidFill>
                <a:latin typeface="Times New Roman"/>
                <a:cs typeface="Times New Roman"/>
              </a:rPr>
              <a:t>DSSs to manage </a:t>
            </a:r>
            <a:r>
              <a:rPr sz="2400" dirty="0">
                <a:solidFill>
                  <a:srgbClr val="FFFFFF"/>
                </a:solidFill>
                <a:latin typeface="Times New Roman"/>
                <a:cs typeface="Times New Roman"/>
              </a:rPr>
              <a:t>data on </a:t>
            </a:r>
            <a:r>
              <a:rPr sz="2400" spc="-5" dirty="0">
                <a:solidFill>
                  <a:srgbClr val="FFFFFF"/>
                </a:solidFill>
                <a:latin typeface="Times New Roman"/>
                <a:cs typeface="Times New Roman"/>
              </a:rPr>
              <a:t>comparable </a:t>
            </a:r>
            <a:r>
              <a:rPr sz="2400" dirty="0">
                <a:solidFill>
                  <a:srgbClr val="FFFFFF"/>
                </a:solidFill>
                <a:latin typeface="Times New Roman"/>
                <a:cs typeface="Times New Roman"/>
              </a:rPr>
              <a:t> home</a:t>
            </a:r>
            <a:r>
              <a:rPr sz="2400" spc="-5" dirty="0">
                <a:solidFill>
                  <a:srgbClr val="FFFFFF"/>
                </a:solidFill>
                <a:latin typeface="Times New Roman"/>
                <a:cs typeface="Times New Roman"/>
              </a:rPr>
              <a:t> </a:t>
            </a:r>
            <a:r>
              <a:rPr sz="2400" dirty="0">
                <a:solidFill>
                  <a:srgbClr val="FFFFFF"/>
                </a:solidFill>
                <a:latin typeface="Times New Roman"/>
                <a:cs typeface="Times New Roman"/>
              </a:rPr>
              <a:t>prices </a:t>
            </a:r>
            <a:r>
              <a:rPr sz="2400" spc="-5" dirty="0">
                <a:solidFill>
                  <a:srgbClr val="FFFFFF"/>
                </a:solidFill>
                <a:latin typeface="Times New Roman"/>
                <a:cs typeface="Times New Roman"/>
              </a:rPr>
              <a:t>and acreage.</a:t>
            </a:r>
            <a:endParaRPr sz="2400">
              <a:latin typeface="Times New Roman"/>
              <a:cs typeface="Times New Roman"/>
            </a:endParaRPr>
          </a:p>
          <a:p>
            <a:pPr marL="184150" marR="5080" indent="-172085" algn="just">
              <a:lnSpc>
                <a:spcPct val="120200"/>
              </a:lnSpc>
              <a:spcBef>
                <a:spcPts val="560"/>
              </a:spcBef>
              <a:buSzPct val="125000"/>
              <a:buFont typeface="Arial MT"/>
              <a:buChar char="•"/>
              <a:tabLst>
                <a:tab pos="184785" algn="l"/>
              </a:tabLst>
            </a:pPr>
            <a:r>
              <a:rPr sz="2400" spc="-5" dirty="0">
                <a:solidFill>
                  <a:srgbClr val="FFFFFF"/>
                </a:solidFill>
                <a:latin typeface="Times New Roman"/>
                <a:cs typeface="Times New Roman"/>
              </a:rPr>
              <a:t>Education: Universities and colleges </a:t>
            </a:r>
            <a:r>
              <a:rPr sz="2400" dirty="0">
                <a:solidFill>
                  <a:srgbClr val="FFFFFF"/>
                </a:solidFill>
                <a:latin typeface="Times New Roman"/>
                <a:cs typeface="Times New Roman"/>
              </a:rPr>
              <a:t>use </a:t>
            </a:r>
            <a:r>
              <a:rPr sz="2400" spc="-5" dirty="0">
                <a:solidFill>
                  <a:srgbClr val="FFFFFF"/>
                </a:solidFill>
                <a:latin typeface="Times New Roman"/>
                <a:cs typeface="Times New Roman"/>
              </a:rPr>
              <a:t>DSSs to </a:t>
            </a:r>
            <a:r>
              <a:rPr sz="2400" dirty="0">
                <a:solidFill>
                  <a:srgbClr val="FFFFFF"/>
                </a:solidFill>
                <a:latin typeface="Times New Roman"/>
                <a:cs typeface="Times New Roman"/>
              </a:rPr>
              <a:t>know how </a:t>
            </a:r>
            <a:r>
              <a:rPr sz="2400" spc="-5" dirty="0">
                <a:solidFill>
                  <a:srgbClr val="FFFFFF"/>
                </a:solidFill>
                <a:latin typeface="Times New Roman"/>
                <a:cs typeface="Times New Roman"/>
              </a:rPr>
              <a:t>many students </a:t>
            </a:r>
            <a:r>
              <a:rPr sz="2400" dirty="0">
                <a:solidFill>
                  <a:srgbClr val="FFFFFF"/>
                </a:solidFill>
                <a:latin typeface="Times New Roman"/>
                <a:cs typeface="Times New Roman"/>
              </a:rPr>
              <a:t> </a:t>
            </a:r>
            <a:r>
              <a:rPr sz="2400" spc="-5" dirty="0">
                <a:solidFill>
                  <a:srgbClr val="FFFFFF"/>
                </a:solidFill>
                <a:latin typeface="Times New Roman"/>
                <a:cs typeface="Times New Roman"/>
              </a:rPr>
              <a:t>they currently </a:t>
            </a:r>
            <a:r>
              <a:rPr sz="2400" dirty="0">
                <a:solidFill>
                  <a:srgbClr val="FFFFFF"/>
                </a:solidFill>
                <a:latin typeface="Times New Roman"/>
                <a:cs typeface="Times New Roman"/>
              </a:rPr>
              <a:t>have </a:t>
            </a:r>
            <a:r>
              <a:rPr sz="2400" spc="-5" dirty="0">
                <a:solidFill>
                  <a:srgbClr val="FFFFFF"/>
                </a:solidFill>
                <a:latin typeface="Times New Roman"/>
                <a:cs typeface="Times New Roman"/>
              </a:rPr>
              <a:t>enrolled. This </a:t>
            </a:r>
            <a:r>
              <a:rPr sz="2400" dirty="0">
                <a:solidFill>
                  <a:srgbClr val="FFFFFF"/>
                </a:solidFill>
                <a:latin typeface="Times New Roman"/>
                <a:cs typeface="Times New Roman"/>
              </a:rPr>
              <a:t>helps </a:t>
            </a:r>
            <a:r>
              <a:rPr sz="2400" spc="-5" dirty="0">
                <a:solidFill>
                  <a:srgbClr val="FFFFFF"/>
                </a:solidFill>
                <a:latin typeface="Times New Roman"/>
                <a:cs typeface="Times New Roman"/>
              </a:rPr>
              <a:t>them </a:t>
            </a:r>
            <a:r>
              <a:rPr sz="2400" dirty="0">
                <a:solidFill>
                  <a:srgbClr val="FFFFFF"/>
                </a:solidFill>
                <a:latin typeface="Times New Roman"/>
                <a:cs typeface="Times New Roman"/>
              </a:rPr>
              <a:t>predict how </a:t>
            </a:r>
            <a:r>
              <a:rPr sz="2400" spc="-5" dirty="0">
                <a:solidFill>
                  <a:srgbClr val="FFFFFF"/>
                </a:solidFill>
                <a:latin typeface="Times New Roman"/>
                <a:cs typeface="Times New Roman"/>
              </a:rPr>
              <a:t>many students will </a:t>
            </a:r>
            <a:r>
              <a:rPr sz="2400" dirty="0">
                <a:solidFill>
                  <a:srgbClr val="FFFFFF"/>
                </a:solidFill>
                <a:latin typeface="Times New Roman"/>
                <a:cs typeface="Times New Roman"/>
              </a:rPr>
              <a:t> register</a:t>
            </a:r>
            <a:r>
              <a:rPr sz="2400" spc="180" dirty="0">
                <a:solidFill>
                  <a:srgbClr val="FFFFFF"/>
                </a:solidFill>
                <a:latin typeface="Times New Roman"/>
                <a:cs typeface="Times New Roman"/>
              </a:rPr>
              <a:t> </a:t>
            </a:r>
            <a:r>
              <a:rPr sz="2400" dirty="0">
                <a:solidFill>
                  <a:srgbClr val="FFFFFF"/>
                </a:solidFill>
                <a:latin typeface="Times New Roman"/>
                <a:cs typeface="Times New Roman"/>
              </a:rPr>
              <a:t>for</a:t>
            </a:r>
            <a:r>
              <a:rPr sz="2400" spc="185" dirty="0">
                <a:solidFill>
                  <a:srgbClr val="FFFFFF"/>
                </a:solidFill>
                <a:latin typeface="Times New Roman"/>
                <a:cs typeface="Times New Roman"/>
              </a:rPr>
              <a:t> </a:t>
            </a:r>
            <a:r>
              <a:rPr sz="2400" dirty="0">
                <a:solidFill>
                  <a:srgbClr val="FFFFFF"/>
                </a:solidFill>
                <a:latin typeface="Times New Roman"/>
                <a:cs typeface="Times New Roman"/>
              </a:rPr>
              <a:t>particular</a:t>
            </a:r>
            <a:r>
              <a:rPr sz="2400" spc="180" dirty="0">
                <a:solidFill>
                  <a:srgbClr val="FFFFFF"/>
                </a:solidFill>
                <a:latin typeface="Times New Roman"/>
                <a:cs typeface="Times New Roman"/>
              </a:rPr>
              <a:t> </a:t>
            </a:r>
            <a:r>
              <a:rPr sz="2400" spc="-5" dirty="0">
                <a:solidFill>
                  <a:srgbClr val="FFFFFF"/>
                </a:solidFill>
                <a:latin typeface="Times New Roman"/>
                <a:cs typeface="Times New Roman"/>
              </a:rPr>
              <a:t>courses</a:t>
            </a:r>
            <a:r>
              <a:rPr sz="2400" spc="180" dirty="0">
                <a:solidFill>
                  <a:srgbClr val="FFFFFF"/>
                </a:solidFill>
                <a:latin typeface="Times New Roman"/>
                <a:cs typeface="Times New Roman"/>
              </a:rPr>
              <a:t> </a:t>
            </a:r>
            <a:r>
              <a:rPr sz="2400" dirty="0">
                <a:solidFill>
                  <a:srgbClr val="FFFFFF"/>
                </a:solidFill>
                <a:latin typeface="Times New Roman"/>
                <a:cs typeface="Times New Roman"/>
              </a:rPr>
              <a:t>or</a:t>
            </a:r>
            <a:r>
              <a:rPr sz="2400" spc="180" dirty="0">
                <a:solidFill>
                  <a:srgbClr val="FFFFFF"/>
                </a:solidFill>
                <a:latin typeface="Times New Roman"/>
                <a:cs typeface="Times New Roman"/>
              </a:rPr>
              <a:t> </a:t>
            </a:r>
            <a:r>
              <a:rPr sz="2400" spc="-5" dirty="0">
                <a:solidFill>
                  <a:srgbClr val="FFFFFF"/>
                </a:solidFill>
                <a:latin typeface="Times New Roman"/>
                <a:cs typeface="Times New Roman"/>
              </a:rPr>
              <a:t>whether</a:t>
            </a:r>
            <a:r>
              <a:rPr sz="2400" spc="185" dirty="0">
                <a:solidFill>
                  <a:srgbClr val="FFFFFF"/>
                </a:solidFill>
                <a:latin typeface="Times New Roman"/>
                <a:cs typeface="Times New Roman"/>
              </a:rPr>
              <a:t> </a:t>
            </a:r>
            <a:r>
              <a:rPr sz="2400" spc="-5" dirty="0">
                <a:solidFill>
                  <a:srgbClr val="FFFFFF"/>
                </a:solidFill>
                <a:latin typeface="Times New Roman"/>
                <a:cs typeface="Times New Roman"/>
              </a:rPr>
              <a:t>the</a:t>
            </a:r>
            <a:r>
              <a:rPr sz="2400" spc="175" dirty="0">
                <a:solidFill>
                  <a:srgbClr val="FFFFFF"/>
                </a:solidFill>
                <a:latin typeface="Times New Roman"/>
                <a:cs typeface="Times New Roman"/>
              </a:rPr>
              <a:t> </a:t>
            </a:r>
            <a:r>
              <a:rPr sz="2400" spc="-5" dirty="0">
                <a:solidFill>
                  <a:srgbClr val="FFFFFF"/>
                </a:solidFill>
                <a:latin typeface="Times New Roman"/>
                <a:cs typeface="Times New Roman"/>
              </a:rPr>
              <a:t>student</a:t>
            </a:r>
            <a:r>
              <a:rPr sz="2400" spc="185" dirty="0">
                <a:solidFill>
                  <a:srgbClr val="FFFFFF"/>
                </a:solidFill>
                <a:latin typeface="Times New Roman"/>
                <a:cs typeface="Times New Roman"/>
              </a:rPr>
              <a:t> </a:t>
            </a:r>
            <a:r>
              <a:rPr sz="2400" dirty="0">
                <a:solidFill>
                  <a:srgbClr val="FFFFFF"/>
                </a:solidFill>
                <a:latin typeface="Times New Roman"/>
                <a:cs typeface="Times New Roman"/>
              </a:rPr>
              <a:t>population</a:t>
            </a:r>
            <a:r>
              <a:rPr sz="2400" spc="180" dirty="0">
                <a:solidFill>
                  <a:srgbClr val="FFFFFF"/>
                </a:solidFill>
                <a:latin typeface="Times New Roman"/>
                <a:cs typeface="Times New Roman"/>
              </a:rPr>
              <a:t> </a:t>
            </a:r>
            <a:r>
              <a:rPr sz="2400" spc="-5" dirty="0">
                <a:solidFill>
                  <a:srgbClr val="FFFFFF"/>
                </a:solidFill>
                <a:latin typeface="Times New Roman"/>
                <a:cs typeface="Times New Roman"/>
              </a:rPr>
              <a:t>is</a:t>
            </a:r>
            <a:r>
              <a:rPr sz="2400" spc="180" dirty="0">
                <a:solidFill>
                  <a:srgbClr val="FFFFFF"/>
                </a:solidFill>
                <a:latin typeface="Times New Roman"/>
                <a:cs typeface="Times New Roman"/>
              </a:rPr>
              <a:t> </a:t>
            </a:r>
            <a:r>
              <a:rPr sz="2400" spc="-5" dirty="0">
                <a:solidFill>
                  <a:srgbClr val="FFFFFF"/>
                </a:solidFill>
                <a:latin typeface="Times New Roman"/>
                <a:cs typeface="Times New Roman"/>
              </a:rPr>
              <a:t>sufficient </a:t>
            </a:r>
            <a:r>
              <a:rPr sz="2400" spc="-590" dirty="0">
                <a:solidFill>
                  <a:srgbClr val="FFFFFF"/>
                </a:solidFill>
                <a:latin typeface="Times New Roman"/>
                <a:cs typeface="Times New Roman"/>
              </a:rPr>
              <a:t> </a:t>
            </a:r>
            <a:r>
              <a:rPr sz="2400" spc="-5" dirty="0">
                <a:solidFill>
                  <a:srgbClr val="FFFFFF"/>
                </a:solidFill>
                <a:latin typeface="Times New Roman"/>
                <a:cs typeface="Times New Roman"/>
              </a:rPr>
              <a:t>to</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meet the </a:t>
            </a:r>
            <a:r>
              <a:rPr sz="2400" dirty="0">
                <a:solidFill>
                  <a:srgbClr val="FFFFFF"/>
                </a:solidFill>
                <a:latin typeface="Times New Roman"/>
                <a:cs typeface="Times New Roman"/>
              </a:rPr>
              <a:t>university’s </a:t>
            </a:r>
            <a:r>
              <a:rPr sz="2400" spc="-5" dirty="0">
                <a:solidFill>
                  <a:srgbClr val="FFFFFF"/>
                </a:solidFill>
                <a:latin typeface="Times New Roman"/>
                <a:cs typeface="Times New Roman"/>
              </a:rPr>
              <a:t>costs.</a:t>
            </a:r>
            <a:endParaRPr sz="2400">
              <a:latin typeface="Times New Roman"/>
              <a:cs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E350E-85CD-B5FF-3D85-BD9B4E648110}"/>
              </a:ext>
            </a:extLst>
          </p:cNvPr>
          <p:cNvSpPr>
            <a:spLocks noGrp="1"/>
          </p:cNvSpPr>
          <p:nvPr>
            <p:ph type="title"/>
          </p:nvPr>
        </p:nvSpPr>
        <p:spPr>
          <a:xfrm>
            <a:off x="1214438" y="789147"/>
            <a:ext cx="9763123" cy="553998"/>
          </a:xfrm>
        </p:spPr>
        <p:txBody>
          <a:bodyPr/>
          <a:lstStyle/>
          <a:p>
            <a:r>
              <a:rPr lang="en-US" spc="-5" dirty="0"/>
              <a:t>Decision Supports Trends</a:t>
            </a:r>
            <a:endParaRPr lang="en-IN" spc="-5" dirty="0"/>
          </a:p>
        </p:txBody>
      </p:sp>
      <p:sp>
        <p:nvSpPr>
          <p:cNvPr id="3" name="Text Placeholder 2">
            <a:extLst>
              <a:ext uri="{FF2B5EF4-FFF2-40B4-BE49-F238E27FC236}">
                <a16:creationId xmlns:a16="http://schemas.microsoft.com/office/drawing/2014/main" id="{2B771F2B-AA3E-886B-8B0D-D851327F643E}"/>
              </a:ext>
            </a:extLst>
          </p:cNvPr>
          <p:cNvSpPr>
            <a:spLocks noGrp="1"/>
          </p:cNvSpPr>
          <p:nvPr>
            <p:ph type="body" idx="1"/>
          </p:nvPr>
        </p:nvSpPr>
        <p:spPr>
          <a:xfrm>
            <a:off x="1239240" y="2148902"/>
            <a:ext cx="9713519" cy="4801314"/>
          </a:xfrm>
        </p:spPr>
        <p:txBody>
          <a:bodyPr/>
          <a:lstStyle/>
          <a:p>
            <a:r>
              <a:rPr lang="en-US" dirty="0"/>
              <a:t>1. Integration of AI and ML: Combining AI and ML makes decision support systems smarter, helping businesses make better decisions by using advanced technology to understand data.</a:t>
            </a:r>
          </a:p>
          <a:p>
            <a:endParaRPr lang="en-US" dirty="0"/>
          </a:p>
          <a:p>
            <a:r>
              <a:rPr lang="en-US" dirty="0"/>
              <a:t>2. Enhanced Data Visualization: By using techniques to show data visually, decision support systems can make it easier for people to understand complex information, making them more useful and easier to use.</a:t>
            </a:r>
          </a:p>
          <a:p>
            <a:endParaRPr lang="en-US" dirty="0"/>
          </a:p>
          <a:p>
            <a:r>
              <a:rPr lang="en-US" dirty="0"/>
              <a:t>3. Integration with IoT: Connecting decision support systems with Internet of Things devices helps organizations get real-time insights and make better decisions by using data from sensors and devices.</a:t>
            </a:r>
          </a:p>
          <a:p>
            <a:endParaRPr lang="en-US" dirty="0"/>
          </a:p>
          <a:p>
            <a:r>
              <a:rPr lang="en-US" dirty="0"/>
              <a:t>.</a:t>
            </a:r>
            <a:endParaRPr lang="en-IN" dirty="0"/>
          </a:p>
        </p:txBody>
      </p:sp>
    </p:spTree>
    <p:extLst>
      <p:ext uri="{BB962C8B-B14F-4D97-AF65-F5344CB8AC3E}">
        <p14:creationId xmlns:p14="http://schemas.microsoft.com/office/powerpoint/2010/main" val="17914123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2860A-DE26-DF7B-B153-9D7117744D62}"/>
              </a:ext>
            </a:extLst>
          </p:cNvPr>
          <p:cNvSpPr>
            <a:spLocks noGrp="1"/>
          </p:cNvSpPr>
          <p:nvPr>
            <p:ph type="title"/>
          </p:nvPr>
        </p:nvSpPr>
        <p:spPr>
          <a:xfrm>
            <a:off x="1214438" y="789147"/>
            <a:ext cx="9763123" cy="553998"/>
          </a:xfrm>
        </p:spPr>
        <p:txBody>
          <a:bodyPr/>
          <a:lstStyle/>
          <a:p>
            <a:r>
              <a:rPr lang="en-US" spc="-5" dirty="0"/>
              <a:t>Decision Supports Trends</a:t>
            </a:r>
            <a:endParaRPr lang="en-IN" dirty="0"/>
          </a:p>
        </p:txBody>
      </p:sp>
      <p:sp>
        <p:nvSpPr>
          <p:cNvPr id="3" name="Text Placeholder 2">
            <a:extLst>
              <a:ext uri="{FF2B5EF4-FFF2-40B4-BE49-F238E27FC236}">
                <a16:creationId xmlns:a16="http://schemas.microsoft.com/office/drawing/2014/main" id="{FD84BD1E-564C-1747-55C5-816703B45154}"/>
              </a:ext>
            </a:extLst>
          </p:cNvPr>
          <p:cNvSpPr>
            <a:spLocks noGrp="1"/>
          </p:cNvSpPr>
          <p:nvPr>
            <p:ph type="body" idx="1"/>
          </p:nvPr>
        </p:nvSpPr>
        <p:spPr>
          <a:xfrm>
            <a:off x="1239240" y="2148902"/>
            <a:ext cx="9713519" cy="2954655"/>
          </a:xfrm>
        </p:spPr>
        <p:txBody>
          <a:bodyPr/>
          <a:lstStyle/>
          <a:p>
            <a:r>
              <a:rPr lang="en-US" dirty="0"/>
              <a:t>4. Personalization and Contextualization: Using AI and ML, decision support systems can give personalized recommendations and insights tailored to individual needs, making the information more relevant and useful.</a:t>
            </a:r>
          </a:p>
          <a:p>
            <a:endParaRPr lang="en-US" dirty="0"/>
          </a:p>
          <a:p>
            <a:r>
              <a:rPr lang="en-US" dirty="0"/>
              <a:t>5.Case Study: Case studies show real examples of how decision support systems have helped businesses, demonstrating the practical benefits of trends like AI integration, data visualization, and IoT usage in easy-to-understand scenarios.</a:t>
            </a:r>
            <a:endParaRPr lang="en-IN" dirty="0"/>
          </a:p>
        </p:txBody>
      </p:sp>
    </p:spTree>
    <p:extLst>
      <p:ext uri="{BB962C8B-B14F-4D97-AF65-F5344CB8AC3E}">
        <p14:creationId xmlns:p14="http://schemas.microsoft.com/office/powerpoint/2010/main" val="35529751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2E7C9-CE79-DA3A-3871-A7A86076ECD7}"/>
              </a:ext>
            </a:extLst>
          </p:cNvPr>
          <p:cNvSpPr>
            <a:spLocks noGrp="1"/>
          </p:cNvSpPr>
          <p:nvPr>
            <p:ph type="title"/>
          </p:nvPr>
        </p:nvSpPr>
        <p:spPr>
          <a:xfrm>
            <a:off x="1214438" y="789147"/>
            <a:ext cx="9763123" cy="276999"/>
          </a:xfrm>
        </p:spPr>
        <p:txBody>
          <a:bodyPr/>
          <a:lstStyle/>
          <a:p>
            <a:r>
              <a:rPr lang="en-US" sz="1800" dirty="0">
                <a:effectLst/>
                <a:latin typeface="Times New Roman" panose="02020603050405020304" pitchFamily="18" charset="0"/>
                <a:ea typeface="Times New Roman" panose="02020603050405020304" pitchFamily="18" charset="0"/>
              </a:rPr>
              <a:t>Decision</a:t>
            </a:r>
            <a:r>
              <a:rPr lang="en-US" sz="1800" spc="17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Supports</a:t>
            </a:r>
            <a:r>
              <a:rPr lang="en-US" sz="1800" spc="17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Trends</a:t>
            </a:r>
            <a:endParaRPr lang="en-IN" dirty="0"/>
          </a:p>
        </p:txBody>
      </p:sp>
      <p:pic>
        <p:nvPicPr>
          <p:cNvPr id="4" name="Picture 3">
            <a:extLst>
              <a:ext uri="{FF2B5EF4-FFF2-40B4-BE49-F238E27FC236}">
                <a16:creationId xmlns:a16="http://schemas.microsoft.com/office/drawing/2014/main" id="{8BEF56C5-BD50-296A-8A8A-9E7131DEC047}"/>
              </a:ext>
            </a:extLst>
          </p:cNvPr>
          <p:cNvPicPr>
            <a:picLocks noChangeAspect="1"/>
          </p:cNvPicPr>
          <p:nvPr/>
        </p:nvPicPr>
        <p:blipFill>
          <a:blip r:embed="rId2"/>
          <a:stretch>
            <a:fillRect/>
          </a:stretch>
        </p:blipFill>
        <p:spPr>
          <a:xfrm>
            <a:off x="76299" y="0"/>
            <a:ext cx="12039402" cy="6858000"/>
          </a:xfrm>
          <a:prstGeom prst="rect">
            <a:avLst/>
          </a:prstGeom>
        </p:spPr>
      </p:pic>
      <p:sp>
        <p:nvSpPr>
          <p:cNvPr id="3" name="Text Placeholder 2">
            <a:extLst>
              <a:ext uri="{FF2B5EF4-FFF2-40B4-BE49-F238E27FC236}">
                <a16:creationId xmlns:a16="http://schemas.microsoft.com/office/drawing/2014/main" id="{B11689D4-141A-5B6B-8659-15F701E76574}"/>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4745882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9527540" cy="574040"/>
          </a:xfrm>
          <a:prstGeom prst="rect">
            <a:avLst/>
          </a:prstGeom>
        </p:spPr>
        <p:txBody>
          <a:bodyPr vert="horz" wrap="square" lIns="0" tIns="12700" rIns="0" bIns="0" rtlCol="0">
            <a:spAutoFit/>
          </a:bodyPr>
          <a:lstStyle/>
          <a:p>
            <a:pPr marL="12700">
              <a:lnSpc>
                <a:spcPct val="100000"/>
              </a:lnSpc>
              <a:spcBef>
                <a:spcPts val="100"/>
              </a:spcBef>
            </a:pPr>
            <a:r>
              <a:rPr spc="-5" dirty="0"/>
              <a:t>ONLINE</a:t>
            </a:r>
            <a:r>
              <a:rPr spc="-30" dirty="0"/>
              <a:t> </a:t>
            </a:r>
            <a:r>
              <a:rPr spc="-10" dirty="0"/>
              <a:t>TRANSACTION</a:t>
            </a:r>
            <a:r>
              <a:rPr spc="-35" dirty="0"/>
              <a:t> </a:t>
            </a:r>
            <a:r>
              <a:rPr spc="-5" dirty="0"/>
              <a:t>PROCESSING</a:t>
            </a:r>
            <a:r>
              <a:rPr spc="-30" dirty="0"/>
              <a:t> </a:t>
            </a:r>
            <a:r>
              <a:rPr dirty="0"/>
              <a:t>(OLTP)</a:t>
            </a:r>
          </a:p>
        </p:txBody>
      </p:sp>
      <p:sp>
        <p:nvSpPr>
          <p:cNvPr id="3" name="object 3"/>
          <p:cNvSpPr txBox="1"/>
          <p:nvPr/>
        </p:nvSpPr>
        <p:spPr>
          <a:xfrm>
            <a:off x="1271549" y="2148902"/>
            <a:ext cx="9694545" cy="3282950"/>
          </a:xfrm>
          <a:prstGeom prst="rect">
            <a:avLst/>
          </a:prstGeom>
        </p:spPr>
        <p:txBody>
          <a:bodyPr vert="horz" wrap="square" lIns="0" tIns="123189" rIns="0" bIns="0" rtlCol="0">
            <a:spAutoFit/>
          </a:bodyPr>
          <a:lstStyle/>
          <a:p>
            <a:pPr marL="184150" indent="-172085" algn="just">
              <a:lnSpc>
                <a:spcPct val="100000"/>
              </a:lnSpc>
              <a:spcBef>
                <a:spcPts val="969"/>
              </a:spcBef>
              <a:buSzPct val="125000"/>
              <a:buFont typeface="Arial MT"/>
              <a:buChar char="•"/>
              <a:tabLst>
                <a:tab pos="184785" algn="l"/>
              </a:tabLst>
            </a:pPr>
            <a:r>
              <a:rPr sz="2400" spc="-5" dirty="0">
                <a:solidFill>
                  <a:srgbClr val="FFFFFF"/>
                </a:solidFill>
                <a:latin typeface="Times New Roman"/>
                <a:cs typeface="Times New Roman"/>
              </a:rPr>
              <a:t>OLTP</a:t>
            </a:r>
            <a:r>
              <a:rPr sz="2400" spc="-20" dirty="0">
                <a:solidFill>
                  <a:srgbClr val="FFFFFF"/>
                </a:solidFill>
                <a:latin typeface="Times New Roman"/>
                <a:cs typeface="Times New Roman"/>
              </a:rPr>
              <a:t> </a:t>
            </a:r>
            <a:r>
              <a:rPr sz="2400" spc="-5" dirty="0">
                <a:solidFill>
                  <a:srgbClr val="FFFFFF"/>
                </a:solidFill>
                <a:latin typeface="Times New Roman"/>
                <a:cs typeface="Times New Roman"/>
              </a:rPr>
              <a:t>stands</a:t>
            </a:r>
            <a:r>
              <a:rPr sz="2400" spc="-20" dirty="0">
                <a:solidFill>
                  <a:srgbClr val="FFFFFF"/>
                </a:solidFill>
                <a:latin typeface="Times New Roman"/>
                <a:cs typeface="Times New Roman"/>
              </a:rPr>
              <a:t> </a:t>
            </a:r>
            <a:r>
              <a:rPr sz="2400" dirty="0">
                <a:solidFill>
                  <a:srgbClr val="FFFFFF"/>
                </a:solidFill>
                <a:latin typeface="Times New Roman"/>
                <a:cs typeface="Times New Roman"/>
              </a:rPr>
              <a:t>for</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Online</a:t>
            </a:r>
            <a:r>
              <a:rPr sz="2400" spc="-20" dirty="0">
                <a:solidFill>
                  <a:srgbClr val="FFFFFF"/>
                </a:solidFill>
                <a:latin typeface="Times New Roman"/>
                <a:cs typeface="Times New Roman"/>
              </a:rPr>
              <a:t> </a:t>
            </a:r>
            <a:r>
              <a:rPr sz="2400" spc="-5" dirty="0">
                <a:solidFill>
                  <a:srgbClr val="FFFFFF"/>
                </a:solidFill>
                <a:latin typeface="Times New Roman"/>
                <a:cs typeface="Times New Roman"/>
              </a:rPr>
              <a:t>Transaction</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Processing.</a:t>
            </a:r>
            <a:endParaRPr sz="2400" dirty="0">
              <a:latin typeface="Times New Roman"/>
              <a:cs typeface="Times New Roman"/>
            </a:endParaRPr>
          </a:p>
          <a:p>
            <a:pPr marL="184150" marR="5080" indent="-172085" algn="just">
              <a:lnSpc>
                <a:spcPct val="120300"/>
              </a:lnSpc>
              <a:spcBef>
                <a:spcPts val="990"/>
              </a:spcBef>
              <a:buSzPct val="125000"/>
              <a:buFont typeface="Arial MT"/>
              <a:buChar char="•"/>
              <a:tabLst>
                <a:tab pos="184785" algn="l"/>
              </a:tabLst>
            </a:pPr>
            <a:r>
              <a:rPr sz="2400" dirty="0">
                <a:solidFill>
                  <a:srgbClr val="FFFFFF"/>
                </a:solidFill>
                <a:latin typeface="Times New Roman"/>
                <a:cs typeface="Times New Roman"/>
              </a:rPr>
              <a:t>It</a:t>
            </a:r>
            <a:r>
              <a:rPr sz="2400" spc="5" dirty="0">
                <a:solidFill>
                  <a:srgbClr val="FFFFFF"/>
                </a:solidFill>
                <a:latin typeface="Times New Roman"/>
                <a:cs typeface="Times New Roman"/>
              </a:rPr>
              <a:t> </a:t>
            </a:r>
            <a:r>
              <a:rPr sz="2400" spc="-5" dirty="0">
                <a:solidFill>
                  <a:srgbClr val="FFFFFF"/>
                </a:solidFill>
                <a:latin typeface="Times New Roman"/>
                <a:cs typeface="Times New Roman"/>
              </a:rPr>
              <a:t>is</a:t>
            </a:r>
            <a:r>
              <a:rPr sz="2400" dirty="0">
                <a:solidFill>
                  <a:srgbClr val="FFFFFF"/>
                </a:solidFill>
                <a:latin typeface="Times New Roman"/>
                <a:cs typeface="Times New Roman"/>
              </a:rPr>
              <a:t> a</a:t>
            </a:r>
            <a:r>
              <a:rPr sz="2400" spc="5" dirty="0">
                <a:solidFill>
                  <a:srgbClr val="FFFFFF"/>
                </a:solidFill>
                <a:latin typeface="Times New Roman"/>
                <a:cs typeface="Times New Roman"/>
              </a:rPr>
              <a:t> </a:t>
            </a:r>
            <a:r>
              <a:rPr sz="2400" spc="-5" dirty="0">
                <a:solidFill>
                  <a:srgbClr val="FFFFFF"/>
                </a:solidFill>
                <a:latin typeface="Times New Roman"/>
                <a:cs typeface="Times New Roman"/>
              </a:rPr>
              <a:t>type</a:t>
            </a:r>
            <a:r>
              <a:rPr sz="2400" dirty="0">
                <a:solidFill>
                  <a:srgbClr val="FFFFFF"/>
                </a:solidFill>
                <a:latin typeface="Times New Roman"/>
                <a:cs typeface="Times New Roman"/>
              </a:rPr>
              <a:t> of</a:t>
            </a:r>
            <a:r>
              <a:rPr sz="2400" spc="5" dirty="0">
                <a:solidFill>
                  <a:srgbClr val="FFFFFF"/>
                </a:solidFill>
                <a:latin typeface="Times New Roman"/>
                <a:cs typeface="Times New Roman"/>
              </a:rPr>
              <a:t> </a:t>
            </a:r>
            <a:r>
              <a:rPr sz="2400" dirty="0">
                <a:solidFill>
                  <a:srgbClr val="FFFFFF"/>
                </a:solidFill>
                <a:latin typeface="Times New Roman"/>
                <a:cs typeface="Times New Roman"/>
              </a:rPr>
              <a:t>database</a:t>
            </a:r>
            <a:r>
              <a:rPr sz="2400" spc="5" dirty="0">
                <a:solidFill>
                  <a:srgbClr val="FFFFFF"/>
                </a:solidFill>
                <a:latin typeface="Times New Roman"/>
                <a:cs typeface="Times New Roman"/>
              </a:rPr>
              <a:t> </a:t>
            </a:r>
            <a:r>
              <a:rPr sz="2400" dirty="0">
                <a:solidFill>
                  <a:srgbClr val="FFFFFF"/>
                </a:solidFill>
                <a:latin typeface="Times New Roman"/>
                <a:cs typeface="Times New Roman"/>
              </a:rPr>
              <a:t>processing</a:t>
            </a:r>
            <a:r>
              <a:rPr sz="2400" spc="5" dirty="0">
                <a:solidFill>
                  <a:srgbClr val="FFFFFF"/>
                </a:solidFill>
                <a:latin typeface="Times New Roman"/>
                <a:cs typeface="Times New Roman"/>
              </a:rPr>
              <a:t> </a:t>
            </a:r>
            <a:r>
              <a:rPr sz="2400" spc="-5" dirty="0">
                <a:solidFill>
                  <a:srgbClr val="FFFFFF"/>
                </a:solidFill>
                <a:latin typeface="Times New Roman"/>
                <a:cs typeface="Times New Roman"/>
              </a:rPr>
              <a:t>that</a:t>
            </a:r>
            <a:r>
              <a:rPr sz="2400" dirty="0">
                <a:solidFill>
                  <a:srgbClr val="FFFFFF"/>
                </a:solidFill>
                <a:latin typeface="Times New Roman"/>
                <a:cs typeface="Times New Roman"/>
              </a:rPr>
              <a:t> </a:t>
            </a:r>
            <a:r>
              <a:rPr sz="2400" spc="-5" dirty="0">
                <a:solidFill>
                  <a:srgbClr val="FFFFFF"/>
                </a:solidFill>
                <a:latin typeface="Times New Roman"/>
                <a:cs typeface="Times New Roman"/>
              </a:rPr>
              <a:t>is</a:t>
            </a:r>
            <a:r>
              <a:rPr sz="2400" dirty="0">
                <a:solidFill>
                  <a:srgbClr val="FFFFFF"/>
                </a:solidFill>
                <a:latin typeface="Times New Roman"/>
                <a:cs typeface="Times New Roman"/>
              </a:rPr>
              <a:t> designed</a:t>
            </a:r>
            <a:r>
              <a:rPr sz="2400" spc="5" dirty="0">
                <a:solidFill>
                  <a:srgbClr val="FFFFFF"/>
                </a:solidFill>
                <a:latin typeface="Times New Roman"/>
                <a:cs typeface="Times New Roman"/>
              </a:rPr>
              <a:t> </a:t>
            </a:r>
            <a:r>
              <a:rPr sz="2400" spc="-5" dirty="0">
                <a:solidFill>
                  <a:srgbClr val="FFFFFF"/>
                </a:solidFill>
                <a:latin typeface="Times New Roman"/>
                <a:cs typeface="Times New Roman"/>
              </a:rPr>
              <a:t>to</a:t>
            </a:r>
            <a:r>
              <a:rPr sz="2400" dirty="0">
                <a:solidFill>
                  <a:srgbClr val="FFFFFF"/>
                </a:solidFill>
                <a:latin typeface="Times New Roman"/>
                <a:cs typeface="Times New Roman"/>
              </a:rPr>
              <a:t> </a:t>
            </a:r>
            <a:r>
              <a:rPr sz="2400" spc="-5" dirty="0">
                <a:solidFill>
                  <a:srgbClr val="FFFFFF"/>
                </a:solidFill>
                <a:latin typeface="Times New Roman"/>
                <a:cs typeface="Times New Roman"/>
              </a:rPr>
              <a:t>support </a:t>
            </a:r>
            <a:r>
              <a:rPr sz="2400" dirty="0">
                <a:solidFill>
                  <a:srgbClr val="FFFFFF"/>
                </a:solidFill>
                <a:latin typeface="Times New Roman"/>
                <a:cs typeface="Times New Roman"/>
              </a:rPr>
              <a:t> </a:t>
            </a:r>
            <a:r>
              <a:rPr sz="2400" spc="-5" dirty="0">
                <a:solidFill>
                  <a:srgbClr val="FFFFFF"/>
                </a:solidFill>
                <a:latin typeface="Times New Roman"/>
                <a:cs typeface="Times New Roman"/>
              </a:rPr>
              <a:t>transaction-oriented applications that </a:t>
            </a:r>
            <a:r>
              <a:rPr sz="2400" dirty="0">
                <a:solidFill>
                  <a:srgbClr val="FFFFFF"/>
                </a:solidFill>
                <a:latin typeface="Times New Roman"/>
                <a:cs typeface="Times New Roman"/>
              </a:rPr>
              <a:t>require real-time processing </a:t>
            </a:r>
            <a:r>
              <a:rPr sz="2400" spc="-5" dirty="0">
                <a:solidFill>
                  <a:srgbClr val="FFFFFF"/>
                </a:solidFill>
                <a:latin typeface="Times New Roman"/>
                <a:cs typeface="Times New Roman"/>
              </a:rPr>
              <a:t>and </a:t>
            </a:r>
            <a:r>
              <a:rPr sz="2400" dirty="0">
                <a:solidFill>
                  <a:srgbClr val="FFFFFF"/>
                </a:solidFill>
                <a:latin typeface="Times New Roman"/>
                <a:cs typeface="Times New Roman"/>
              </a:rPr>
              <a:t>fast </a:t>
            </a:r>
            <a:r>
              <a:rPr sz="2400" spc="5" dirty="0">
                <a:solidFill>
                  <a:srgbClr val="FFFFFF"/>
                </a:solidFill>
                <a:latin typeface="Times New Roman"/>
                <a:cs typeface="Times New Roman"/>
              </a:rPr>
              <a:t> </a:t>
            </a:r>
            <a:r>
              <a:rPr sz="2400" dirty="0">
                <a:solidFill>
                  <a:srgbClr val="FFFFFF"/>
                </a:solidFill>
                <a:latin typeface="Times New Roman"/>
                <a:cs typeface="Times New Roman"/>
              </a:rPr>
              <a:t>response</a:t>
            </a:r>
            <a:r>
              <a:rPr sz="2400" spc="-5" dirty="0">
                <a:solidFill>
                  <a:srgbClr val="FFFFFF"/>
                </a:solidFill>
                <a:latin typeface="Times New Roman"/>
                <a:cs typeface="Times New Roman"/>
              </a:rPr>
              <a:t> times.</a:t>
            </a:r>
            <a:endParaRPr sz="2400" dirty="0">
              <a:latin typeface="Times New Roman"/>
              <a:cs typeface="Times New Roman"/>
            </a:endParaRPr>
          </a:p>
          <a:p>
            <a:pPr marL="184150" marR="6350" indent="-172085" algn="just">
              <a:lnSpc>
                <a:spcPct val="120700"/>
              </a:lnSpc>
              <a:spcBef>
                <a:spcPts val="805"/>
              </a:spcBef>
              <a:buSzPct val="125000"/>
              <a:buFont typeface="Arial MT"/>
              <a:buChar char="•"/>
              <a:tabLst>
                <a:tab pos="184785" algn="l"/>
              </a:tabLst>
            </a:pPr>
            <a:r>
              <a:rPr sz="2400" spc="-5" dirty="0">
                <a:solidFill>
                  <a:srgbClr val="FFFFFF"/>
                </a:solidFill>
                <a:latin typeface="Times New Roman"/>
                <a:cs typeface="Times New Roman"/>
              </a:rPr>
              <a:t>OLTP systems are </a:t>
            </a:r>
            <a:r>
              <a:rPr sz="2400" dirty="0">
                <a:solidFill>
                  <a:srgbClr val="FFFFFF"/>
                </a:solidFill>
                <a:latin typeface="Times New Roman"/>
                <a:cs typeface="Times New Roman"/>
              </a:rPr>
              <a:t>used </a:t>
            </a:r>
            <a:r>
              <a:rPr sz="2400" spc="-5" dirty="0">
                <a:solidFill>
                  <a:srgbClr val="FFFFFF"/>
                </a:solidFill>
                <a:latin typeface="Times New Roman"/>
                <a:cs typeface="Times New Roman"/>
              </a:rPr>
              <a:t>to manage </a:t>
            </a:r>
            <a:r>
              <a:rPr sz="2400" dirty="0">
                <a:solidFill>
                  <a:srgbClr val="FFFFFF"/>
                </a:solidFill>
                <a:latin typeface="Times New Roman"/>
                <a:cs typeface="Times New Roman"/>
              </a:rPr>
              <a:t>day-to-day business operations </a:t>
            </a:r>
            <a:r>
              <a:rPr sz="2400" spc="-5" dirty="0">
                <a:solidFill>
                  <a:srgbClr val="FFFFFF"/>
                </a:solidFill>
                <a:latin typeface="Times New Roman"/>
                <a:cs typeface="Times New Roman"/>
              </a:rPr>
              <a:t>such as </a:t>
            </a:r>
            <a:r>
              <a:rPr sz="2400" dirty="0">
                <a:solidFill>
                  <a:srgbClr val="FFFFFF"/>
                </a:solidFill>
                <a:latin typeface="Times New Roman"/>
                <a:cs typeface="Times New Roman"/>
              </a:rPr>
              <a:t> </a:t>
            </a:r>
            <a:r>
              <a:rPr sz="2400" spc="-5" dirty="0">
                <a:solidFill>
                  <a:srgbClr val="FFFFFF"/>
                </a:solidFill>
                <a:latin typeface="Times New Roman"/>
                <a:cs typeface="Times New Roman"/>
              </a:rPr>
              <a:t>sales,</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inventory management, and</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customer service.</a:t>
            </a:r>
            <a:endParaRPr sz="2400" dirty="0">
              <a:latin typeface="Times New Roman"/>
              <a:cs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9527540" cy="574040"/>
          </a:xfrm>
          <a:prstGeom prst="rect">
            <a:avLst/>
          </a:prstGeom>
        </p:spPr>
        <p:txBody>
          <a:bodyPr vert="horz" wrap="square" lIns="0" tIns="12700" rIns="0" bIns="0" rtlCol="0">
            <a:spAutoFit/>
          </a:bodyPr>
          <a:lstStyle/>
          <a:p>
            <a:pPr marL="12700">
              <a:lnSpc>
                <a:spcPct val="100000"/>
              </a:lnSpc>
              <a:spcBef>
                <a:spcPts val="100"/>
              </a:spcBef>
            </a:pPr>
            <a:r>
              <a:rPr spc="-5" dirty="0"/>
              <a:t>ONLINE</a:t>
            </a:r>
            <a:r>
              <a:rPr spc="-30" dirty="0"/>
              <a:t> </a:t>
            </a:r>
            <a:r>
              <a:rPr spc="-10" dirty="0"/>
              <a:t>TRANSACTION</a:t>
            </a:r>
            <a:r>
              <a:rPr spc="-35" dirty="0"/>
              <a:t> </a:t>
            </a:r>
            <a:r>
              <a:rPr spc="-5" dirty="0"/>
              <a:t>PROCESSING</a:t>
            </a:r>
            <a:r>
              <a:rPr spc="-30" dirty="0"/>
              <a:t> </a:t>
            </a:r>
            <a:r>
              <a:rPr dirty="0"/>
              <a:t>(OLTP)</a:t>
            </a:r>
          </a:p>
        </p:txBody>
      </p:sp>
      <p:sp>
        <p:nvSpPr>
          <p:cNvPr id="3" name="object 3"/>
          <p:cNvSpPr txBox="1"/>
          <p:nvPr/>
        </p:nvSpPr>
        <p:spPr>
          <a:xfrm>
            <a:off x="1271549" y="2226117"/>
            <a:ext cx="9690735" cy="4083685"/>
          </a:xfrm>
          <a:prstGeom prst="rect">
            <a:avLst/>
          </a:prstGeom>
        </p:spPr>
        <p:txBody>
          <a:bodyPr vert="horz" wrap="square" lIns="0" tIns="46355" rIns="0" bIns="0" rtlCol="0">
            <a:spAutoFit/>
          </a:bodyPr>
          <a:lstStyle/>
          <a:p>
            <a:pPr marL="184150" indent="-172085" algn="just">
              <a:lnSpc>
                <a:spcPct val="100000"/>
              </a:lnSpc>
              <a:spcBef>
                <a:spcPts val="365"/>
              </a:spcBef>
              <a:buSzPct val="125000"/>
              <a:buFont typeface="Arial MT"/>
              <a:buChar char="•"/>
              <a:tabLst>
                <a:tab pos="184785" algn="l"/>
              </a:tabLst>
            </a:pPr>
            <a:r>
              <a:rPr sz="2400" spc="-5" dirty="0">
                <a:solidFill>
                  <a:srgbClr val="FFFFFF"/>
                </a:solidFill>
                <a:latin typeface="Times New Roman"/>
                <a:cs typeface="Times New Roman"/>
              </a:rPr>
              <a:t>OLTP</a:t>
            </a:r>
            <a:r>
              <a:rPr sz="2400" spc="275" dirty="0">
                <a:solidFill>
                  <a:srgbClr val="FFFFFF"/>
                </a:solidFill>
                <a:latin typeface="Times New Roman"/>
                <a:cs typeface="Times New Roman"/>
              </a:rPr>
              <a:t> </a:t>
            </a:r>
            <a:r>
              <a:rPr sz="2400" dirty="0">
                <a:solidFill>
                  <a:srgbClr val="FFFFFF"/>
                </a:solidFill>
                <a:latin typeface="Times New Roman"/>
                <a:cs typeface="Times New Roman"/>
              </a:rPr>
              <a:t>databases</a:t>
            </a:r>
            <a:r>
              <a:rPr sz="2400" spc="275" dirty="0">
                <a:solidFill>
                  <a:srgbClr val="FFFFFF"/>
                </a:solidFill>
                <a:latin typeface="Times New Roman"/>
                <a:cs typeface="Times New Roman"/>
              </a:rPr>
              <a:t> </a:t>
            </a:r>
            <a:r>
              <a:rPr sz="2400" spc="-5" dirty="0">
                <a:solidFill>
                  <a:srgbClr val="FFFFFF"/>
                </a:solidFill>
                <a:latin typeface="Times New Roman"/>
                <a:cs typeface="Times New Roman"/>
              </a:rPr>
              <a:t>are</a:t>
            </a:r>
            <a:r>
              <a:rPr sz="2400" spc="275" dirty="0">
                <a:solidFill>
                  <a:srgbClr val="FFFFFF"/>
                </a:solidFill>
                <a:latin typeface="Times New Roman"/>
                <a:cs typeface="Times New Roman"/>
              </a:rPr>
              <a:t> </a:t>
            </a:r>
            <a:r>
              <a:rPr sz="2400" dirty="0">
                <a:solidFill>
                  <a:srgbClr val="FFFFFF"/>
                </a:solidFill>
                <a:latin typeface="Times New Roman"/>
                <a:cs typeface="Times New Roman"/>
              </a:rPr>
              <a:t>designed</a:t>
            </a:r>
            <a:r>
              <a:rPr sz="2400" spc="275" dirty="0">
                <a:solidFill>
                  <a:srgbClr val="FFFFFF"/>
                </a:solidFill>
                <a:latin typeface="Times New Roman"/>
                <a:cs typeface="Times New Roman"/>
              </a:rPr>
              <a:t> </a:t>
            </a:r>
            <a:r>
              <a:rPr sz="2400" spc="-5" dirty="0">
                <a:solidFill>
                  <a:srgbClr val="FFFFFF"/>
                </a:solidFill>
                <a:latin typeface="Times New Roman"/>
                <a:cs typeface="Times New Roman"/>
              </a:rPr>
              <a:t>to</a:t>
            </a:r>
            <a:r>
              <a:rPr sz="2400" spc="275" dirty="0">
                <a:solidFill>
                  <a:srgbClr val="FFFFFF"/>
                </a:solidFill>
                <a:latin typeface="Times New Roman"/>
                <a:cs typeface="Times New Roman"/>
              </a:rPr>
              <a:t> </a:t>
            </a:r>
            <a:r>
              <a:rPr sz="2400" spc="-5" dirty="0">
                <a:solidFill>
                  <a:srgbClr val="FFFFFF"/>
                </a:solidFill>
                <a:latin typeface="Times New Roman"/>
                <a:cs typeface="Times New Roman"/>
              </a:rPr>
              <a:t>support</a:t>
            </a:r>
            <a:r>
              <a:rPr sz="2400" spc="275" dirty="0">
                <a:solidFill>
                  <a:srgbClr val="FFFFFF"/>
                </a:solidFill>
                <a:latin typeface="Times New Roman"/>
                <a:cs typeface="Times New Roman"/>
              </a:rPr>
              <a:t> </a:t>
            </a:r>
            <a:r>
              <a:rPr sz="2400" dirty="0">
                <a:solidFill>
                  <a:srgbClr val="FFFFFF"/>
                </a:solidFill>
                <a:latin typeface="Times New Roman"/>
                <a:cs typeface="Times New Roman"/>
              </a:rPr>
              <a:t>frequent</a:t>
            </a:r>
            <a:r>
              <a:rPr sz="2400" spc="280" dirty="0">
                <a:solidFill>
                  <a:srgbClr val="FFFFFF"/>
                </a:solidFill>
                <a:latin typeface="Times New Roman"/>
                <a:cs typeface="Times New Roman"/>
              </a:rPr>
              <a:t> </a:t>
            </a:r>
            <a:r>
              <a:rPr sz="2400" spc="-5" dirty="0">
                <a:solidFill>
                  <a:srgbClr val="FFFFFF"/>
                </a:solidFill>
                <a:latin typeface="Times New Roman"/>
                <a:cs typeface="Times New Roman"/>
              </a:rPr>
              <a:t>small</a:t>
            </a:r>
            <a:r>
              <a:rPr sz="2400" spc="275" dirty="0">
                <a:solidFill>
                  <a:srgbClr val="FFFFFF"/>
                </a:solidFill>
                <a:latin typeface="Times New Roman"/>
                <a:cs typeface="Times New Roman"/>
              </a:rPr>
              <a:t> </a:t>
            </a:r>
            <a:r>
              <a:rPr sz="2400" spc="-5" dirty="0">
                <a:solidFill>
                  <a:srgbClr val="FFFFFF"/>
                </a:solidFill>
                <a:latin typeface="Times New Roman"/>
                <a:cs typeface="Times New Roman"/>
              </a:rPr>
              <a:t>transactions,</a:t>
            </a:r>
            <a:r>
              <a:rPr sz="2400" spc="275" dirty="0">
                <a:solidFill>
                  <a:srgbClr val="FFFFFF"/>
                </a:solidFill>
                <a:latin typeface="Times New Roman"/>
                <a:cs typeface="Times New Roman"/>
              </a:rPr>
              <a:t> </a:t>
            </a:r>
            <a:r>
              <a:rPr sz="2400" spc="-5" dirty="0">
                <a:solidFill>
                  <a:srgbClr val="FFFFFF"/>
                </a:solidFill>
                <a:latin typeface="Times New Roman"/>
                <a:cs typeface="Times New Roman"/>
              </a:rPr>
              <a:t>which</a:t>
            </a:r>
            <a:endParaRPr sz="2400" dirty="0">
              <a:latin typeface="Times New Roman"/>
              <a:cs typeface="Times New Roman"/>
            </a:endParaRPr>
          </a:p>
          <a:p>
            <a:pPr marL="184150" marR="13970" algn="just">
              <a:lnSpc>
                <a:spcPct val="120000"/>
              </a:lnSpc>
              <a:spcBef>
                <a:spcPts val="165"/>
              </a:spcBef>
            </a:pPr>
            <a:r>
              <a:rPr sz="2400" spc="-5" dirty="0">
                <a:solidFill>
                  <a:srgbClr val="FFFFFF"/>
                </a:solidFill>
                <a:latin typeface="Times New Roman"/>
                <a:cs typeface="Times New Roman"/>
              </a:rPr>
              <a:t>are</a:t>
            </a:r>
            <a:r>
              <a:rPr sz="2400" spc="565" dirty="0">
                <a:solidFill>
                  <a:srgbClr val="FFFFFF"/>
                </a:solidFill>
                <a:latin typeface="Times New Roman"/>
                <a:cs typeface="Times New Roman"/>
              </a:rPr>
              <a:t> </a:t>
            </a:r>
            <a:r>
              <a:rPr sz="2400" spc="-5" dirty="0">
                <a:solidFill>
                  <a:srgbClr val="FFFFFF"/>
                </a:solidFill>
                <a:latin typeface="Times New Roman"/>
                <a:cs typeface="Times New Roman"/>
              </a:rPr>
              <a:t>typically</a:t>
            </a:r>
            <a:r>
              <a:rPr sz="2400" spc="570" dirty="0">
                <a:solidFill>
                  <a:srgbClr val="FFFFFF"/>
                </a:solidFill>
                <a:latin typeface="Times New Roman"/>
                <a:cs typeface="Times New Roman"/>
              </a:rPr>
              <a:t> </a:t>
            </a:r>
            <a:r>
              <a:rPr sz="2400" spc="-5" dirty="0">
                <a:solidFill>
                  <a:srgbClr val="FFFFFF"/>
                </a:solidFill>
                <a:latin typeface="Times New Roman"/>
                <a:cs typeface="Times New Roman"/>
              </a:rPr>
              <a:t>short-lived</a:t>
            </a:r>
            <a:r>
              <a:rPr sz="2400" spc="575" dirty="0">
                <a:solidFill>
                  <a:srgbClr val="FFFFFF"/>
                </a:solidFill>
                <a:latin typeface="Times New Roman"/>
                <a:cs typeface="Times New Roman"/>
              </a:rPr>
              <a:t> </a:t>
            </a:r>
            <a:r>
              <a:rPr sz="2400" spc="-5" dirty="0">
                <a:solidFill>
                  <a:srgbClr val="FFFFFF"/>
                </a:solidFill>
                <a:latin typeface="Times New Roman"/>
                <a:cs typeface="Times New Roman"/>
              </a:rPr>
              <a:t>and</a:t>
            </a:r>
            <a:r>
              <a:rPr sz="2400" spc="565" dirty="0">
                <a:solidFill>
                  <a:srgbClr val="FFFFFF"/>
                </a:solidFill>
                <a:latin typeface="Times New Roman"/>
                <a:cs typeface="Times New Roman"/>
              </a:rPr>
              <a:t> </a:t>
            </a:r>
            <a:r>
              <a:rPr sz="2400" spc="-5" dirty="0">
                <a:solidFill>
                  <a:srgbClr val="FFFFFF"/>
                </a:solidFill>
                <a:latin typeface="Times New Roman"/>
                <a:cs typeface="Times New Roman"/>
              </a:rPr>
              <a:t>involve</a:t>
            </a:r>
            <a:r>
              <a:rPr sz="2400" spc="570" dirty="0">
                <a:solidFill>
                  <a:srgbClr val="FFFFFF"/>
                </a:solidFill>
                <a:latin typeface="Times New Roman"/>
                <a:cs typeface="Times New Roman"/>
              </a:rPr>
              <a:t> </a:t>
            </a:r>
            <a:r>
              <a:rPr sz="2400" spc="-5" dirty="0">
                <a:solidFill>
                  <a:srgbClr val="FFFFFF"/>
                </a:solidFill>
                <a:latin typeface="Times New Roman"/>
                <a:cs typeface="Times New Roman"/>
              </a:rPr>
              <a:t>simple</a:t>
            </a:r>
            <a:r>
              <a:rPr sz="2400" spc="575" dirty="0">
                <a:solidFill>
                  <a:srgbClr val="FFFFFF"/>
                </a:solidFill>
                <a:latin typeface="Times New Roman"/>
                <a:cs typeface="Times New Roman"/>
              </a:rPr>
              <a:t> </a:t>
            </a:r>
            <a:r>
              <a:rPr sz="2400" dirty="0">
                <a:solidFill>
                  <a:srgbClr val="FFFFFF"/>
                </a:solidFill>
                <a:latin typeface="Times New Roman"/>
                <a:cs typeface="Times New Roman"/>
              </a:rPr>
              <a:t>operations</a:t>
            </a:r>
            <a:r>
              <a:rPr sz="2400" spc="570" dirty="0">
                <a:solidFill>
                  <a:srgbClr val="FFFFFF"/>
                </a:solidFill>
                <a:latin typeface="Times New Roman"/>
                <a:cs typeface="Times New Roman"/>
              </a:rPr>
              <a:t> </a:t>
            </a:r>
            <a:r>
              <a:rPr sz="2400" spc="-5" dirty="0">
                <a:solidFill>
                  <a:srgbClr val="FFFFFF"/>
                </a:solidFill>
                <a:latin typeface="Times New Roman"/>
                <a:cs typeface="Times New Roman"/>
              </a:rPr>
              <a:t>such</a:t>
            </a:r>
            <a:r>
              <a:rPr sz="2400" spc="575" dirty="0">
                <a:solidFill>
                  <a:srgbClr val="FFFFFF"/>
                </a:solidFill>
                <a:latin typeface="Times New Roman"/>
                <a:cs typeface="Times New Roman"/>
              </a:rPr>
              <a:t> </a:t>
            </a:r>
            <a:r>
              <a:rPr sz="2400" spc="-5" dirty="0">
                <a:solidFill>
                  <a:srgbClr val="FFFFFF"/>
                </a:solidFill>
                <a:latin typeface="Times New Roman"/>
                <a:cs typeface="Times New Roman"/>
              </a:rPr>
              <a:t>as</a:t>
            </a:r>
            <a:r>
              <a:rPr sz="2400" spc="570" dirty="0">
                <a:solidFill>
                  <a:srgbClr val="FFFFFF"/>
                </a:solidFill>
                <a:latin typeface="Times New Roman"/>
                <a:cs typeface="Times New Roman"/>
              </a:rPr>
              <a:t> </a:t>
            </a:r>
            <a:r>
              <a:rPr sz="2400" spc="-5" dirty="0">
                <a:solidFill>
                  <a:srgbClr val="FFFFFF"/>
                </a:solidFill>
                <a:latin typeface="Times New Roman"/>
                <a:cs typeface="Times New Roman"/>
              </a:rPr>
              <a:t>inserting, </a:t>
            </a:r>
            <a:r>
              <a:rPr sz="2400" spc="-590" dirty="0">
                <a:solidFill>
                  <a:srgbClr val="FFFFFF"/>
                </a:solidFill>
                <a:latin typeface="Times New Roman"/>
                <a:cs typeface="Times New Roman"/>
              </a:rPr>
              <a:t> </a:t>
            </a:r>
            <a:r>
              <a:rPr sz="2400" dirty="0">
                <a:solidFill>
                  <a:srgbClr val="FFFFFF"/>
                </a:solidFill>
                <a:latin typeface="Times New Roman"/>
                <a:cs typeface="Times New Roman"/>
              </a:rPr>
              <a:t>updating,</a:t>
            </a:r>
            <a:r>
              <a:rPr sz="2400" spc="-5" dirty="0">
                <a:solidFill>
                  <a:srgbClr val="FFFFFF"/>
                </a:solidFill>
                <a:latin typeface="Times New Roman"/>
                <a:cs typeface="Times New Roman"/>
              </a:rPr>
              <a:t> </a:t>
            </a:r>
            <a:r>
              <a:rPr sz="2400" dirty="0">
                <a:solidFill>
                  <a:srgbClr val="FFFFFF"/>
                </a:solidFill>
                <a:latin typeface="Times New Roman"/>
                <a:cs typeface="Times New Roman"/>
              </a:rPr>
              <a:t>or deleting data.</a:t>
            </a:r>
            <a:endParaRPr sz="2400" dirty="0">
              <a:latin typeface="Times New Roman"/>
              <a:cs typeface="Times New Roman"/>
            </a:endParaRPr>
          </a:p>
          <a:p>
            <a:pPr marL="184150" marR="9525" indent="-172085" algn="just">
              <a:lnSpc>
                <a:spcPct val="120700"/>
              </a:lnSpc>
              <a:spcBef>
                <a:spcPts val="805"/>
              </a:spcBef>
              <a:buSzPct val="125000"/>
              <a:buFont typeface="Arial MT"/>
              <a:buChar char="•"/>
              <a:tabLst>
                <a:tab pos="184785" algn="l"/>
              </a:tabLst>
            </a:pPr>
            <a:r>
              <a:rPr sz="2400" spc="-5" dirty="0">
                <a:solidFill>
                  <a:srgbClr val="FFFFFF"/>
                </a:solidFill>
                <a:latin typeface="Times New Roman"/>
                <a:cs typeface="Times New Roman"/>
              </a:rPr>
              <a:t>The</a:t>
            </a:r>
            <a:r>
              <a:rPr sz="2400" spc="560" dirty="0">
                <a:solidFill>
                  <a:srgbClr val="FFFFFF"/>
                </a:solidFill>
                <a:latin typeface="Times New Roman"/>
                <a:cs typeface="Times New Roman"/>
              </a:rPr>
              <a:t> </a:t>
            </a:r>
            <a:r>
              <a:rPr sz="2400" dirty="0">
                <a:solidFill>
                  <a:srgbClr val="FFFFFF"/>
                </a:solidFill>
                <a:latin typeface="Times New Roman"/>
                <a:cs typeface="Times New Roman"/>
              </a:rPr>
              <a:t>primary</a:t>
            </a:r>
            <a:r>
              <a:rPr sz="2400" spc="565" dirty="0">
                <a:solidFill>
                  <a:srgbClr val="FFFFFF"/>
                </a:solidFill>
                <a:latin typeface="Times New Roman"/>
                <a:cs typeface="Times New Roman"/>
              </a:rPr>
              <a:t> </a:t>
            </a:r>
            <a:r>
              <a:rPr sz="2400" dirty="0">
                <a:solidFill>
                  <a:srgbClr val="FFFFFF"/>
                </a:solidFill>
                <a:latin typeface="Times New Roman"/>
                <a:cs typeface="Times New Roman"/>
              </a:rPr>
              <a:t>goal</a:t>
            </a:r>
            <a:r>
              <a:rPr sz="2400" spc="565" dirty="0">
                <a:solidFill>
                  <a:srgbClr val="FFFFFF"/>
                </a:solidFill>
                <a:latin typeface="Times New Roman"/>
                <a:cs typeface="Times New Roman"/>
              </a:rPr>
              <a:t> </a:t>
            </a:r>
            <a:r>
              <a:rPr sz="2400" dirty="0">
                <a:solidFill>
                  <a:srgbClr val="FFFFFF"/>
                </a:solidFill>
                <a:latin typeface="Times New Roman"/>
                <a:cs typeface="Times New Roman"/>
              </a:rPr>
              <a:t>of</a:t>
            </a:r>
            <a:r>
              <a:rPr sz="2400" spc="565" dirty="0">
                <a:solidFill>
                  <a:srgbClr val="FFFFFF"/>
                </a:solidFill>
                <a:latin typeface="Times New Roman"/>
                <a:cs typeface="Times New Roman"/>
              </a:rPr>
              <a:t> </a:t>
            </a:r>
            <a:r>
              <a:rPr sz="2400" spc="-5" dirty="0">
                <a:solidFill>
                  <a:srgbClr val="FFFFFF"/>
                </a:solidFill>
                <a:latin typeface="Times New Roman"/>
                <a:cs typeface="Times New Roman"/>
              </a:rPr>
              <a:t>an</a:t>
            </a:r>
            <a:r>
              <a:rPr sz="2400" spc="560" dirty="0">
                <a:solidFill>
                  <a:srgbClr val="FFFFFF"/>
                </a:solidFill>
                <a:latin typeface="Times New Roman"/>
                <a:cs typeface="Times New Roman"/>
              </a:rPr>
              <a:t> </a:t>
            </a:r>
            <a:r>
              <a:rPr sz="2400" spc="-5" dirty="0">
                <a:solidFill>
                  <a:srgbClr val="FFFFFF"/>
                </a:solidFill>
                <a:latin typeface="Times New Roman"/>
                <a:cs typeface="Times New Roman"/>
              </a:rPr>
              <a:t>OLTP</a:t>
            </a:r>
            <a:r>
              <a:rPr sz="2400" spc="565" dirty="0">
                <a:solidFill>
                  <a:srgbClr val="FFFFFF"/>
                </a:solidFill>
                <a:latin typeface="Times New Roman"/>
                <a:cs typeface="Times New Roman"/>
              </a:rPr>
              <a:t> </a:t>
            </a:r>
            <a:r>
              <a:rPr sz="2400" spc="-5" dirty="0">
                <a:solidFill>
                  <a:srgbClr val="FFFFFF"/>
                </a:solidFill>
                <a:latin typeface="Times New Roman"/>
                <a:cs typeface="Times New Roman"/>
              </a:rPr>
              <a:t>system</a:t>
            </a:r>
            <a:r>
              <a:rPr sz="2400" spc="565" dirty="0">
                <a:solidFill>
                  <a:srgbClr val="FFFFFF"/>
                </a:solidFill>
                <a:latin typeface="Times New Roman"/>
                <a:cs typeface="Times New Roman"/>
              </a:rPr>
              <a:t> </a:t>
            </a:r>
            <a:r>
              <a:rPr sz="2400" spc="-5" dirty="0">
                <a:solidFill>
                  <a:srgbClr val="FFFFFF"/>
                </a:solidFill>
                <a:latin typeface="Times New Roman"/>
                <a:cs typeface="Times New Roman"/>
              </a:rPr>
              <a:t>is</a:t>
            </a:r>
            <a:r>
              <a:rPr sz="2400" spc="560" dirty="0">
                <a:solidFill>
                  <a:srgbClr val="FFFFFF"/>
                </a:solidFill>
                <a:latin typeface="Times New Roman"/>
                <a:cs typeface="Times New Roman"/>
              </a:rPr>
              <a:t> </a:t>
            </a:r>
            <a:r>
              <a:rPr sz="2400" spc="-5" dirty="0">
                <a:solidFill>
                  <a:srgbClr val="FFFFFF"/>
                </a:solidFill>
                <a:latin typeface="Times New Roman"/>
                <a:cs typeface="Times New Roman"/>
              </a:rPr>
              <a:t>to</a:t>
            </a:r>
            <a:r>
              <a:rPr sz="2400" spc="560" dirty="0">
                <a:solidFill>
                  <a:srgbClr val="FFFFFF"/>
                </a:solidFill>
                <a:latin typeface="Times New Roman"/>
                <a:cs typeface="Times New Roman"/>
              </a:rPr>
              <a:t> </a:t>
            </a:r>
            <a:r>
              <a:rPr sz="2400" spc="-5" dirty="0">
                <a:solidFill>
                  <a:srgbClr val="FFFFFF"/>
                </a:solidFill>
                <a:latin typeface="Times New Roman"/>
                <a:cs typeface="Times New Roman"/>
              </a:rPr>
              <a:t>ensure</a:t>
            </a:r>
            <a:r>
              <a:rPr sz="2400" spc="560" dirty="0">
                <a:solidFill>
                  <a:srgbClr val="FFFFFF"/>
                </a:solidFill>
                <a:latin typeface="Times New Roman"/>
                <a:cs typeface="Times New Roman"/>
              </a:rPr>
              <a:t> </a:t>
            </a:r>
            <a:r>
              <a:rPr sz="2400" dirty="0">
                <a:solidFill>
                  <a:srgbClr val="FFFFFF"/>
                </a:solidFill>
                <a:latin typeface="Times New Roman"/>
                <a:cs typeface="Times New Roman"/>
              </a:rPr>
              <a:t>data</a:t>
            </a:r>
            <a:r>
              <a:rPr sz="2400" spc="565" dirty="0">
                <a:solidFill>
                  <a:srgbClr val="FFFFFF"/>
                </a:solidFill>
                <a:latin typeface="Times New Roman"/>
                <a:cs typeface="Times New Roman"/>
              </a:rPr>
              <a:t> </a:t>
            </a:r>
            <a:r>
              <a:rPr sz="2400" spc="-5" dirty="0">
                <a:solidFill>
                  <a:srgbClr val="FFFFFF"/>
                </a:solidFill>
                <a:latin typeface="Times New Roman"/>
                <a:cs typeface="Times New Roman"/>
              </a:rPr>
              <a:t>consistency</a:t>
            </a:r>
            <a:r>
              <a:rPr sz="2400" spc="560" dirty="0">
                <a:solidFill>
                  <a:srgbClr val="FFFFFF"/>
                </a:solidFill>
                <a:latin typeface="Times New Roman"/>
                <a:cs typeface="Times New Roman"/>
              </a:rPr>
              <a:t> </a:t>
            </a:r>
            <a:r>
              <a:rPr sz="2400" spc="-5" dirty="0">
                <a:solidFill>
                  <a:srgbClr val="FFFFFF"/>
                </a:solidFill>
                <a:latin typeface="Times New Roman"/>
                <a:cs typeface="Times New Roman"/>
              </a:rPr>
              <a:t>and </a:t>
            </a:r>
            <a:r>
              <a:rPr sz="2400" spc="-590" dirty="0">
                <a:solidFill>
                  <a:srgbClr val="FFFFFF"/>
                </a:solidFill>
                <a:latin typeface="Times New Roman"/>
                <a:cs typeface="Times New Roman"/>
              </a:rPr>
              <a:t> </a:t>
            </a:r>
            <a:r>
              <a:rPr sz="2400" spc="-5" dirty="0">
                <a:solidFill>
                  <a:srgbClr val="FFFFFF"/>
                </a:solidFill>
                <a:latin typeface="Times New Roman"/>
                <a:cs typeface="Times New Roman"/>
              </a:rPr>
              <a:t>integrity,</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even</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when</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multiple</a:t>
            </a:r>
            <a:r>
              <a:rPr sz="2400" spc="-10" dirty="0">
                <a:solidFill>
                  <a:srgbClr val="FFFFFF"/>
                </a:solidFill>
                <a:latin typeface="Times New Roman"/>
                <a:cs typeface="Times New Roman"/>
              </a:rPr>
              <a:t> </a:t>
            </a:r>
            <a:r>
              <a:rPr sz="2400" dirty="0">
                <a:solidFill>
                  <a:srgbClr val="FFFFFF"/>
                </a:solidFill>
                <a:latin typeface="Times New Roman"/>
                <a:cs typeface="Times New Roman"/>
              </a:rPr>
              <a:t>users</a:t>
            </a:r>
            <a:r>
              <a:rPr sz="2400" spc="-5" dirty="0">
                <a:solidFill>
                  <a:srgbClr val="FFFFFF"/>
                </a:solidFill>
                <a:latin typeface="Times New Roman"/>
                <a:cs typeface="Times New Roman"/>
              </a:rPr>
              <a:t> are</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accessing</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the</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same</a:t>
            </a:r>
            <a:r>
              <a:rPr sz="2400" spc="-10" dirty="0">
                <a:solidFill>
                  <a:srgbClr val="FFFFFF"/>
                </a:solidFill>
                <a:latin typeface="Times New Roman"/>
                <a:cs typeface="Times New Roman"/>
              </a:rPr>
              <a:t> </a:t>
            </a:r>
            <a:r>
              <a:rPr sz="2400" dirty="0">
                <a:solidFill>
                  <a:srgbClr val="FFFFFF"/>
                </a:solidFill>
                <a:latin typeface="Times New Roman"/>
                <a:cs typeface="Times New Roman"/>
              </a:rPr>
              <a:t>data</a:t>
            </a:r>
            <a:r>
              <a:rPr sz="2400" spc="-5" dirty="0">
                <a:solidFill>
                  <a:srgbClr val="FFFFFF"/>
                </a:solidFill>
                <a:latin typeface="Times New Roman"/>
                <a:cs typeface="Times New Roman"/>
              </a:rPr>
              <a:t> concurrently.</a:t>
            </a:r>
            <a:endParaRPr sz="2400" dirty="0">
              <a:latin typeface="Times New Roman"/>
              <a:cs typeface="Times New Roman"/>
            </a:endParaRPr>
          </a:p>
          <a:p>
            <a:pPr marL="184150" marR="5080" indent="-172085" algn="just">
              <a:lnSpc>
                <a:spcPct val="120300"/>
              </a:lnSpc>
              <a:spcBef>
                <a:spcPts val="825"/>
              </a:spcBef>
              <a:buSzPct val="125000"/>
              <a:buFont typeface="Arial MT"/>
              <a:buChar char="•"/>
              <a:tabLst>
                <a:tab pos="184785" algn="l"/>
              </a:tabLst>
            </a:pPr>
            <a:r>
              <a:rPr sz="2400" spc="-5" dirty="0">
                <a:solidFill>
                  <a:srgbClr val="FFFFFF"/>
                </a:solidFill>
                <a:latin typeface="Times New Roman"/>
                <a:cs typeface="Times New Roman"/>
              </a:rPr>
              <a:t>OLTP</a:t>
            </a:r>
            <a:r>
              <a:rPr sz="2400" dirty="0">
                <a:solidFill>
                  <a:srgbClr val="FFFFFF"/>
                </a:solidFill>
                <a:latin typeface="Times New Roman"/>
                <a:cs typeface="Times New Roman"/>
              </a:rPr>
              <a:t> </a:t>
            </a:r>
            <a:r>
              <a:rPr sz="2400" spc="-5" dirty="0">
                <a:solidFill>
                  <a:srgbClr val="FFFFFF"/>
                </a:solidFill>
                <a:latin typeface="Times New Roman"/>
                <a:cs typeface="Times New Roman"/>
              </a:rPr>
              <a:t>systems</a:t>
            </a:r>
            <a:r>
              <a:rPr sz="2400" dirty="0">
                <a:solidFill>
                  <a:srgbClr val="FFFFFF"/>
                </a:solidFill>
                <a:latin typeface="Times New Roman"/>
                <a:cs typeface="Times New Roman"/>
              </a:rPr>
              <a:t> </a:t>
            </a:r>
            <a:r>
              <a:rPr sz="2400" spc="-5" dirty="0">
                <a:solidFill>
                  <a:srgbClr val="FFFFFF"/>
                </a:solidFill>
                <a:latin typeface="Times New Roman"/>
                <a:cs typeface="Times New Roman"/>
              </a:rPr>
              <a:t>typically</a:t>
            </a:r>
            <a:r>
              <a:rPr sz="2400" dirty="0">
                <a:solidFill>
                  <a:srgbClr val="FFFFFF"/>
                </a:solidFill>
                <a:latin typeface="Times New Roman"/>
                <a:cs typeface="Times New Roman"/>
              </a:rPr>
              <a:t> use</a:t>
            </a:r>
            <a:r>
              <a:rPr sz="2400" spc="5" dirty="0">
                <a:solidFill>
                  <a:srgbClr val="FFFFFF"/>
                </a:solidFill>
                <a:latin typeface="Times New Roman"/>
                <a:cs typeface="Times New Roman"/>
              </a:rPr>
              <a:t> </a:t>
            </a:r>
            <a:r>
              <a:rPr sz="2400" dirty="0">
                <a:solidFill>
                  <a:srgbClr val="FFFFFF"/>
                </a:solidFill>
                <a:latin typeface="Times New Roman"/>
                <a:cs typeface="Times New Roman"/>
              </a:rPr>
              <a:t>a</a:t>
            </a:r>
            <a:r>
              <a:rPr sz="2400" spc="5" dirty="0">
                <a:solidFill>
                  <a:srgbClr val="FFFFFF"/>
                </a:solidFill>
                <a:latin typeface="Times New Roman"/>
                <a:cs typeface="Times New Roman"/>
              </a:rPr>
              <a:t> </a:t>
            </a:r>
            <a:r>
              <a:rPr sz="2400" dirty="0">
                <a:solidFill>
                  <a:srgbClr val="FFFFFF"/>
                </a:solidFill>
                <a:latin typeface="Times New Roman"/>
                <a:cs typeface="Times New Roman"/>
              </a:rPr>
              <a:t>relational</a:t>
            </a:r>
            <a:r>
              <a:rPr sz="2400" spc="5" dirty="0">
                <a:solidFill>
                  <a:srgbClr val="FFFFFF"/>
                </a:solidFill>
                <a:latin typeface="Times New Roman"/>
                <a:cs typeface="Times New Roman"/>
              </a:rPr>
              <a:t> </a:t>
            </a:r>
            <a:r>
              <a:rPr sz="2400" dirty="0">
                <a:solidFill>
                  <a:srgbClr val="FFFFFF"/>
                </a:solidFill>
                <a:latin typeface="Times New Roman"/>
                <a:cs typeface="Times New Roman"/>
              </a:rPr>
              <a:t>database</a:t>
            </a:r>
            <a:r>
              <a:rPr sz="2400" spc="5" dirty="0">
                <a:solidFill>
                  <a:srgbClr val="FFFFFF"/>
                </a:solidFill>
                <a:latin typeface="Times New Roman"/>
                <a:cs typeface="Times New Roman"/>
              </a:rPr>
              <a:t> </a:t>
            </a:r>
            <a:r>
              <a:rPr sz="2400" spc="-5" dirty="0">
                <a:solidFill>
                  <a:srgbClr val="FFFFFF"/>
                </a:solidFill>
                <a:latin typeface="Times New Roman"/>
                <a:cs typeface="Times New Roman"/>
              </a:rPr>
              <a:t>management</a:t>
            </a:r>
            <a:r>
              <a:rPr sz="2400" dirty="0">
                <a:solidFill>
                  <a:srgbClr val="FFFFFF"/>
                </a:solidFill>
                <a:latin typeface="Times New Roman"/>
                <a:cs typeface="Times New Roman"/>
              </a:rPr>
              <a:t> </a:t>
            </a:r>
            <a:r>
              <a:rPr sz="2400" spc="-5" dirty="0">
                <a:solidFill>
                  <a:srgbClr val="FFFFFF"/>
                </a:solidFill>
                <a:latin typeface="Times New Roman"/>
                <a:cs typeface="Times New Roman"/>
              </a:rPr>
              <a:t>system </a:t>
            </a:r>
            <a:r>
              <a:rPr sz="2400" dirty="0">
                <a:solidFill>
                  <a:srgbClr val="FFFFFF"/>
                </a:solidFill>
                <a:latin typeface="Times New Roman"/>
                <a:cs typeface="Times New Roman"/>
              </a:rPr>
              <a:t> (RDBMS) </a:t>
            </a:r>
            <a:r>
              <a:rPr sz="2400" spc="-5" dirty="0">
                <a:solidFill>
                  <a:srgbClr val="FFFFFF"/>
                </a:solidFill>
                <a:latin typeface="Times New Roman"/>
                <a:cs typeface="Times New Roman"/>
              </a:rPr>
              <a:t>that allows </a:t>
            </a:r>
            <a:r>
              <a:rPr sz="2400" dirty="0">
                <a:solidFill>
                  <a:srgbClr val="FFFFFF"/>
                </a:solidFill>
                <a:latin typeface="Times New Roman"/>
                <a:cs typeface="Times New Roman"/>
              </a:rPr>
              <a:t>users </a:t>
            </a:r>
            <a:r>
              <a:rPr sz="2400" spc="-5" dirty="0">
                <a:solidFill>
                  <a:srgbClr val="FFFFFF"/>
                </a:solidFill>
                <a:latin typeface="Times New Roman"/>
                <a:cs typeface="Times New Roman"/>
              </a:rPr>
              <a:t>to access and manipulate </a:t>
            </a:r>
            <a:r>
              <a:rPr sz="2400" dirty="0">
                <a:solidFill>
                  <a:srgbClr val="FFFFFF"/>
                </a:solidFill>
                <a:latin typeface="Times New Roman"/>
                <a:cs typeface="Times New Roman"/>
              </a:rPr>
              <a:t>data </a:t>
            </a:r>
            <a:r>
              <a:rPr sz="2400" spc="-5" dirty="0">
                <a:solidFill>
                  <a:srgbClr val="FFFFFF"/>
                </a:solidFill>
                <a:latin typeface="Times New Roman"/>
                <a:cs typeface="Times New Roman"/>
              </a:rPr>
              <a:t>through structured </a:t>
            </a:r>
            <a:r>
              <a:rPr sz="2400" dirty="0">
                <a:solidFill>
                  <a:srgbClr val="FFFFFF"/>
                </a:solidFill>
                <a:latin typeface="Times New Roman"/>
                <a:cs typeface="Times New Roman"/>
              </a:rPr>
              <a:t> query</a:t>
            </a:r>
            <a:r>
              <a:rPr sz="2400" spc="-5" dirty="0">
                <a:solidFill>
                  <a:srgbClr val="FFFFFF"/>
                </a:solidFill>
                <a:latin typeface="Times New Roman"/>
                <a:cs typeface="Times New Roman"/>
              </a:rPr>
              <a:t> language </a:t>
            </a:r>
            <a:r>
              <a:rPr sz="2400" dirty="0">
                <a:solidFill>
                  <a:srgbClr val="FFFFFF"/>
                </a:solidFill>
                <a:latin typeface="Times New Roman"/>
                <a:cs typeface="Times New Roman"/>
              </a:rPr>
              <a:t>(SQL) </a:t>
            </a:r>
            <a:r>
              <a:rPr sz="2400" spc="-5" dirty="0">
                <a:solidFill>
                  <a:srgbClr val="FFFFFF"/>
                </a:solidFill>
                <a:latin typeface="Times New Roman"/>
                <a:cs typeface="Times New Roman"/>
              </a:rPr>
              <a:t>commands.</a:t>
            </a:r>
            <a:endParaRPr sz="2400" dirty="0">
              <a:latin typeface="Times New Roman"/>
              <a:cs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9527540" cy="574040"/>
          </a:xfrm>
          <a:prstGeom prst="rect">
            <a:avLst/>
          </a:prstGeom>
        </p:spPr>
        <p:txBody>
          <a:bodyPr vert="horz" wrap="square" lIns="0" tIns="12700" rIns="0" bIns="0" rtlCol="0">
            <a:spAutoFit/>
          </a:bodyPr>
          <a:lstStyle/>
          <a:p>
            <a:pPr marL="12700">
              <a:lnSpc>
                <a:spcPct val="100000"/>
              </a:lnSpc>
              <a:spcBef>
                <a:spcPts val="100"/>
              </a:spcBef>
            </a:pPr>
            <a:r>
              <a:rPr spc="-5" dirty="0"/>
              <a:t>ONLINE</a:t>
            </a:r>
            <a:r>
              <a:rPr spc="-30" dirty="0"/>
              <a:t> </a:t>
            </a:r>
            <a:r>
              <a:rPr spc="-10" dirty="0"/>
              <a:t>TRANSACTION</a:t>
            </a:r>
            <a:r>
              <a:rPr spc="-35" dirty="0"/>
              <a:t> </a:t>
            </a:r>
            <a:r>
              <a:rPr spc="-5" dirty="0"/>
              <a:t>PROCESSING</a:t>
            </a:r>
            <a:r>
              <a:rPr spc="-30" dirty="0"/>
              <a:t> </a:t>
            </a:r>
            <a:r>
              <a:rPr dirty="0"/>
              <a:t>(OLTP)</a:t>
            </a:r>
          </a:p>
        </p:txBody>
      </p:sp>
      <p:sp>
        <p:nvSpPr>
          <p:cNvPr id="3" name="object 3"/>
          <p:cNvSpPr txBox="1"/>
          <p:nvPr/>
        </p:nvSpPr>
        <p:spPr>
          <a:xfrm>
            <a:off x="1271549" y="2226118"/>
            <a:ext cx="9690100" cy="3644900"/>
          </a:xfrm>
          <a:prstGeom prst="rect">
            <a:avLst/>
          </a:prstGeom>
        </p:spPr>
        <p:txBody>
          <a:bodyPr vert="horz" wrap="square" lIns="0" tIns="46990" rIns="0" bIns="0" rtlCol="0">
            <a:spAutoFit/>
          </a:bodyPr>
          <a:lstStyle/>
          <a:p>
            <a:pPr marL="184150" marR="10160" indent="-172085" algn="just">
              <a:lnSpc>
                <a:spcPts val="3740"/>
              </a:lnSpc>
              <a:spcBef>
                <a:spcPts val="370"/>
              </a:spcBef>
              <a:buSzPct val="125000"/>
              <a:buFont typeface="Arial MT"/>
              <a:buChar char="•"/>
              <a:tabLst>
                <a:tab pos="184785" algn="l"/>
              </a:tabLst>
            </a:pPr>
            <a:r>
              <a:rPr sz="2400" dirty="0">
                <a:solidFill>
                  <a:srgbClr val="FFFFFF"/>
                </a:solidFill>
                <a:latin typeface="Times New Roman"/>
                <a:cs typeface="Times New Roman"/>
              </a:rPr>
              <a:t>In </a:t>
            </a:r>
            <a:r>
              <a:rPr sz="2400" spc="-5" dirty="0">
                <a:solidFill>
                  <a:srgbClr val="FFFFFF"/>
                </a:solidFill>
                <a:latin typeface="Times New Roman"/>
                <a:cs typeface="Times New Roman"/>
              </a:rPr>
              <a:t>OLTP systems, the </a:t>
            </a:r>
            <a:r>
              <a:rPr sz="2400" dirty="0">
                <a:solidFill>
                  <a:srgbClr val="FFFFFF"/>
                </a:solidFill>
                <a:latin typeface="Times New Roman"/>
                <a:cs typeface="Times New Roman"/>
              </a:rPr>
              <a:t>focus </a:t>
            </a:r>
            <a:r>
              <a:rPr sz="2400" spc="-5" dirty="0">
                <a:solidFill>
                  <a:srgbClr val="FFFFFF"/>
                </a:solidFill>
                <a:latin typeface="Times New Roman"/>
                <a:cs typeface="Times New Roman"/>
              </a:rPr>
              <a:t>is </a:t>
            </a:r>
            <a:r>
              <a:rPr sz="2400" dirty="0">
                <a:solidFill>
                  <a:srgbClr val="FFFFFF"/>
                </a:solidFill>
                <a:latin typeface="Times New Roman"/>
                <a:cs typeface="Times New Roman"/>
              </a:rPr>
              <a:t>on </a:t>
            </a:r>
            <a:r>
              <a:rPr sz="2400" spc="-5" dirty="0">
                <a:solidFill>
                  <a:srgbClr val="FFFFFF"/>
                </a:solidFill>
                <a:latin typeface="Times New Roman"/>
                <a:cs typeface="Times New Roman"/>
              </a:rPr>
              <a:t>transaction </a:t>
            </a:r>
            <a:r>
              <a:rPr sz="2400" dirty="0">
                <a:solidFill>
                  <a:srgbClr val="FFFFFF"/>
                </a:solidFill>
                <a:latin typeface="Times New Roman"/>
                <a:cs typeface="Times New Roman"/>
              </a:rPr>
              <a:t>processing rather </a:t>
            </a:r>
            <a:r>
              <a:rPr sz="2400" spc="-5" dirty="0">
                <a:solidFill>
                  <a:srgbClr val="FFFFFF"/>
                </a:solidFill>
                <a:latin typeface="Times New Roman"/>
                <a:cs typeface="Times New Roman"/>
              </a:rPr>
              <a:t>than analytical </a:t>
            </a:r>
            <a:r>
              <a:rPr sz="2400" spc="-585" dirty="0">
                <a:solidFill>
                  <a:srgbClr val="FFFFFF"/>
                </a:solidFill>
                <a:latin typeface="Times New Roman"/>
                <a:cs typeface="Times New Roman"/>
              </a:rPr>
              <a:t> </a:t>
            </a:r>
            <a:r>
              <a:rPr sz="2400" dirty="0">
                <a:solidFill>
                  <a:srgbClr val="FFFFFF"/>
                </a:solidFill>
                <a:latin typeface="Times New Roman"/>
                <a:cs typeface="Times New Roman"/>
              </a:rPr>
              <a:t>processing.</a:t>
            </a:r>
            <a:endParaRPr sz="2400">
              <a:latin typeface="Times New Roman"/>
              <a:cs typeface="Times New Roman"/>
            </a:endParaRPr>
          </a:p>
          <a:p>
            <a:pPr marL="184150" marR="5080" indent="-172085" algn="just">
              <a:lnSpc>
                <a:spcPct val="120300"/>
              </a:lnSpc>
              <a:spcBef>
                <a:spcPts val="560"/>
              </a:spcBef>
              <a:buSzPct val="125000"/>
              <a:buFont typeface="Arial MT"/>
              <a:buChar char="•"/>
              <a:tabLst>
                <a:tab pos="184785" algn="l"/>
              </a:tabLst>
            </a:pPr>
            <a:r>
              <a:rPr sz="2400" spc="-5" dirty="0">
                <a:solidFill>
                  <a:srgbClr val="FFFFFF"/>
                </a:solidFill>
                <a:latin typeface="Times New Roman"/>
                <a:cs typeface="Times New Roman"/>
              </a:rPr>
              <a:t>OLTP </a:t>
            </a:r>
            <a:r>
              <a:rPr sz="2400" dirty="0">
                <a:solidFill>
                  <a:srgbClr val="FFFFFF"/>
                </a:solidFill>
                <a:latin typeface="Times New Roman"/>
                <a:cs typeface="Times New Roman"/>
              </a:rPr>
              <a:t>databases </a:t>
            </a:r>
            <a:r>
              <a:rPr sz="2400" spc="-5" dirty="0">
                <a:solidFill>
                  <a:srgbClr val="FFFFFF"/>
                </a:solidFill>
                <a:latin typeface="Times New Roman"/>
                <a:cs typeface="Times New Roman"/>
              </a:rPr>
              <a:t>are </a:t>
            </a:r>
            <a:r>
              <a:rPr sz="2400" dirty="0">
                <a:solidFill>
                  <a:srgbClr val="FFFFFF"/>
                </a:solidFill>
                <a:latin typeface="Times New Roman"/>
                <a:cs typeface="Times New Roman"/>
              </a:rPr>
              <a:t>designed </a:t>
            </a:r>
            <a:r>
              <a:rPr sz="2400" spc="-5" dirty="0">
                <a:solidFill>
                  <a:srgbClr val="FFFFFF"/>
                </a:solidFill>
                <a:latin typeface="Times New Roman"/>
                <a:cs typeface="Times New Roman"/>
              </a:rPr>
              <a:t>to store current and </a:t>
            </a:r>
            <a:r>
              <a:rPr sz="2400" dirty="0">
                <a:solidFill>
                  <a:srgbClr val="FFFFFF"/>
                </a:solidFill>
                <a:latin typeface="Times New Roman"/>
                <a:cs typeface="Times New Roman"/>
              </a:rPr>
              <a:t>frequently </a:t>
            </a:r>
            <a:r>
              <a:rPr sz="2400" spc="-5" dirty="0">
                <a:solidFill>
                  <a:srgbClr val="FFFFFF"/>
                </a:solidFill>
                <a:latin typeface="Times New Roman"/>
                <a:cs typeface="Times New Roman"/>
              </a:rPr>
              <a:t>changing </a:t>
            </a:r>
            <a:r>
              <a:rPr sz="2400" dirty="0">
                <a:solidFill>
                  <a:srgbClr val="FFFFFF"/>
                </a:solidFill>
                <a:latin typeface="Times New Roman"/>
                <a:cs typeface="Times New Roman"/>
              </a:rPr>
              <a:t>data, </a:t>
            </a:r>
            <a:r>
              <a:rPr sz="2400" spc="5" dirty="0">
                <a:solidFill>
                  <a:srgbClr val="FFFFFF"/>
                </a:solidFill>
                <a:latin typeface="Times New Roman"/>
                <a:cs typeface="Times New Roman"/>
              </a:rPr>
              <a:t> </a:t>
            </a:r>
            <a:r>
              <a:rPr sz="2400" spc="-5" dirty="0">
                <a:solidFill>
                  <a:srgbClr val="FFFFFF"/>
                </a:solidFill>
                <a:latin typeface="Times New Roman"/>
                <a:cs typeface="Times New Roman"/>
              </a:rPr>
              <a:t>while </a:t>
            </a:r>
            <a:r>
              <a:rPr sz="2400" dirty="0">
                <a:solidFill>
                  <a:srgbClr val="FFFFFF"/>
                </a:solidFill>
                <a:latin typeface="Times New Roman"/>
                <a:cs typeface="Times New Roman"/>
              </a:rPr>
              <a:t>historical data </a:t>
            </a:r>
            <a:r>
              <a:rPr sz="2400" spc="-5" dirty="0">
                <a:solidFill>
                  <a:srgbClr val="FFFFFF"/>
                </a:solidFill>
                <a:latin typeface="Times New Roman"/>
                <a:cs typeface="Times New Roman"/>
              </a:rPr>
              <a:t>is typically stored in </a:t>
            </a:r>
            <a:r>
              <a:rPr sz="2400" dirty="0">
                <a:solidFill>
                  <a:srgbClr val="FFFFFF"/>
                </a:solidFill>
                <a:latin typeface="Times New Roman"/>
                <a:cs typeface="Times New Roman"/>
              </a:rPr>
              <a:t>a </a:t>
            </a:r>
            <a:r>
              <a:rPr sz="2400" spc="-5" dirty="0">
                <a:solidFill>
                  <a:srgbClr val="FFFFFF"/>
                </a:solidFill>
                <a:latin typeface="Times New Roman"/>
                <a:cs typeface="Times New Roman"/>
              </a:rPr>
              <a:t>separate </a:t>
            </a:r>
            <a:r>
              <a:rPr sz="2400" dirty="0">
                <a:solidFill>
                  <a:srgbClr val="FFFFFF"/>
                </a:solidFill>
                <a:latin typeface="Times New Roman"/>
                <a:cs typeface="Times New Roman"/>
              </a:rPr>
              <a:t>database for </a:t>
            </a:r>
            <a:r>
              <a:rPr sz="2400" spc="-5" dirty="0">
                <a:solidFill>
                  <a:srgbClr val="FFFFFF"/>
                </a:solidFill>
                <a:latin typeface="Times New Roman"/>
                <a:cs typeface="Times New Roman"/>
              </a:rPr>
              <a:t>analysis </a:t>
            </a:r>
            <a:r>
              <a:rPr sz="2400" dirty="0">
                <a:solidFill>
                  <a:srgbClr val="FFFFFF"/>
                </a:solidFill>
                <a:latin typeface="Times New Roman"/>
                <a:cs typeface="Times New Roman"/>
              </a:rPr>
              <a:t> purposes.</a:t>
            </a:r>
            <a:endParaRPr sz="2400">
              <a:latin typeface="Times New Roman"/>
              <a:cs typeface="Times New Roman"/>
            </a:endParaRPr>
          </a:p>
          <a:p>
            <a:pPr marL="184150" marR="6350" indent="-172085" algn="just">
              <a:lnSpc>
                <a:spcPct val="120700"/>
              </a:lnSpc>
              <a:spcBef>
                <a:spcPts val="805"/>
              </a:spcBef>
              <a:buSzPct val="125000"/>
              <a:buFont typeface="Arial MT"/>
              <a:buChar char="•"/>
              <a:tabLst>
                <a:tab pos="184785" algn="l"/>
              </a:tabLst>
            </a:pPr>
            <a:r>
              <a:rPr sz="2400" spc="-5" dirty="0">
                <a:solidFill>
                  <a:srgbClr val="FFFFFF"/>
                </a:solidFill>
                <a:latin typeface="Times New Roman"/>
                <a:cs typeface="Times New Roman"/>
              </a:rPr>
              <a:t>OLTP systems are widely </a:t>
            </a:r>
            <a:r>
              <a:rPr sz="2400" dirty="0">
                <a:solidFill>
                  <a:srgbClr val="FFFFFF"/>
                </a:solidFill>
                <a:latin typeface="Times New Roman"/>
                <a:cs typeface="Times New Roman"/>
              </a:rPr>
              <a:t>used </a:t>
            </a:r>
            <a:r>
              <a:rPr sz="2400" spc="-5" dirty="0">
                <a:solidFill>
                  <a:srgbClr val="FFFFFF"/>
                </a:solidFill>
                <a:latin typeface="Times New Roman"/>
                <a:cs typeface="Times New Roman"/>
              </a:rPr>
              <a:t>in </a:t>
            </a:r>
            <a:r>
              <a:rPr sz="2400" dirty="0">
                <a:solidFill>
                  <a:srgbClr val="FFFFFF"/>
                </a:solidFill>
                <a:latin typeface="Times New Roman"/>
                <a:cs typeface="Times New Roman"/>
              </a:rPr>
              <a:t>various </a:t>
            </a:r>
            <a:r>
              <a:rPr sz="2400" spc="-5" dirty="0">
                <a:solidFill>
                  <a:srgbClr val="FFFFFF"/>
                </a:solidFill>
                <a:latin typeface="Times New Roman"/>
                <a:cs typeface="Times New Roman"/>
              </a:rPr>
              <a:t>industries, including </a:t>
            </a:r>
            <a:r>
              <a:rPr sz="2400" dirty="0">
                <a:solidFill>
                  <a:srgbClr val="FFFFFF"/>
                </a:solidFill>
                <a:latin typeface="Times New Roman"/>
                <a:cs typeface="Times New Roman"/>
              </a:rPr>
              <a:t>finance, retail, </a:t>
            </a:r>
            <a:r>
              <a:rPr sz="2400" spc="-585" dirty="0">
                <a:solidFill>
                  <a:srgbClr val="FFFFFF"/>
                </a:solidFill>
                <a:latin typeface="Times New Roman"/>
                <a:cs typeface="Times New Roman"/>
              </a:rPr>
              <a:t> </a:t>
            </a:r>
            <a:r>
              <a:rPr sz="2400" dirty="0">
                <a:solidFill>
                  <a:srgbClr val="FFFFFF"/>
                </a:solidFill>
                <a:latin typeface="Times New Roman"/>
                <a:cs typeface="Times New Roman"/>
              </a:rPr>
              <a:t>healthcare,</a:t>
            </a:r>
            <a:r>
              <a:rPr sz="2400" spc="-5" dirty="0">
                <a:solidFill>
                  <a:srgbClr val="FFFFFF"/>
                </a:solidFill>
                <a:latin typeface="Times New Roman"/>
                <a:cs typeface="Times New Roman"/>
              </a:rPr>
              <a:t> and </a:t>
            </a:r>
            <a:r>
              <a:rPr sz="2400" dirty="0">
                <a:solidFill>
                  <a:srgbClr val="FFFFFF"/>
                </a:solidFill>
                <a:latin typeface="Times New Roman"/>
                <a:cs typeface="Times New Roman"/>
              </a:rPr>
              <a:t>government.</a:t>
            </a:r>
            <a:endParaRPr sz="2400">
              <a:latin typeface="Times New Roman"/>
              <a:cs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6559550" cy="574040"/>
          </a:xfrm>
          <a:prstGeom prst="rect">
            <a:avLst/>
          </a:prstGeom>
        </p:spPr>
        <p:txBody>
          <a:bodyPr vert="horz" wrap="square" lIns="0" tIns="12700" rIns="0" bIns="0" rtlCol="0">
            <a:spAutoFit/>
          </a:bodyPr>
          <a:lstStyle/>
          <a:p>
            <a:pPr marL="12700">
              <a:lnSpc>
                <a:spcPct val="100000"/>
              </a:lnSpc>
              <a:spcBef>
                <a:spcPts val="100"/>
              </a:spcBef>
            </a:pPr>
            <a:r>
              <a:rPr spc="-10" dirty="0"/>
              <a:t>EXAMPLES</a:t>
            </a:r>
            <a:r>
              <a:rPr spc="-35" dirty="0"/>
              <a:t> </a:t>
            </a:r>
            <a:r>
              <a:rPr spc="-5" dirty="0"/>
              <a:t>OF</a:t>
            </a:r>
            <a:r>
              <a:rPr spc="-30" dirty="0"/>
              <a:t> </a:t>
            </a:r>
            <a:r>
              <a:rPr spc="-5" dirty="0"/>
              <a:t>OLTP</a:t>
            </a:r>
            <a:r>
              <a:rPr spc="-30" dirty="0"/>
              <a:t> </a:t>
            </a:r>
            <a:r>
              <a:rPr spc="-5" dirty="0"/>
              <a:t>SYSTEMS</a:t>
            </a:r>
          </a:p>
        </p:txBody>
      </p:sp>
      <p:sp>
        <p:nvSpPr>
          <p:cNvPr id="3" name="object 3"/>
          <p:cNvSpPr txBox="1"/>
          <p:nvPr/>
        </p:nvSpPr>
        <p:spPr>
          <a:xfrm>
            <a:off x="1271549" y="2148902"/>
            <a:ext cx="9683115" cy="2405380"/>
          </a:xfrm>
          <a:prstGeom prst="rect">
            <a:avLst/>
          </a:prstGeom>
        </p:spPr>
        <p:txBody>
          <a:bodyPr vert="horz" wrap="square" lIns="0" tIns="123189" rIns="0" bIns="0" rtlCol="0">
            <a:spAutoFit/>
          </a:bodyPr>
          <a:lstStyle/>
          <a:p>
            <a:pPr marL="184150" indent="-172085">
              <a:lnSpc>
                <a:spcPct val="100000"/>
              </a:lnSpc>
              <a:spcBef>
                <a:spcPts val="969"/>
              </a:spcBef>
              <a:buSzPct val="125000"/>
              <a:buFont typeface="Arial MT"/>
              <a:buChar char="•"/>
              <a:tabLst>
                <a:tab pos="184785" algn="l"/>
              </a:tabLst>
            </a:pPr>
            <a:r>
              <a:rPr sz="2400" spc="-5" dirty="0">
                <a:solidFill>
                  <a:srgbClr val="FFFFFF"/>
                </a:solidFill>
                <a:latin typeface="Times New Roman"/>
                <a:cs typeface="Times New Roman"/>
              </a:rPr>
              <a:t>ATMs,</a:t>
            </a:r>
            <a:r>
              <a:rPr sz="2400" spc="-15" dirty="0">
                <a:solidFill>
                  <a:srgbClr val="FFFFFF"/>
                </a:solidFill>
                <a:latin typeface="Times New Roman"/>
                <a:cs typeface="Times New Roman"/>
              </a:rPr>
              <a:t> </a:t>
            </a:r>
            <a:r>
              <a:rPr sz="2400" dirty="0">
                <a:solidFill>
                  <a:srgbClr val="FFFFFF"/>
                </a:solidFill>
                <a:latin typeface="Times New Roman"/>
                <a:cs typeface="Times New Roman"/>
              </a:rPr>
              <a:t>financial</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transaction</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systems</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and</a:t>
            </a:r>
            <a:r>
              <a:rPr sz="2400" spc="-15" dirty="0">
                <a:solidFill>
                  <a:srgbClr val="FFFFFF"/>
                </a:solidFill>
                <a:latin typeface="Times New Roman"/>
                <a:cs typeface="Times New Roman"/>
              </a:rPr>
              <a:t> </a:t>
            </a:r>
            <a:r>
              <a:rPr sz="2400" dirty="0">
                <a:solidFill>
                  <a:srgbClr val="FFFFFF"/>
                </a:solidFill>
                <a:latin typeface="Times New Roman"/>
                <a:cs typeface="Times New Roman"/>
              </a:rPr>
              <a:t>online</a:t>
            </a:r>
            <a:r>
              <a:rPr sz="2400" spc="-10" dirty="0">
                <a:solidFill>
                  <a:srgbClr val="FFFFFF"/>
                </a:solidFill>
                <a:latin typeface="Times New Roman"/>
                <a:cs typeface="Times New Roman"/>
              </a:rPr>
              <a:t> </a:t>
            </a:r>
            <a:r>
              <a:rPr sz="2400" dirty="0">
                <a:solidFill>
                  <a:srgbClr val="FFFFFF"/>
                </a:solidFill>
                <a:latin typeface="Times New Roman"/>
                <a:cs typeface="Times New Roman"/>
              </a:rPr>
              <a:t>banking</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applications;</a:t>
            </a:r>
            <a:endParaRPr sz="2400">
              <a:latin typeface="Times New Roman"/>
              <a:cs typeface="Times New Roman"/>
            </a:endParaRPr>
          </a:p>
          <a:p>
            <a:pPr marL="184150" indent="-172085">
              <a:lnSpc>
                <a:spcPct val="100000"/>
              </a:lnSpc>
              <a:spcBef>
                <a:spcPts val="1720"/>
              </a:spcBef>
              <a:buSzPct val="125000"/>
              <a:buFont typeface="Arial MT"/>
              <a:buChar char="•"/>
              <a:tabLst>
                <a:tab pos="184785" algn="l"/>
              </a:tabLst>
            </a:pPr>
            <a:r>
              <a:rPr sz="2400" dirty="0">
                <a:solidFill>
                  <a:srgbClr val="FFFFFF"/>
                </a:solidFill>
                <a:latin typeface="Times New Roman"/>
                <a:cs typeface="Times New Roman"/>
              </a:rPr>
              <a:t>online</a:t>
            </a:r>
            <a:r>
              <a:rPr sz="2400" spc="-15" dirty="0">
                <a:solidFill>
                  <a:srgbClr val="FFFFFF"/>
                </a:solidFill>
                <a:latin typeface="Times New Roman"/>
                <a:cs typeface="Times New Roman"/>
              </a:rPr>
              <a:t> </a:t>
            </a:r>
            <a:r>
              <a:rPr sz="2400" dirty="0">
                <a:solidFill>
                  <a:srgbClr val="FFFFFF"/>
                </a:solidFill>
                <a:latin typeface="Times New Roman"/>
                <a:cs typeface="Times New Roman"/>
              </a:rPr>
              <a:t>bookings,</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ticketing</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and</a:t>
            </a:r>
            <a:r>
              <a:rPr sz="2400" spc="-20" dirty="0">
                <a:solidFill>
                  <a:srgbClr val="FFFFFF"/>
                </a:solidFill>
                <a:latin typeface="Times New Roman"/>
                <a:cs typeface="Times New Roman"/>
              </a:rPr>
              <a:t> </a:t>
            </a:r>
            <a:r>
              <a:rPr sz="2400" dirty="0">
                <a:solidFill>
                  <a:srgbClr val="FFFFFF"/>
                </a:solidFill>
                <a:latin typeface="Times New Roman"/>
                <a:cs typeface="Times New Roman"/>
              </a:rPr>
              <a:t>reservation</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systems;</a:t>
            </a:r>
            <a:r>
              <a:rPr sz="2400" spc="-15" dirty="0">
                <a:solidFill>
                  <a:srgbClr val="FFFFFF"/>
                </a:solidFill>
                <a:latin typeface="Times New Roman"/>
                <a:cs typeface="Times New Roman"/>
              </a:rPr>
              <a:t> </a:t>
            </a:r>
            <a:r>
              <a:rPr sz="2400" spc="-5" dirty="0">
                <a:solidFill>
                  <a:srgbClr val="FFFFFF"/>
                </a:solidFill>
                <a:latin typeface="Times New Roman"/>
                <a:cs typeface="Times New Roman"/>
              </a:rPr>
              <a:t>and</a:t>
            </a:r>
            <a:endParaRPr sz="2400">
              <a:latin typeface="Times New Roman"/>
              <a:cs typeface="Times New Roman"/>
            </a:endParaRPr>
          </a:p>
          <a:p>
            <a:pPr marL="184150" marR="5080" indent="-172085">
              <a:lnSpc>
                <a:spcPct val="120700"/>
              </a:lnSpc>
              <a:spcBef>
                <a:spcPts val="975"/>
              </a:spcBef>
              <a:buSzPct val="125000"/>
              <a:buFont typeface="Arial MT"/>
              <a:buChar char="•"/>
              <a:tabLst>
                <a:tab pos="184785" algn="l"/>
                <a:tab pos="2078355" algn="l"/>
                <a:tab pos="3771900" algn="l"/>
                <a:tab pos="4481195" algn="l"/>
                <a:tab pos="4885055" algn="l"/>
                <a:tab pos="5781040" algn="l"/>
                <a:tab pos="6905625" algn="l"/>
                <a:tab pos="8220075" algn="l"/>
                <a:tab pos="9230995" algn="l"/>
              </a:tabLst>
            </a:pPr>
            <a:r>
              <a:rPr sz="2400" dirty="0">
                <a:solidFill>
                  <a:srgbClr val="FFFFFF"/>
                </a:solidFill>
                <a:latin typeface="Times New Roman"/>
                <a:cs typeface="Times New Roman"/>
              </a:rPr>
              <a:t>recordkeeping	</a:t>
            </a:r>
            <a:r>
              <a:rPr sz="2400" spc="-5" dirty="0">
                <a:solidFill>
                  <a:srgbClr val="FFFFFF"/>
                </a:solidFill>
                <a:latin typeface="Times New Roman"/>
                <a:cs typeface="Times New Roman"/>
              </a:rPr>
              <a:t>applications</a:t>
            </a:r>
            <a:r>
              <a:rPr sz="2400" dirty="0">
                <a:solidFill>
                  <a:srgbClr val="FFFFFF"/>
                </a:solidFill>
                <a:latin typeface="Times New Roman"/>
                <a:cs typeface="Times New Roman"/>
              </a:rPr>
              <a:t>,	</a:t>
            </a:r>
            <a:r>
              <a:rPr sz="2400" spc="-5" dirty="0">
                <a:solidFill>
                  <a:srgbClr val="FFFFFF"/>
                </a:solidFill>
                <a:latin typeface="Times New Roman"/>
                <a:cs typeface="Times New Roman"/>
              </a:rPr>
              <a:t>suc</a:t>
            </a:r>
            <a:r>
              <a:rPr sz="2400" dirty="0">
                <a:solidFill>
                  <a:srgbClr val="FFFFFF"/>
                </a:solidFill>
                <a:latin typeface="Times New Roman"/>
                <a:cs typeface="Times New Roman"/>
              </a:rPr>
              <a:t>h	</a:t>
            </a:r>
            <a:r>
              <a:rPr sz="2400" spc="-5" dirty="0">
                <a:solidFill>
                  <a:srgbClr val="FFFFFF"/>
                </a:solidFill>
                <a:latin typeface="Times New Roman"/>
                <a:cs typeface="Times New Roman"/>
              </a:rPr>
              <a:t>a</a:t>
            </a:r>
            <a:r>
              <a:rPr sz="2400" dirty="0">
                <a:solidFill>
                  <a:srgbClr val="FFFFFF"/>
                </a:solidFill>
                <a:latin typeface="Times New Roman"/>
                <a:cs typeface="Times New Roman"/>
              </a:rPr>
              <a:t>s	health	records,	</a:t>
            </a:r>
            <a:r>
              <a:rPr sz="2400" spc="-5" dirty="0">
                <a:solidFill>
                  <a:srgbClr val="FFFFFF"/>
                </a:solidFill>
                <a:latin typeface="Times New Roman"/>
                <a:cs typeface="Times New Roman"/>
              </a:rPr>
              <a:t>inventor</a:t>
            </a:r>
            <a:r>
              <a:rPr sz="2400" dirty="0">
                <a:solidFill>
                  <a:srgbClr val="FFFFFF"/>
                </a:solidFill>
                <a:latin typeface="Times New Roman"/>
                <a:cs typeface="Times New Roman"/>
              </a:rPr>
              <a:t>y	</a:t>
            </a:r>
            <a:r>
              <a:rPr sz="2400" spc="-5" dirty="0">
                <a:solidFill>
                  <a:srgbClr val="FFFFFF"/>
                </a:solidFill>
                <a:latin typeface="Times New Roman"/>
                <a:cs typeface="Times New Roman"/>
              </a:rPr>
              <a:t>contro</a:t>
            </a:r>
            <a:r>
              <a:rPr sz="2400" dirty="0">
                <a:solidFill>
                  <a:srgbClr val="FFFFFF"/>
                </a:solidFill>
                <a:latin typeface="Times New Roman"/>
                <a:cs typeface="Times New Roman"/>
              </a:rPr>
              <a:t>l	</a:t>
            </a:r>
            <a:r>
              <a:rPr sz="2400" spc="-5" dirty="0">
                <a:solidFill>
                  <a:srgbClr val="FFFFFF"/>
                </a:solidFill>
                <a:latin typeface="Times New Roman"/>
                <a:cs typeface="Times New Roman"/>
              </a:rPr>
              <a:t>and  </a:t>
            </a:r>
            <a:r>
              <a:rPr sz="2400" dirty="0">
                <a:solidFill>
                  <a:srgbClr val="FFFFFF"/>
                </a:solidFill>
                <a:latin typeface="Times New Roman"/>
                <a:cs typeface="Times New Roman"/>
              </a:rPr>
              <a:t>production</a:t>
            </a:r>
            <a:r>
              <a:rPr sz="2400" spc="-5" dirty="0">
                <a:solidFill>
                  <a:srgbClr val="FFFFFF"/>
                </a:solidFill>
                <a:latin typeface="Times New Roman"/>
                <a:cs typeface="Times New Roman"/>
              </a:rPr>
              <a:t> scheduling.</a:t>
            </a:r>
            <a:endParaRPr sz="2400">
              <a:latin typeface="Times New Roman"/>
              <a:cs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8" y="1036035"/>
            <a:ext cx="8481060" cy="574040"/>
          </a:xfrm>
          <a:prstGeom prst="rect">
            <a:avLst/>
          </a:prstGeom>
        </p:spPr>
        <p:txBody>
          <a:bodyPr vert="horz" wrap="square" lIns="0" tIns="12700" rIns="0" bIns="0" rtlCol="0">
            <a:spAutoFit/>
          </a:bodyPr>
          <a:lstStyle/>
          <a:p>
            <a:pPr marL="12700">
              <a:lnSpc>
                <a:spcPct val="100000"/>
              </a:lnSpc>
              <a:spcBef>
                <a:spcPts val="100"/>
              </a:spcBef>
            </a:pPr>
            <a:r>
              <a:rPr spc="-5" dirty="0"/>
              <a:t>DATA</a:t>
            </a:r>
            <a:r>
              <a:rPr spc="-25" dirty="0"/>
              <a:t> </a:t>
            </a:r>
            <a:r>
              <a:rPr spc="-5" dirty="0"/>
              <a:t>MINING</a:t>
            </a:r>
            <a:r>
              <a:rPr spc="-25" dirty="0"/>
              <a:t> </a:t>
            </a:r>
            <a:r>
              <a:rPr spc="-5" dirty="0"/>
              <a:t>FOR</a:t>
            </a:r>
            <a:r>
              <a:rPr spc="-25" dirty="0"/>
              <a:t> </a:t>
            </a:r>
            <a:r>
              <a:rPr spc="-5" dirty="0"/>
              <a:t>DECISION</a:t>
            </a:r>
            <a:r>
              <a:rPr spc="-25" dirty="0"/>
              <a:t> </a:t>
            </a:r>
            <a:r>
              <a:rPr spc="-5" dirty="0"/>
              <a:t>SUPPORT</a:t>
            </a:r>
          </a:p>
        </p:txBody>
      </p:sp>
      <p:sp>
        <p:nvSpPr>
          <p:cNvPr id="3" name="object 3"/>
          <p:cNvSpPr txBox="1"/>
          <p:nvPr/>
        </p:nvSpPr>
        <p:spPr>
          <a:xfrm>
            <a:off x="1271549" y="2148902"/>
            <a:ext cx="9686290" cy="2844165"/>
          </a:xfrm>
          <a:prstGeom prst="rect">
            <a:avLst/>
          </a:prstGeom>
        </p:spPr>
        <p:txBody>
          <a:bodyPr vert="horz" wrap="square" lIns="0" tIns="123189" rIns="0" bIns="0" rtlCol="0">
            <a:spAutoFit/>
          </a:bodyPr>
          <a:lstStyle/>
          <a:p>
            <a:pPr marL="184150" indent="-172085">
              <a:lnSpc>
                <a:spcPct val="100000"/>
              </a:lnSpc>
              <a:spcBef>
                <a:spcPts val="969"/>
              </a:spcBef>
              <a:buSzPct val="125000"/>
              <a:buFont typeface="Arial MT"/>
              <a:buChar char="•"/>
              <a:tabLst>
                <a:tab pos="184785" algn="l"/>
              </a:tabLst>
            </a:pPr>
            <a:r>
              <a:rPr sz="2400" dirty="0">
                <a:solidFill>
                  <a:srgbClr val="FFFFFF"/>
                </a:solidFill>
                <a:latin typeface="Times New Roman"/>
                <a:cs typeface="Times New Roman"/>
              </a:rPr>
              <a:t>In</a:t>
            </a:r>
            <a:r>
              <a:rPr sz="2400" spc="-10" dirty="0">
                <a:solidFill>
                  <a:srgbClr val="FFFFFF"/>
                </a:solidFill>
                <a:latin typeface="Times New Roman"/>
                <a:cs typeface="Times New Roman"/>
              </a:rPr>
              <a:t> </a:t>
            </a:r>
            <a:r>
              <a:rPr sz="2400" dirty="0">
                <a:solidFill>
                  <a:srgbClr val="FFFFFF"/>
                </a:solidFill>
                <a:latin typeface="Times New Roman"/>
                <a:cs typeface="Times New Roman"/>
              </a:rPr>
              <a:t>order</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to</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make</a:t>
            </a:r>
            <a:r>
              <a:rPr sz="2400" spc="-15" dirty="0">
                <a:solidFill>
                  <a:srgbClr val="FFFFFF"/>
                </a:solidFill>
                <a:latin typeface="Times New Roman"/>
                <a:cs typeface="Times New Roman"/>
              </a:rPr>
              <a:t> </a:t>
            </a:r>
            <a:r>
              <a:rPr sz="2400" dirty="0">
                <a:solidFill>
                  <a:srgbClr val="FFFFFF"/>
                </a:solidFill>
                <a:latin typeface="Times New Roman"/>
                <a:cs typeface="Times New Roman"/>
              </a:rPr>
              <a:t>a</a:t>
            </a:r>
            <a:r>
              <a:rPr sz="2400" spc="-10" dirty="0">
                <a:solidFill>
                  <a:srgbClr val="FFFFFF"/>
                </a:solidFill>
                <a:latin typeface="Times New Roman"/>
                <a:cs typeface="Times New Roman"/>
              </a:rPr>
              <a:t> </a:t>
            </a:r>
            <a:r>
              <a:rPr sz="2400" dirty="0">
                <a:solidFill>
                  <a:srgbClr val="FFFFFF"/>
                </a:solidFill>
                <a:latin typeface="Times New Roman"/>
                <a:cs typeface="Times New Roman"/>
              </a:rPr>
              <a:t>decision,</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the</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managers</a:t>
            </a:r>
            <a:r>
              <a:rPr sz="2400" spc="-15" dirty="0">
                <a:solidFill>
                  <a:srgbClr val="FFFFFF"/>
                </a:solidFill>
                <a:latin typeface="Times New Roman"/>
                <a:cs typeface="Times New Roman"/>
              </a:rPr>
              <a:t> </a:t>
            </a:r>
            <a:r>
              <a:rPr sz="2400" dirty="0">
                <a:solidFill>
                  <a:srgbClr val="FFFFFF"/>
                </a:solidFill>
                <a:latin typeface="Times New Roman"/>
                <a:cs typeface="Times New Roman"/>
              </a:rPr>
              <a:t>need</a:t>
            </a:r>
            <a:r>
              <a:rPr sz="2400" spc="-5" dirty="0">
                <a:solidFill>
                  <a:srgbClr val="FFFFFF"/>
                </a:solidFill>
                <a:latin typeface="Times New Roman"/>
                <a:cs typeface="Times New Roman"/>
              </a:rPr>
              <a:t> </a:t>
            </a:r>
            <a:r>
              <a:rPr sz="2400" dirty="0">
                <a:solidFill>
                  <a:srgbClr val="FFFFFF"/>
                </a:solidFill>
                <a:latin typeface="Times New Roman"/>
                <a:cs typeface="Times New Roman"/>
              </a:rPr>
              <a:t>knowledge.</a:t>
            </a:r>
            <a:endParaRPr sz="2400">
              <a:latin typeface="Times New Roman"/>
              <a:cs typeface="Times New Roman"/>
            </a:endParaRPr>
          </a:p>
          <a:p>
            <a:pPr marL="184150" marR="6985" indent="-172085">
              <a:lnSpc>
                <a:spcPct val="120700"/>
              </a:lnSpc>
              <a:spcBef>
                <a:spcPts val="975"/>
              </a:spcBef>
              <a:buSzPct val="125000"/>
              <a:buFont typeface="Arial MT"/>
              <a:buChar char="•"/>
              <a:tabLst>
                <a:tab pos="184785" algn="l"/>
              </a:tabLst>
            </a:pPr>
            <a:r>
              <a:rPr sz="2400" dirty="0">
                <a:solidFill>
                  <a:srgbClr val="FFFFFF"/>
                </a:solidFill>
                <a:latin typeface="Times New Roman"/>
                <a:cs typeface="Times New Roman"/>
              </a:rPr>
              <a:t>In</a:t>
            </a:r>
            <a:r>
              <a:rPr sz="2400" spc="200" dirty="0">
                <a:solidFill>
                  <a:srgbClr val="FFFFFF"/>
                </a:solidFill>
                <a:latin typeface="Times New Roman"/>
                <a:cs typeface="Times New Roman"/>
              </a:rPr>
              <a:t> </a:t>
            </a:r>
            <a:r>
              <a:rPr sz="2400" spc="-5" dirty="0">
                <a:solidFill>
                  <a:srgbClr val="FFFFFF"/>
                </a:solidFill>
                <a:latin typeface="Times New Roman"/>
                <a:cs typeface="Times New Roman"/>
              </a:rPr>
              <a:t>case</a:t>
            </a:r>
            <a:r>
              <a:rPr sz="2400" spc="200" dirty="0">
                <a:solidFill>
                  <a:srgbClr val="FFFFFF"/>
                </a:solidFill>
                <a:latin typeface="Times New Roman"/>
                <a:cs typeface="Times New Roman"/>
              </a:rPr>
              <a:t> </a:t>
            </a:r>
            <a:r>
              <a:rPr sz="2400" dirty="0">
                <a:solidFill>
                  <a:srgbClr val="FFFFFF"/>
                </a:solidFill>
                <a:latin typeface="Times New Roman"/>
                <a:cs typeface="Times New Roman"/>
              </a:rPr>
              <a:t>of</a:t>
            </a:r>
            <a:r>
              <a:rPr sz="2400" spc="204" dirty="0">
                <a:solidFill>
                  <a:srgbClr val="FFFFFF"/>
                </a:solidFill>
                <a:latin typeface="Times New Roman"/>
                <a:cs typeface="Times New Roman"/>
              </a:rPr>
              <a:t> </a:t>
            </a:r>
            <a:r>
              <a:rPr sz="2400" spc="-5" dirty="0">
                <a:solidFill>
                  <a:srgbClr val="FFFFFF"/>
                </a:solidFill>
                <a:latin typeface="Times New Roman"/>
                <a:cs typeface="Times New Roman"/>
              </a:rPr>
              <a:t>massive</a:t>
            </a:r>
            <a:r>
              <a:rPr sz="2400" spc="200" dirty="0">
                <a:solidFill>
                  <a:srgbClr val="FFFFFF"/>
                </a:solidFill>
                <a:latin typeface="Times New Roman"/>
                <a:cs typeface="Times New Roman"/>
              </a:rPr>
              <a:t> </a:t>
            </a:r>
            <a:r>
              <a:rPr sz="2400" dirty="0">
                <a:solidFill>
                  <a:srgbClr val="FFFFFF"/>
                </a:solidFill>
                <a:latin typeface="Times New Roman"/>
                <a:cs typeface="Times New Roman"/>
              </a:rPr>
              <a:t>data</a:t>
            </a:r>
            <a:r>
              <a:rPr sz="2400" spc="200" dirty="0">
                <a:solidFill>
                  <a:srgbClr val="FFFFFF"/>
                </a:solidFill>
                <a:latin typeface="Times New Roman"/>
                <a:cs typeface="Times New Roman"/>
              </a:rPr>
              <a:t> </a:t>
            </a:r>
            <a:r>
              <a:rPr sz="2400" spc="-5" dirty="0">
                <a:solidFill>
                  <a:srgbClr val="FFFFFF"/>
                </a:solidFill>
                <a:latin typeface="Times New Roman"/>
                <a:cs typeface="Times New Roman"/>
              </a:rPr>
              <a:t>amounts,</a:t>
            </a:r>
            <a:r>
              <a:rPr sz="2400" spc="200" dirty="0">
                <a:solidFill>
                  <a:srgbClr val="FFFFFF"/>
                </a:solidFill>
                <a:latin typeface="Times New Roman"/>
                <a:cs typeface="Times New Roman"/>
              </a:rPr>
              <a:t> </a:t>
            </a:r>
            <a:r>
              <a:rPr sz="2400" spc="-5" dirty="0">
                <a:solidFill>
                  <a:srgbClr val="FFFFFF"/>
                </a:solidFill>
                <a:latin typeface="Times New Roman"/>
                <a:cs typeface="Times New Roman"/>
              </a:rPr>
              <a:t>issues</a:t>
            </a:r>
            <a:r>
              <a:rPr sz="2400" spc="200" dirty="0">
                <a:solidFill>
                  <a:srgbClr val="FFFFFF"/>
                </a:solidFill>
                <a:latin typeface="Times New Roman"/>
                <a:cs typeface="Times New Roman"/>
              </a:rPr>
              <a:t> </a:t>
            </a:r>
            <a:r>
              <a:rPr sz="2400" spc="-5" dirty="0">
                <a:solidFill>
                  <a:srgbClr val="FFFFFF"/>
                </a:solidFill>
                <a:latin typeface="Times New Roman"/>
                <a:cs typeface="Times New Roman"/>
              </a:rPr>
              <a:t>may</a:t>
            </a:r>
            <a:r>
              <a:rPr sz="2400" spc="200" dirty="0">
                <a:solidFill>
                  <a:srgbClr val="FFFFFF"/>
                </a:solidFill>
                <a:latin typeface="Times New Roman"/>
                <a:cs typeface="Times New Roman"/>
              </a:rPr>
              <a:t> </a:t>
            </a:r>
            <a:r>
              <a:rPr sz="2400" dirty="0">
                <a:solidFill>
                  <a:srgbClr val="FFFFFF"/>
                </a:solidFill>
                <a:latin typeface="Times New Roman"/>
                <a:cs typeface="Times New Roman"/>
              </a:rPr>
              <a:t>occur</a:t>
            </a:r>
            <a:r>
              <a:rPr sz="2400" spc="200" dirty="0">
                <a:solidFill>
                  <a:srgbClr val="FFFFFF"/>
                </a:solidFill>
                <a:latin typeface="Times New Roman"/>
                <a:cs typeface="Times New Roman"/>
              </a:rPr>
              <a:t> </a:t>
            </a:r>
            <a:r>
              <a:rPr sz="2400" dirty="0">
                <a:solidFill>
                  <a:srgbClr val="FFFFFF"/>
                </a:solidFill>
                <a:latin typeface="Times New Roman"/>
                <a:cs typeface="Times New Roman"/>
              </a:rPr>
              <a:t>because</a:t>
            </a:r>
            <a:r>
              <a:rPr sz="2400" spc="204" dirty="0">
                <a:solidFill>
                  <a:srgbClr val="FFFFFF"/>
                </a:solidFill>
                <a:latin typeface="Times New Roman"/>
                <a:cs typeface="Times New Roman"/>
              </a:rPr>
              <a:t> </a:t>
            </a:r>
            <a:r>
              <a:rPr sz="2400" dirty="0">
                <a:solidFill>
                  <a:srgbClr val="FFFFFF"/>
                </a:solidFill>
                <a:latin typeface="Times New Roman"/>
                <a:cs typeface="Times New Roman"/>
              </a:rPr>
              <a:t>of</a:t>
            </a:r>
            <a:r>
              <a:rPr sz="2400" spc="204" dirty="0">
                <a:solidFill>
                  <a:srgbClr val="FFFFFF"/>
                </a:solidFill>
                <a:latin typeface="Times New Roman"/>
                <a:cs typeface="Times New Roman"/>
              </a:rPr>
              <a:t> </a:t>
            </a:r>
            <a:r>
              <a:rPr sz="2400" dirty="0">
                <a:solidFill>
                  <a:srgbClr val="FFFFFF"/>
                </a:solidFill>
                <a:latin typeface="Times New Roman"/>
                <a:cs typeface="Times New Roman"/>
              </a:rPr>
              <a:t>data</a:t>
            </a:r>
            <a:r>
              <a:rPr sz="2400" spc="204" dirty="0">
                <a:solidFill>
                  <a:srgbClr val="FFFFFF"/>
                </a:solidFill>
                <a:latin typeface="Times New Roman"/>
                <a:cs typeface="Times New Roman"/>
              </a:rPr>
              <a:t> </a:t>
            </a:r>
            <a:r>
              <a:rPr sz="2400" spc="-5" dirty="0">
                <a:solidFill>
                  <a:srgbClr val="FFFFFF"/>
                </a:solidFill>
                <a:latin typeface="Times New Roman"/>
                <a:cs typeface="Times New Roman"/>
              </a:rPr>
              <a:t>analysis </a:t>
            </a:r>
            <a:r>
              <a:rPr sz="2400" spc="-585" dirty="0">
                <a:solidFill>
                  <a:srgbClr val="FFFFFF"/>
                </a:solidFill>
                <a:latin typeface="Times New Roman"/>
                <a:cs typeface="Times New Roman"/>
              </a:rPr>
              <a:t> </a:t>
            </a:r>
            <a:r>
              <a:rPr sz="2400" spc="-5" dirty="0">
                <a:solidFill>
                  <a:srgbClr val="FFFFFF"/>
                </a:solidFill>
                <a:latin typeface="Times New Roman"/>
                <a:cs typeface="Times New Roman"/>
              </a:rPr>
              <a:t>and</a:t>
            </a:r>
            <a:r>
              <a:rPr sz="2400" spc="-10" dirty="0">
                <a:solidFill>
                  <a:srgbClr val="FFFFFF"/>
                </a:solidFill>
                <a:latin typeface="Times New Roman"/>
                <a:cs typeface="Times New Roman"/>
              </a:rPr>
              <a:t> </a:t>
            </a:r>
            <a:r>
              <a:rPr sz="2400" dirty="0">
                <a:solidFill>
                  <a:srgbClr val="FFFFFF"/>
                </a:solidFill>
                <a:latin typeface="Times New Roman"/>
                <a:cs typeface="Times New Roman"/>
              </a:rPr>
              <a:t>necessary knowledge </a:t>
            </a:r>
            <a:r>
              <a:rPr sz="2400" spc="-5" dirty="0">
                <a:solidFill>
                  <a:srgbClr val="FFFFFF"/>
                </a:solidFill>
                <a:latin typeface="Times New Roman"/>
                <a:cs typeface="Times New Roman"/>
              </a:rPr>
              <a:t>extract.</a:t>
            </a:r>
            <a:endParaRPr sz="2400">
              <a:latin typeface="Times New Roman"/>
              <a:cs typeface="Times New Roman"/>
            </a:endParaRPr>
          </a:p>
          <a:p>
            <a:pPr marL="184150" marR="5080" indent="-172085">
              <a:lnSpc>
                <a:spcPct val="120700"/>
              </a:lnSpc>
              <a:spcBef>
                <a:spcPts val="805"/>
              </a:spcBef>
              <a:buSzPct val="125000"/>
              <a:buFont typeface="Arial MT"/>
              <a:buChar char="•"/>
              <a:tabLst>
                <a:tab pos="184785" algn="l"/>
                <a:tab pos="942975" algn="l"/>
                <a:tab pos="1329690" algn="l"/>
                <a:tab pos="2593340" algn="l"/>
                <a:tab pos="3722370" algn="l"/>
                <a:tab pos="4193540" algn="l"/>
                <a:tab pos="5642610" algn="l"/>
                <a:tab pos="6817359" algn="l"/>
                <a:tab pos="7831455" algn="l"/>
                <a:tab pos="8268334" algn="l"/>
              </a:tabLst>
            </a:pPr>
            <a:r>
              <a:rPr sz="2400" spc="-5" dirty="0">
                <a:solidFill>
                  <a:srgbClr val="FFFFFF"/>
                </a:solidFill>
                <a:latin typeface="Times New Roman"/>
                <a:cs typeface="Times New Roman"/>
              </a:rPr>
              <a:t>Dat</a:t>
            </a:r>
            <a:r>
              <a:rPr sz="2400" dirty="0">
                <a:solidFill>
                  <a:srgbClr val="FFFFFF"/>
                </a:solidFill>
                <a:latin typeface="Times New Roman"/>
                <a:cs typeface="Times New Roman"/>
              </a:rPr>
              <a:t>a	</a:t>
            </a:r>
            <a:r>
              <a:rPr sz="2400" spc="-5" dirty="0">
                <a:solidFill>
                  <a:srgbClr val="FFFFFF"/>
                </a:solidFill>
                <a:latin typeface="Times New Roman"/>
                <a:cs typeface="Times New Roman"/>
              </a:rPr>
              <a:t>i</a:t>
            </a:r>
            <a:r>
              <a:rPr sz="2400" dirty="0">
                <a:solidFill>
                  <a:srgbClr val="FFFFFF"/>
                </a:solidFill>
                <a:latin typeface="Times New Roman"/>
                <a:cs typeface="Times New Roman"/>
              </a:rPr>
              <a:t>s	</a:t>
            </a:r>
            <a:r>
              <a:rPr sz="2400" spc="-5" dirty="0">
                <a:solidFill>
                  <a:srgbClr val="FFFFFF"/>
                </a:solidFill>
                <a:latin typeface="Times New Roman"/>
                <a:cs typeface="Times New Roman"/>
              </a:rPr>
              <a:t>analyze</a:t>
            </a:r>
            <a:r>
              <a:rPr sz="2400" dirty="0">
                <a:solidFill>
                  <a:srgbClr val="FFFFFF"/>
                </a:solidFill>
                <a:latin typeface="Times New Roman"/>
                <a:cs typeface="Times New Roman"/>
              </a:rPr>
              <a:t>d	</a:t>
            </a:r>
            <a:r>
              <a:rPr sz="2400" spc="-5" dirty="0">
                <a:solidFill>
                  <a:srgbClr val="FFFFFF"/>
                </a:solidFill>
                <a:latin typeface="Times New Roman"/>
                <a:cs typeface="Times New Roman"/>
              </a:rPr>
              <a:t>throug</a:t>
            </a:r>
            <a:r>
              <a:rPr sz="2400" dirty="0">
                <a:solidFill>
                  <a:srgbClr val="FFFFFF"/>
                </a:solidFill>
                <a:latin typeface="Times New Roman"/>
                <a:cs typeface="Times New Roman"/>
              </a:rPr>
              <a:t>h	</a:t>
            </a:r>
            <a:r>
              <a:rPr sz="2400" spc="-5" dirty="0">
                <a:solidFill>
                  <a:srgbClr val="FFFFFF"/>
                </a:solidFill>
                <a:latin typeface="Times New Roman"/>
                <a:cs typeface="Times New Roman"/>
              </a:rPr>
              <a:t>a</a:t>
            </a:r>
            <a:r>
              <a:rPr sz="2400" dirty="0">
                <a:solidFill>
                  <a:srgbClr val="FFFFFF"/>
                </a:solidFill>
                <a:latin typeface="Times New Roman"/>
                <a:cs typeface="Times New Roman"/>
              </a:rPr>
              <a:t>n	</a:t>
            </a:r>
            <a:r>
              <a:rPr sz="2400" spc="-5" dirty="0">
                <a:solidFill>
                  <a:srgbClr val="FFFFFF"/>
                </a:solidFill>
                <a:latin typeface="Times New Roman"/>
                <a:cs typeface="Times New Roman"/>
              </a:rPr>
              <a:t>automate</a:t>
            </a:r>
            <a:r>
              <a:rPr sz="2400" dirty="0">
                <a:solidFill>
                  <a:srgbClr val="FFFFFF"/>
                </a:solidFill>
                <a:latin typeface="Times New Roman"/>
                <a:cs typeface="Times New Roman"/>
              </a:rPr>
              <a:t>d	process,	known	</a:t>
            </a:r>
            <a:r>
              <a:rPr sz="2400" spc="-5" dirty="0">
                <a:solidFill>
                  <a:srgbClr val="FFFFFF"/>
                </a:solidFill>
                <a:latin typeface="Times New Roman"/>
                <a:cs typeface="Times New Roman"/>
              </a:rPr>
              <a:t>a</a:t>
            </a:r>
            <a:r>
              <a:rPr sz="2400" dirty="0">
                <a:solidFill>
                  <a:srgbClr val="FFFFFF"/>
                </a:solidFill>
                <a:latin typeface="Times New Roman"/>
                <a:cs typeface="Times New Roman"/>
              </a:rPr>
              <a:t>s	</a:t>
            </a:r>
            <a:r>
              <a:rPr sz="2400" spc="-5" dirty="0">
                <a:solidFill>
                  <a:srgbClr val="FFFFFF"/>
                </a:solidFill>
                <a:latin typeface="Times New Roman"/>
                <a:cs typeface="Times New Roman"/>
              </a:rPr>
              <a:t>Knowledge  Discovery</a:t>
            </a:r>
            <a:r>
              <a:rPr sz="2400" spc="-10" dirty="0">
                <a:solidFill>
                  <a:srgbClr val="FFFFFF"/>
                </a:solidFill>
                <a:latin typeface="Times New Roman"/>
                <a:cs typeface="Times New Roman"/>
              </a:rPr>
              <a:t> </a:t>
            </a:r>
            <a:r>
              <a:rPr sz="2400" spc="-5" dirty="0">
                <a:solidFill>
                  <a:srgbClr val="FFFFFF"/>
                </a:solidFill>
                <a:latin typeface="Times New Roman"/>
                <a:cs typeface="Times New Roman"/>
              </a:rPr>
              <a:t>in </a:t>
            </a:r>
            <a:r>
              <a:rPr sz="2400" dirty="0">
                <a:solidFill>
                  <a:srgbClr val="FFFFFF"/>
                </a:solidFill>
                <a:latin typeface="Times New Roman"/>
                <a:cs typeface="Times New Roman"/>
              </a:rPr>
              <a:t>data </a:t>
            </a:r>
            <a:r>
              <a:rPr sz="2400" spc="-5" dirty="0">
                <a:solidFill>
                  <a:srgbClr val="FFFFFF"/>
                </a:solidFill>
                <a:latin typeface="Times New Roman"/>
                <a:cs typeface="Times New Roman"/>
              </a:rPr>
              <a:t>mining techniques.</a:t>
            </a:r>
            <a:endParaRPr sz="2400">
              <a:latin typeface="Times New Roman"/>
              <a:cs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437" y="446488"/>
            <a:ext cx="3111500" cy="574040"/>
          </a:xfrm>
          <a:prstGeom prst="rect">
            <a:avLst/>
          </a:prstGeom>
        </p:spPr>
        <p:txBody>
          <a:bodyPr vert="horz" wrap="square" lIns="0" tIns="12700" rIns="0" bIns="0" rtlCol="0">
            <a:spAutoFit/>
          </a:bodyPr>
          <a:lstStyle/>
          <a:p>
            <a:pPr marL="12700">
              <a:lnSpc>
                <a:spcPct val="100000"/>
              </a:lnSpc>
              <a:spcBef>
                <a:spcPts val="100"/>
              </a:spcBef>
            </a:pPr>
            <a:r>
              <a:rPr spc="-5" dirty="0"/>
              <a:t>KDD</a:t>
            </a:r>
            <a:r>
              <a:rPr spc="-90" dirty="0"/>
              <a:t> </a:t>
            </a:r>
            <a:r>
              <a:rPr spc="-5" dirty="0"/>
              <a:t>PROCESS</a:t>
            </a:r>
          </a:p>
        </p:txBody>
      </p:sp>
      <p:pic>
        <p:nvPicPr>
          <p:cNvPr id="3" name="object 3"/>
          <p:cNvPicPr/>
          <p:nvPr/>
        </p:nvPicPr>
        <p:blipFill>
          <a:blip r:embed="rId2" cstate="print"/>
          <a:stretch>
            <a:fillRect/>
          </a:stretch>
        </p:blipFill>
        <p:spPr>
          <a:xfrm>
            <a:off x="0" y="1265237"/>
            <a:ext cx="12191999" cy="5592762"/>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4295" rIns="0" bIns="0" rtlCol="0">
            <a:spAutoFit/>
          </a:bodyPr>
          <a:lstStyle/>
          <a:p>
            <a:pPr marL="12700" marR="5080">
              <a:lnSpc>
                <a:spcPts val="3890"/>
              </a:lnSpc>
              <a:spcBef>
                <a:spcPts val="585"/>
              </a:spcBef>
            </a:pPr>
            <a:r>
              <a:rPr spc="-5" dirty="0"/>
              <a:t>KNOWLEDGE DISCOVERY IN DATABASES </a:t>
            </a:r>
            <a:r>
              <a:rPr spc="-885" dirty="0"/>
              <a:t> </a:t>
            </a:r>
            <a:r>
              <a:rPr dirty="0"/>
              <a:t>(KDD)</a:t>
            </a:r>
          </a:p>
        </p:txBody>
      </p:sp>
      <p:sp>
        <p:nvSpPr>
          <p:cNvPr id="3" name="object 3"/>
          <p:cNvSpPr txBox="1"/>
          <p:nvPr/>
        </p:nvSpPr>
        <p:spPr>
          <a:xfrm>
            <a:off x="1262982" y="2326701"/>
            <a:ext cx="9705975" cy="4181475"/>
          </a:xfrm>
          <a:prstGeom prst="rect">
            <a:avLst/>
          </a:prstGeom>
        </p:spPr>
        <p:txBody>
          <a:bodyPr vert="horz" wrap="square" lIns="0" tIns="5080" rIns="0" bIns="0" rtlCol="0">
            <a:spAutoFit/>
          </a:bodyPr>
          <a:lstStyle/>
          <a:p>
            <a:pPr marL="192405" marR="11430" indent="-180340" algn="just">
              <a:lnSpc>
                <a:spcPct val="102000"/>
              </a:lnSpc>
              <a:spcBef>
                <a:spcPts val="40"/>
              </a:spcBef>
              <a:buSzPct val="124390"/>
              <a:buFont typeface="Arial MT"/>
              <a:buChar char="•"/>
              <a:tabLst>
                <a:tab pos="193040" algn="l"/>
              </a:tabLst>
            </a:pPr>
            <a:r>
              <a:rPr sz="2050" spc="-10" dirty="0">
                <a:solidFill>
                  <a:srgbClr val="FFFFFF"/>
                </a:solidFill>
                <a:latin typeface="Times New Roman"/>
                <a:cs typeface="Times New Roman"/>
              </a:rPr>
              <a:t>The Knowledge Discovery in Databases (KDD) </a:t>
            </a:r>
            <a:r>
              <a:rPr sz="2050" spc="-5" dirty="0">
                <a:solidFill>
                  <a:srgbClr val="FFFFFF"/>
                </a:solidFill>
                <a:latin typeface="Times New Roman"/>
                <a:cs typeface="Times New Roman"/>
              </a:rPr>
              <a:t>process </a:t>
            </a:r>
            <a:r>
              <a:rPr sz="2050" spc="-10" dirty="0">
                <a:solidFill>
                  <a:srgbClr val="FFFFFF"/>
                </a:solidFill>
                <a:latin typeface="Times New Roman"/>
                <a:cs typeface="Times New Roman"/>
              </a:rPr>
              <a:t>involves multiple steps, which are </a:t>
            </a:r>
            <a:r>
              <a:rPr sz="2050" spc="-5" dirty="0">
                <a:solidFill>
                  <a:srgbClr val="FFFFFF"/>
                </a:solidFill>
                <a:latin typeface="Times New Roman"/>
                <a:cs typeface="Times New Roman"/>
              </a:rPr>
              <a:t> </a:t>
            </a:r>
            <a:r>
              <a:rPr sz="2050" spc="-10" dirty="0">
                <a:solidFill>
                  <a:srgbClr val="FFFFFF"/>
                </a:solidFill>
                <a:latin typeface="Times New Roman"/>
                <a:cs typeface="Times New Roman"/>
              </a:rPr>
              <a:t>typically carried </a:t>
            </a:r>
            <a:r>
              <a:rPr sz="2050" spc="-5" dirty="0">
                <a:solidFill>
                  <a:srgbClr val="FFFFFF"/>
                </a:solidFill>
                <a:latin typeface="Times New Roman"/>
                <a:cs typeface="Times New Roman"/>
              </a:rPr>
              <a:t>out </a:t>
            </a:r>
            <a:r>
              <a:rPr sz="2050" spc="-10" dirty="0">
                <a:solidFill>
                  <a:srgbClr val="FFFFFF"/>
                </a:solidFill>
                <a:latin typeface="Times New Roman"/>
                <a:cs typeface="Times New Roman"/>
              </a:rPr>
              <a:t>in </a:t>
            </a:r>
            <a:r>
              <a:rPr sz="2050" spc="-5" dirty="0">
                <a:solidFill>
                  <a:srgbClr val="FFFFFF"/>
                </a:solidFill>
                <a:latin typeface="Times New Roman"/>
                <a:cs typeface="Times New Roman"/>
              </a:rPr>
              <a:t>a </a:t>
            </a:r>
            <a:r>
              <a:rPr sz="2050" spc="-10" dirty="0">
                <a:solidFill>
                  <a:srgbClr val="FFFFFF"/>
                </a:solidFill>
                <a:latin typeface="Times New Roman"/>
                <a:cs typeface="Times New Roman"/>
              </a:rPr>
              <a:t>sequential </a:t>
            </a:r>
            <a:r>
              <a:rPr sz="2050" spc="-5" dirty="0">
                <a:solidFill>
                  <a:srgbClr val="FFFFFF"/>
                </a:solidFill>
                <a:latin typeface="Times New Roman"/>
                <a:cs typeface="Times New Roman"/>
              </a:rPr>
              <a:t>order. </a:t>
            </a:r>
            <a:r>
              <a:rPr sz="2050" spc="-10" dirty="0">
                <a:solidFill>
                  <a:srgbClr val="FFFFFF"/>
                </a:solidFill>
                <a:latin typeface="Times New Roman"/>
                <a:cs typeface="Times New Roman"/>
              </a:rPr>
              <a:t>The steps involved in the </a:t>
            </a:r>
            <a:r>
              <a:rPr sz="2050" spc="-15" dirty="0">
                <a:solidFill>
                  <a:srgbClr val="FFFFFF"/>
                </a:solidFill>
                <a:latin typeface="Times New Roman"/>
                <a:cs typeface="Times New Roman"/>
              </a:rPr>
              <a:t>KDD </a:t>
            </a:r>
            <a:r>
              <a:rPr sz="2050" spc="-5" dirty="0">
                <a:solidFill>
                  <a:srgbClr val="FFFFFF"/>
                </a:solidFill>
                <a:latin typeface="Times New Roman"/>
                <a:cs typeface="Times New Roman"/>
              </a:rPr>
              <a:t>process </a:t>
            </a:r>
            <a:r>
              <a:rPr sz="2050" spc="-10" dirty="0">
                <a:solidFill>
                  <a:srgbClr val="FFFFFF"/>
                </a:solidFill>
                <a:latin typeface="Times New Roman"/>
                <a:cs typeface="Times New Roman"/>
              </a:rPr>
              <a:t>are as </a:t>
            </a:r>
            <a:r>
              <a:rPr sz="2050" spc="-5" dirty="0">
                <a:solidFill>
                  <a:srgbClr val="FFFFFF"/>
                </a:solidFill>
                <a:latin typeface="Times New Roman"/>
                <a:cs typeface="Times New Roman"/>
              </a:rPr>
              <a:t> follows:</a:t>
            </a:r>
            <a:endParaRPr sz="2050">
              <a:latin typeface="Times New Roman"/>
              <a:cs typeface="Times New Roman"/>
            </a:endParaRPr>
          </a:p>
          <a:p>
            <a:pPr marL="192405" marR="5080" indent="-180340" algn="just">
              <a:lnSpc>
                <a:spcPct val="101200"/>
              </a:lnSpc>
              <a:spcBef>
                <a:spcPts val="1445"/>
              </a:spcBef>
              <a:buSzPct val="124390"/>
              <a:buFont typeface="Arial"/>
              <a:buChar char="•"/>
              <a:tabLst>
                <a:tab pos="193040" algn="l"/>
              </a:tabLst>
            </a:pPr>
            <a:r>
              <a:rPr sz="2050" b="1" spc="-10" dirty="0">
                <a:solidFill>
                  <a:srgbClr val="FFFFFF"/>
                </a:solidFill>
                <a:latin typeface="Times New Roman"/>
                <a:cs typeface="Times New Roman"/>
              </a:rPr>
              <a:t>Data Selection</a:t>
            </a:r>
            <a:r>
              <a:rPr sz="2050" spc="-10" dirty="0">
                <a:solidFill>
                  <a:srgbClr val="FFFFFF"/>
                </a:solidFill>
                <a:latin typeface="Times New Roman"/>
                <a:cs typeface="Times New Roman"/>
              </a:rPr>
              <a:t>: </a:t>
            </a:r>
            <a:r>
              <a:rPr sz="2050" spc="-5" dirty="0">
                <a:solidFill>
                  <a:srgbClr val="FFFFFF"/>
                </a:solidFill>
                <a:latin typeface="Times New Roman"/>
                <a:cs typeface="Times New Roman"/>
              </a:rPr>
              <a:t>In </a:t>
            </a:r>
            <a:r>
              <a:rPr sz="2050" spc="-10" dirty="0">
                <a:solidFill>
                  <a:srgbClr val="FFFFFF"/>
                </a:solidFill>
                <a:latin typeface="Times New Roman"/>
                <a:cs typeface="Times New Roman"/>
              </a:rPr>
              <a:t>this step, </a:t>
            </a:r>
            <a:r>
              <a:rPr sz="2050" spc="-5" dirty="0">
                <a:solidFill>
                  <a:srgbClr val="FFFFFF"/>
                </a:solidFill>
                <a:latin typeface="Times New Roman"/>
                <a:cs typeface="Times New Roman"/>
              </a:rPr>
              <a:t>data </a:t>
            </a:r>
            <a:r>
              <a:rPr sz="2050" spc="-10" dirty="0">
                <a:solidFill>
                  <a:srgbClr val="FFFFFF"/>
                </a:solidFill>
                <a:latin typeface="Times New Roman"/>
                <a:cs typeface="Times New Roman"/>
              </a:rPr>
              <a:t>is selected </a:t>
            </a:r>
            <a:r>
              <a:rPr sz="2050" spc="-5" dirty="0">
                <a:solidFill>
                  <a:srgbClr val="FFFFFF"/>
                </a:solidFill>
                <a:latin typeface="Times New Roman"/>
                <a:cs typeface="Times New Roman"/>
              </a:rPr>
              <a:t>from a database or other data </a:t>
            </a:r>
            <a:r>
              <a:rPr sz="2050" spc="-10" dirty="0">
                <a:solidFill>
                  <a:srgbClr val="FFFFFF"/>
                </a:solidFill>
                <a:latin typeface="Times New Roman"/>
                <a:cs typeface="Times New Roman"/>
              </a:rPr>
              <a:t>sources </a:t>
            </a:r>
            <a:r>
              <a:rPr sz="2050" spc="-5" dirty="0">
                <a:solidFill>
                  <a:srgbClr val="FFFFFF"/>
                </a:solidFill>
                <a:latin typeface="Times New Roman"/>
                <a:cs typeface="Times New Roman"/>
              </a:rPr>
              <a:t>based on </a:t>
            </a:r>
            <a:r>
              <a:rPr sz="2050" dirty="0">
                <a:solidFill>
                  <a:srgbClr val="FFFFFF"/>
                </a:solidFill>
                <a:latin typeface="Times New Roman"/>
                <a:cs typeface="Times New Roman"/>
              </a:rPr>
              <a:t> </a:t>
            </a:r>
            <a:r>
              <a:rPr sz="2050" spc="-10" dirty="0">
                <a:solidFill>
                  <a:srgbClr val="FFFFFF"/>
                </a:solidFill>
                <a:latin typeface="Times New Roman"/>
                <a:cs typeface="Times New Roman"/>
              </a:rPr>
              <a:t>the</a:t>
            </a:r>
            <a:r>
              <a:rPr sz="2050" spc="-5" dirty="0">
                <a:solidFill>
                  <a:srgbClr val="FFFFFF"/>
                </a:solidFill>
                <a:latin typeface="Times New Roman"/>
                <a:cs typeface="Times New Roman"/>
              </a:rPr>
              <a:t> requirements</a:t>
            </a:r>
            <a:r>
              <a:rPr sz="2050" dirty="0">
                <a:solidFill>
                  <a:srgbClr val="FFFFFF"/>
                </a:solidFill>
                <a:latin typeface="Times New Roman"/>
                <a:cs typeface="Times New Roman"/>
              </a:rPr>
              <a:t> </a:t>
            </a:r>
            <a:r>
              <a:rPr sz="2050" spc="-5" dirty="0">
                <a:solidFill>
                  <a:srgbClr val="FFFFFF"/>
                </a:solidFill>
                <a:latin typeface="Times New Roman"/>
                <a:cs typeface="Times New Roman"/>
              </a:rPr>
              <a:t>of</a:t>
            </a:r>
            <a:r>
              <a:rPr sz="2050" dirty="0">
                <a:solidFill>
                  <a:srgbClr val="FFFFFF"/>
                </a:solidFill>
                <a:latin typeface="Times New Roman"/>
                <a:cs typeface="Times New Roman"/>
              </a:rPr>
              <a:t> </a:t>
            </a:r>
            <a:r>
              <a:rPr sz="2050" spc="-10" dirty="0">
                <a:solidFill>
                  <a:srgbClr val="FFFFFF"/>
                </a:solidFill>
                <a:latin typeface="Times New Roman"/>
                <a:cs typeface="Times New Roman"/>
              </a:rPr>
              <a:t>the</a:t>
            </a:r>
            <a:r>
              <a:rPr sz="2050" spc="-5" dirty="0">
                <a:solidFill>
                  <a:srgbClr val="FFFFFF"/>
                </a:solidFill>
                <a:latin typeface="Times New Roman"/>
                <a:cs typeface="Times New Roman"/>
              </a:rPr>
              <a:t> </a:t>
            </a:r>
            <a:r>
              <a:rPr sz="2050" spc="-10" dirty="0">
                <a:solidFill>
                  <a:srgbClr val="FFFFFF"/>
                </a:solidFill>
                <a:latin typeface="Times New Roman"/>
                <a:cs typeface="Times New Roman"/>
              </a:rPr>
              <a:t>analysis.</a:t>
            </a:r>
            <a:r>
              <a:rPr sz="2050" spc="-5" dirty="0">
                <a:solidFill>
                  <a:srgbClr val="FFFFFF"/>
                </a:solidFill>
                <a:latin typeface="Times New Roman"/>
                <a:cs typeface="Times New Roman"/>
              </a:rPr>
              <a:t> </a:t>
            </a:r>
            <a:r>
              <a:rPr sz="2050" spc="-10" dirty="0">
                <a:solidFill>
                  <a:srgbClr val="FFFFFF"/>
                </a:solidFill>
                <a:latin typeface="Times New Roman"/>
                <a:cs typeface="Times New Roman"/>
              </a:rPr>
              <a:t>The</a:t>
            </a:r>
            <a:r>
              <a:rPr sz="2050" spc="-5" dirty="0">
                <a:solidFill>
                  <a:srgbClr val="FFFFFF"/>
                </a:solidFill>
                <a:latin typeface="Times New Roman"/>
                <a:cs typeface="Times New Roman"/>
              </a:rPr>
              <a:t> data</a:t>
            </a:r>
            <a:r>
              <a:rPr sz="2050" dirty="0">
                <a:solidFill>
                  <a:srgbClr val="FFFFFF"/>
                </a:solidFill>
                <a:latin typeface="Times New Roman"/>
                <a:cs typeface="Times New Roman"/>
              </a:rPr>
              <a:t> </a:t>
            </a:r>
            <a:r>
              <a:rPr sz="2050" spc="-10" dirty="0">
                <a:solidFill>
                  <a:srgbClr val="FFFFFF"/>
                </a:solidFill>
                <a:latin typeface="Times New Roman"/>
                <a:cs typeface="Times New Roman"/>
              </a:rPr>
              <a:t>selection</a:t>
            </a:r>
            <a:r>
              <a:rPr sz="2050" spc="-5" dirty="0">
                <a:solidFill>
                  <a:srgbClr val="FFFFFF"/>
                </a:solidFill>
                <a:latin typeface="Times New Roman"/>
                <a:cs typeface="Times New Roman"/>
              </a:rPr>
              <a:t> process</a:t>
            </a:r>
            <a:r>
              <a:rPr sz="2050" dirty="0">
                <a:solidFill>
                  <a:srgbClr val="FFFFFF"/>
                </a:solidFill>
                <a:latin typeface="Times New Roman"/>
                <a:cs typeface="Times New Roman"/>
              </a:rPr>
              <a:t> </a:t>
            </a:r>
            <a:r>
              <a:rPr sz="2050" spc="-10" dirty="0">
                <a:solidFill>
                  <a:srgbClr val="FFFFFF"/>
                </a:solidFill>
                <a:latin typeface="Times New Roman"/>
                <a:cs typeface="Times New Roman"/>
              </a:rPr>
              <a:t>involves</a:t>
            </a:r>
            <a:r>
              <a:rPr sz="2050" spc="-5" dirty="0">
                <a:solidFill>
                  <a:srgbClr val="FFFFFF"/>
                </a:solidFill>
                <a:latin typeface="Times New Roman"/>
                <a:cs typeface="Times New Roman"/>
              </a:rPr>
              <a:t> </a:t>
            </a:r>
            <a:r>
              <a:rPr sz="2050" spc="-10" dirty="0">
                <a:solidFill>
                  <a:srgbClr val="FFFFFF"/>
                </a:solidFill>
                <a:latin typeface="Times New Roman"/>
                <a:cs typeface="Times New Roman"/>
              </a:rPr>
              <a:t>identifying</a:t>
            </a:r>
            <a:r>
              <a:rPr sz="2050" spc="490" dirty="0">
                <a:solidFill>
                  <a:srgbClr val="FFFFFF"/>
                </a:solidFill>
                <a:latin typeface="Times New Roman"/>
                <a:cs typeface="Times New Roman"/>
              </a:rPr>
              <a:t> </a:t>
            </a:r>
            <a:r>
              <a:rPr sz="2050" spc="-10" dirty="0">
                <a:solidFill>
                  <a:srgbClr val="FFFFFF"/>
                </a:solidFill>
                <a:latin typeface="Times New Roman"/>
                <a:cs typeface="Times New Roman"/>
              </a:rPr>
              <a:t>the </a:t>
            </a:r>
            <a:r>
              <a:rPr sz="2050" spc="-5" dirty="0">
                <a:solidFill>
                  <a:srgbClr val="FFFFFF"/>
                </a:solidFill>
                <a:latin typeface="Times New Roman"/>
                <a:cs typeface="Times New Roman"/>
              </a:rPr>
              <a:t> relevant</a:t>
            </a:r>
            <a:r>
              <a:rPr sz="2050" dirty="0">
                <a:solidFill>
                  <a:srgbClr val="FFFFFF"/>
                </a:solidFill>
                <a:latin typeface="Times New Roman"/>
                <a:cs typeface="Times New Roman"/>
              </a:rPr>
              <a:t> </a:t>
            </a:r>
            <a:r>
              <a:rPr sz="2050" spc="-5" dirty="0">
                <a:solidFill>
                  <a:srgbClr val="FFFFFF"/>
                </a:solidFill>
                <a:latin typeface="Times New Roman"/>
                <a:cs typeface="Times New Roman"/>
              </a:rPr>
              <a:t>data</a:t>
            </a:r>
            <a:r>
              <a:rPr sz="2050" dirty="0">
                <a:solidFill>
                  <a:srgbClr val="FFFFFF"/>
                </a:solidFill>
                <a:latin typeface="Times New Roman"/>
                <a:cs typeface="Times New Roman"/>
              </a:rPr>
              <a:t> </a:t>
            </a:r>
            <a:r>
              <a:rPr sz="2050" spc="-10" dirty="0">
                <a:solidFill>
                  <a:srgbClr val="FFFFFF"/>
                </a:solidFill>
                <a:latin typeface="Times New Roman"/>
                <a:cs typeface="Times New Roman"/>
              </a:rPr>
              <a:t>sources</a:t>
            </a:r>
            <a:r>
              <a:rPr sz="2050" spc="-5" dirty="0">
                <a:solidFill>
                  <a:srgbClr val="FFFFFF"/>
                </a:solidFill>
                <a:latin typeface="Times New Roman"/>
                <a:cs typeface="Times New Roman"/>
              </a:rPr>
              <a:t> </a:t>
            </a:r>
            <a:r>
              <a:rPr sz="2050" spc="-10" dirty="0">
                <a:solidFill>
                  <a:srgbClr val="FFFFFF"/>
                </a:solidFill>
                <a:latin typeface="Times New Roman"/>
                <a:cs typeface="Times New Roman"/>
              </a:rPr>
              <a:t>and</a:t>
            </a:r>
            <a:r>
              <a:rPr sz="2050" spc="-5" dirty="0">
                <a:solidFill>
                  <a:srgbClr val="FFFFFF"/>
                </a:solidFill>
                <a:latin typeface="Times New Roman"/>
                <a:cs typeface="Times New Roman"/>
              </a:rPr>
              <a:t> </a:t>
            </a:r>
            <a:r>
              <a:rPr sz="2050" spc="-10" dirty="0">
                <a:solidFill>
                  <a:srgbClr val="FFFFFF"/>
                </a:solidFill>
                <a:latin typeface="Times New Roman"/>
                <a:cs typeface="Times New Roman"/>
              </a:rPr>
              <a:t>selecting</a:t>
            </a:r>
            <a:r>
              <a:rPr sz="2050" spc="-5" dirty="0">
                <a:solidFill>
                  <a:srgbClr val="FFFFFF"/>
                </a:solidFill>
                <a:latin typeface="Times New Roman"/>
                <a:cs typeface="Times New Roman"/>
              </a:rPr>
              <a:t> </a:t>
            </a:r>
            <a:r>
              <a:rPr sz="2050" spc="-10" dirty="0">
                <a:solidFill>
                  <a:srgbClr val="FFFFFF"/>
                </a:solidFill>
                <a:latin typeface="Times New Roman"/>
                <a:cs typeface="Times New Roman"/>
              </a:rPr>
              <a:t>the</a:t>
            </a:r>
            <a:r>
              <a:rPr sz="2050" spc="-5" dirty="0">
                <a:solidFill>
                  <a:srgbClr val="FFFFFF"/>
                </a:solidFill>
                <a:latin typeface="Times New Roman"/>
                <a:cs typeface="Times New Roman"/>
              </a:rPr>
              <a:t> </a:t>
            </a:r>
            <a:r>
              <a:rPr sz="2050" spc="-10" dirty="0">
                <a:solidFill>
                  <a:srgbClr val="FFFFFF"/>
                </a:solidFill>
                <a:latin typeface="Times New Roman"/>
                <a:cs typeface="Times New Roman"/>
              </a:rPr>
              <a:t>appropriate</a:t>
            </a:r>
            <a:r>
              <a:rPr sz="2050" spc="-5" dirty="0">
                <a:solidFill>
                  <a:srgbClr val="FFFFFF"/>
                </a:solidFill>
                <a:latin typeface="Times New Roman"/>
                <a:cs typeface="Times New Roman"/>
              </a:rPr>
              <a:t> data</a:t>
            </a:r>
            <a:r>
              <a:rPr sz="2050" dirty="0">
                <a:solidFill>
                  <a:srgbClr val="FFFFFF"/>
                </a:solidFill>
                <a:latin typeface="Times New Roman"/>
                <a:cs typeface="Times New Roman"/>
              </a:rPr>
              <a:t> </a:t>
            </a:r>
            <a:r>
              <a:rPr sz="2050" spc="-10" dirty="0">
                <a:solidFill>
                  <a:srgbClr val="FFFFFF"/>
                </a:solidFill>
                <a:latin typeface="Times New Roman"/>
                <a:cs typeface="Times New Roman"/>
              </a:rPr>
              <a:t>subset</a:t>
            </a:r>
            <a:r>
              <a:rPr sz="2050" spc="-5" dirty="0">
                <a:solidFill>
                  <a:srgbClr val="FFFFFF"/>
                </a:solidFill>
                <a:latin typeface="Times New Roman"/>
                <a:cs typeface="Times New Roman"/>
              </a:rPr>
              <a:t> </a:t>
            </a:r>
            <a:r>
              <a:rPr sz="2050" spc="-10" dirty="0">
                <a:solidFill>
                  <a:srgbClr val="FFFFFF"/>
                </a:solidFill>
                <a:latin typeface="Times New Roman"/>
                <a:cs typeface="Times New Roman"/>
              </a:rPr>
              <a:t>that</a:t>
            </a:r>
            <a:r>
              <a:rPr sz="2050" spc="-5" dirty="0">
                <a:solidFill>
                  <a:srgbClr val="FFFFFF"/>
                </a:solidFill>
                <a:latin typeface="Times New Roman"/>
                <a:cs typeface="Times New Roman"/>
              </a:rPr>
              <a:t> </a:t>
            </a:r>
            <a:r>
              <a:rPr sz="2050" spc="-10" dirty="0">
                <a:solidFill>
                  <a:srgbClr val="FFFFFF"/>
                </a:solidFill>
                <a:latin typeface="Times New Roman"/>
                <a:cs typeface="Times New Roman"/>
              </a:rPr>
              <a:t>will</a:t>
            </a:r>
            <a:r>
              <a:rPr sz="2050" spc="-5" dirty="0">
                <a:solidFill>
                  <a:srgbClr val="FFFFFF"/>
                </a:solidFill>
                <a:latin typeface="Times New Roman"/>
                <a:cs typeface="Times New Roman"/>
              </a:rPr>
              <a:t> be</a:t>
            </a:r>
            <a:r>
              <a:rPr sz="2050" spc="500" dirty="0">
                <a:solidFill>
                  <a:srgbClr val="FFFFFF"/>
                </a:solidFill>
                <a:latin typeface="Times New Roman"/>
                <a:cs typeface="Times New Roman"/>
              </a:rPr>
              <a:t> </a:t>
            </a:r>
            <a:r>
              <a:rPr sz="2050" spc="-5" dirty="0">
                <a:solidFill>
                  <a:srgbClr val="FFFFFF"/>
                </a:solidFill>
                <a:latin typeface="Times New Roman"/>
                <a:cs typeface="Times New Roman"/>
              </a:rPr>
              <a:t>used</a:t>
            </a:r>
            <a:r>
              <a:rPr sz="2050" spc="505" dirty="0">
                <a:solidFill>
                  <a:srgbClr val="FFFFFF"/>
                </a:solidFill>
                <a:latin typeface="Times New Roman"/>
                <a:cs typeface="Times New Roman"/>
              </a:rPr>
              <a:t> </a:t>
            </a:r>
            <a:r>
              <a:rPr sz="2050" spc="-5" dirty="0">
                <a:solidFill>
                  <a:srgbClr val="FFFFFF"/>
                </a:solidFill>
                <a:latin typeface="Times New Roman"/>
                <a:cs typeface="Times New Roman"/>
              </a:rPr>
              <a:t>for </a:t>
            </a:r>
            <a:r>
              <a:rPr sz="2050" dirty="0">
                <a:solidFill>
                  <a:srgbClr val="FFFFFF"/>
                </a:solidFill>
                <a:latin typeface="Times New Roman"/>
                <a:cs typeface="Times New Roman"/>
              </a:rPr>
              <a:t> </a:t>
            </a:r>
            <a:r>
              <a:rPr sz="2050" spc="-10" dirty="0">
                <a:solidFill>
                  <a:srgbClr val="FFFFFF"/>
                </a:solidFill>
                <a:latin typeface="Times New Roman"/>
                <a:cs typeface="Times New Roman"/>
              </a:rPr>
              <a:t>analysis.</a:t>
            </a:r>
            <a:endParaRPr sz="2050">
              <a:latin typeface="Times New Roman"/>
              <a:cs typeface="Times New Roman"/>
            </a:endParaRPr>
          </a:p>
          <a:p>
            <a:pPr marL="192405" marR="12700" indent="-180340" algn="just">
              <a:lnSpc>
                <a:spcPct val="100800"/>
              </a:lnSpc>
              <a:spcBef>
                <a:spcPts val="1460"/>
              </a:spcBef>
              <a:buSzPct val="124390"/>
              <a:buFont typeface="Arial"/>
              <a:buChar char="•"/>
              <a:tabLst>
                <a:tab pos="193040" algn="l"/>
              </a:tabLst>
            </a:pPr>
            <a:r>
              <a:rPr sz="2050" b="1" spc="-10" dirty="0">
                <a:solidFill>
                  <a:srgbClr val="FFFFFF"/>
                </a:solidFill>
                <a:latin typeface="Times New Roman"/>
                <a:cs typeface="Times New Roman"/>
              </a:rPr>
              <a:t>Data Pre-processing</a:t>
            </a:r>
            <a:r>
              <a:rPr sz="2050" spc="-10" dirty="0">
                <a:solidFill>
                  <a:srgbClr val="FFFFFF"/>
                </a:solidFill>
                <a:latin typeface="Times New Roman"/>
                <a:cs typeface="Times New Roman"/>
              </a:rPr>
              <a:t>: The </a:t>
            </a:r>
            <a:r>
              <a:rPr sz="2050" spc="-5" dirty="0">
                <a:solidFill>
                  <a:srgbClr val="FFFFFF"/>
                </a:solidFill>
                <a:latin typeface="Times New Roman"/>
                <a:cs typeface="Times New Roman"/>
              </a:rPr>
              <a:t>data pre-processing </a:t>
            </a:r>
            <a:r>
              <a:rPr sz="2050" spc="-10" dirty="0">
                <a:solidFill>
                  <a:srgbClr val="FFFFFF"/>
                </a:solidFill>
                <a:latin typeface="Times New Roman"/>
                <a:cs typeface="Times New Roman"/>
              </a:rPr>
              <a:t>step involves cleaning and </a:t>
            </a:r>
            <a:r>
              <a:rPr sz="2050" spc="-5" dirty="0">
                <a:solidFill>
                  <a:srgbClr val="FFFFFF"/>
                </a:solidFill>
                <a:latin typeface="Times New Roman"/>
                <a:cs typeface="Times New Roman"/>
              </a:rPr>
              <a:t>preparing </a:t>
            </a:r>
            <a:r>
              <a:rPr sz="2050" spc="-10" dirty="0">
                <a:solidFill>
                  <a:srgbClr val="FFFFFF"/>
                </a:solidFill>
                <a:latin typeface="Times New Roman"/>
                <a:cs typeface="Times New Roman"/>
              </a:rPr>
              <a:t>the </a:t>
            </a:r>
            <a:r>
              <a:rPr sz="2050" spc="-5" dirty="0">
                <a:solidFill>
                  <a:srgbClr val="FFFFFF"/>
                </a:solidFill>
                <a:latin typeface="Times New Roman"/>
                <a:cs typeface="Times New Roman"/>
              </a:rPr>
              <a:t> data for </a:t>
            </a:r>
            <a:r>
              <a:rPr sz="2050" spc="-10" dirty="0">
                <a:solidFill>
                  <a:srgbClr val="FFFFFF"/>
                </a:solidFill>
                <a:latin typeface="Times New Roman"/>
                <a:cs typeface="Times New Roman"/>
              </a:rPr>
              <a:t>analysis. The </a:t>
            </a:r>
            <a:r>
              <a:rPr sz="2050" spc="-5" dirty="0">
                <a:solidFill>
                  <a:srgbClr val="FFFFFF"/>
                </a:solidFill>
                <a:latin typeface="Times New Roman"/>
                <a:cs typeface="Times New Roman"/>
              </a:rPr>
              <a:t>process </a:t>
            </a:r>
            <a:r>
              <a:rPr sz="2050" spc="-10" dirty="0">
                <a:solidFill>
                  <a:srgbClr val="FFFFFF"/>
                </a:solidFill>
                <a:latin typeface="Times New Roman"/>
                <a:cs typeface="Times New Roman"/>
              </a:rPr>
              <a:t>typically involves </a:t>
            </a:r>
            <a:r>
              <a:rPr sz="2050" spc="-5" dirty="0">
                <a:solidFill>
                  <a:srgbClr val="FFFFFF"/>
                </a:solidFill>
                <a:latin typeface="Times New Roman"/>
                <a:cs typeface="Times New Roman"/>
              </a:rPr>
              <a:t>removing </a:t>
            </a:r>
            <a:r>
              <a:rPr sz="2050" spc="-10" dirty="0">
                <a:solidFill>
                  <a:srgbClr val="FFFFFF"/>
                </a:solidFill>
                <a:latin typeface="Times New Roman"/>
                <a:cs typeface="Times New Roman"/>
              </a:rPr>
              <a:t>missing </a:t>
            </a:r>
            <a:r>
              <a:rPr sz="2050" spc="-5" dirty="0">
                <a:solidFill>
                  <a:srgbClr val="FFFFFF"/>
                </a:solidFill>
                <a:latin typeface="Times New Roman"/>
                <a:cs typeface="Times New Roman"/>
              </a:rPr>
              <a:t>or duplicate values, </a:t>
            </a:r>
            <a:r>
              <a:rPr sz="2050" dirty="0">
                <a:solidFill>
                  <a:srgbClr val="FFFFFF"/>
                </a:solidFill>
                <a:latin typeface="Times New Roman"/>
                <a:cs typeface="Times New Roman"/>
              </a:rPr>
              <a:t> </a:t>
            </a:r>
            <a:r>
              <a:rPr sz="2050" spc="-10" dirty="0">
                <a:solidFill>
                  <a:srgbClr val="FFFFFF"/>
                </a:solidFill>
                <a:latin typeface="Times New Roman"/>
                <a:cs typeface="Times New Roman"/>
              </a:rPr>
              <a:t>correcting</a:t>
            </a:r>
            <a:r>
              <a:rPr sz="2050" spc="-5" dirty="0">
                <a:solidFill>
                  <a:srgbClr val="FFFFFF"/>
                </a:solidFill>
                <a:latin typeface="Times New Roman"/>
                <a:cs typeface="Times New Roman"/>
              </a:rPr>
              <a:t> </a:t>
            </a:r>
            <a:r>
              <a:rPr sz="2050" spc="-10" dirty="0">
                <a:solidFill>
                  <a:srgbClr val="FFFFFF"/>
                </a:solidFill>
                <a:latin typeface="Times New Roman"/>
                <a:cs typeface="Times New Roman"/>
              </a:rPr>
              <a:t>errors,</a:t>
            </a:r>
            <a:r>
              <a:rPr sz="2050" spc="-5" dirty="0">
                <a:solidFill>
                  <a:srgbClr val="FFFFFF"/>
                </a:solidFill>
                <a:latin typeface="Times New Roman"/>
                <a:cs typeface="Times New Roman"/>
              </a:rPr>
              <a:t> </a:t>
            </a:r>
            <a:r>
              <a:rPr sz="2050" spc="-10" dirty="0">
                <a:solidFill>
                  <a:srgbClr val="FFFFFF"/>
                </a:solidFill>
                <a:latin typeface="Times New Roman"/>
                <a:cs typeface="Times New Roman"/>
              </a:rPr>
              <a:t>and</a:t>
            </a:r>
            <a:r>
              <a:rPr sz="2050" spc="-5" dirty="0">
                <a:solidFill>
                  <a:srgbClr val="FFFFFF"/>
                </a:solidFill>
                <a:latin typeface="Times New Roman"/>
                <a:cs typeface="Times New Roman"/>
              </a:rPr>
              <a:t> handling</a:t>
            </a:r>
            <a:r>
              <a:rPr sz="2050" dirty="0">
                <a:solidFill>
                  <a:srgbClr val="FFFFFF"/>
                </a:solidFill>
                <a:latin typeface="Times New Roman"/>
                <a:cs typeface="Times New Roman"/>
              </a:rPr>
              <a:t> </a:t>
            </a:r>
            <a:r>
              <a:rPr sz="2050" spc="-10" dirty="0">
                <a:solidFill>
                  <a:srgbClr val="FFFFFF"/>
                </a:solidFill>
                <a:latin typeface="Times New Roman"/>
                <a:cs typeface="Times New Roman"/>
              </a:rPr>
              <a:t>inconsistencies.</a:t>
            </a:r>
            <a:r>
              <a:rPr sz="2050" spc="-5" dirty="0">
                <a:solidFill>
                  <a:srgbClr val="FFFFFF"/>
                </a:solidFill>
                <a:latin typeface="Times New Roman"/>
                <a:cs typeface="Times New Roman"/>
              </a:rPr>
              <a:t> </a:t>
            </a:r>
            <a:r>
              <a:rPr sz="2050" spc="-10" dirty="0">
                <a:solidFill>
                  <a:srgbClr val="FFFFFF"/>
                </a:solidFill>
                <a:latin typeface="Times New Roman"/>
                <a:cs typeface="Times New Roman"/>
              </a:rPr>
              <a:t>Data</a:t>
            </a:r>
            <a:r>
              <a:rPr sz="2050" spc="-5" dirty="0">
                <a:solidFill>
                  <a:srgbClr val="FFFFFF"/>
                </a:solidFill>
                <a:latin typeface="Times New Roman"/>
                <a:cs typeface="Times New Roman"/>
              </a:rPr>
              <a:t> pre-processing</a:t>
            </a:r>
            <a:r>
              <a:rPr sz="2050" dirty="0">
                <a:solidFill>
                  <a:srgbClr val="FFFFFF"/>
                </a:solidFill>
                <a:latin typeface="Times New Roman"/>
                <a:cs typeface="Times New Roman"/>
              </a:rPr>
              <a:t> </a:t>
            </a:r>
            <a:r>
              <a:rPr sz="2050" spc="-10" dirty="0">
                <a:solidFill>
                  <a:srgbClr val="FFFFFF"/>
                </a:solidFill>
                <a:latin typeface="Times New Roman"/>
                <a:cs typeface="Times New Roman"/>
              </a:rPr>
              <a:t>also</a:t>
            </a:r>
            <a:r>
              <a:rPr sz="2050" spc="-5" dirty="0">
                <a:solidFill>
                  <a:srgbClr val="FFFFFF"/>
                </a:solidFill>
                <a:latin typeface="Times New Roman"/>
                <a:cs typeface="Times New Roman"/>
              </a:rPr>
              <a:t> </a:t>
            </a:r>
            <a:r>
              <a:rPr sz="2050" spc="-10" dirty="0">
                <a:solidFill>
                  <a:srgbClr val="FFFFFF"/>
                </a:solidFill>
                <a:latin typeface="Times New Roman"/>
                <a:cs typeface="Times New Roman"/>
              </a:rPr>
              <a:t>includes</a:t>
            </a:r>
            <a:r>
              <a:rPr sz="2050" spc="-5" dirty="0">
                <a:solidFill>
                  <a:srgbClr val="FFFFFF"/>
                </a:solidFill>
                <a:latin typeface="Times New Roman"/>
                <a:cs typeface="Times New Roman"/>
              </a:rPr>
              <a:t> data </a:t>
            </a:r>
            <a:r>
              <a:rPr sz="2050" spc="-500" dirty="0">
                <a:solidFill>
                  <a:srgbClr val="FFFFFF"/>
                </a:solidFill>
                <a:latin typeface="Times New Roman"/>
                <a:cs typeface="Times New Roman"/>
              </a:rPr>
              <a:t> </a:t>
            </a:r>
            <a:r>
              <a:rPr sz="2050" spc="-5" dirty="0">
                <a:solidFill>
                  <a:srgbClr val="FFFFFF"/>
                </a:solidFill>
                <a:latin typeface="Times New Roman"/>
                <a:cs typeface="Times New Roman"/>
              </a:rPr>
              <a:t>normalization, feature </a:t>
            </a:r>
            <a:r>
              <a:rPr sz="2050" spc="-10" dirty="0">
                <a:solidFill>
                  <a:srgbClr val="FFFFFF"/>
                </a:solidFill>
                <a:latin typeface="Times New Roman"/>
                <a:cs typeface="Times New Roman"/>
              </a:rPr>
              <a:t>selection,</a:t>
            </a:r>
            <a:r>
              <a:rPr sz="2050" spc="-5" dirty="0">
                <a:solidFill>
                  <a:srgbClr val="FFFFFF"/>
                </a:solidFill>
                <a:latin typeface="Times New Roman"/>
                <a:cs typeface="Times New Roman"/>
              </a:rPr>
              <a:t> </a:t>
            </a:r>
            <a:r>
              <a:rPr sz="2050" spc="-10" dirty="0">
                <a:solidFill>
                  <a:srgbClr val="FFFFFF"/>
                </a:solidFill>
                <a:latin typeface="Times New Roman"/>
                <a:cs typeface="Times New Roman"/>
              </a:rPr>
              <a:t>and</a:t>
            </a:r>
            <a:r>
              <a:rPr sz="2050" spc="-5" dirty="0">
                <a:solidFill>
                  <a:srgbClr val="FFFFFF"/>
                </a:solidFill>
                <a:latin typeface="Times New Roman"/>
                <a:cs typeface="Times New Roman"/>
              </a:rPr>
              <a:t> other data </a:t>
            </a:r>
            <a:r>
              <a:rPr sz="2050" spc="-10" dirty="0">
                <a:solidFill>
                  <a:srgbClr val="FFFFFF"/>
                </a:solidFill>
                <a:latin typeface="Times New Roman"/>
                <a:cs typeface="Times New Roman"/>
              </a:rPr>
              <a:t>transformation</a:t>
            </a:r>
            <a:r>
              <a:rPr sz="2050" spc="-5" dirty="0">
                <a:solidFill>
                  <a:srgbClr val="FFFFFF"/>
                </a:solidFill>
                <a:latin typeface="Times New Roman"/>
                <a:cs typeface="Times New Roman"/>
              </a:rPr>
              <a:t> </a:t>
            </a:r>
            <a:r>
              <a:rPr sz="2050" spc="-10" dirty="0">
                <a:solidFill>
                  <a:srgbClr val="FFFFFF"/>
                </a:solidFill>
                <a:latin typeface="Times New Roman"/>
                <a:cs typeface="Times New Roman"/>
              </a:rPr>
              <a:t>techniques</a:t>
            </a:r>
            <a:r>
              <a:rPr sz="2050" spc="-5" dirty="0">
                <a:solidFill>
                  <a:srgbClr val="FFFFFF"/>
                </a:solidFill>
                <a:latin typeface="Times New Roman"/>
                <a:cs typeface="Times New Roman"/>
              </a:rPr>
              <a:t> </a:t>
            </a:r>
            <a:r>
              <a:rPr sz="2050" spc="-10" dirty="0">
                <a:solidFill>
                  <a:srgbClr val="FFFFFF"/>
                </a:solidFill>
                <a:latin typeface="Times New Roman"/>
                <a:cs typeface="Times New Roman"/>
              </a:rPr>
              <a:t>that</a:t>
            </a:r>
            <a:r>
              <a:rPr sz="2050" spc="-5" dirty="0">
                <a:solidFill>
                  <a:srgbClr val="FFFFFF"/>
                </a:solidFill>
                <a:latin typeface="Times New Roman"/>
                <a:cs typeface="Times New Roman"/>
              </a:rPr>
              <a:t> </a:t>
            </a:r>
            <a:r>
              <a:rPr sz="2050" spc="-10" dirty="0">
                <a:solidFill>
                  <a:srgbClr val="FFFFFF"/>
                </a:solidFill>
                <a:latin typeface="Times New Roman"/>
                <a:cs typeface="Times New Roman"/>
              </a:rPr>
              <a:t>make</a:t>
            </a:r>
            <a:r>
              <a:rPr sz="2050" spc="490" dirty="0">
                <a:solidFill>
                  <a:srgbClr val="FFFFFF"/>
                </a:solidFill>
                <a:latin typeface="Times New Roman"/>
                <a:cs typeface="Times New Roman"/>
              </a:rPr>
              <a:t> </a:t>
            </a:r>
            <a:r>
              <a:rPr sz="2050" spc="-10" dirty="0">
                <a:solidFill>
                  <a:srgbClr val="FFFFFF"/>
                </a:solidFill>
                <a:latin typeface="Times New Roman"/>
                <a:cs typeface="Times New Roman"/>
              </a:rPr>
              <a:t>the </a:t>
            </a:r>
            <a:r>
              <a:rPr sz="2050" spc="-500" dirty="0">
                <a:solidFill>
                  <a:srgbClr val="FFFFFF"/>
                </a:solidFill>
                <a:latin typeface="Times New Roman"/>
                <a:cs typeface="Times New Roman"/>
              </a:rPr>
              <a:t> </a:t>
            </a:r>
            <a:r>
              <a:rPr sz="2050" spc="-5" dirty="0">
                <a:solidFill>
                  <a:srgbClr val="FFFFFF"/>
                </a:solidFill>
                <a:latin typeface="Times New Roman"/>
                <a:cs typeface="Times New Roman"/>
              </a:rPr>
              <a:t>data</a:t>
            </a:r>
            <a:r>
              <a:rPr sz="2050" spc="-10" dirty="0">
                <a:solidFill>
                  <a:srgbClr val="FFFFFF"/>
                </a:solidFill>
                <a:latin typeface="Times New Roman"/>
                <a:cs typeface="Times New Roman"/>
              </a:rPr>
              <a:t> suitable</a:t>
            </a:r>
            <a:r>
              <a:rPr sz="2050" spc="-5" dirty="0">
                <a:solidFill>
                  <a:srgbClr val="FFFFFF"/>
                </a:solidFill>
                <a:latin typeface="Times New Roman"/>
                <a:cs typeface="Times New Roman"/>
              </a:rPr>
              <a:t> for </a:t>
            </a:r>
            <a:r>
              <a:rPr sz="2050" spc="-10" dirty="0">
                <a:solidFill>
                  <a:srgbClr val="FFFFFF"/>
                </a:solidFill>
                <a:latin typeface="Times New Roman"/>
                <a:cs typeface="Times New Roman"/>
              </a:rPr>
              <a:t>analysis.</a:t>
            </a:r>
            <a:endParaRPr sz="2050">
              <a:latin typeface="Times New Roman"/>
              <a:cs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4295" rIns="0" bIns="0" rtlCol="0">
            <a:spAutoFit/>
          </a:bodyPr>
          <a:lstStyle/>
          <a:p>
            <a:pPr marL="12700" marR="5080">
              <a:lnSpc>
                <a:spcPts val="3890"/>
              </a:lnSpc>
              <a:spcBef>
                <a:spcPts val="585"/>
              </a:spcBef>
            </a:pPr>
            <a:r>
              <a:rPr spc="-5" dirty="0"/>
              <a:t>KNOWLEDGE DISCOVERY IN DATABASES </a:t>
            </a:r>
            <a:r>
              <a:rPr spc="-885" dirty="0"/>
              <a:t> </a:t>
            </a:r>
            <a:r>
              <a:rPr dirty="0"/>
              <a:t>(KDD)</a:t>
            </a:r>
          </a:p>
        </p:txBody>
      </p:sp>
      <p:sp>
        <p:nvSpPr>
          <p:cNvPr id="3" name="object 3"/>
          <p:cNvSpPr txBox="1"/>
          <p:nvPr/>
        </p:nvSpPr>
        <p:spPr>
          <a:xfrm>
            <a:off x="1267266" y="2272067"/>
            <a:ext cx="9693275" cy="3646170"/>
          </a:xfrm>
          <a:prstGeom prst="rect">
            <a:avLst/>
          </a:prstGeom>
        </p:spPr>
        <p:txBody>
          <a:bodyPr vert="horz" wrap="square" lIns="0" tIns="31115" rIns="0" bIns="0" rtlCol="0">
            <a:spAutoFit/>
          </a:bodyPr>
          <a:lstStyle/>
          <a:p>
            <a:pPr marL="187960" marR="5080" indent="-175895" algn="just">
              <a:lnSpc>
                <a:spcPct val="112900"/>
              </a:lnSpc>
              <a:spcBef>
                <a:spcPts val="245"/>
              </a:spcBef>
              <a:buSzPct val="125000"/>
              <a:buFont typeface="Arial"/>
              <a:buChar char="•"/>
              <a:tabLst>
                <a:tab pos="188595" algn="l"/>
              </a:tabLst>
            </a:pPr>
            <a:r>
              <a:rPr sz="2200" b="1" spc="5" dirty="0">
                <a:solidFill>
                  <a:srgbClr val="FFFFFF"/>
                </a:solidFill>
                <a:latin typeface="Times New Roman"/>
                <a:cs typeface="Times New Roman"/>
              </a:rPr>
              <a:t>Data Transformation</a:t>
            </a:r>
            <a:r>
              <a:rPr sz="2200" spc="5" dirty="0">
                <a:solidFill>
                  <a:srgbClr val="FFFFFF"/>
                </a:solidFill>
                <a:latin typeface="Times New Roman"/>
                <a:cs typeface="Times New Roman"/>
              </a:rPr>
              <a:t>: In </a:t>
            </a:r>
            <a:r>
              <a:rPr sz="2200" dirty="0">
                <a:solidFill>
                  <a:srgbClr val="FFFFFF"/>
                </a:solidFill>
                <a:latin typeface="Times New Roman"/>
                <a:cs typeface="Times New Roman"/>
              </a:rPr>
              <a:t>this step, the </a:t>
            </a:r>
            <a:r>
              <a:rPr sz="2200" spc="5" dirty="0">
                <a:solidFill>
                  <a:srgbClr val="FFFFFF"/>
                </a:solidFill>
                <a:latin typeface="Times New Roman"/>
                <a:cs typeface="Times New Roman"/>
              </a:rPr>
              <a:t>pre-processed data </a:t>
            </a:r>
            <a:r>
              <a:rPr sz="2200" dirty="0">
                <a:solidFill>
                  <a:srgbClr val="FFFFFF"/>
                </a:solidFill>
                <a:latin typeface="Times New Roman"/>
                <a:cs typeface="Times New Roman"/>
              </a:rPr>
              <a:t>is transformed into </a:t>
            </a:r>
            <a:r>
              <a:rPr sz="2200" spc="5" dirty="0">
                <a:solidFill>
                  <a:srgbClr val="FFFFFF"/>
                </a:solidFill>
                <a:latin typeface="Times New Roman"/>
                <a:cs typeface="Times New Roman"/>
              </a:rPr>
              <a:t>a </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format </a:t>
            </a:r>
            <a:r>
              <a:rPr sz="2200" dirty="0">
                <a:solidFill>
                  <a:srgbClr val="FFFFFF"/>
                </a:solidFill>
                <a:latin typeface="Times New Roman"/>
                <a:cs typeface="Times New Roman"/>
              </a:rPr>
              <a:t>that </a:t>
            </a:r>
            <a:r>
              <a:rPr sz="2200" spc="5" dirty="0">
                <a:solidFill>
                  <a:srgbClr val="FFFFFF"/>
                </a:solidFill>
                <a:latin typeface="Times New Roman"/>
                <a:cs typeface="Times New Roman"/>
              </a:rPr>
              <a:t>can be used for </a:t>
            </a:r>
            <a:r>
              <a:rPr sz="2200" dirty="0">
                <a:solidFill>
                  <a:srgbClr val="FFFFFF"/>
                </a:solidFill>
                <a:latin typeface="Times New Roman"/>
                <a:cs typeface="Times New Roman"/>
              </a:rPr>
              <a:t>analysis. </a:t>
            </a:r>
            <a:r>
              <a:rPr sz="2200" spc="5" dirty="0">
                <a:solidFill>
                  <a:srgbClr val="FFFFFF"/>
                </a:solidFill>
                <a:latin typeface="Times New Roman"/>
                <a:cs typeface="Times New Roman"/>
              </a:rPr>
              <a:t>The </a:t>
            </a:r>
            <a:r>
              <a:rPr sz="2200" dirty="0">
                <a:solidFill>
                  <a:srgbClr val="FFFFFF"/>
                </a:solidFill>
                <a:latin typeface="Times New Roman"/>
                <a:cs typeface="Times New Roman"/>
              </a:rPr>
              <a:t>transformation </a:t>
            </a:r>
            <a:r>
              <a:rPr sz="2200" spc="5" dirty="0">
                <a:solidFill>
                  <a:srgbClr val="FFFFFF"/>
                </a:solidFill>
                <a:latin typeface="Times New Roman"/>
                <a:cs typeface="Times New Roman"/>
              </a:rPr>
              <a:t>process </a:t>
            </a:r>
            <a:r>
              <a:rPr sz="2200" dirty="0">
                <a:solidFill>
                  <a:srgbClr val="FFFFFF"/>
                </a:solidFill>
                <a:latin typeface="Times New Roman"/>
                <a:cs typeface="Times New Roman"/>
              </a:rPr>
              <a:t>includes methods </a:t>
            </a:r>
            <a:r>
              <a:rPr sz="2200" spc="5" dirty="0">
                <a:solidFill>
                  <a:srgbClr val="FFFFFF"/>
                </a:solidFill>
                <a:latin typeface="Times New Roman"/>
                <a:cs typeface="Times New Roman"/>
              </a:rPr>
              <a:t> such</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as</a:t>
            </a:r>
            <a:r>
              <a:rPr sz="2200" spc="10" dirty="0">
                <a:solidFill>
                  <a:srgbClr val="FFFFFF"/>
                </a:solidFill>
                <a:latin typeface="Times New Roman"/>
                <a:cs typeface="Times New Roman"/>
              </a:rPr>
              <a:t> </a:t>
            </a:r>
            <a:r>
              <a:rPr sz="2200" dirty="0">
                <a:solidFill>
                  <a:srgbClr val="FFFFFF"/>
                </a:solidFill>
                <a:latin typeface="Times New Roman"/>
                <a:cs typeface="Times New Roman"/>
              </a:rPr>
              <a:t>aggregation,</a:t>
            </a:r>
            <a:r>
              <a:rPr sz="2200" spc="5" dirty="0">
                <a:solidFill>
                  <a:srgbClr val="FFFFFF"/>
                </a:solidFill>
                <a:latin typeface="Times New Roman"/>
                <a:cs typeface="Times New Roman"/>
              </a:rPr>
              <a:t> </a:t>
            </a:r>
            <a:r>
              <a:rPr sz="2200" dirty="0">
                <a:solidFill>
                  <a:srgbClr val="FFFFFF"/>
                </a:solidFill>
                <a:latin typeface="Times New Roman"/>
                <a:cs typeface="Times New Roman"/>
              </a:rPr>
              <a:t>sampling,</a:t>
            </a:r>
            <a:r>
              <a:rPr sz="2200" spc="5" dirty="0">
                <a:solidFill>
                  <a:srgbClr val="FFFFFF"/>
                </a:solidFill>
                <a:latin typeface="Times New Roman"/>
                <a:cs typeface="Times New Roman"/>
              </a:rPr>
              <a:t> discretization,</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and</a:t>
            </a:r>
            <a:r>
              <a:rPr sz="2200" spc="10" dirty="0">
                <a:solidFill>
                  <a:srgbClr val="FFFFFF"/>
                </a:solidFill>
                <a:latin typeface="Times New Roman"/>
                <a:cs typeface="Times New Roman"/>
              </a:rPr>
              <a:t> </a:t>
            </a:r>
            <a:r>
              <a:rPr sz="2200" dirty="0">
                <a:solidFill>
                  <a:srgbClr val="FFFFFF"/>
                </a:solidFill>
                <a:latin typeface="Times New Roman"/>
                <a:cs typeface="Times New Roman"/>
              </a:rPr>
              <a:t>attribute</a:t>
            </a:r>
            <a:r>
              <a:rPr sz="2200" spc="5" dirty="0">
                <a:solidFill>
                  <a:srgbClr val="FFFFFF"/>
                </a:solidFill>
                <a:latin typeface="Times New Roman"/>
                <a:cs typeface="Times New Roman"/>
              </a:rPr>
              <a:t> </a:t>
            </a:r>
            <a:r>
              <a:rPr sz="2200" dirty="0">
                <a:solidFill>
                  <a:srgbClr val="FFFFFF"/>
                </a:solidFill>
                <a:latin typeface="Times New Roman"/>
                <a:cs typeface="Times New Roman"/>
              </a:rPr>
              <a:t>construction.</a:t>
            </a:r>
            <a:r>
              <a:rPr sz="2200" spc="5" dirty="0">
                <a:solidFill>
                  <a:srgbClr val="FFFFFF"/>
                </a:solidFill>
                <a:latin typeface="Times New Roman"/>
                <a:cs typeface="Times New Roman"/>
              </a:rPr>
              <a:t> The </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objective of data </a:t>
            </a:r>
            <a:r>
              <a:rPr sz="2200" dirty="0">
                <a:solidFill>
                  <a:srgbClr val="FFFFFF"/>
                </a:solidFill>
                <a:latin typeface="Times New Roman"/>
                <a:cs typeface="Times New Roman"/>
              </a:rPr>
              <a:t>transformation is </a:t>
            </a:r>
            <a:r>
              <a:rPr sz="2200" spc="5" dirty="0">
                <a:solidFill>
                  <a:srgbClr val="FFFFFF"/>
                </a:solidFill>
                <a:latin typeface="Times New Roman"/>
                <a:cs typeface="Times New Roman"/>
              </a:rPr>
              <a:t>to reduce </a:t>
            </a:r>
            <a:r>
              <a:rPr sz="2200" dirty="0">
                <a:solidFill>
                  <a:srgbClr val="FFFFFF"/>
                </a:solidFill>
                <a:latin typeface="Times New Roman"/>
                <a:cs typeface="Times New Roman"/>
              </a:rPr>
              <a:t>the </a:t>
            </a:r>
            <a:r>
              <a:rPr sz="2200" spc="5" dirty="0">
                <a:solidFill>
                  <a:srgbClr val="FFFFFF"/>
                </a:solidFill>
                <a:latin typeface="Times New Roman"/>
                <a:cs typeface="Times New Roman"/>
              </a:rPr>
              <a:t>data dimensionality and </a:t>
            </a:r>
            <a:r>
              <a:rPr sz="2200" dirty="0">
                <a:solidFill>
                  <a:srgbClr val="FFFFFF"/>
                </a:solidFill>
                <a:latin typeface="Times New Roman"/>
                <a:cs typeface="Times New Roman"/>
              </a:rPr>
              <a:t>convert it </a:t>
            </a:r>
            <a:r>
              <a:rPr sz="2200" spc="5" dirty="0">
                <a:solidFill>
                  <a:srgbClr val="FFFFFF"/>
                </a:solidFill>
                <a:latin typeface="Times New Roman"/>
                <a:cs typeface="Times New Roman"/>
              </a:rPr>
              <a:t> </a:t>
            </a:r>
            <a:r>
              <a:rPr sz="2200" dirty="0">
                <a:solidFill>
                  <a:srgbClr val="FFFFFF"/>
                </a:solidFill>
                <a:latin typeface="Times New Roman"/>
                <a:cs typeface="Times New Roman"/>
              </a:rPr>
              <a:t>into </a:t>
            </a:r>
            <a:r>
              <a:rPr sz="2200" spc="5" dirty="0">
                <a:solidFill>
                  <a:srgbClr val="FFFFFF"/>
                </a:solidFill>
                <a:latin typeface="Times New Roman"/>
                <a:cs typeface="Times New Roman"/>
              </a:rPr>
              <a:t>a</a:t>
            </a:r>
            <a:r>
              <a:rPr sz="2200" dirty="0">
                <a:solidFill>
                  <a:srgbClr val="FFFFFF"/>
                </a:solidFill>
                <a:latin typeface="Times New Roman"/>
                <a:cs typeface="Times New Roman"/>
              </a:rPr>
              <a:t> </a:t>
            </a:r>
            <a:r>
              <a:rPr sz="2200" spc="5" dirty="0">
                <a:solidFill>
                  <a:srgbClr val="FFFFFF"/>
                </a:solidFill>
                <a:latin typeface="Times New Roman"/>
                <a:cs typeface="Times New Roman"/>
              </a:rPr>
              <a:t>format </a:t>
            </a:r>
            <a:r>
              <a:rPr sz="2200" dirty="0">
                <a:solidFill>
                  <a:srgbClr val="FFFFFF"/>
                </a:solidFill>
                <a:latin typeface="Times New Roman"/>
                <a:cs typeface="Times New Roman"/>
              </a:rPr>
              <a:t>that </a:t>
            </a:r>
            <a:r>
              <a:rPr sz="2200" spc="5" dirty="0">
                <a:solidFill>
                  <a:srgbClr val="FFFFFF"/>
                </a:solidFill>
                <a:latin typeface="Times New Roman"/>
                <a:cs typeface="Times New Roman"/>
              </a:rPr>
              <a:t>can</a:t>
            </a:r>
            <a:r>
              <a:rPr sz="2200" dirty="0">
                <a:solidFill>
                  <a:srgbClr val="FFFFFF"/>
                </a:solidFill>
                <a:latin typeface="Times New Roman"/>
                <a:cs typeface="Times New Roman"/>
              </a:rPr>
              <a:t> </a:t>
            </a:r>
            <a:r>
              <a:rPr sz="2200" spc="5" dirty="0">
                <a:solidFill>
                  <a:srgbClr val="FFFFFF"/>
                </a:solidFill>
                <a:latin typeface="Times New Roman"/>
                <a:cs typeface="Times New Roman"/>
              </a:rPr>
              <a:t>be used for </a:t>
            </a:r>
            <a:r>
              <a:rPr sz="2200" dirty="0">
                <a:solidFill>
                  <a:srgbClr val="FFFFFF"/>
                </a:solidFill>
                <a:latin typeface="Times New Roman"/>
                <a:cs typeface="Times New Roman"/>
              </a:rPr>
              <a:t>analysis.</a:t>
            </a:r>
            <a:endParaRPr sz="2200">
              <a:latin typeface="Times New Roman"/>
              <a:cs typeface="Times New Roman"/>
            </a:endParaRPr>
          </a:p>
          <a:p>
            <a:pPr marL="187960" marR="13970" indent="-175895" algn="just">
              <a:lnSpc>
                <a:spcPct val="113500"/>
              </a:lnSpc>
              <a:spcBef>
                <a:spcPts val="1465"/>
              </a:spcBef>
              <a:buSzPct val="125000"/>
              <a:buFont typeface="Arial"/>
              <a:buChar char="•"/>
              <a:tabLst>
                <a:tab pos="188595" algn="l"/>
              </a:tabLst>
            </a:pPr>
            <a:r>
              <a:rPr sz="2200" b="1" spc="5" dirty="0">
                <a:solidFill>
                  <a:srgbClr val="FFFFFF"/>
                </a:solidFill>
                <a:latin typeface="Times New Roman"/>
                <a:cs typeface="Times New Roman"/>
              </a:rPr>
              <a:t>Data Mining</a:t>
            </a:r>
            <a:r>
              <a:rPr sz="2200" spc="5" dirty="0">
                <a:solidFill>
                  <a:srgbClr val="FFFFFF"/>
                </a:solidFill>
                <a:latin typeface="Times New Roman"/>
                <a:cs typeface="Times New Roman"/>
              </a:rPr>
              <a:t>: Data mining </a:t>
            </a:r>
            <a:r>
              <a:rPr sz="2200" dirty="0">
                <a:solidFill>
                  <a:srgbClr val="FFFFFF"/>
                </a:solidFill>
                <a:latin typeface="Times New Roman"/>
                <a:cs typeface="Times New Roman"/>
              </a:rPr>
              <a:t>is the core step </a:t>
            </a:r>
            <a:r>
              <a:rPr sz="2200" spc="5" dirty="0">
                <a:solidFill>
                  <a:srgbClr val="FFFFFF"/>
                </a:solidFill>
                <a:latin typeface="Times New Roman"/>
                <a:cs typeface="Times New Roman"/>
              </a:rPr>
              <a:t>in </a:t>
            </a:r>
            <a:r>
              <a:rPr sz="2200" dirty="0">
                <a:solidFill>
                  <a:srgbClr val="FFFFFF"/>
                </a:solidFill>
                <a:latin typeface="Times New Roman"/>
                <a:cs typeface="Times New Roman"/>
              </a:rPr>
              <a:t>the </a:t>
            </a:r>
            <a:r>
              <a:rPr sz="2200" spc="10" dirty="0">
                <a:solidFill>
                  <a:srgbClr val="FFFFFF"/>
                </a:solidFill>
                <a:latin typeface="Times New Roman"/>
                <a:cs typeface="Times New Roman"/>
              </a:rPr>
              <a:t>KDD </a:t>
            </a:r>
            <a:r>
              <a:rPr sz="2200" spc="5" dirty="0">
                <a:solidFill>
                  <a:srgbClr val="FFFFFF"/>
                </a:solidFill>
                <a:latin typeface="Times New Roman"/>
                <a:cs typeface="Times New Roman"/>
              </a:rPr>
              <a:t>process, which </a:t>
            </a:r>
            <a:r>
              <a:rPr sz="2200" dirty="0">
                <a:solidFill>
                  <a:srgbClr val="FFFFFF"/>
                </a:solidFill>
                <a:latin typeface="Times New Roman"/>
                <a:cs typeface="Times New Roman"/>
              </a:rPr>
              <a:t>involves </a:t>
            </a:r>
            <a:r>
              <a:rPr sz="2200" spc="5" dirty="0">
                <a:solidFill>
                  <a:srgbClr val="FFFFFF"/>
                </a:solidFill>
                <a:latin typeface="Times New Roman"/>
                <a:cs typeface="Times New Roman"/>
              </a:rPr>
              <a:t> </a:t>
            </a:r>
            <a:r>
              <a:rPr sz="2200" dirty="0">
                <a:solidFill>
                  <a:srgbClr val="FFFFFF"/>
                </a:solidFill>
                <a:latin typeface="Times New Roman"/>
                <a:cs typeface="Times New Roman"/>
              </a:rPr>
              <a:t>applying</a:t>
            </a:r>
            <a:r>
              <a:rPr sz="2200" spc="5" dirty="0">
                <a:solidFill>
                  <a:srgbClr val="FFFFFF"/>
                </a:solidFill>
                <a:latin typeface="Times New Roman"/>
                <a:cs typeface="Times New Roman"/>
              </a:rPr>
              <a:t> data</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mining</a:t>
            </a:r>
            <a:r>
              <a:rPr sz="2200" spc="10" dirty="0">
                <a:solidFill>
                  <a:srgbClr val="FFFFFF"/>
                </a:solidFill>
                <a:latin typeface="Times New Roman"/>
                <a:cs typeface="Times New Roman"/>
              </a:rPr>
              <a:t> </a:t>
            </a:r>
            <a:r>
              <a:rPr sz="2200" dirty="0">
                <a:solidFill>
                  <a:srgbClr val="FFFFFF"/>
                </a:solidFill>
                <a:latin typeface="Times New Roman"/>
                <a:cs typeface="Times New Roman"/>
              </a:rPr>
              <a:t>algorithms</a:t>
            </a:r>
            <a:r>
              <a:rPr sz="2200" spc="5" dirty="0">
                <a:solidFill>
                  <a:srgbClr val="FFFFFF"/>
                </a:solidFill>
                <a:latin typeface="Times New Roman"/>
                <a:cs typeface="Times New Roman"/>
              </a:rPr>
              <a:t> to</a:t>
            </a:r>
            <a:r>
              <a:rPr sz="2200" spc="10" dirty="0">
                <a:solidFill>
                  <a:srgbClr val="FFFFFF"/>
                </a:solidFill>
                <a:latin typeface="Times New Roman"/>
                <a:cs typeface="Times New Roman"/>
              </a:rPr>
              <a:t> </a:t>
            </a:r>
            <a:r>
              <a:rPr sz="2200" dirty="0">
                <a:solidFill>
                  <a:srgbClr val="FFFFFF"/>
                </a:solidFill>
                <a:latin typeface="Times New Roman"/>
                <a:cs typeface="Times New Roman"/>
              </a:rPr>
              <a:t>the</a:t>
            </a:r>
            <a:r>
              <a:rPr sz="2200" spc="5" dirty="0">
                <a:solidFill>
                  <a:srgbClr val="FFFFFF"/>
                </a:solidFill>
                <a:latin typeface="Times New Roman"/>
                <a:cs typeface="Times New Roman"/>
              </a:rPr>
              <a:t> </a:t>
            </a:r>
            <a:r>
              <a:rPr sz="2200" dirty="0">
                <a:solidFill>
                  <a:srgbClr val="FFFFFF"/>
                </a:solidFill>
                <a:latin typeface="Times New Roman"/>
                <a:cs typeface="Times New Roman"/>
              </a:rPr>
              <a:t>transformed</a:t>
            </a:r>
            <a:r>
              <a:rPr sz="2200" spc="5" dirty="0">
                <a:solidFill>
                  <a:srgbClr val="FFFFFF"/>
                </a:solidFill>
                <a:latin typeface="Times New Roman"/>
                <a:cs typeface="Times New Roman"/>
              </a:rPr>
              <a:t> data</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to</a:t>
            </a:r>
            <a:r>
              <a:rPr sz="2200" spc="10" dirty="0">
                <a:solidFill>
                  <a:srgbClr val="FFFFFF"/>
                </a:solidFill>
                <a:latin typeface="Times New Roman"/>
                <a:cs typeface="Times New Roman"/>
              </a:rPr>
              <a:t> </a:t>
            </a:r>
            <a:r>
              <a:rPr sz="2200" dirty="0">
                <a:solidFill>
                  <a:srgbClr val="FFFFFF"/>
                </a:solidFill>
                <a:latin typeface="Times New Roman"/>
                <a:cs typeface="Times New Roman"/>
              </a:rPr>
              <a:t>identify</a:t>
            </a:r>
            <a:r>
              <a:rPr sz="2200" spc="5" dirty="0">
                <a:solidFill>
                  <a:srgbClr val="FFFFFF"/>
                </a:solidFill>
                <a:latin typeface="Times New Roman"/>
                <a:cs typeface="Times New Roman"/>
              </a:rPr>
              <a:t> patterns, </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relationships,</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and</a:t>
            </a:r>
            <a:r>
              <a:rPr sz="2200" spc="10" dirty="0">
                <a:solidFill>
                  <a:srgbClr val="FFFFFF"/>
                </a:solidFill>
                <a:latin typeface="Times New Roman"/>
                <a:cs typeface="Times New Roman"/>
              </a:rPr>
              <a:t> </a:t>
            </a:r>
            <a:r>
              <a:rPr sz="2200" dirty="0">
                <a:solidFill>
                  <a:srgbClr val="FFFFFF"/>
                </a:solidFill>
                <a:latin typeface="Times New Roman"/>
                <a:cs typeface="Times New Roman"/>
              </a:rPr>
              <a:t>associations.</a:t>
            </a:r>
            <a:r>
              <a:rPr sz="2200" spc="5" dirty="0">
                <a:solidFill>
                  <a:srgbClr val="FFFFFF"/>
                </a:solidFill>
                <a:latin typeface="Times New Roman"/>
                <a:cs typeface="Times New Roman"/>
              </a:rPr>
              <a:t> Data</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mining</a:t>
            </a:r>
            <a:r>
              <a:rPr sz="2200" spc="10" dirty="0">
                <a:solidFill>
                  <a:srgbClr val="FFFFFF"/>
                </a:solidFill>
                <a:latin typeface="Times New Roman"/>
                <a:cs typeface="Times New Roman"/>
              </a:rPr>
              <a:t> </a:t>
            </a:r>
            <a:r>
              <a:rPr sz="2200" dirty="0">
                <a:solidFill>
                  <a:srgbClr val="FFFFFF"/>
                </a:solidFill>
                <a:latin typeface="Times New Roman"/>
                <a:cs typeface="Times New Roman"/>
              </a:rPr>
              <a:t>algorithms</a:t>
            </a:r>
            <a:r>
              <a:rPr sz="2200" spc="5" dirty="0">
                <a:solidFill>
                  <a:srgbClr val="FFFFFF"/>
                </a:solidFill>
                <a:latin typeface="Times New Roman"/>
                <a:cs typeface="Times New Roman"/>
              </a:rPr>
              <a:t> </a:t>
            </a:r>
            <a:r>
              <a:rPr sz="2200" dirty="0">
                <a:solidFill>
                  <a:srgbClr val="FFFFFF"/>
                </a:solidFill>
                <a:latin typeface="Times New Roman"/>
                <a:cs typeface="Times New Roman"/>
              </a:rPr>
              <a:t>include</a:t>
            </a:r>
            <a:r>
              <a:rPr sz="2200" spc="5" dirty="0">
                <a:solidFill>
                  <a:srgbClr val="FFFFFF"/>
                </a:solidFill>
                <a:latin typeface="Times New Roman"/>
                <a:cs typeface="Times New Roman"/>
              </a:rPr>
              <a:t> </a:t>
            </a:r>
            <a:r>
              <a:rPr sz="2200" dirty="0">
                <a:solidFill>
                  <a:srgbClr val="FFFFFF"/>
                </a:solidFill>
                <a:latin typeface="Times New Roman"/>
                <a:cs typeface="Times New Roman"/>
              </a:rPr>
              <a:t>classification, </a:t>
            </a:r>
            <a:r>
              <a:rPr sz="2200" spc="5" dirty="0">
                <a:solidFill>
                  <a:srgbClr val="FFFFFF"/>
                </a:solidFill>
                <a:latin typeface="Times New Roman"/>
                <a:cs typeface="Times New Roman"/>
              </a:rPr>
              <a:t> </a:t>
            </a:r>
            <a:r>
              <a:rPr sz="2200" dirty="0">
                <a:solidFill>
                  <a:srgbClr val="FFFFFF"/>
                </a:solidFill>
                <a:latin typeface="Times New Roman"/>
                <a:cs typeface="Times New Roman"/>
              </a:rPr>
              <a:t>clustering, association</a:t>
            </a:r>
            <a:r>
              <a:rPr sz="2200" spc="5" dirty="0">
                <a:solidFill>
                  <a:srgbClr val="FFFFFF"/>
                </a:solidFill>
                <a:latin typeface="Times New Roman"/>
                <a:cs typeface="Times New Roman"/>
              </a:rPr>
              <a:t> rule</a:t>
            </a:r>
            <a:r>
              <a:rPr sz="2200" spc="10" dirty="0">
                <a:solidFill>
                  <a:srgbClr val="FFFFFF"/>
                </a:solidFill>
                <a:latin typeface="Times New Roman"/>
                <a:cs typeface="Times New Roman"/>
              </a:rPr>
              <a:t> </a:t>
            </a:r>
            <a:r>
              <a:rPr sz="2200" dirty="0">
                <a:solidFill>
                  <a:srgbClr val="FFFFFF"/>
                </a:solidFill>
                <a:latin typeface="Times New Roman"/>
                <a:cs typeface="Times New Roman"/>
              </a:rPr>
              <a:t>mining,</a:t>
            </a:r>
            <a:r>
              <a:rPr sz="2200" spc="5" dirty="0">
                <a:solidFill>
                  <a:srgbClr val="FFFFFF"/>
                </a:solidFill>
                <a:latin typeface="Times New Roman"/>
                <a:cs typeface="Times New Roman"/>
              </a:rPr>
              <a:t> and other</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machine </a:t>
            </a:r>
            <a:r>
              <a:rPr sz="2200" dirty="0">
                <a:solidFill>
                  <a:srgbClr val="FFFFFF"/>
                </a:solidFill>
                <a:latin typeface="Times New Roman"/>
                <a:cs typeface="Times New Roman"/>
              </a:rPr>
              <a:t>learning</a:t>
            </a:r>
            <a:r>
              <a:rPr sz="2200" spc="5" dirty="0">
                <a:solidFill>
                  <a:srgbClr val="FFFFFF"/>
                </a:solidFill>
                <a:latin typeface="Times New Roman"/>
                <a:cs typeface="Times New Roman"/>
              </a:rPr>
              <a:t> </a:t>
            </a:r>
            <a:r>
              <a:rPr sz="2200" dirty="0">
                <a:solidFill>
                  <a:srgbClr val="FFFFFF"/>
                </a:solidFill>
                <a:latin typeface="Times New Roman"/>
                <a:cs typeface="Times New Roman"/>
              </a:rPr>
              <a:t>techniques.</a:t>
            </a:r>
            <a:endParaRPr sz="2200">
              <a:latin typeface="Times New Roman"/>
              <a:cs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4295" rIns="0" bIns="0" rtlCol="0">
            <a:spAutoFit/>
          </a:bodyPr>
          <a:lstStyle/>
          <a:p>
            <a:pPr marL="12700" marR="5080">
              <a:lnSpc>
                <a:spcPts val="3890"/>
              </a:lnSpc>
              <a:spcBef>
                <a:spcPts val="585"/>
              </a:spcBef>
            </a:pPr>
            <a:r>
              <a:rPr spc="-5" dirty="0"/>
              <a:t>KNOWLEDGE DISCOVERY IN DATABASES </a:t>
            </a:r>
            <a:r>
              <a:rPr spc="-885" dirty="0"/>
              <a:t> </a:t>
            </a:r>
            <a:r>
              <a:rPr dirty="0"/>
              <a:t>(KDD)</a:t>
            </a:r>
          </a:p>
        </p:txBody>
      </p:sp>
      <p:sp>
        <p:nvSpPr>
          <p:cNvPr id="3" name="object 3"/>
          <p:cNvSpPr txBox="1"/>
          <p:nvPr/>
        </p:nvSpPr>
        <p:spPr>
          <a:xfrm>
            <a:off x="1267266" y="2229776"/>
            <a:ext cx="9697720" cy="3569970"/>
          </a:xfrm>
          <a:prstGeom prst="rect">
            <a:avLst/>
          </a:prstGeom>
        </p:spPr>
        <p:txBody>
          <a:bodyPr vert="horz" wrap="square" lIns="0" tIns="34290" rIns="0" bIns="0" rtlCol="0">
            <a:spAutoFit/>
          </a:bodyPr>
          <a:lstStyle/>
          <a:p>
            <a:pPr marL="187960" marR="6985" indent="-175895" algn="just">
              <a:lnSpc>
                <a:spcPct val="124500"/>
              </a:lnSpc>
              <a:spcBef>
                <a:spcPts val="270"/>
              </a:spcBef>
              <a:buSzPct val="125000"/>
              <a:buFont typeface="Arial"/>
              <a:buChar char="•"/>
              <a:tabLst>
                <a:tab pos="188595" algn="l"/>
              </a:tabLst>
            </a:pPr>
            <a:r>
              <a:rPr sz="2200" b="1" dirty="0">
                <a:solidFill>
                  <a:srgbClr val="FFFFFF"/>
                </a:solidFill>
                <a:latin typeface="Times New Roman"/>
                <a:cs typeface="Times New Roman"/>
              </a:rPr>
              <a:t>Pattern </a:t>
            </a:r>
            <a:r>
              <a:rPr sz="2200" b="1" spc="5" dirty="0">
                <a:solidFill>
                  <a:srgbClr val="FFFFFF"/>
                </a:solidFill>
                <a:latin typeface="Times New Roman"/>
                <a:cs typeface="Times New Roman"/>
              </a:rPr>
              <a:t>Evaluation</a:t>
            </a:r>
            <a:r>
              <a:rPr sz="2200" spc="5" dirty="0">
                <a:solidFill>
                  <a:srgbClr val="FFFFFF"/>
                </a:solidFill>
                <a:latin typeface="Times New Roman"/>
                <a:cs typeface="Times New Roman"/>
              </a:rPr>
              <a:t>: In </a:t>
            </a:r>
            <a:r>
              <a:rPr sz="2200" dirty="0">
                <a:solidFill>
                  <a:srgbClr val="FFFFFF"/>
                </a:solidFill>
                <a:latin typeface="Times New Roman"/>
                <a:cs typeface="Times New Roman"/>
              </a:rPr>
              <a:t>this step, the </a:t>
            </a:r>
            <a:r>
              <a:rPr sz="2200" spc="5" dirty="0">
                <a:solidFill>
                  <a:srgbClr val="FFFFFF"/>
                </a:solidFill>
                <a:latin typeface="Times New Roman"/>
                <a:cs typeface="Times New Roman"/>
              </a:rPr>
              <a:t>discovered patterns </a:t>
            </a:r>
            <a:r>
              <a:rPr sz="2200" dirty="0">
                <a:solidFill>
                  <a:srgbClr val="FFFFFF"/>
                </a:solidFill>
                <a:latin typeface="Times New Roman"/>
                <a:cs typeface="Times New Roman"/>
              </a:rPr>
              <a:t>are evaluated </a:t>
            </a:r>
            <a:r>
              <a:rPr sz="2200" spc="5" dirty="0">
                <a:solidFill>
                  <a:srgbClr val="FFFFFF"/>
                </a:solidFill>
                <a:latin typeface="Times New Roman"/>
                <a:cs typeface="Times New Roman"/>
              </a:rPr>
              <a:t>for </a:t>
            </a:r>
            <a:r>
              <a:rPr sz="2200" dirty="0">
                <a:solidFill>
                  <a:srgbClr val="FFFFFF"/>
                </a:solidFill>
                <a:latin typeface="Times New Roman"/>
                <a:cs typeface="Times New Roman"/>
              </a:rPr>
              <a:t>their </a:t>
            </a:r>
            <a:r>
              <a:rPr sz="2200" spc="5" dirty="0">
                <a:solidFill>
                  <a:srgbClr val="FFFFFF"/>
                </a:solidFill>
                <a:latin typeface="Times New Roman"/>
                <a:cs typeface="Times New Roman"/>
              </a:rPr>
              <a:t> usefulness</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and</a:t>
            </a:r>
            <a:r>
              <a:rPr sz="2200" spc="10" dirty="0">
                <a:solidFill>
                  <a:srgbClr val="FFFFFF"/>
                </a:solidFill>
                <a:latin typeface="Times New Roman"/>
                <a:cs typeface="Times New Roman"/>
              </a:rPr>
              <a:t> </a:t>
            </a:r>
            <a:r>
              <a:rPr sz="2200" dirty="0">
                <a:solidFill>
                  <a:srgbClr val="FFFFFF"/>
                </a:solidFill>
                <a:latin typeface="Times New Roman"/>
                <a:cs typeface="Times New Roman"/>
              </a:rPr>
              <a:t>significance.</a:t>
            </a:r>
            <a:r>
              <a:rPr sz="2200" spc="5" dirty="0">
                <a:solidFill>
                  <a:srgbClr val="FFFFFF"/>
                </a:solidFill>
                <a:latin typeface="Times New Roman"/>
                <a:cs typeface="Times New Roman"/>
              </a:rPr>
              <a:t> The</a:t>
            </a:r>
            <a:r>
              <a:rPr sz="2200" spc="10" dirty="0">
                <a:solidFill>
                  <a:srgbClr val="FFFFFF"/>
                </a:solidFill>
                <a:latin typeface="Times New Roman"/>
                <a:cs typeface="Times New Roman"/>
              </a:rPr>
              <a:t> </a:t>
            </a:r>
            <a:r>
              <a:rPr sz="2200" dirty="0">
                <a:solidFill>
                  <a:srgbClr val="FFFFFF"/>
                </a:solidFill>
                <a:latin typeface="Times New Roman"/>
                <a:cs typeface="Times New Roman"/>
              </a:rPr>
              <a:t>evaluation</a:t>
            </a:r>
            <a:r>
              <a:rPr sz="2200" spc="5" dirty="0">
                <a:solidFill>
                  <a:srgbClr val="FFFFFF"/>
                </a:solidFill>
                <a:latin typeface="Times New Roman"/>
                <a:cs typeface="Times New Roman"/>
              </a:rPr>
              <a:t> process</a:t>
            </a:r>
            <a:r>
              <a:rPr sz="2200" spc="10" dirty="0">
                <a:solidFill>
                  <a:srgbClr val="FFFFFF"/>
                </a:solidFill>
                <a:latin typeface="Times New Roman"/>
                <a:cs typeface="Times New Roman"/>
              </a:rPr>
              <a:t> </a:t>
            </a:r>
            <a:r>
              <a:rPr sz="2200" dirty="0">
                <a:solidFill>
                  <a:srgbClr val="FFFFFF"/>
                </a:solidFill>
                <a:latin typeface="Times New Roman"/>
                <a:cs typeface="Times New Roman"/>
              </a:rPr>
              <a:t>involves</a:t>
            </a:r>
            <a:r>
              <a:rPr sz="2200" spc="5" dirty="0">
                <a:solidFill>
                  <a:srgbClr val="FFFFFF"/>
                </a:solidFill>
                <a:latin typeface="Times New Roman"/>
                <a:cs typeface="Times New Roman"/>
              </a:rPr>
              <a:t> using</a:t>
            </a:r>
            <a:r>
              <a:rPr sz="2200" spc="10" dirty="0">
                <a:solidFill>
                  <a:srgbClr val="FFFFFF"/>
                </a:solidFill>
                <a:latin typeface="Times New Roman"/>
                <a:cs typeface="Times New Roman"/>
              </a:rPr>
              <a:t> </a:t>
            </a:r>
            <a:r>
              <a:rPr sz="2200" dirty="0">
                <a:solidFill>
                  <a:srgbClr val="FFFFFF"/>
                </a:solidFill>
                <a:latin typeface="Times New Roman"/>
                <a:cs typeface="Times New Roman"/>
              </a:rPr>
              <a:t>statistical </a:t>
            </a:r>
            <a:r>
              <a:rPr sz="2200" spc="5" dirty="0">
                <a:solidFill>
                  <a:srgbClr val="FFFFFF"/>
                </a:solidFill>
                <a:latin typeface="Times New Roman"/>
                <a:cs typeface="Times New Roman"/>
              </a:rPr>
              <a:t> </a:t>
            </a:r>
            <a:r>
              <a:rPr sz="2200" dirty="0">
                <a:solidFill>
                  <a:srgbClr val="FFFFFF"/>
                </a:solidFill>
                <a:latin typeface="Times New Roman"/>
                <a:cs typeface="Times New Roman"/>
              </a:rPr>
              <a:t>measures</a:t>
            </a:r>
            <a:r>
              <a:rPr sz="2200" spc="5" dirty="0">
                <a:solidFill>
                  <a:srgbClr val="FFFFFF"/>
                </a:solidFill>
                <a:latin typeface="Times New Roman"/>
                <a:cs typeface="Times New Roman"/>
              </a:rPr>
              <a:t> and</a:t>
            </a:r>
            <a:r>
              <a:rPr sz="2200" spc="10" dirty="0">
                <a:solidFill>
                  <a:srgbClr val="FFFFFF"/>
                </a:solidFill>
                <a:latin typeface="Times New Roman"/>
                <a:cs typeface="Times New Roman"/>
              </a:rPr>
              <a:t> domain</a:t>
            </a:r>
            <a:r>
              <a:rPr sz="2200" spc="15" dirty="0">
                <a:solidFill>
                  <a:srgbClr val="FFFFFF"/>
                </a:solidFill>
                <a:latin typeface="Times New Roman"/>
                <a:cs typeface="Times New Roman"/>
              </a:rPr>
              <a:t> </a:t>
            </a:r>
            <a:r>
              <a:rPr sz="2200" spc="5" dirty="0">
                <a:solidFill>
                  <a:srgbClr val="FFFFFF"/>
                </a:solidFill>
                <a:latin typeface="Times New Roman"/>
                <a:cs typeface="Times New Roman"/>
              </a:rPr>
              <a:t>knowledge</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to</a:t>
            </a:r>
            <a:r>
              <a:rPr sz="2200" spc="10" dirty="0">
                <a:solidFill>
                  <a:srgbClr val="FFFFFF"/>
                </a:solidFill>
                <a:latin typeface="Times New Roman"/>
                <a:cs typeface="Times New Roman"/>
              </a:rPr>
              <a:t> </a:t>
            </a:r>
            <a:r>
              <a:rPr sz="2200" dirty="0">
                <a:solidFill>
                  <a:srgbClr val="FFFFFF"/>
                </a:solidFill>
                <a:latin typeface="Times New Roman"/>
                <a:cs typeface="Times New Roman"/>
              </a:rPr>
              <a:t>assess</a:t>
            </a:r>
            <a:r>
              <a:rPr sz="2200" spc="5" dirty="0">
                <a:solidFill>
                  <a:srgbClr val="FFFFFF"/>
                </a:solidFill>
                <a:latin typeface="Times New Roman"/>
                <a:cs typeface="Times New Roman"/>
              </a:rPr>
              <a:t> </a:t>
            </a:r>
            <a:r>
              <a:rPr sz="2200" dirty="0">
                <a:solidFill>
                  <a:srgbClr val="FFFFFF"/>
                </a:solidFill>
                <a:latin typeface="Times New Roman"/>
                <a:cs typeface="Times New Roman"/>
              </a:rPr>
              <a:t>the</a:t>
            </a:r>
            <a:r>
              <a:rPr sz="2200" spc="5" dirty="0">
                <a:solidFill>
                  <a:srgbClr val="FFFFFF"/>
                </a:solidFill>
                <a:latin typeface="Times New Roman"/>
                <a:cs typeface="Times New Roman"/>
              </a:rPr>
              <a:t> validity</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and</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usefulness</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of</a:t>
            </a:r>
            <a:r>
              <a:rPr sz="2200" spc="10" dirty="0">
                <a:solidFill>
                  <a:srgbClr val="FFFFFF"/>
                </a:solidFill>
                <a:latin typeface="Times New Roman"/>
                <a:cs typeface="Times New Roman"/>
              </a:rPr>
              <a:t> </a:t>
            </a:r>
            <a:r>
              <a:rPr sz="2200" dirty="0">
                <a:solidFill>
                  <a:srgbClr val="FFFFFF"/>
                </a:solidFill>
                <a:latin typeface="Times New Roman"/>
                <a:cs typeface="Times New Roman"/>
              </a:rPr>
              <a:t>the </a:t>
            </a:r>
            <a:r>
              <a:rPr sz="2200" spc="5" dirty="0">
                <a:solidFill>
                  <a:srgbClr val="FFFFFF"/>
                </a:solidFill>
                <a:latin typeface="Times New Roman"/>
                <a:cs typeface="Times New Roman"/>
              </a:rPr>
              <a:t> patterns.</a:t>
            </a:r>
            <a:endParaRPr sz="2200" dirty="0">
              <a:latin typeface="Times New Roman"/>
              <a:cs typeface="Times New Roman"/>
            </a:endParaRPr>
          </a:p>
          <a:p>
            <a:pPr marL="187960" marR="5080" indent="-175895" algn="just">
              <a:lnSpc>
                <a:spcPct val="124500"/>
              </a:lnSpc>
              <a:spcBef>
                <a:spcPts val="1445"/>
              </a:spcBef>
              <a:buSzPct val="125000"/>
              <a:buFont typeface="Arial"/>
              <a:buChar char="•"/>
              <a:tabLst>
                <a:tab pos="188595" algn="l"/>
              </a:tabLst>
            </a:pPr>
            <a:r>
              <a:rPr sz="2200" b="1" spc="5" dirty="0">
                <a:solidFill>
                  <a:srgbClr val="FFFFFF"/>
                </a:solidFill>
                <a:latin typeface="Times New Roman"/>
                <a:cs typeface="Times New Roman"/>
              </a:rPr>
              <a:t>Knowledge Representation</a:t>
            </a:r>
            <a:r>
              <a:rPr sz="2200" spc="5" dirty="0">
                <a:solidFill>
                  <a:srgbClr val="FFFFFF"/>
                </a:solidFill>
                <a:latin typeface="Times New Roman"/>
                <a:cs typeface="Times New Roman"/>
              </a:rPr>
              <a:t>: </a:t>
            </a:r>
            <a:r>
              <a:rPr sz="2200" dirty="0">
                <a:solidFill>
                  <a:srgbClr val="FFFFFF"/>
                </a:solidFill>
                <a:latin typeface="Times New Roman"/>
                <a:cs typeface="Times New Roman"/>
              </a:rPr>
              <a:t>Finally, the </a:t>
            </a:r>
            <a:r>
              <a:rPr sz="2200" spc="5" dirty="0">
                <a:solidFill>
                  <a:srgbClr val="FFFFFF"/>
                </a:solidFill>
                <a:latin typeface="Times New Roman"/>
                <a:cs typeface="Times New Roman"/>
              </a:rPr>
              <a:t>discovered patterns and relationships </a:t>
            </a:r>
            <a:r>
              <a:rPr sz="2200" dirty="0">
                <a:solidFill>
                  <a:srgbClr val="FFFFFF"/>
                </a:solidFill>
                <a:latin typeface="Times New Roman"/>
                <a:cs typeface="Times New Roman"/>
              </a:rPr>
              <a:t>are </a:t>
            </a:r>
            <a:r>
              <a:rPr sz="2200" spc="5" dirty="0">
                <a:solidFill>
                  <a:srgbClr val="FFFFFF"/>
                </a:solidFill>
                <a:latin typeface="Times New Roman"/>
                <a:cs typeface="Times New Roman"/>
              </a:rPr>
              <a:t> represented in a format </a:t>
            </a:r>
            <a:r>
              <a:rPr sz="2200" dirty="0">
                <a:solidFill>
                  <a:srgbClr val="FFFFFF"/>
                </a:solidFill>
                <a:latin typeface="Times New Roman"/>
                <a:cs typeface="Times New Roman"/>
              </a:rPr>
              <a:t>that </a:t>
            </a:r>
            <a:r>
              <a:rPr sz="2200" spc="5" dirty="0">
                <a:solidFill>
                  <a:srgbClr val="FFFFFF"/>
                </a:solidFill>
                <a:latin typeface="Times New Roman"/>
                <a:cs typeface="Times New Roman"/>
              </a:rPr>
              <a:t>can be </a:t>
            </a:r>
            <a:r>
              <a:rPr sz="2200" dirty="0">
                <a:solidFill>
                  <a:srgbClr val="FFFFFF"/>
                </a:solidFill>
                <a:latin typeface="Times New Roman"/>
                <a:cs typeface="Times New Roman"/>
              </a:rPr>
              <a:t>easily </a:t>
            </a:r>
            <a:r>
              <a:rPr sz="2200" spc="5" dirty="0">
                <a:solidFill>
                  <a:srgbClr val="FFFFFF"/>
                </a:solidFill>
                <a:latin typeface="Times New Roman"/>
                <a:cs typeface="Times New Roman"/>
              </a:rPr>
              <a:t>understood </a:t>
            </a:r>
            <a:r>
              <a:rPr sz="2200" spc="10" dirty="0">
                <a:solidFill>
                  <a:srgbClr val="FFFFFF"/>
                </a:solidFill>
                <a:latin typeface="Times New Roman"/>
                <a:cs typeface="Times New Roman"/>
              </a:rPr>
              <a:t>by </a:t>
            </a:r>
            <a:r>
              <a:rPr sz="2200" spc="5" dirty="0">
                <a:solidFill>
                  <a:srgbClr val="FFFFFF"/>
                </a:solidFill>
                <a:latin typeface="Times New Roman"/>
                <a:cs typeface="Times New Roman"/>
              </a:rPr>
              <a:t>users. The knowledge </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representation process </a:t>
            </a:r>
            <a:r>
              <a:rPr sz="2200" dirty="0">
                <a:solidFill>
                  <a:srgbClr val="FFFFFF"/>
                </a:solidFill>
                <a:latin typeface="Times New Roman"/>
                <a:cs typeface="Times New Roman"/>
              </a:rPr>
              <a:t>includes </a:t>
            </a:r>
            <a:r>
              <a:rPr sz="2200" spc="5" dirty="0">
                <a:solidFill>
                  <a:srgbClr val="FFFFFF"/>
                </a:solidFill>
                <a:latin typeface="Times New Roman"/>
                <a:cs typeface="Times New Roman"/>
              </a:rPr>
              <a:t>visualization </a:t>
            </a:r>
            <a:r>
              <a:rPr sz="2200" dirty="0">
                <a:solidFill>
                  <a:srgbClr val="FFFFFF"/>
                </a:solidFill>
                <a:latin typeface="Times New Roman"/>
                <a:cs typeface="Times New Roman"/>
              </a:rPr>
              <a:t>techniques </a:t>
            </a:r>
            <a:r>
              <a:rPr sz="2200" spc="5" dirty="0">
                <a:solidFill>
                  <a:srgbClr val="FFFFFF"/>
                </a:solidFill>
                <a:latin typeface="Times New Roman"/>
                <a:cs typeface="Times New Roman"/>
              </a:rPr>
              <a:t>and predictive models </a:t>
            </a:r>
            <a:r>
              <a:rPr sz="2200" dirty="0">
                <a:solidFill>
                  <a:srgbClr val="FFFFFF"/>
                </a:solidFill>
                <a:latin typeface="Times New Roman"/>
                <a:cs typeface="Times New Roman"/>
              </a:rPr>
              <a:t>that </a:t>
            </a:r>
            <a:r>
              <a:rPr sz="2200" spc="5" dirty="0">
                <a:solidFill>
                  <a:srgbClr val="FFFFFF"/>
                </a:solidFill>
                <a:latin typeface="Times New Roman"/>
                <a:cs typeface="Times New Roman"/>
              </a:rPr>
              <a:t> can</a:t>
            </a:r>
            <a:r>
              <a:rPr sz="2200" dirty="0">
                <a:solidFill>
                  <a:srgbClr val="FFFFFF"/>
                </a:solidFill>
                <a:latin typeface="Times New Roman"/>
                <a:cs typeface="Times New Roman"/>
              </a:rPr>
              <a:t> </a:t>
            </a:r>
            <a:r>
              <a:rPr sz="2200" spc="5" dirty="0">
                <a:solidFill>
                  <a:srgbClr val="FFFFFF"/>
                </a:solidFill>
                <a:latin typeface="Times New Roman"/>
                <a:cs typeface="Times New Roman"/>
              </a:rPr>
              <a:t>be used to</a:t>
            </a:r>
            <a:r>
              <a:rPr sz="2200" dirty="0">
                <a:solidFill>
                  <a:srgbClr val="FFFFFF"/>
                </a:solidFill>
                <a:latin typeface="Times New Roman"/>
                <a:cs typeface="Times New Roman"/>
              </a:rPr>
              <a:t> </a:t>
            </a:r>
            <a:r>
              <a:rPr sz="2200" spc="5" dirty="0">
                <a:solidFill>
                  <a:srgbClr val="FFFFFF"/>
                </a:solidFill>
                <a:latin typeface="Times New Roman"/>
                <a:cs typeface="Times New Roman"/>
              </a:rPr>
              <a:t>make</a:t>
            </a:r>
            <a:r>
              <a:rPr sz="2200" dirty="0">
                <a:solidFill>
                  <a:srgbClr val="FFFFFF"/>
                </a:solidFill>
                <a:latin typeface="Times New Roman"/>
                <a:cs typeface="Times New Roman"/>
              </a:rPr>
              <a:t> </a:t>
            </a:r>
            <a:r>
              <a:rPr sz="2200" spc="5" dirty="0">
                <a:solidFill>
                  <a:srgbClr val="FFFFFF"/>
                </a:solidFill>
                <a:latin typeface="Times New Roman"/>
                <a:cs typeface="Times New Roman"/>
              </a:rPr>
              <a:t>predictions</a:t>
            </a:r>
            <a:r>
              <a:rPr sz="2200" spc="10" dirty="0">
                <a:solidFill>
                  <a:srgbClr val="FFFFFF"/>
                </a:solidFill>
                <a:latin typeface="Times New Roman"/>
                <a:cs typeface="Times New Roman"/>
              </a:rPr>
              <a:t> </a:t>
            </a:r>
            <a:r>
              <a:rPr sz="2200" spc="5" dirty="0">
                <a:solidFill>
                  <a:srgbClr val="FFFFFF"/>
                </a:solidFill>
                <a:latin typeface="Times New Roman"/>
                <a:cs typeface="Times New Roman"/>
              </a:rPr>
              <a:t>and</a:t>
            </a:r>
            <a:r>
              <a:rPr sz="2200" dirty="0">
                <a:solidFill>
                  <a:srgbClr val="FFFFFF"/>
                </a:solidFill>
                <a:latin typeface="Times New Roman"/>
                <a:cs typeface="Times New Roman"/>
              </a:rPr>
              <a:t> </a:t>
            </a:r>
            <a:r>
              <a:rPr sz="2200" spc="5" dirty="0">
                <a:solidFill>
                  <a:srgbClr val="FFFFFF"/>
                </a:solidFill>
                <a:latin typeface="Times New Roman"/>
                <a:cs typeface="Times New Roman"/>
              </a:rPr>
              <a:t>improve</a:t>
            </a:r>
            <a:r>
              <a:rPr sz="2200" dirty="0">
                <a:solidFill>
                  <a:srgbClr val="FFFFFF"/>
                </a:solidFill>
                <a:latin typeface="Times New Roman"/>
                <a:cs typeface="Times New Roman"/>
              </a:rPr>
              <a:t> </a:t>
            </a:r>
            <a:r>
              <a:rPr sz="2200" spc="5" dirty="0">
                <a:solidFill>
                  <a:srgbClr val="FFFFFF"/>
                </a:solidFill>
                <a:latin typeface="Times New Roman"/>
                <a:cs typeface="Times New Roman"/>
              </a:rPr>
              <a:t>decision-making.</a:t>
            </a:r>
            <a:endParaRPr sz="2200" dirty="0">
              <a:latin typeface="Times New Roman"/>
              <a:cs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B79F1-A04E-598D-C8EB-E0C9FD6E638C}"/>
              </a:ext>
            </a:extLst>
          </p:cNvPr>
          <p:cNvSpPr>
            <a:spLocks noGrp="1"/>
          </p:cNvSpPr>
          <p:nvPr>
            <p:ph type="title"/>
          </p:nvPr>
        </p:nvSpPr>
        <p:spPr>
          <a:xfrm>
            <a:off x="1214438" y="789147"/>
            <a:ext cx="9763123" cy="553998"/>
          </a:xfrm>
        </p:spPr>
        <p:txBody>
          <a:bodyPr/>
          <a:lstStyle/>
          <a:p>
            <a:r>
              <a:rPr lang="en-IN" dirty="0"/>
              <a:t>KNOWLEDGE MANAGEMENT SYSTEM.</a:t>
            </a:r>
          </a:p>
        </p:txBody>
      </p:sp>
      <p:sp>
        <p:nvSpPr>
          <p:cNvPr id="3" name="Text Placeholder 2">
            <a:extLst>
              <a:ext uri="{FF2B5EF4-FFF2-40B4-BE49-F238E27FC236}">
                <a16:creationId xmlns:a16="http://schemas.microsoft.com/office/drawing/2014/main" id="{C7F59492-9489-62B9-94DC-76076DC6E2B4}"/>
              </a:ext>
            </a:extLst>
          </p:cNvPr>
          <p:cNvSpPr>
            <a:spLocks noGrp="1"/>
          </p:cNvSpPr>
          <p:nvPr>
            <p:ph type="body" idx="1"/>
          </p:nvPr>
        </p:nvSpPr>
        <p:spPr>
          <a:xfrm>
            <a:off x="1239240" y="1828800"/>
            <a:ext cx="9713519" cy="5121416"/>
          </a:xfrm>
        </p:spPr>
        <p:txBody>
          <a:bodyPr/>
          <a:lstStyle/>
          <a:p>
            <a:r>
              <a:rPr lang="en-US" dirty="0"/>
              <a:t>A knowledge management system (KMS) is a customer service software tool used by companies, specifically to organize documentation, frequently asked questions, and other information into easily accessible formats for both internal staff and external customers.</a:t>
            </a:r>
          </a:p>
          <a:p>
            <a:endParaRPr lang="en-US" dirty="0"/>
          </a:p>
          <a:p>
            <a:r>
              <a:rPr lang="en-US" dirty="0"/>
              <a:t>Using knowledge management software can help keep documentation up to date.</a:t>
            </a:r>
          </a:p>
          <a:p>
            <a:endParaRPr lang="en-US" dirty="0"/>
          </a:p>
          <a:p>
            <a:r>
              <a:rPr lang="en-US" dirty="0"/>
              <a:t>It can also help customers find their answers, and manage knowledge access and permissions across user groups.</a:t>
            </a:r>
          </a:p>
          <a:p>
            <a:endParaRPr lang="en-US" dirty="0"/>
          </a:p>
          <a:p>
            <a:r>
              <a:rPr lang="en-US" dirty="0"/>
              <a:t>It’s a tool that’s valuable to both small businesses just starting and global enterprises that need to distribute knowledge to a wide variety of audiences.</a:t>
            </a:r>
            <a:endParaRPr lang="en-IN" dirty="0"/>
          </a:p>
        </p:txBody>
      </p:sp>
    </p:spTree>
    <p:extLst>
      <p:ext uri="{BB962C8B-B14F-4D97-AF65-F5344CB8AC3E}">
        <p14:creationId xmlns:p14="http://schemas.microsoft.com/office/powerpoint/2010/main" val="24896516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B79F1-A04E-598D-C8EB-E0C9FD6E638C}"/>
              </a:ext>
            </a:extLst>
          </p:cNvPr>
          <p:cNvSpPr>
            <a:spLocks noGrp="1"/>
          </p:cNvSpPr>
          <p:nvPr>
            <p:ph type="title"/>
          </p:nvPr>
        </p:nvSpPr>
        <p:spPr>
          <a:xfrm>
            <a:off x="1214438" y="789147"/>
            <a:ext cx="9763123" cy="553998"/>
          </a:xfrm>
        </p:spPr>
        <p:txBody>
          <a:bodyPr/>
          <a:lstStyle/>
          <a:p>
            <a:r>
              <a:rPr lang="en-IN" dirty="0"/>
              <a:t>WHAT IS KNOWLEDGE MANAGEMENT?</a:t>
            </a:r>
          </a:p>
        </p:txBody>
      </p:sp>
      <p:sp>
        <p:nvSpPr>
          <p:cNvPr id="3" name="Text Placeholder 2">
            <a:extLst>
              <a:ext uri="{FF2B5EF4-FFF2-40B4-BE49-F238E27FC236}">
                <a16:creationId xmlns:a16="http://schemas.microsoft.com/office/drawing/2014/main" id="{C7F59492-9489-62B9-94DC-76076DC6E2B4}"/>
              </a:ext>
            </a:extLst>
          </p:cNvPr>
          <p:cNvSpPr>
            <a:spLocks noGrp="1"/>
          </p:cNvSpPr>
          <p:nvPr>
            <p:ph type="body" idx="1"/>
          </p:nvPr>
        </p:nvSpPr>
        <p:spPr>
          <a:xfrm>
            <a:off x="1239240" y="2148902"/>
            <a:ext cx="9713519" cy="4431983"/>
          </a:xfrm>
        </p:spPr>
        <p:txBody>
          <a:bodyPr/>
          <a:lstStyle/>
          <a:p>
            <a:r>
              <a:rPr lang="en-US" dirty="0"/>
              <a:t>Knowledge management is the process of identifying, gathering, storing, evaluating, and sharing all of the valuable information organizations create in their day-to-day operations.</a:t>
            </a:r>
          </a:p>
          <a:p>
            <a:endParaRPr lang="en-US" dirty="0"/>
          </a:p>
          <a:p>
            <a:r>
              <a:rPr lang="en-US" dirty="0"/>
              <a:t>It involves capturing answers to frequently (and not-so-frequently) asked questions and documenting them in an easy-to-understand format across multiple file types. This could include step-by-step written articles, videos, or images.</a:t>
            </a:r>
          </a:p>
          <a:p>
            <a:endParaRPr lang="en-US" dirty="0"/>
          </a:p>
          <a:p>
            <a:r>
              <a:rPr lang="en-US" dirty="0"/>
              <a:t>A KMS makes knowledge sharing a whole lot easier by having an answer ready and easily accessible to share. But if you just store all of that knowledge in a chaotic Word document, no one will be able to find it or update it.</a:t>
            </a:r>
            <a:endParaRPr lang="en-IN" dirty="0"/>
          </a:p>
        </p:txBody>
      </p:sp>
    </p:spTree>
    <p:extLst>
      <p:ext uri="{BB962C8B-B14F-4D97-AF65-F5344CB8AC3E}">
        <p14:creationId xmlns:p14="http://schemas.microsoft.com/office/powerpoint/2010/main" val="25744501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AF4A1-A11C-E6BD-E8D1-F8933BB820E4}"/>
              </a:ext>
            </a:extLst>
          </p:cNvPr>
          <p:cNvSpPr>
            <a:spLocks noGrp="1"/>
          </p:cNvSpPr>
          <p:nvPr>
            <p:ph type="title"/>
          </p:nvPr>
        </p:nvSpPr>
        <p:spPr>
          <a:xfrm>
            <a:off x="1214438" y="789147"/>
            <a:ext cx="9763123" cy="553998"/>
          </a:xfrm>
        </p:spPr>
        <p:txBody>
          <a:bodyPr/>
          <a:lstStyle/>
          <a:p>
            <a:r>
              <a:rPr lang="en-IN" dirty="0"/>
              <a:t>WHAT IS KNOWLEDGE MANAGEMENT?</a:t>
            </a:r>
          </a:p>
        </p:txBody>
      </p:sp>
      <p:sp>
        <p:nvSpPr>
          <p:cNvPr id="3" name="Text Placeholder 2">
            <a:extLst>
              <a:ext uri="{FF2B5EF4-FFF2-40B4-BE49-F238E27FC236}">
                <a16:creationId xmlns:a16="http://schemas.microsoft.com/office/drawing/2014/main" id="{9DBC4C23-9A48-FABC-831C-7046AD01C3B7}"/>
              </a:ext>
            </a:extLst>
          </p:cNvPr>
          <p:cNvSpPr>
            <a:spLocks noGrp="1"/>
          </p:cNvSpPr>
          <p:nvPr>
            <p:ph type="body" idx="1"/>
          </p:nvPr>
        </p:nvSpPr>
        <p:spPr>
          <a:xfrm>
            <a:off x="1239240" y="2148902"/>
            <a:ext cx="9713519" cy="3693319"/>
          </a:xfrm>
        </p:spPr>
        <p:txBody>
          <a:bodyPr/>
          <a:lstStyle/>
          <a:p>
            <a:r>
              <a:rPr lang="en-US" dirty="0"/>
              <a:t>Knowledge management acts like the catalog system at the library. It helps you find exactly the right shelf and the right book to answer your questions (and even keeps a record of when it was last checked out).</a:t>
            </a:r>
          </a:p>
          <a:p>
            <a:endParaRPr lang="en-US" dirty="0"/>
          </a:p>
          <a:p>
            <a:r>
              <a:rPr lang="en-US" dirty="0"/>
              <a:t>In a customer service suite, managing knowledge effectively means that accurate answers to common questions are easily accessible to customer support agents and customers.</a:t>
            </a:r>
          </a:p>
          <a:p>
            <a:endParaRPr lang="en-US" dirty="0"/>
          </a:p>
          <a:p>
            <a:r>
              <a:rPr lang="en-US" dirty="0"/>
              <a:t>Exclusive resources to help strengthen your self-service.</a:t>
            </a:r>
          </a:p>
          <a:p>
            <a:r>
              <a:rPr lang="en-US" dirty="0"/>
              <a:t>Also refer </a:t>
            </a:r>
            <a:r>
              <a:rPr lang="en-US" dirty="0">
                <a:hlinkClick r:id="" action="ppaction://hlinkshowjump?jump=nextslide">
                  <a:extLst>
                    <a:ext uri="{A12FA001-AC4F-418D-AE19-62706E023703}">
                      <ahyp:hlinkClr xmlns:ahyp="http://schemas.microsoft.com/office/drawing/2018/hyperlinkcolor" val="tx"/>
                    </a:ext>
                  </a:extLst>
                </a:hlinkClick>
              </a:rPr>
              <a:t>https://www.freshworks.com/knowledge-management-system/</a:t>
            </a:r>
            <a:endParaRPr lang="en-IN" dirty="0"/>
          </a:p>
        </p:txBody>
      </p:sp>
    </p:spTree>
    <p:extLst>
      <p:ext uri="{BB962C8B-B14F-4D97-AF65-F5344CB8AC3E}">
        <p14:creationId xmlns:p14="http://schemas.microsoft.com/office/powerpoint/2010/main" val="28309517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628</TotalTime>
  <Words>4184</Words>
  <Application>Microsoft Office PowerPoint</Application>
  <PresentationFormat>Widescreen</PresentationFormat>
  <Paragraphs>287</Paragraphs>
  <Slides>61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Arial</vt:lpstr>
      <vt:lpstr>Arial MT</vt:lpstr>
      <vt:lpstr>Calibri</vt:lpstr>
      <vt:lpstr>Segoe UI Symbol</vt:lpstr>
      <vt:lpstr>Times New Roman</vt:lpstr>
      <vt:lpstr>Office Theme</vt:lpstr>
      <vt:lpstr>BUSINESS APPLICATIONS</vt:lpstr>
      <vt:lpstr>Introduction to e-business systems</vt:lpstr>
      <vt:lpstr>FUNCTIONAL BUSINESS SYSTEMS</vt:lpstr>
      <vt:lpstr>FUNCTIONAL INFORMATION SYSTEMS</vt:lpstr>
      <vt:lpstr>MARKETING SYSTEMS</vt:lpstr>
      <vt:lpstr>MARKETING SYSTEMS</vt:lpstr>
      <vt:lpstr>MANUFACTURING SYSTEMS</vt:lpstr>
      <vt:lpstr>MANUFACTURING SYSTEMS</vt:lpstr>
      <vt:lpstr>HUMAN RESOURCE SYSTEMS COMPONENTS</vt:lpstr>
      <vt:lpstr>HUMAN RESOURCE SYSTEMS COMPONENTS</vt:lpstr>
      <vt:lpstr>ACCOUNTING SYSTEM</vt:lpstr>
      <vt:lpstr>ACCOUNTING SYSTEM</vt:lpstr>
      <vt:lpstr>FINANCIAL MANAGEMENT SYSTEMS</vt:lpstr>
      <vt:lpstr>FINANCIAL MANAGEMENT SYSTEM  COMPONENTS</vt:lpstr>
      <vt:lpstr>CROSS FUNCTIONAL ENTERPRISE SYSTEMS</vt:lpstr>
      <vt:lpstr>CROSS FUNCTIONAL ENTERPRISE SYSTEMS</vt:lpstr>
      <vt:lpstr>CROSS FUNCTIONAL ENTERPRISE SYSTEMS  COMPONENTS</vt:lpstr>
      <vt:lpstr>CROSS FUNCTIONAL ENTERPRISE SYSTEMS  COMPONENTS</vt:lpstr>
      <vt:lpstr>PowerPoint Presentation</vt:lpstr>
      <vt:lpstr>CUSTOMER RELATIONSHIP  MANAGEMENT SYSTEMS</vt:lpstr>
      <vt:lpstr>CUSTOMER RELATIONSHIP  MANAGEMENT SYSTEMS</vt:lpstr>
      <vt:lpstr>CUSTOMER RELATIONSHIP  MANAGEMENT SYSTEMS</vt:lpstr>
      <vt:lpstr>CUSTOMER RELATIONSHIP  MANAGEMENT: THE BUSINESS FOCUS</vt:lpstr>
      <vt:lpstr>CUSTOMER RELATIONSHIP  MANAGEMENT: THE BUSINESS FOCUS</vt:lpstr>
      <vt:lpstr>CUSTOMER RELATIONSHIP  MANAGEMENT: THE BUSINESS FOCUS</vt:lpstr>
      <vt:lpstr>ENTERPRISE RESOURSE PLANNING: THE BUSINESS BACKBONE</vt:lpstr>
      <vt:lpstr>ENTERPRISE RESOURSE PLANNING: THE BUSINESS BACKBONE</vt:lpstr>
      <vt:lpstr>ENTERPRISE RESOURSE PLANNING: THE BUSINESS BACKBONE</vt:lpstr>
      <vt:lpstr>ENTERPRISE RESOURSE PLANNING: THE BUSINESS BACKBONE</vt:lpstr>
      <vt:lpstr>ENTERPRISE RESOURSE PLANNING: THE BUSINESS BACKBONE</vt:lpstr>
      <vt:lpstr>SUPPLY CHAIN MANAGEMENT: Business Network</vt:lpstr>
      <vt:lpstr>EXAMPLE</vt:lpstr>
      <vt:lpstr>Supply chain Management: Business Network</vt:lpstr>
      <vt:lpstr>Electronic Commerce Systems: Fundamentals</vt:lpstr>
      <vt:lpstr>Electronic Commerce Systems: Fundamentals</vt:lpstr>
      <vt:lpstr>Electronic Commerce Systems: Fundamentals</vt:lpstr>
      <vt:lpstr>E-COMMERCE APPLICATIONS</vt:lpstr>
      <vt:lpstr>E-COMMERCE ISSUES</vt:lpstr>
      <vt:lpstr>DECISION SUPPORT SYSTEM</vt:lpstr>
      <vt:lpstr>DECISION SUPPORT SYSTEM</vt:lpstr>
      <vt:lpstr>DECISION SUPPORT SYSTEM COMPONENTS</vt:lpstr>
      <vt:lpstr>KNOWLEDGE BASE</vt:lpstr>
      <vt:lpstr>SOFTWARE SYSTEM</vt:lpstr>
      <vt:lpstr>USER INTERFACE</vt:lpstr>
      <vt:lpstr>DECISION SUPPORT IN BUSINESS</vt:lpstr>
      <vt:lpstr>DECISION SUPPORT IN BUSINESS</vt:lpstr>
      <vt:lpstr>Decision Supports Trends</vt:lpstr>
      <vt:lpstr>Decision Supports Trends</vt:lpstr>
      <vt:lpstr>Decision Supports Trends</vt:lpstr>
      <vt:lpstr>ONLINE TRANSACTION PROCESSING (OLTP)</vt:lpstr>
      <vt:lpstr>ONLINE TRANSACTION PROCESSING (OLTP)</vt:lpstr>
      <vt:lpstr>ONLINE TRANSACTION PROCESSING (OLTP)</vt:lpstr>
      <vt:lpstr>EXAMPLES OF OLTP SYSTEMS</vt:lpstr>
      <vt:lpstr>DATA MINING FOR DECISION SUPPORT</vt:lpstr>
      <vt:lpstr>KDD PROCESS</vt:lpstr>
      <vt:lpstr>KNOWLEDGE DISCOVERY IN DATABASES  (KDD)</vt:lpstr>
      <vt:lpstr>KNOWLEDGE DISCOVERY IN DATABASES  (KDD)</vt:lpstr>
      <vt:lpstr>KNOWLEDGE DISCOVERY IN DATABASES  (KDD)</vt:lpstr>
      <vt:lpstr>KNOWLEDGE MANAGEMENT SYSTEM.</vt:lpstr>
      <vt:lpstr>WHAT IS KNOWLEDGE MANAGEMENT?</vt:lpstr>
      <vt:lpstr>WHAT IS KNOWLEDGE MANAGEMENT?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APPLICATIONS</dc:title>
  <dc:creator>AIDS 27</dc:creator>
  <cp:lastModifiedBy>AIDS 27</cp:lastModifiedBy>
  <cp:revision>7</cp:revision>
  <dcterms:created xsi:type="dcterms:W3CDTF">2024-04-05T05:40:59Z</dcterms:created>
  <dcterms:modified xsi:type="dcterms:W3CDTF">2024-04-12T04:33:22Z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