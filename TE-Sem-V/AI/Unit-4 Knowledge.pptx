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8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4" r:id="rId19"/>
    <p:sldId id="275" r:id="rId20"/>
    <p:sldId id="269" r:id="rId21"/>
    <p:sldId id="270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90" r:id="rId35"/>
    <p:sldId id="288" r:id="rId36"/>
    <p:sldId id="289" r:id="rId37"/>
    <p:sldId id="291" r:id="rId38"/>
    <p:sldId id="292" r:id="rId39"/>
    <p:sldId id="293" r:id="rId40"/>
    <p:sldId id="294" r:id="rId41"/>
    <p:sldId id="296" r:id="rId42"/>
    <p:sldId id="295" r:id="rId43"/>
    <p:sldId id="297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971800"/>
            <a:ext cx="7772400" cy="1470025"/>
          </a:xfrm>
        </p:spPr>
        <p:txBody>
          <a:bodyPr/>
          <a:lstStyle/>
          <a:p>
            <a:r>
              <a:rPr lang="en-US" b="1" dirty="0" smtClean="0"/>
              <a:t>Knowledge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685800"/>
            <a:ext cx="6400800" cy="1752600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chemeClr val="tx1"/>
                </a:solidFill>
              </a:rPr>
              <a:t>Unit-4</a:t>
            </a:r>
            <a:endParaRPr lang="en-US" sz="6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	</a:t>
            </a:r>
          </a:p>
          <a:p>
            <a:r>
              <a:rPr lang="en-US" dirty="0" smtClean="0"/>
              <a:t>Logical Agents, </a:t>
            </a:r>
          </a:p>
          <a:p>
            <a:r>
              <a:rPr lang="en-US" dirty="0" smtClean="0"/>
              <a:t>Knowledge-Based Agents, 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Wumpus</a:t>
            </a:r>
            <a:r>
              <a:rPr lang="en-US" dirty="0" smtClean="0"/>
              <a:t> World, </a:t>
            </a:r>
          </a:p>
          <a:p>
            <a:r>
              <a:rPr lang="en-US" dirty="0" smtClean="0"/>
              <a:t>Logic, </a:t>
            </a:r>
          </a:p>
          <a:p>
            <a:r>
              <a:rPr lang="en-US" dirty="0" smtClean="0"/>
              <a:t>Propositional Logic: A Very Simple Logic, Propositional Theorem Proving, </a:t>
            </a:r>
          </a:p>
          <a:p>
            <a:r>
              <a:rPr lang="en-US" dirty="0" smtClean="0"/>
              <a:t>Effective Propositional Model Checking,</a:t>
            </a:r>
          </a:p>
          <a:p>
            <a:r>
              <a:rPr lang="en-US" dirty="0" smtClean="0"/>
              <a:t> Agents Based on Propositional Logic, </a:t>
            </a:r>
          </a:p>
          <a:p>
            <a:r>
              <a:rPr lang="en-US" dirty="0" smtClean="0"/>
              <a:t>First-Order Logic, </a:t>
            </a:r>
          </a:p>
          <a:p>
            <a:r>
              <a:rPr lang="en-US" dirty="0" smtClean="0"/>
              <a:t>Representation Revisited, </a:t>
            </a:r>
          </a:p>
          <a:p>
            <a:r>
              <a:rPr lang="en-US" dirty="0" smtClean="0"/>
              <a:t>Syntax and Semantics of First-Order Logic, </a:t>
            </a:r>
          </a:p>
          <a:p>
            <a:r>
              <a:rPr lang="en-US" dirty="0" smtClean="0"/>
              <a:t>Using First-Order Logic, </a:t>
            </a:r>
          </a:p>
          <a:p>
            <a:r>
              <a:rPr lang="en-US" dirty="0" smtClean="0"/>
              <a:t>Knowledge Engineering in First-Order Logic. 	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r>
              <a:rPr lang="en-US" dirty="0" smtClean="0"/>
              <a:t>Humans know things and do reasoning, which are important for artificial agents </a:t>
            </a:r>
          </a:p>
          <a:p>
            <a:r>
              <a:rPr lang="en-US" dirty="0" smtClean="0"/>
              <a:t>Knowledge-based agents benefit from knowledge expressed in general forms, combining information to suit various purposes</a:t>
            </a:r>
          </a:p>
          <a:p>
            <a:r>
              <a:rPr lang="en-US" dirty="0" smtClean="0"/>
              <a:t>Knowledge and reasoning is important when dealing with partially observable environments</a:t>
            </a:r>
          </a:p>
          <a:p>
            <a:r>
              <a:rPr lang="en-US" dirty="0" smtClean="0"/>
              <a:t>Understanding natural language requires inferring hidden states </a:t>
            </a:r>
          </a:p>
          <a:p>
            <a:r>
              <a:rPr lang="en-US" dirty="0" smtClean="0"/>
              <a:t>Flexibility for accepting new tasks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Motivation of Knowledge-Based Agents</a:t>
            </a:r>
            <a:endParaRPr lang="en-US" sz="3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Knowledge 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638800"/>
          </a:xfrm>
        </p:spPr>
        <p:txBody>
          <a:bodyPr>
            <a:normAutofit/>
          </a:bodyPr>
          <a:lstStyle/>
          <a:p>
            <a:r>
              <a:rPr lang="en-US" dirty="0" smtClean="0"/>
              <a:t>Knowledge base = set of sentences in a formal language</a:t>
            </a:r>
          </a:p>
          <a:p>
            <a:r>
              <a:rPr lang="en-US" dirty="0" smtClean="0"/>
              <a:t> Declarative approach to building an agent (or other system):</a:t>
            </a:r>
          </a:p>
          <a:p>
            <a:endParaRPr lang="en-US" dirty="0" smtClean="0"/>
          </a:p>
          <a:p>
            <a:r>
              <a:rPr lang="en-US" dirty="0" smtClean="0"/>
              <a:t>Tell it what it needs to know </a:t>
            </a:r>
          </a:p>
          <a:p>
            <a:r>
              <a:rPr lang="en-US" dirty="0" smtClean="0"/>
              <a:t>Then it can Ask itself what to do - answers should follow from the KB </a:t>
            </a:r>
          </a:p>
          <a:p>
            <a:r>
              <a:rPr lang="en-US" dirty="0" smtClean="0"/>
              <a:t>Both “Tell” and “Ask” involve inference – deriving new sentences from old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799" y="2819400"/>
            <a:ext cx="731520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 Simple Knowledge-Based Agent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r>
              <a:rPr lang="en-US" dirty="0" smtClean="0"/>
              <a:t>Agents can be viewed at the knowledge level i.e., what they know, regardless of how they are implemented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Or at the implementation level </a:t>
            </a:r>
          </a:p>
          <a:p>
            <a:r>
              <a:rPr lang="en-US" dirty="0" smtClean="0"/>
              <a:t>i.e., data structures in KB and algorithms that manipulate them</a:t>
            </a:r>
            <a:endParaRPr lang="en-US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2209800"/>
            <a:ext cx="61722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Agent’s Requirements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agent must be able to:</a:t>
            </a:r>
          </a:p>
          <a:p>
            <a:r>
              <a:rPr lang="en-US" dirty="0" smtClean="0"/>
              <a:t>Represent states, actions, etc. </a:t>
            </a:r>
          </a:p>
          <a:p>
            <a:r>
              <a:rPr lang="en-US" dirty="0" smtClean="0"/>
              <a:t>Incorporate new percepts </a:t>
            </a:r>
          </a:p>
          <a:p>
            <a:r>
              <a:rPr lang="en-US" dirty="0" smtClean="0"/>
              <a:t>Update internal representations of the world</a:t>
            </a:r>
          </a:p>
          <a:p>
            <a:r>
              <a:rPr lang="en-US" dirty="0" smtClean="0"/>
              <a:t>Deduce hidden properties of the world </a:t>
            </a:r>
          </a:p>
          <a:p>
            <a:r>
              <a:rPr lang="en-US" dirty="0" smtClean="0"/>
              <a:t>Deduce appropriate actions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Our New Toy Problem – </a:t>
            </a:r>
            <a:r>
              <a:rPr lang="en-US" b="1" dirty="0" err="1" smtClean="0"/>
              <a:t>Wumpus</a:t>
            </a:r>
            <a:r>
              <a:rPr lang="en-US" b="1" dirty="0" smtClean="0"/>
              <a:t> World</a:t>
            </a:r>
            <a:endParaRPr lang="en-US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90545" y="1600200"/>
            <a:ext cx="456291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rooms adjacent to the </a:t>
            </a:r>
            <a:r>
              <a:rPr lang="en-US" dirty="0" err="1" smtClean="0"/>
              <a:t>Wumpus</a:t>
            </a:r>
            <a:r>
              <a:rPr lang="en-US" dirty="0" smtClean="0"/>
              <a:t> room are smelly, so that it would have some stench.</a:t>
            </a:r>
          </a:p>
          <a:p>
            <a:r>
              <a:rPr lang="en-US" dirty="0" smtClean="0"/>
              <a:t>The room adjacent to PITs has a breeze, so if the agent reaches near to PIT, then he will perceive the breeze.</a:t>
            </a:r>
          </a:p>
          <a:p>
            <a:r>
              <a:rPr lang="en-US" dirty="0" smtClean="0"/>
              <a:t>There will be glitter in the room if and only if the room has gold.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Wumpus</a:t>
            </a:r>
            <a:r>
              <a:rPr lang="en-US" dirty="0" smtClean="0"/>
              <a:t> can be killed by the agent if the agent is facing to it, and </a:t>
            </a:r>
            <a:r>
              <a:rPr lang="en-US" dirty="0" err="1" smtClean="0"/>
              <a:t>Wumpus</a:t>
            </a:r>
            <a:r>
              <a:rPr lang="en-US" dirty="0" smtClean="0"/>
              <a:t> will emit a horrible scream which can be heard anywhere in the cave.</a:t>
            </a:r>
            <a:endParaRPr lang="en-US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Wumpus</a:t>
            </a:r>
            <a:r>
              <a:rPr lang="en-US" b="1" dirty="0" smtClean="0"/>
              <a:t> World PEAS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Performance measure</a:t>
            </a:r>
          </a:p>
          <a:p>
            <a:r>
              <a:rPr lang="en-US" dirty="0" smtClean="0"/>
              <a:t>gold +1000, death -1000 </a:t>
            </a:r>
          </a:p>
          <a:p>
            <a:r>
              <a:rPr lang="en-US" dirty="0" smtClean="0"/>
              <a:t>-1 per step, -10 for using the</a:t>
            </a:r>
          </a:p>
          <a:p>
            <a:pPr>
              <a:buNone/>
            </a:pPr>
            <a:r>
              <a:rPr lang="en-US" dirty="0" smtClean="0"/>
              <a:t> arrow </a:t>
            </a:r>
          </a:p>
          <a:p>
            <a:r>
              <a:rPr lang="en-US" dirty="0" smtClean="0"/>
              <a:t>Environment</a:t>
            </a:r>
          </a:p>
          <a:p>
            <a:r>
              <a:rPr lang="en-US" dirty="0" smtClean="0"/>
              <a:t>4x4 grid of rooms </a:t>
            </a:r>
          </a:p>
          <a:p>
            <a:r>
              <a:rPr lang="en-US" dirty="0" smtClean="0"/>
              <a:t>Agent always starts at [1,1] </a:t>
            </a:r>
          </a:p>
          <a:p>
            <a:r>
              <a:rPr lang="en-US" dirty="0" err="1" smtClean="0"/>
              <a:t>Wumpus</a:t>
            </a:r>
            <a:r>
              <a:rPr lang="en-US" dirty="0" smtClean="0"/>
              <a:t> and gold randomly chosen </a:t>
            </a:r>
          </a:p>
          <a:p>
            <a:r>
              <a:rPr lang="en-US" dirty="0" smtClean="0"/>
              <a:t>Each square other than start is pit with 0.2 probability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1173441"/>
            <a:ext cx="3886200" cy="3703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Actuators: Left turn, Right turn, Forward, Grab, Release, Shoot, Climb </a:t>
            </a:r>
          </a:p>
          <a:p>
            <a:r>
              <a:rPr lang="en-US" dirty="0" smtClean="0"/>
              <a:t>Shooting kills </a:t>
            </a:r>
            <a:r>
              <a:rPr lang="en-US" dirty="0" err="1" smtClean="0"/>
              <a:t>wumpus</a:t>
            </a:r>
            <a:r>
              <a:rPr lang="en-US" dirty="0" smtClean="0"/>
              <a:t> if you are facing it </a:t>
            </a:r>
          </a:p>
          <a:p>
            <a:r>
              <a:rPr lang="en-US" dirty="0" smtClean="0"/>
              <a:t>Shooting uses up the only arrow </a:t>
            </a:r>
          </a:p>
          <a:p>
            <a:r>
              <a:rPr lang="en-US" dirty="0" smtClean="0"/>
              <a:t>Grabbing picks up gold if in same</a:t>
            </a:r>
          </a:p>
          <a:p>
            <a:pPr>
              <a:buNone/>
            </a:pPr>
            <a:r>
              <a:rPr lang="en-US" dirty="0" smtClean="0"/>
              <a:t> square </a:t>
            </a:r>
          </a:p>
          <a:p>
            <a:r>
              <a:rPr lang="en-US" dirty="0" smtClean="0"/>
              <a:t>Releasing drops the gold in same</a:t>
            </a:r>
          </a:p>
          <a:p>
            <a:pPr>
              <a:buNone/>
            </a:pPr>
            <a:r>
              <a:rPr lang="en-US" dirty="0" smtClean="0"/>
              <a:t> square </a:t>
            </a:r>
          </a:p>
          <a:p>
            <a:r>
              <a:rPr lang="en-US" dirty="0" smtClean="0"/>
              <a:t>Climbing out of the cave from [1, 1]</a:t>
            </a:r>
          </a:p>
          <a:p>
            <a:r>
              <a:rPr lang="en-US" dirty="0" smtClean="0"/>
              <a:t>Sensors (percepts): Stench, Breeze, </a:t>
            </a:r>
          </a:p>
          <a:p>
            <a:pPr>
              <a:buNone/>
            </a:pPr>
            <a:r>
              <a:rPr lang="en-US" dirty="0" smtClean="0"/>
              <a:t>Glitter, Bump, Scream</a:t>
            </a:r>
          </a:p>
          <a:p>
            <a:r>
              <a:rPr lang="en-US" dirty="0" smtClean="0"/>
              <a:t>Squares adjacent to </a:t>
            </a:r>
            <a:r>
              <a:rPr lang="en-US" dirty="0" err="1" smtClean="0"/>
              <a:t>wumpus</a:t>
            </a:r>
            <a:r>
              <a:rPr lang="en-US" dirty="0" smtClean="0"/>
              <a:t> are</a:t>
            </a:r>
          </a:p>
          <a:p>
            <a:pPr>
              <a:buNone/>
            </a:pPr>
            <a:r>
              <a:rPr lang="en-US" dirty="0" smtClean="0"/>
              <a:t> smelly</a:t>
            </a:r>
          </a:p>
          <a:p>
            <a:r>
              <a:rPr lang="en-US" dirty="0" smtClean="0"/>
              <a:t> Squares adjacent to pit are breezy </a:t>
            </a:r>
          </a:p>
          <a:p>
            <a:r>
              <a:rPr lang="en-US" dirty="0" smtClean="0"/>
              <a:t>Glitter </a:t>
            </a:r>
            <a:r>
              <a:rPr lang="en-US" dirty="0" err="1" smtClean="0"/>
              <a:t>iff</a:t>
            </a:r>
            <a:r>
              <a:rPr lang="en-US" dirty="0" smtClean="0"/>
              <a:t> gold is in the same square </a:t>
            </a:r>
          </a:p>
          <a:p>
            <a:r>
              <a:rPr lang="en-US" dirty="0" smtClean="0"/>
              <a:t>Bump when agent walks into a wall </a:t>
            </a:r>
          </a:p>
          <a:p>
            <a:r>
              <a:rPr lang="en-US" dirty="0" smtClean="0"/>
              <a:t>When </a:t>
            </a:r>
            <a:r>
              <a:rPr lang="en-US" dirty="0" err="1" smtClean="0"/>
              <a:t>wumpus</a:t>
            </a:r>
            <a:r>
              <a:rPr lang="en-US" dirty="0" smtClean="0"/>
              <a:t> is killed, it screams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43550" y="1295400"/>
            <a:ext cx="360045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458200" cy="5897563"/>
          </a:xfrm>
        </p:spPr>
        <p:txBody>
          <a:bodyPr/>
          <a:lstStyle/>
          <a:p>
            <a:r>
              <a:rPr lang="en-US" dirty="0" smtClean="0"/>
              <a:t>Fully observable? </a:t>
            </a:r>
          </a:p>
          <a:p>
            <a:r>
              <a:rPr lang="en-US" dirty="0" smtClean="0"/>
              <a:t>No – only local perception </a:t>
            </a:r>
          </a:p>
          <a:p>
            <a:r>
              <a:rPr lang="en-US" dirty="0" smtClean="0"/>
              <a:t>Deterministic?</a:t>
            </a:r>
          </a:p>
          <a:p>
            <a:r>
              <a:rPr lang="en-US" dirty="0" smtClean="0"/>
              <a:t>Yes – outcomes exactly specified  Episodic?  No – sequential at the level of actions  Static?  Yes – </a:t>
            </a:r>
            <a:r>
              <a:rPr lang="en-US" dirty="0" err="1" smtClean="0"/>
              <a:t>Wumpus</a:t>
            </a:r>
            <a:r>
              <a:rPr lang="en-US" dirty="0" smtClean="0"/>
              <a:t> and Pits do not move  Discrete?  Yes  Single-agent?  Yes – </a:t>
            </a:r>
            <a:r>
              <a:rPr lang="en-US" dirty="0" err="1" smtClean="0"/>
              <a:t>Wumpus</a:t>
            </a:r>
            <a:r>
              <a:rPr lang="en-US" dirty="0" smtClean="0"/>
              <a:t> is essentially a natural feature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Exploring a </a:t>
            </a:r>
            <a:r>
              <a:rPr lang="en-US" dirty="0" err="1" smtClean="0"/>
              <a:t>Wumpus</a:t>
            </a:r>
            <a:r>
              <a:rPr lang="en-US" dirty="0" smtClean="0"/>
              <a:t> World</a:t>
            </a:r>
          </a:p>
          <a:p>
            <a:endParaRPr lang="en-US" dirty="0" smtClean="0"/>
          </a:p>
          <a:p>
            <a:r>
              <a:rPr lang="en-US" dirty="0" smtClean="0"/>
              <a:t>Agent’s initial knowledge base contains the rules of the environment: it knows that</a:t>
            </a:r>
          </a:p>
          <a:p>
            <a:r>
              <a:rPr lang="en-US" dirty="0" smtClean="0"/>
              <a:t>it’s at [1,1] and it’s safe at [1,1]</a:t>
            </a:r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r>
              <a:rPr lang="it-IT" dirty="0" smtClean="0"/>
              <a:t>      percept: [none, none, none, none, none]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847" y="1676400"/>
            <a:ext cx="3995153" cy="4084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Exploring a </a:t>
            </a:r>
            <a:r>
              <a:rPr lang="en-US" dirty="0" err="1" smtClean="0"/>
              <a:t>Wumpus</a:t>
            </a:r>
            <a:r>
              <a:rPr lang="en-US" dirty="0" smtClean="0"/>
              <a:t>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r>
              <a:rPr lang="it-IT" dirty="0" smtClean="0"/>
              <a:t>percept: [none, breeze, none, none, none]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132885"/>
            <a:ext cx="4182607" cy="4201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Exploring a </a:t>
            </a:r>
            <a:r>
              <a:rPr lang="en-US" dirty="0" err="1" smtClean="0"/>
              <a:t>Wumpus</a:t>
            </a:r>
            <a:r>
              <a:rPr lang="en-US" dirty="0" smtClean="0"/>
              <a:t>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r>
              <a:rPr lang="it-IT" dirty="0" smtClean="0"/>
              <a:t>percept: [none, breeze, none, none, none]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1600200"/>
            <a:ext cx="37338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Exploring a </a:t>
            </a:r>
            <a:r>
              <a:rPr lang="en-US" dirty="0" err="1" smtClean="0"/>
              <a:t>Wumpus</a:t>
            </a:r>
            <a:r>
              <a:rPr lang="en-US" dirty="0" smtClean="0"/>
              <a:t>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r>
              <a:rPr lang="en-US" dirty="0" smtClean="0"/>
              <a:t>our cautious agent will go back and to [2,1]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132796"/>
            <a:ext cx="4191000" cy="4209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Exploring a </a:t>
            </a:r>
            <a:r>
              <a:rPr lang="en-US" dirty="0" err="1" smtClean="0"/>
              <a:t>Wumpus</a:t>
            </a:r>
            <a:r>
              <a:rPr lang="en-US" dirty="0" smtClean="0"/>
              <a:t>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r>
              <a:rPr lang="it-IT" dirty="0" smtClean="0"/>
              <a:t>percept: [stench, none, none, none, none]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1863" y="2338388"/>
            <a:ext cx="2200275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Exploring a </a:t>
            </a:r>
            <a:r>
              <a:rPr lang="en-US" dirty="0" err="1" smtClean="0"/>
              <a:t>Wumpus</a:t>
            </a:r>
            <a:r>
              <a:rPr lang="en-US" dirty="0" smtClean="0"/>
              <a:t>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r>
              <a:rPr lang="it-IT" dirty="0" smtClean="0"/>
              <a:t>percept: [none, none, none, none, none]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9963" y="2357438"/>
            <a:ext cx="212407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Exploring a </a:t>
            </a:r>
            <a:r>
              <a:rPr lang="en-US" dirty="0" err="1" smtClean="0"/>
              <a:t>Wumpus</a:t>
            </a:r>
            <a:r>
              <a:rPr lang="en-US" dirty="0" smtClean="0"/>
              <a:t>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r>
              <a:rPr lang="it-IT" dirty="0" smtClean="0"/>
              <a:t>percept: [none, breeze, none, none, none]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2352675"/>
            <a:ext cx="2133600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Exploring a </a:t>
            </a:r>
            <a:r>
              <a:rPr lang="en-US" dirty="0" err="1" smtClean="0"/>
              <a:t>Wumpus</a:t>
            </a:r>
            <a:r>
              <a:rPr lang="en-US" dirty="0" smtClean="0"/>
              <a:t>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r>
              <a:rPr lang="en-US" dirty="0" smtClean="0"/>
              <a:t>percept: [stench, breeze, glitter, none, none]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38538" y="2381250"/>
            <a:ext cx="206692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Reasoning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r>
              <a:rPr lang="en-US" dirty="0" smtClean="0"/>
              <a:t>In each case where the agent draws a conclusion from the available information, that conclusion is guaranteed to be correct if the available information is correct</a:t>
            </a:r>
          </a:p>
          <a:p>
            <a:r>
              <a:rPr lang="en-US" dirty="0" smtClean="0"/>
              <a:t> The above is the fundamental of logical reasoning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in General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Logics are formal languages for representing information such that conclusions can be drawn </a:t>
            </a:r>
          </a:p>
          <a:p>
            <a:r>
              <a:rPr lang="en-US" dirty="0" smtClean="0"/>
              <a:t> Syntax defines the sentences in the language</a:t>
            </a:r>
          </a:p>
          <a:p>
            <a:r>
              <a:rPr lang="en-US" dirty="0" smtClean="0"/>
              <a:t> Semantics define the "meaning" of sentences;</a:t>
            </a:r>
          </a:p>
          <a:p>
            <a:r>
              <a:rPr lang="en-US" dirty="0" smtClean="0"/>
              <a:t>i.e., define truth of a sentence in a world</a:t>
            </a:r>
          </a:p>
          <a:p>
            <a:r>
              <a:rPr lang="en-US" dirty="0" smtClean="0"/>
              <a:t>E.g., the language of arithmetic</a:t>
            </a:r>
          </a:p>
          <a:p>
            <a:r>
              <a:rPr lang="en-US" dirty="0" smtClean="0"/>
              <a:t>x+2 ≥ y is a sentence; x2+y &gt; {} is not a sentence</a:t>
            </a:r>
          </a:p>
          <a:p>
            <a:r>
              <a:rPr lang="en-US" dirty="0" smtClean="0"/>
              <a:t>x+2 ≥ y is true if the number x+2 is no less than the number y</a:t>
            </a:r>
          </a:p>
          <a:p>
            <a:r>
              <a:rPr lang="en-US" dirty="0" smtClean="0"/>
              <a:t>x+2 ≥ y is true in a world where x = 7, y = 1</a:t>
            </a:r>
          </a:p>
          <a:p>
            <a:r>
              <a:rPr lang="en-US" dirty="0" smtClean="0"/>
              <a:t>x+2 ≥ y is false in a world where x = 0, y = 6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Entailment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Now, we have a notion of truth, we are ready to  study logical reasoning, which involves logical  entailment between sentences</a:t>
            </a:r>
          </a:p>
          <a:p>
            <a:r>
              <a:rPr lang="en-US" dirty="0" smtClean="0"/>
              <a:t>Entailment means that one thing follows from another:</a:t>
            </a:r>
          </a:p>
          <a:p>
            <a:pPr>
              <a:buNone/>
            </a:pPr>
            <a:r>
              <a:rPr lang="en-US" dirty="0" smtClean="0"/>
              <a:t>                                               KB ╞ </a:t>
            </a:r>
            <a:r>
              <a:rPr lang="el-GR" dirty="0" smtClean="0"/>
              <a:t>α</a:t>
            </a:r>
          </a:p>
          <a:p>
            <a:r>
              <a:rPr lang="en-US" dirty="0" smtClean="0"/>
              <a:t>Knowledge base KB entails sentence α if and only if α is true in all worlds where KB is true</a:t>
            </a:r>
          </a:p>
          <a:p>
            <a:r>
              <a:rPr lang="en-US" dirty="0" smtClean="0"/>
              <a:t>E.g., the KB containing “the Giants won” and “the Reds won” entails “Either the Giants won or the Reds won”</a:t>
            </a:r>
          </a:p>
          <a:p>
            <a:r>
              <a:rPr lang="es-ES" dirty="0" err="1" smtClean="0"/>
              <a:t>E.g.</a:t>
            </a:r>
            <a:r>
              <a:rPr lang="es-ES" dirty="0" smtClean="0"/>
              <a:t>, </a:t>
            </a:r>
            <a:r>
              <a:rPr lang="es-ES" dirty="0" err="1" smtClean="0"/>
              <a:t>x+y</a:t>
            </a:r>
            <a:r>
              <a:rPr lang="es-ES" dirty="0" smtClean="0"/>
              <a:t> = 4 </a:t>
            </a:r>
            <a:r>
              <a:rPr lang="es-ES" dirty="0" err="1" smtClean="0"/>
              <a:t>entails</a:t>
            </a:r>
            <a:r>
              <a:rPr lang="es-ES" dirty="0" smtClean="0"/>
              <a:t> 4 = </a:t>
            </a:r>
            <a:r>
              <a:rPr lang="es-ES" dirty="0" err="1" smtClean="0"/>
              <a:t>x+y</a:t>
            </a:r>
            <a:endParaRPr lang="es-ES" dirty="0" smtClean="0"/>
          </a:p>
          <a:p>
            <a:r>
              <a:rPr lang="en-US" dirty="0" smtClean="0"/>
              <a:t>Entailment is a relationship between sentences (i.e., syntax) that is based on semantics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/>
          </a:bodyPr>
          <a:lstStyle/>
          <a:p>
            <a:r>
              <a:rPr lang="en-US" dirty="0" smtClean="0"/>
              <a:t>We use the term “model” to represent “possible world”</a:t>
            </a:r>
          </a:p>
          <a:p>
            <a:r>
              <a:rPr lang="en-US" dirty="0" smtClean="0"/>
              <a:t>We say m is a model of a sentence α if α is true in model m</a:t>
            </a:r>
          </a:p>
          <a:p>
            <a:r>
              <a:rPr lang="en-US" dirty="0" smtClean="0"/>
              <a:t>M(α) is the set of all models </a:t>
            </a:r>
          </a:p>
          <a:p>
            <a:pPr>
              <a:buNone/>
            </a:pPr>
            <a:r>
              <a:rPr lang="en-US" dirty="0" smtClean="0"/>
              <a:t>of α</a:t>
            </a:r>
          </a:p>
          <a:p>
            <a:r>
              <a:rPr lang="en-US" dirty="0" smtClean="0"/>
              <a:t>Then</a:t>
            </a:r>
            <a:endParaRPr lang="el-GR" dirty="0" smtClean="0"/>
          </a:p>
          <a:p>
            <a:r>
              <a:rPr lang="en-US" dirty="0" smtClean="0"/>
              <a:t>E.g. KB = Giants won and Reds</a:t>
            </a:r>
          </a:p>
          <a:p>
            <a:r>
              <a:rPr lang="en-US" dirty="0" smtClean="0"/>
              <a:t>won, </a:t>
            </a:r>
            <a:r>
              <a:rPr lang="el-GR" dirty="0" smtClean="0"/>
              <a:t>α = </a:t>
            </a:r>
            <a:r>
              <a:rPr lang="en-US" dirty="0" smtClean="0"/>
              <a:t>Giants won</a:t>
            </a:r>
            <a:endParaRPr 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4495800"/>
            <a:ext cx="447828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8801" y="2827737"/>
            <a:ext cx="3505200" cy="3192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Entailment in the </a:t>
            </a:r>
            <a:r>
              <a:rPr lang="en-US" dirty="0" err="1" smtClean="0"/>
              <a:t>Wumpus</a:t>
            </a:r>
            <a:r>
              <a:rPr lang="en-US" dirty="0" smtClean="0"/>
              <a:t>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Situation after detecting</a:t>
            </a:r>
          </a:p>
          <a:p>
            <a:r>
              <a:rPr lang="en-US" dirty="0" smtClean="0"/>
              <a:t>nothing in [1,1], moving</a:t>
            </a:r>
          </a:p>
          <a:p>
            <a:r>
              <a:rPr lang="en-US" dirty="0" smtClean="0"/>
              <a:t>right, breeze in [2,1]</a:t>
            </a:r>
          </a:p>
          <a:p>
            <a:r>
              <a:rPr lang="en-US" dirty="0" smtClean="0"/>
              <a:t> Consider possible models</a:t>
            </a:r>
          </a:p>
          <a:p>
            <a:r>
              <a:rPr lang="en-US" dirty="0" smtClean="0"/>
              <a:t>for KB assuming only pits</a:t>
            </a:r>
          </a:p>
          <a:p>
            <a:r>
              <a:rPr lang="en-US" dirty="0" smtClean="0"/>
              <a:t> 3 Boolean choices  8</a:t>
            </a:r>
          </a:p>
          <a:p>
            <a:r>
              <a:rPr lang="en-US" dirty="0" smtClean="0"/>
              <a:t>possible models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1752600"/>
            <a:ext cx="3517731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Wumpus</a:t>
            </a:r>
            <a:r>
              <a:rPr lang="en-US" dirty="0" smtClean="0"/>
              <a:t> Models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676400"/>
            <a:ext cx="5138738" cy="3912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943600" cy="4984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990600" y="4953000"/>
            <a:ext cx="7086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KB = </a:t>
            </a:r>
            <a:r>
              <a:rPr lang="en-US" sz="3200" dirty="0" err="1" smtClean="0"/>
              <a:t>wumpus</a:t>
            </a:r>
            <a:r>
              <a:rPr lang="en-US" sz="3200" dirty="0" smtClean="0"/>
              <a:t>-world rules + observations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0"/>
            <a:ext cx="6781800" cy="4950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0" y="4611231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KB = </a:t>
            </a:r>
            <a:r>
              <a:rPr lang="en-US" sz="2800" dirty="0" err="1" smtClean="0"/>
              <a:t>wumpus</a:t>
            </a:r>
            <a:r>
              <a:rPr lang="en-US" sz="2800" dirty="0" smtClean="0"/>
              <a:t>-world rules + observations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 α1 = "[1,2] is safe", KB ╞ α1, proved by model checking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enumerate all possible models to check that α is true in all models in</a:t>
            </a:r>
          </a:p>
          <a:p>
            <a:r>
              <a:rPr lang="en-US" sz="2800" dirty="0" smtClean="0"/>
              <a:t>which KB is true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49639"/>
            <a:ext cx="6476999" cy="5068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28600" y="5334000"/>
            <a:ext cx="845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KB = </a:t>
            </a:r>
            <a:r>
              <a:rPr lang="en-US" sz="3600" dirty="0" err="1" smtClean="0"/>
              <a:t>wumpus</a:t>
            </a:r>
            <a:r>
              <a:rPr lang="en-US" sz="3600" dirty="0" smtClean="0"/>
              <a:t>-world rules + observations</a:t>
            </a:r>
            <a:endParaRPr 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402945"/>
            <a:ext cx="5086350" cy="4297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0" y="4876800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/>
              <a:t>KB = </a:t>
            </a:r>
            <a:r>
              <a:rPr lang="en-US" sz="4000" dirty="0" err="1" smtClean="0"/>
              <a:t>wumpus</a:t>
            </a:r>
            <a:r>
              <a:rPr lang="en-US" sz="4000" dirty="0" smtClean="0"/>
              <a:t>-world rules + observations</a:t>
            </a:r>
          </a:p>
          <a:p>
            <a:pPr>
              <a:buFont typeface="Arial" pitchFamily="34" charset="0"/>
              <a:buChar char="•"/>
            </a:pPr>
            <a:r>
              <a:rPr lang="en-US" sz="4000" dirty="0" smtClean="0"/>
              <a:t>α2 = "[2,2] is safe“, KB ╞ α2?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436180"/>
            <a:ext cx="5481638" cy="4536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0" y="5029200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/>
              <a:t>KB = </a:t>
            </a:r>
            <a:r>
              <a:rPr lang="en-US" sz="4000" dirty="0" err="1" smtClean="0"/>
              <a:t>wumpus</a:t>
            </a:r>
            <a:r>
              <a:rPr lang="en-US" sz="4000" dirty="0" smtClean="0"/>
              <a:t>-world rules + observations</a:t>
            </a:r>
          </a:p>
          <a:p>
            <a:pPr>
              <a:buFont typeface="Arial" pitchFamily="34" charset="0"/>
              <a:buChar char="•"/>
            </a:pPr>
            <a:r>
              <a:rPr lang="en-US" sz="4000" dirty="0" smtClean="0"/>
              <a:t>α2 = "[2,2] is safe", KB ╞ α2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Propositional Logic: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/>
          </a:bodyPr>
          <a:lstStyle/>
          <a:p>
            <a:r>
              <a:rPr lang="en-US" dirty="0" smtClean="0"/>
              <a:t>Propositional logic is the simplest logic – illustrates</a:t>
            </a:r>
          </a:p>
          <a:p>
            <a:pPr>
              <a:buNone/>
            </a:pPr>
            <a:r>
              <a:rPr lang="en-US" dirty="0" smtClean="0"/>
              <a:t>basic ideas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2286000"/>
            <a:ext cx="9054871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9092942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Truth Tables for Connectives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991" y="1295400"/>
            <a:ext cx="9012009" cy="267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Wumpus</a:t>
            </a:r>
            <a:r>
              <a:rPr lang="en-US" dirty="0" smtClean="0"/>
              <a:t> World Sentences</a:t>
            </a:r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143000"/>
            <a:ext cx="8919948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Inference</a:t>
            </a:r>
            <a:endParaRPr 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00200"/>
            <a:ext cx="91440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Truth Tables for Inference</a:t>
            </a:r>
            <a:endParaRPr lang="en-US" dirty="0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-1" y="1143000"/>
            <a:ext cx="7697734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48500" y="5105400"/>
            <a:ext cx="2095500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228600" y="5486400"/>
            <a:ext cx="5867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P1,2 is false, cannot decide on p2,2</a:t>
            </a:r>
          </a:p>
          <a:p>
            <a:r>
              <a:rPr lang="el-GR" sz="2800" dirty="0" smtClean="0"/>
              <a:t>α1 = "[1,2] </a:t>
            </a:r>
            <a:r>
              <a:rPr lang="en-US" sz="2800" dirty="0" smtClean="0"/>
              <a:t>is safe"</a:t>
            </a:r>
            <a:endParaRPr lang="en-US" sz="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Inference by Enumeration</a:t>
            </a:r>
            <a:endParaRPr lang="en-US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118581"/>
            <a:ext cx="9053079" cy="543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Inference Rules</a:t>
            </a:r>
            <a:endParaRPr lang="en-US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144000" cy="5379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685800"/>
            <a:ext cx="7866993" cy="5306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Proof Problem as Search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4906963"/>
          </a:xfrm>
        </p:spPr>
        <p:txBody>
          <a:bodyPr>
            <a:noAutofit/>
          </a:bodyPr>
          <a:lstStyle/>
          <a:p>
            <a:r>
              <a:rPr lang="en-US" sz="2800" dirty="0" smtClean="0"/>
              <a:t>Initial state: initial knowledge base</a:t>
            </a:r>
          </a:p>
          <a:p>
            <a:r>
              <a:rPr lang="en-US" sz="2800" dirty="0" smtClean="0"/>
              <a:t>Actions:</a:t>
            </a:r>
          </a:p>
          <a:p>
            <a:r>
              <a:rPr lang="en-US" sz="2800" dirty="0" smtClean="0"/>
              <a:t>set of actions consists of all the inference rules applied to</a:t>
            </a:r>
          </a:p>
          <a:p>
            <a:pPr>
              <a:buNone/>
            </a:pPr>
            <a:r>
              <a:rPr lang="en-US" sz="2800" dirty="0" smtClean="0"/>
              <a:t>	all the sentences that match the left half of the inference rule </a:t>
            </a:r>
          </a:p>
          <a:p>
            <a:r>
              <a:rPr lang="en-US" sz="2800" dirty="0" smtClean="0"/>
              <a:t>Result: add the sentence in the right half of the inference rule</a:t>
            </a:r>
          </a:p>
          <a:p>
            <a:r>
              <a:rPr lang="en-US" sz="2800" dirty="0" smtClean="0"/>
              <a:t> Goal: the goal is a state that contains the sentence we are trying to prove</a:t>
            </a:r>
          </a:p>
          <a:p>
            <a:r>
              <a:rPr lang="en-US" sz="2800" dirty="0" smtClean="0"/>
              <a:t>Practically, finding a proof can be more efficient because the proof can ignore irrelevant propositions, no matter how many of them there are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inference rules can be applied whenever suitable premises are found in the KB</a:t>
            </a:r>
          </a:p>
          <a:p>
            <a:r>
              <a:rPr lang="en-US" dirty="0" smtClean="0"/>
              <a:t> The conclusion of the rule must follow regardless of what else is in the KB</a:t>
            </a:r>
          </a:p>
          <a:p>
            <a:r>
              <a:rPr lang="en-US" dirty="0" smtClean="0"/>
              <a:t> The above rules are sound, but if the available inference rules are inadequate, then it’s not complete</a:t>
            </a:r>
          </a:p>
          <a:p>
            <a:r>
              <a:rPr lang="en-US" dirty="0" smtClean="0"/>
              <a:t>Now, we introduce a single inference rule, resolution, that gives a complete inference algorithm when coupled with any complete search algorithm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0910" y="990600"/>
            <a:ext cx="881784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First-Order Logic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 fontScale="70000" lnSpcReduction="20000"/>
          </a:bodyPr>
          <a:lstStyle/>
          <a:p>
            <a:endParaRPr lang="en-US" smtClean="0"/>
          </a:p>
          <a:p>
            <a:r>
              <a:rPr lang="en-US" smtClean="0"/>
              <a:t>First-order </a:t>
            </a:r>
            <a:r>
              <a:rPr lang="en-US" dirty="0" smtClean="0"/>
              <a:t>logic is another way of knowledge representation in artificial intelligence. It is an extension to propositional logic.</a:t>
            </a:r>
          </a:p>
          <a:p>
            <a:r>
              <a:rPr lang="en-US" dirty="0" smtClean="0"/>
              <a:t>FOL is sufficiently expressive to represent the natural language statements in a concise way.</a:t>
            </a:r>
          </a:p>
          <a:p>
            <a:r>
              <a:rPr lang="en-US" dirty="0" smtClean="0"/>
              <a:t>First-order logic is also known as </a:t>
            </a:r>
            <a:r>
              <a:rPr lang="en-US" b="1" dirty="0" smtClean="0"/>
              <a:t>Predicate logic or First-order predicate logic</a:t>
            </a:r>
            <a:r>
              <a:rPr lang="en-US" dirty="0" smtClean="0"/>
              <a:t>. First-order logic is a powerful language that develops information about the objects in a more easy way and can also express the relationship between those objects.</a:t>
            </a:r>
          </a:p>
          <a:p>
            <a:r>
              <a:rPr lang="en-US" dirty="0" smtClean="0"/>
              <a:t>First-order logic (like natural language) does not only assume that the world contains facts like propositional logic but also assumes the following things in the world:</a:t>
            </a:r>
          </a:p>
          <a:p>
            <a:pPr lvl="1"/>
            <a:r>
              <a:rPr lang="en-US" b="1" dirty="0" smtClean="0"/>
              <a:t>Objects:</a:t>
            </a:r>
            <a:r>
              <a:rPr lang="en-US" dirty="0" smtClean="0"/>
              <a:t> A, B, people, numbers, colors, wars, theories, squares, pits, </a:t>
            </a:r>
            <a:r>
              <a:rPr lang="en-US" dirty="0" err="1" smtClean="0"/>
              <a:t>wumpus</a:t>
            </a:r>
            <a:r>
              <a:rPr lang="en-US" dirty="0" smtClean="0"/>
              <a:t>, ......</a:t>
            </a:r>
          </a:p>
          <a:p>
            <a:pPr lvl="1"/>
            <a:r>
              <a:rPr lang="en-US" b="1" dirty="0" smtClean="0"/>
              <a:t>Relations:</a:t>
            </a:r>
            <a:r>
              <a:rPr lang="en-US" dirty="0" smtClean="0"/>
              <a:t> </a:t>
            </a:r>
            <a:r>
              <a:rPr lang="en-US" b="1" dirty="0" smtClean="0"/>
              <a:t>It can be unary relation such as:</a:t>
            </a:r>
            <a:r>
              <a:rPr lang="en-US" dirty="0" smtClean="0"/>
              <a:t> red, round, is adjacent, </a:t>
            </a:r>
            <a:r>
              <a:rPr lang="en-US" b="1" dirty="0" smtClean="0"/>
              <a:t>or n-any relation such as:</a:t>
            </a:r>
            <a:r>
              <a:rPr lang="en-US" dirty="0" smtClean="0"/>
              <a:t> the sister of, brother of, has color, comes between</a:t>
            </a:r>
          </a:p>
          <a:p>
            <a:pPr lvl="1"/>
            <a:r>
              <a:rPr lang="en-US" b="1" dirty="0" smtClean="0"/>
              <a:t>Function:</a:t>
            </a:r>
            <a:r>
              <a:rPr lang="en-US" dirty="0" smtClean="0"/>
              <a:t> Father of, best friend, third inning of, end of, ......</a:t>
            </a:r>
          </a:p>
          <a:p>
            <a:r>
              <a:rPr lang="en-US" dirty="0" smtClean="0"/>
              <a:t>As a natural language, first-order logic also has two main parts:</a:t>
            </a:r>
          </a:p>
          <a:p>
            <a:pPr lvl="1"/>
            <a:r>
              <a:rPr lang="en-US" b="1" dirty="0" smtClean="0"/>
              <a:t>Syntax</a:t>
            </a:r>
            <a:endParaRPr lang="en-US" dirty="0" smtClean="0"/>
          </a:p>
          <a:p>
            <a:pPr lvl="1"/>
            <a:r>
              <a:rPr lang="en-US" b="1" dirty="0" smtClean="0"/>
              <a:t>Semantics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457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Syntax and Semantics of First-Order Logic, 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syntax of FOL determines which collection of symbols is a logical expression in first-order logic. The basic syntactic elements of first-order logic are symbols. We write statements in short-hand notation in FOL.</a:t>
            </a:r>
          </a:p>
          <a:p>
            <a:r>
              <a:rPr lang="en-US" dirty="0" smtClean="0"/>
              <a:t>Basic Elements of First-order logic:</a:t>
            </a:r>
          </a:p>
          <a:p>
            <a:r>
              <a:rPr lang="en-US" dirty="0" smtClean="0"/>
              <a:t>Following are the basic elements of FOL syntax:</a:t>
            </a:r>
          </a:p>
          <a:p>
            <a:r>
              <a:rPr lang="en-US" b="1" dirty="0" smtClean="0"/>
              <a:t>Constant </a:t>
            </a:r>
            <a:r>
              <a:rPr lang="en-US" dirty="0" smtClean="0"/>
              <a:t>1</a:t>
            </a:r>
            <a:r>
              <a:rPr lang="en-US" dirty="0" smtClean="0"/>
              <a:t>, 2, A, John, Mumbai, cat</a:t>
            </a:r>
            <a:r>
              <a:rPr lang="en-US" dirty="0" smtClean="0"/>
              <a:t>,....</a:t>
            </a:r>
          </a:p>
          <a:p>
            <a:r>
              <a:rPr lang="en-US" b="1" dirty="0" err="1" smtClean="0"/>
              <a:t>Variables</a:t>
            </a:r>
            <a:r>
              <a:rPr lang="en-US" dirty="0" err="1" smtClean="0"/>
              <a:t>x</a:t>
            </a:r>
            <a:r>
              <a:rPr lang="en-US" dirty="0" smtClean="0"/>
              <a:t>, y, z, a, b</a:t>
            </a:r>
            <a:r>
              <a:rPr lang="en-US" dirty="0" smtClean="0"/>
              <a:t>,…</a:t>
            </a:r>
          </a:p>
          <a:p>
            <a:r>
              <a:rPr lang="en-US" b="1" dirty="0" err="1" smtClean="0"/>
              <a:t>Predicates</a:t>
            </a:r>
            <a:r>
              <a:rPr lang="en-US" dirty="0" err="1" smtClean="0"/>
              <a:t>Brother</a:t>
            </a:r>
            <a:r>
              <a:rPr lang="en-US" dirty="0" smtClean="0"/>
              <a:t>, Father, </a:t>
            </a:r>
            <a:r>
              <a:rPr lang="en-US" dirty="0" smtClean="0"/>
              <a:t>&gt;,....</a:t>
            </a:r>
          </a:p>
          <a:p>
            <a:r>
              <a:rPr lang="en-US" b="1" dirty="0" err="1" smtClean="0"/>
              <a:t>Function</a:t>
            </a:r>
            <a:r>
              <a:rPr lang="en-US" dirty="0" err="1" smtClean="0"/>
              <a:t>sqrt</a:t>
            </a:r>
            <a:r>
              <a:rPr lang="en-US" dirty="0" smtClean="0"/>
              <a:t>, </a:t>
            </a:r>
            <a:r>
              <a:rPr lang="en-US" dirty="0" err="1" smtClean="0"/>
              <a:t>LeftLegOf</a:t>
            </a:r>
            <a:r>
              <a:rPr lang="en-US" dirty="0" smtClean="0"/>
              <a:t>, </a:t>
            </a:r>
            <a:r>
              <a:rPr lang="en-US" dirty="0" smtClean="0"/>
              <a:t>....</a:t>
            </a:r>
          </a:p>
          <a:p>
            <a:r>
              <a:rPr lang="en-US" b="1" dirty="0" smtClean="0"/>
              <a:t>Connectives</a:t>
            </a:r>
            <a:r>
              <a:rPr lang="en-US" dirty="0" smtClean="0"/>
              <a:t>∧, ∨, ¬, ⇒, </a:t>
            </a:r>
            <a:r>
              <a:rPr lang="en-US" dirty="0" smtClean="0"/>
              <a:t>⇔</a:t>
            </a:r>
          </a:p>
          <a:p>
            <a:r>
              <a:rPr lang="en-US" b="1" dirty="0" smtClean="0"/>
              <a:t>Equality</a:t>
            </a:r>
            <a:r>
              <a:rPr lang="en-US" dirty="0" smtClean="0"/>
              <a:t>==</a:t>
            </a:r>
          </a:p>
          <a:p>
            <a:r>
              <a:rPr lang="en-US" b="1" dirty="0" smtClean="0"/>
              <a:t>Quantifier</a:t>
            </a:r>
            <a:r>
              <a:rPr lang="en-US" dirty="0" smtClean="0"/>
              <a:t>∀, </a:t>
            </a:r>
            <a:r>
              <a:rPr lang="en-US" dirty="0" smtClean="0"/>
              <a:t>∃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Atomic sentences:</a:t>
            </a:r>
          </a:p>
          <a:p>
            <a:r>
              <a:rPr lang="en-US" dirty="0" smtClean="0"/>
              <a:t>Atomic sentences are the most basic sentences of first-order logic. These sentences are formed from a predicate symbol followed by a parenthesis with a sequence of terms.</a:t>
            </a:r>
          </a:p>
          <a:p>
            <a:r>
              <a:rPr lang="en-US" dirty="0" smtClean="0"/>
              <a:t>We can represent atomic sentences as </a:t>
            </a:r>
            <a:r>
              <a:rPr lang="en-US" b="1" dirty="0" smtClean="0"/>
              <a:t>Predicate (term1, term2, ......, term n)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Example: Ravi and Ajay are brothers: =&gt; Brothers(Ravi, Ajay).</a:t>
            </a:r>
            <a:br>
              <a:rPr lang="en-US" b="1" dirty="0" smtClean="0"/>
            </a:br>
            <a:r>
              <a:rPr lang="en-US" b="1" dirty="0" smtClean="0"/>
              <a:t>                </a:t>
            </a:r>
            <a:r>
              <a:rPr lang="en-US" b="1" dirty="0" err="1" smtClean="0"/>
              <a:t>Chinky</a:t>
            </a:r>
            <a:r>
              <a:rPr lang="en-US" b="1" dirty="0" smtClean="0"/>
              <a:t> is a cat: =&gt; cat (</a:t>
            </a:r>
            <a:r>
              <a:rPr lang="en-US" b="1" dirty="0" err="1" smtClean="0"/>
              <a:t>Chinky</a:t>
            </a:r>
            <a:r>
              <a:rPr lang="en-US" b="1" dirty="0" smtClean="0"/>
              <a:t>)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Complex Sentences:</a:t>
            </a:r>
          </a:p>
          <a:p>
            <a:r>
              <a:rPr lang="en-US" dirty="0" smtClean="0"/>
              <a:t>Complex sentences are made by </a:t>
            </a:r>
            <a:r>
              <a:rPr lang="en-US" dirty="0" smtClean="0"/>
              <a:t> combining </a:t>
            </a:r>
            <a:r>
              <a:rPr lang="en-US" dirty="0" smtClean="0"/>
              <a:t>atomic sentences using </a:t>
            </a:r>
            <a:r>
              <a:rPr lang="en-US" dirty="0" smtClean="0"/>
              <a:t>connectives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First-order logic statements can be divided into two parts:</a:t>
            </a:r>
            <a:endParaRPr lang="en-US" dirty="0" smtClean="0"/>
          </a:p>
          <a:p>
            <a:r>
              <a:rPr lang="en-US" b="1" dirty="0" smtClean="0"/>
              <a:t>Subject:</a:t>
            </a:r>
            <a:r>
              <a:rPr lang="en-US" dirty="0" smtClean="0"/>
              <a:t> Subject is the main part of the statement.</a:t>
            </a:r>
          </a:p>
          <a:p>
            <a:r>
              <a:rPr lang="en-US" b="1" dirty="0" smtClean="0"/>
              <a:t>Predicate:</a:t>
            </a:r>
            <a:r>
              <a:rPr lang="en-US" dirty="0" smtClean="0"/>
              <a:t> A predicate can </a:t>
            </a:r>
            <a:r>
              <a:rPr lang="en-US" dirty="0" smtClean="0"/>
              <a:t>be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defined as a relation, which binds </a:t>
            </a:r>
          </a:p>
          <a:p>
            <a:pPr>
              <a:buNone/>
            </a:pPr>
            <a:r>
              <a:rPr lang="en-US" dirty="0" smtClean="0"/>
              <a:t>two </a:t>
            </a:r>
            <a:r>
              <a:rPr lang="en-US" dirty="0" smtClean="0"/>
              <a:t>atoms together in a statement.</a:t>
            </a:r>
          </a:p>
          <a:p>
            <a:r>
              <a:rPr lang="en-US" b="1" dirty="0" smtClean="0"/>
              <a:t>Consider the statement: "x is an integer."</a:t>
            </a:r>
            <a:r>
              <a:rPr lang="en-US" dirty="0" smtClean="0"/>
              <a:t>, it consists of two parts, the first part x is the subject of the statement and second part "is an integer," is known as a predicate.</a:t>
            </a:r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4495800"/>
            <a:ext cx="41910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Quantifiers in First-order logic: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smtClean="0"/>
              <a:t>quantifier is a language element which generates quantification, and quantification specifies the quantity of specimen in the universe of discourse.</a:t>
            </a:r>
          </a:p>
          <a:p>
            <a:r>
              <a:rPr lang="en-US" dirty="0" smtClean="0"/>
              <a:t>These are the symbols that permit to determine or identify the range and scope of the variable in the logical expression. There are two types of quantifier:</a:t>
            </a:r>
          </a:p>
          <a:p>
            <a:pPr lvl="1"/>
            <a:r>
              <a:rPr lang="en-US" b="1" dirty="0" smtClean="0"/>
              <a:t>Universal Quantifier, (for all, everyone, everything)</a:t>
            </a:r>
            <a:endParaRPr lang="en-US" dirty="0" smtClean="0"/>
          </a:p>
          <a:p>
            <a:pPr lvl="1"/>
            <a:r>
              <a:rPr lang="en-US" b="1" dirty="0" smtClean="0"/>
              <a:t>Existential quantifier, (for some, at least one</a:t>
            </a:r>
            <a:r>
              <a:rPr lang="en-US" b="1" dirty="0" smtClean="0"/>
              <a:t>).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Universal Quantifier: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3246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 smtClean="0"/>
              <a:t>Universal </a:t>
            </a:r>
            <a:r>
              <a:rPr lang="en-US" dirty="0" smtClean="0"/>
              <a:t>quantifier is a symbol of logical representation, which specifies that the statement within its range is true for everything or every instance of a particular thing.</a:t>
            </a:r>
          </a:p>
          <a:p>
            <a:r>
              <a:rPr lang="en-US" dirty="0" smtClean="0"/>
              <a:t>The Universal quantifier is represented by a symbol ∀, which resembles an inverted A.</a:t>
            </a:r>
          </a:p>
          <a:p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 smtClean="0"/>
              <a:t>x is a variable, then ∀x is read as:</a:t>
            </a:r>
          </a:p>
          <a:p>
            <a:r>
              <a:rPr lang="en-US" b="1" dirty="0" smtClean="0"/>
              <a:t>For all x</a:t>
            </a:r>
            <a:endParaRPr lang="en-US" dirty="0" smtClean="0"/>
          </a:p>
          <a:p>
            <a:r>
              <a:rPr lang="en-US" b="1" dirty="0" smtClean="0"/>
              <a:t>For each x</a:t>
            </a:r>
            <a:endParaRPr lang="en-US" dirty="0" smtClean="0"/>
          </a:p>
          <a:p>
            <a:r>
              <a:rPr lang="en-US" b="1" dirty="0" smtClean="0"/>
              <a:t>For every x.</a:t>
            </a:r>
            <a:endParaRPr lang="en-US" dirty="0" smtClean="0"/>
          </a:p>
          <a:p>
            <a:r>
              <a:rPr lang="en-US" dirty="0" smtClean="0"/>
              <a:t>Example:</a:t>
            </a:r>
          </a:p>
          <a:p>
            <a:r>
              <a:rPr lang="en-US" b="1" dirty="0" smtClean="0"/>
              <a:t>All man drink coffee.</a:t>
            </a:r>
            <a:endParaRPr lang="en-US" dirty="0" smtClean="0"/>
          </a:p>
          <a:p>
            <a:r>
              <a:rPr lang="en-US" dirty="0" smtClean="0"/>
              <a:t>Let a variable x which refers to a cat so all x can be represented in UOD as below: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99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Knowledge Engineering in First-Order Logic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 smtClean="0"/>
              <a:t>What is knowledge-engineering?</a:t>
            </a:r>
          </a:p>
          <a:p>
            <a:r>
              <a:rPr lang="en-US" dirty="0" smtClean="0"/>
              <a:t>The process of constructing a knowledge-base in first-order logic is called as knowledge- engineering. In </a:t>
            </a:r>
            <a:r>
              <a:rPr lang="en-US" b="1" dirty="0" smtClean="0"/>
              <a:t>knowledge-engineering</a:t>
            </a:r>
            <a:r>
              <a:rPr lang="en-US" dirty="0" smtClean="0"/>
              <a:t>, someone who investigates a particular domain, learns important concept of that domain, and generates a formal representation of the objects, is known as </a:t>
            </a:r>
            <a:r>
              <a:rPr lang="en-US" b="1" dirty="0" smtClean="0"/>
              <a:t>knowledge engineer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this topic, we will understand the Knowledge engineering process in an electronic circuit domain, which is already familiar. This approach is mainly suitable for creating </a:t>
            </a:r>
            <a:r>
              <a:rPr lang="en-US" b="1" dirty="0" smtClean="0"/>
              <a:t>special-purpose knowledge base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1647</Words>
  <Application>Microsoft Office PowerPoint</Application>
  <PresentationFormat>On-screen Show (4:3)</PresentationFormat>
  <Paragraphs>281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Knowledge</vt:lpstr>
      <vt:lpstr>Slide 2</vt:lpstr>
      <vt:lpstr>Slide 3</vt:lpstr>
      <vt:lpstr>Knowledge Bases</vt:lpstr>
      <vt:lpstr>A Simple Knowledge-Based Agent</vt:lpstr>
      <vt:lpstr>Agent’s Requirements</vt:lpstr>
      <vt:lpstr>Our New Toy Problem – Wumpus World</vt:lpstr>
      <vt:lpstr>Slide 8</vt:lpstr>
      <vt:lpstr>Wumpus World PEAS</vt:lpstr>
      <vt:lpstr>Slide 10</vt:lpstr>
      <vt:lpstr>Slide 11</vt:lpstr>
      <vt:lpstr>Slide 12</vt:lpstr>
      <vt:lpstr>Exploring a Wumpus World</vt:lpstr>
      <vt:lpstr>Exploring a Wumpus World</vt:lpstr>
      <vt:lpstr>Exploring a Wumpus World</vt:lpstr>
      <vt:lpstr>Exploring a Wumpus World</vt:lpstr>
      <vt:lpstr>Exploring a Wumpus World</vt:lpstr>
      <vt:lpstr>Exploring a Wumpus World</vt:lpstr>
      <vt:lpstr>Exploring a Wumpus World</vt:lpstr>
      <vt:lpstr>Logical Reasoning</vt:lpstr>
      <vt:lpstr>Logic in General</vt:lpstr>
      <vt:lpstr>Entailment</vt:lpstr>
      <vt:lpstr>Models</vt:lpstr>
      <vt:lpstr>Entailment in the Wumpus World</vt:lpstr>
      <vt:lpstr>Wumpus Models</vt:lpstr>
      <vt:lpstr>Slide 26</vt:lpstr>
      <vt:lpstr>Slide 27</vt:lpstr>
      <vt:lpstr>Slide 28</vt:lpstr>
      <vt:lpstr>Slide 29</vt:lpstr>
      <vt:lpstr>Slide 30</vt:lpstr>
      <vt:lpstr>Propositional Logic: Syntax</vt:lpstr>
      <vt:lpstr>Slide 32</vt:lpstr>
      <vt:lpstr>Truth Tables for Connectives</vt:lpstr>
      <vt:lpstr>Wumpus World Sentences</vt:lpstr>
      <vt:lpstr>Inference</vt:lpstr>
      <vt:lpstr>Truth Tables for Inference</vt:lpstr>
      <vt:lpstr>Inference by Enumeration</vt:lpstr>
      <vt:lpstr>Inference Rules</vt:lpstr>
      <vt:lpstr>Slide 39</vt:lpstr>
      <vt:lpstr>Proof Problem as Search Problem</vt:lpstr>
      <vt:lpstr>Resolution</vt:lpstr>
      <vt:lpstr>Example</vt:lpstr>
      <vt:lpstr>First-Order Logic</vt:lpstr>
      <vt:lpstr>Syntax and Semantics of First-Order Logic,  </vt:lpstr>
      <vt:lpstr>Slide 45</vt:lpstr>
      <vt:lpstr>Quantifiers in First-order logic: </vt:lpstr>
      <vt:lpstr>Universal Quantifier: </vt:lpstr>
      <vt:lpstr>Slide 48</vt:lpstr>
      <vt:lpstr>Knowledge Engineering in First-Order Logic</vt:lpstr>
      <vt:lpstr>Slide 50</vt:lpstr>
      <vt:lpstr>Slide 51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</dc:title>
  <dc:creator>Administrator</dc:creator>
  <cp:lastModifiedBy>Administrator</cp:lastModifiedBy>
  <cp:revision>18</cp:revision>
  <dcterms:created xsi:type="dcterms:W3CDTF">2006-08-16T00:00:00Z</dcterms:created>
  <dcterms:modified xsi:type="dcterms:W3CDTF">2022-10-14T07:27:51Z</dcterms:modified>
</cp:coreProperties>
</file>