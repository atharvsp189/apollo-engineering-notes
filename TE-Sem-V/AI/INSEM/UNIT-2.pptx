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2" d="100"/>
          <a:sy n="92" d="100"/>
        </p:scale>
        <p:origin x="307"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27178-24DF-5189-AB66-BD02F8189CA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F6FFB2E-3590-E2AB-31AE-C711F652998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E2CE0B6-CB98-9B50-2F09-BB13DD5DD2E1}"/>
              </a:ext>
            </a:extLst>
          </p:cNvPr>
          <p:cNvSpPr>
            <a:spLocks noGrp="1"/>
          </p:cNvSpPr>
          <p:nvPr>
            <p:ph type="dt" sz="half" idx="10"/>
          </p:nvPr>
        </p:nvSpPr>
        <p:spPr/>
        <p:txBody>
          <a:bodyPr/>
          <a:lstStyle/>
          <a:p>
            <a:fld id="{4BBCF454-7B61-4C94-A0B9-4801626CB9F5}" type="datetimeFigureOut">
              <a:rPr lang="en-IN" smtClean="0"/>
              <a:t>03-08-2022</a:t>
            </a:fld>
            <a:endParaRPr lang="en-IN"/>
          </a:p>
        </p:txBody>
      </p:sp>
      <p:sp>
        <p:nvSpPr>
          <p:cNvPr id="5" name="Footer Placeholder 4">
            <a:extLst>
              <a:ext uri="{FF2B5EF4-FFF2-40B4-BE49-F238E27FC236}">
                <a16:creationId xmlns:a16="http://schemas.microsoft.com/office/drawing/2014/main" id="{91E0E1BE-67A3-4C4F-E674-9039F32ADD7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E994ED4-3C26-4825-4A5B-F4E9605BB4E7}"/>
              </a:ext>
            </a:extLst>
          </p:cNvPr>
          <p:cNvSpPr>
            <a:spLocks noGrp="1"/>
          </p:cNvSpPr>
          <p:nvPr>
            <p:ph type="sldNum" sz="quarter" idx="12"/>
          </p:nvPr>
        </p:nvSpPr>
        <p:spPr/>
        <p:txBody>
          <a:bodyPr/>
          <a:lstStyle/>
          <a:p>
            <a:fld id="{8D1EED8B-D500-4B1E-996B-4EA295FAD966}" type="slidenum">
              <a:rPr lang="en-IN" smtClean="0"/>
              <a:t>‹#›</a:t>
            </a:fld>
            <a:endParaRPr lang="en-IN"/>
          </a:p>
        </p:txBody>
      </p:sp>
    </p:spTree>
    <p:extLst>
      <p:ext uri="{BB962C8B-B14F-4D97-AF65-F5344CB8AC3E}">
        <p14:creationId xmlns:p14="http://schemas.microsoft.com/office/powerpoint/2010/main" val="36856102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6E33D-DE62-2A17-A770-FD1AD11BF4B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FD8A12F-8790-E94D-A843-2356DD64B07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140A6E4-96EF-77D7-5AFF-3A6D1182F04A}"/>
              </a:ext>
            </a:extLst>
          </p:cNvPr>
          <p:cNvSpPr>
            <a:spLocks noGrp="1"/>
          </p:cNvSpPr>
          <p:nvPr>
            <p:ph type="dt" sz="half" idx="10"/>
          </p:nvPr>
        </p:nvSpPr>
        <p:spPr/>
        <p:txBody>
          <a:bodyPr/>
          <a:lstStyle/>
          <a:p>
            <a:fld id="{4BBCF454-7B61-4C94-A0B9-4801626CB9F5}" type="datetimeFigureOut">
              <a:rPr lang="en-IN" smtClean="0"/>
              <a:t>03-08-2022</a:t>
            </a:fld>
            <a:endParaRPr lang="en-IN"/>
          </a:p>
        </p:txBody>
      </p:sp>
      <p:sp>
        <p:nvSpPr>
          <p:cNvPr id="5" name="Footer Placeholder 4">
            <a:extLst>
              <a:ext uri="{FF2B5EF4-FFF2-40B4-BE49-F238E27FC236}">
                <a16:creationId xmlns:a16="http://schemas.microsoft.com/office/drawing/2014/main" id="{6B2ED85E-EA8E-44CA-C303-36799204EB3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6A8FE6A-23F2-FE4B-33D6-A456C8A75D76}"/>
              </a:ext>
            </a:extLst>
          </p:cNvPr>
          <p:cNvSpPr>
            <a:spLocks noGrp="1"/>
          </p:cNvSpPr>
          <p:nvPr>
            <p:ph type="sldNum" sz="quarter" idx="12"/>
          </p:nvPr>
        </p:nvSpPr>
        <p:spPr/>
        <p:txBody>
          <a:bodyPr/>
          <a:lstStyle/>
          <a:p>
            <a:fld id="{8D1EED8B-D500-4B1E-996B-4EA295FAD966}" type="slidenum">
              <a:rPr lang="en-IN" smtClean="0"/>
              <a:t>‹#›</a:t>
            </a:fld>
            <a:endParaRPr lang="en-IN"/>
          </a:p>
        </p:txBody>
      </p:sp>
    </p:spTree>
    <p:extLst>
      <p:ext uri="{BB962C8B-B14F-4D97-AF65-F5344CB8AC3E}">
        <p14:creationId xmlns:p14="http://schemas.microsoft.com/office/powerpoint/2010/main" val="14505447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0E200-4CD9-4D5B-61CF-0A8A9B09DC5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CD9526F-1895-E2CF-AE81-967C70E67AB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9235850-DCA3-4217-40DC-0C5EA6493B05}"/>
              </a:ext>
            </a:extLst>
          </p:cNvPr>
          <p:cNvSpPr>
            <a:spLocks noGrp="1"/>
          </p:cNvSpPr>
          <p:nvPr>
            <p:ph type="dt" sz="half" idx="10"/>
          </p:nvPr>
        </p:nvSpPr>
        <p:spPr/>
        <p:txBody>
          <a:bodyPr/>
          <a:lstStyle/>
          <a:p>
            <a:fld id="{4BBCF454-7B61-4C94-A0B9-4801626CB9F5}" type="datetimeFigureOut">
              <a:rPr lang="en-IN" smtClean="0"/>
              <a:t>03-08-2022</a:t>
            </a:fld>
            <a:endParaRPr lang="en-IN"/>
          </a:p>
        </p:txBody>
      </p:sp>
      <p:sp>
        <p:nvSpPr>
          <p:cNvPr id="5" name="Footer Placeholder 4">
            <a:extLst>
              <a:ext uri="{FF2B5EF4-FFF2-40B4-BE49-F238E27FC236}">
                <a16:creationId xmlns:a16="http://schemas.microsoft.com/office/drawing/2014/main" id="{EF535B1B-753E-A2D0-C69C-435E2B1E17B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73EA355-E6C5-8B01-CA69-DE056C242CD4}"/>
              </a:ext>
            </a:extLst>
          </p:cNvPr>
          <p:cNvSpPr>
            <a:spLocks noGrp="1"/>
          </p:cNvSpPr>
          <p:nvPr>
            <p:ph type="sldNum" sz="quarter" idx="12"/>
          </p:nvPr>
        </p:nvSpPr>
        <p:spPr/>
        <p:txBody>
          <a:bodyPr/>
          <a:lstStyle/>
          <a:p>
            <a:fld id="{8D1EED8B-D500-4B1E-996B-4EA295FAD966}" type="slidenum">
              <a:rPr lang="en-IN" smtClean="0"/>
              <a:t>‹#›</a:t>
            </a:fld>
            <a:endParaRPr lang="en-IN"/>
          </a:p>
        </p:txBody>
      </p:sp>
    </p:spTree>
    <p:extLst>
      <p:ext uri="{BB962C8B-B14F-4D97-AF65-F5344CB8AC3E}">
        <p14:creationId xmlns:p14="http://schemas.microsoft.com/office/powerpoint/2010/main" val="224007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F1830-A153-B8AC-BFD3-314177061B5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879838C-F84A-6F73-FD73-720150ACF9B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55CD183-A2D7-9616-3AFE-D4A1E2C9B45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F11E7FB-36B6-50EC-103C-E378C2B18512}"/>
              </a:ext>
            </a:extLst>
          </p:cNvPr>
          <p:cNvSpPr>
            <a:spLocks noGrp="1"/>
          </p:cNvSpPr>
          <p:nvPr>
            <p:ph type="dt" sz="half" idx="10"/>
          </p:nvPr>
        </p:nvSpPr>
        <p:spPr/>
        <p:txBody>
          <a:bodyPr/>
          <a:lstStyle/>
          <a:p>
            <a:fld id="{4BBCF454-7B61-4C94-A0B9-4801626CB9F5}" type="datetimeFigureOut">
              <a:rPr lang="en-IN" smtClean="0"/>
              <a:t>03-08-2022</a:t>
            </a:fld>
            <a:endParaRPr lang="en-IN"/>
          </a:p>
        </p:txBody>
      </p:sp>
      <p:sp>
        <p:nvSpPr>
          <p:cNvPr id="6" name="Footer Placeholder 5">
            <a:extLst>
              <a:ext uri="{FF2B5EF4-FFF2-40B4-BE49-F238E27FC236}">
                <a16:creationId xmlns:a16="http://schemas.microsoft.com/office/drawing/2014/main" id="{BFC23E67-3928-2BF1-4BF1-82CB53B5503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9B4F1E4-A001-07BE-D20D-9BF79A3B11E1}"/>
              </a:ext>
            </a:extLst>
          </p:cNvPr>
          <p:cNvSpPr>
            <a:spLocks noGrp="1"/>
          </p:cNvSpPr>
          <p:nvPr>
            <p:ph type="sldNum" sz="quarter" idx="12"/>
          </p:nvPr>
        </p:nvSpPr>
        <p:spPr/>
        <p:txBody>
          <a:bodyPr/>
          <a:lstStyle/>
          <a:p>
            <a:fld id="{8D1EED8B-D500-4B1E-996B-4EA295FAD966}" type="slidenum">
              <a:rPr lang="en-IN" smtClean="0"/>
              <a:t>‹#›</a:t>
            </a:fld>
            <a:endParaRPr lang="en-IN"/>
          </a:p>
        </p:txBody>
      </p:sp>
    </p:spTree>
    <p:extLst>
      <p:ext uri="{BB962C8B-B14F-4D97-AF65-F5344CB8AC3E}">
        <p14:creationId xmlns:p14="http://schemas.microsoft.com/office/powerpoint/2010/main" val="21227663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6F272-31AA-1B53-1201-E8DF6D3EA78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3B69828-3825-1B94-C331-C311557763B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6B6EEDF-D4DA-26FE-995B-A4490879136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483A2B0-C60B-8617-BD54-E238FB64424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907162A-D208-7935-3106-4D03D3C3F80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4E423CC-029A-CEC9-AE51-9036A8B6D364}"/>
              </a:ext>
            </a:extLst>
          </p:cNvPr>
          <p:cNvSpPr>
            <a:spLocks noGrp="1"/>
          </p:cNvSpPr>
          <p:nvPr>
            <p:ph type="dt" sz="half" idx="10"/>
          </p:nvPr>
        </p:nvSpPr>
        <p:spPr/>
        <p:txBody>
          <a:bodyPr/>
          <a:lstStyle/>
          <a:p>
            <a:fld id="{4BBCF454-7B61-4C94-A0B9-4801626CB9F5}" type="datetimeFigureOut">
              <a:rPr lang="en-IN" smtClean="0"/>
              <a:t>03-08-2022</a:t>
            </a:fld>
            <a:endParaRPr lang="en-IN"/>
          </a:p>
        </p:txBody>
      </p:sp>
      <p:sp>
        <p:nvSpPr>
          <p:cNvPr id="8" name="Footer Placeholder 7">
            <a:extLst>
              <a:ext uri="{FF2B5EF4-FFF2-40B4-BE49-F238E27FC236}">
                <a16:creationId xmlns:a16="http://schemas.microsoft.com/office/drawing/2014/main" id="{C1555486-7A81-2024-24B7-6F760C9163B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2D342FA-42B5-63E4-FA33-A097E33A879B}"/>
              </a:ext>
            </a:extLst>
          </p:cNvPr>
          <p:cNvSpPr>
            <a:spLocks noGrp="1"/>
          </p:cNvSpPr>
          <p:nvPr>
            <p:ph type="sldNum" sz="quarter" idx="12"/>
          </p:nvPr>
        </p:nvSpPr>
        <p:spPr/>
        <p:txBody>
          <a:bodyPr/>
          <a:lstStyle/>
          <a:p>
            <a:fld id="{8D1EED8B-D500-4B1E-996B-4EA295FAD966}" type="slidenum">
              <a:rPr lang="en-IN" smtClean="0"/>
              <a:t>‹#›</a:t>
            </a:fld>
            <a:endParaRPr lang="en-IN"/>
          </a:p>
        </p:txBody>
      </p:sp>
    </p:spTree>
    <p:extLst>
      <p:ext uri="{BB962C8B-B14F-4D97-AF65-F5344CB8AC3E}">
        <p14:creationId xmlns:p14="http://schemas.microsoft.com/office/powerpoint/2010/main" val="17323061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52C9DC-E724-D19A-DAF2-BDBCFCC70D0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6E7F455-3AB3-76F3-E191-386E1DB88CB5}"/>
              </a:ext>
            </a:extLst>
          </p:cNvPr>
          <p:cNvSpPr>
            <a:spLocks noGrp="1"/>
          </p:cNvSpPr>
          <p:nvPr>
            <p:ph type="dt" sz="half" idx="10"/>
          </p:nvPr>
        </p:nvSpPr>
        <p:spPr/>
        <p:txBody>
          <a:bodyPr/>
          <a:lstStyle/>
          <a:p>
            <a:fld id="{4BBCF454-7B61-4C94-A0B9-4801626CB9F5}" type="datetimeFigureOut">
              <a:rPr lang="en-IN" smtClean="0"/>
              <a:t>03-08-2022</a:t>
            </a:fld>
            <a:endParaRPr lang="en-IN"/>
          </a:p>
        </p:txBody>
      </p:sp>
      <p:sp>
        <p:nvSpPr>
          <p:cNvPr id="4" name="Footer Placeholder 3">
            <a:extLst>
              <a:ext uri="{FF2B5EF4-FFF2-40B4-BE49-F238E27FC236}">
                <a16:creationId xmlns:a16="http://schemas.microsoft.com/office/drawing/2014/main" id="{3F899E83-11CF-71A4-B506-3E72E74CFA8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05D9F01-345E-928E-7075-833ED46C26B0}"/>
              </a:ext>
            </a:extLst>
          </p:cNvPr>
          <p:cNvSpPr>
            <a:spLocks noGrp="1"/>
          </p:cNvSpPr>
          <p:nvPr>
            <p:ph type="sldNum" sz="quarter" idx="12"/>
          </p:nvPr>
        </p:nvSpPr>
        <p:spPr/>
        <p:txBody>
          <a:bodyPr/>
          <a:lstStyle/>
          <a:p>
            <a:fld id="{8D1EED8B-D500-4B1E-996B-4EA295FAD966}" type="slidenum">
              <a:rPr lang="en-IN" smtClean="0"/>
              <a:t>‹#›</a:t>
            </a:fld>
            <a:endParaRPr lang="en-IN"/>
          </a:p>
        </p:txBody>
      </p:sp>
    </p:spTree>
    <p:extLst>
      <p:ext uri="{BB962C8B-B14F-4D97-AF65-F5344CB8AC3E}">
        <p14:creationId xmlns:p14="http://schemas.microsoft.com/office/powerpoint/2010/main" val="23230560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EEBF275-1E30-9F8E-88A7-B6F4C611FA51}"/>
              </a:ext>
            </a:extLst>
          </p:cNvPr>
          <p:cNvSpPr>
            <a:spLocks noGrp="1"/>
          </p:cNvSpPr>
          <p:nvPr>
            <p:ph type="dt" sz="half" idx="10"/>
          </p:nvPr>
        </p:nvSpPr>
        <p:spPr/>
        <p:txBody>
          <a:bodyPr/>
          <a:lstStyle/>
          <a:p>
            <a:fld id="{4BBCF454-7B61-4C94-A0B9-4801626CB9F5}" type="datetimeFigureOut">
              <a:rPr lang="en-IN" smtClean="0"/>
              <a:t>03-08-2022</a:t>
            </a:fld>
            <a:endParaRPr lang="en-IN"/>
          </a:p>
        </p:txBody>
      </p:sp>
      <p:sp>
        <p:nvSpPr>
          <p:cNvPr id="3" name="Footer Placeholder 2">
            <a:extLst>
              <a:ext uri="{FF2B5EF4-FFF2-40B4-BE49-F238E27FC236}">
                <a16:creationId xmlns:a16="http://schemas.microsoft.com/office/drawing/2014/main" id="{DCA15FAE-0C23-E38A-4365-0A60D0D0C72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2A21CFD-3570-8075-4850-12BE1A3AEA14}"/>
              </a:ext>
            </a:extLst>
          </p:cNvPr>
          <p:cNvSpPr>
            <a:spLocks noGrp="1"/>
          </p:cNvSpPr>
          <p:nvPr>
            <p:ph type="sldNum" sz="quarter" idx="12"/>
          </p:nvPr>
        </p:nvSpPr>
        <p:spPr/>
        <p:txBody>
          <a:bodyPr/>
          <a:lstStyle/>
          <a:p>
            <a:fld id="{8D1EED8B-D500-4B1E-996B-4EA295FAD966}" type="slidenum">
              <a:rPr lang="en-IN" smtClean="0"/>
              <a:t>‹#›</a:t>
            </a:fld>
            <a:endParaRPr lang="en-IN"/>
          </a:p>
        </p:txBody>
      </p:sp>
    </p:spTree>
    <p:extLst>
      <p:ext uri="{BB962C8B-B14F-4D97-AF65-F5344CB8AC3E}">
        <p14:creationId xmlns:p14="http://schemas.microsoft.com/office/powerpoint/2010/main" val="8483606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9E8CF-A3CE-0E3A-EA99-FE715DACBBF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C4FEA51-7725-ED5D-1AC7-1D2CC7EFC2A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6784E8B-B5E1-0282-3276-2766CB6C1E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208A77-F228-ED08-9AA3-AAD02732C462}"/>
              </a:ext>
            </a:extLst>
          </p:cNvPr>
          <p:cNvSpPr>
            <a:spLocks noGrp="1"/>
          </p:cNvSpPr>
          <p:nvPr>
            <p:ph type="dt" sz="half" idx="10"/>
          </p:nvPr>
        </p:nvSpPr>
        <p:spPr/>
        <p:txBody>
          <a:bodyPr/>
          <a:lstStyle/>
          <a:p>
            <a:fld id="{4BBCF454-7B61-4C94-A0B9-4801626CB9F5}" type="datetimeFigureOut">
              <a:rPr lang="en-IN" smtClean="0"/>
              <a:t>03-08-2022</a:t>
            </a:fld>
            <a:endParaRPr lang="en-IN"/>
          </a:p>
        </p:txBody>
      </p:sp>
      <p:sp>
        <p:nvSpPr>
          <p:cNvPr id="6" name="Footer Placeholder 5">
            <a:extLst>
              <a:ext uri="{FF2B5EF4-FFF2-40B4-BE49-F238E27FC236}">
                <a16:creationId xmlns:a16="http://schemas.microsoft.com/office/drawing/2014/main" id="{3F6E6CFE-40D0-52BE-32D0-0B2DC24F23F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121582B-2C44-A130-BFF1-269EEBBB1D18}"/>
              </a:ext>
            </a:extLst>
          </p:cNvPr>
          <p:cNvSpPr>
            <a:spLocks noGrp="1"/>
          </p:cNvSpPr>
          <p:nvPr>
            <p:ph type="sldNum" sz="quarter" idx="12"/>
          </p:nvPr>
        </p:nvSpPr>
        <p:spPr/>
        <p:txBody>
          <a:bodyPr/>
          <a:lstStyle/>
          <a:p>
            <a:fld id="{8D1EED8B-D500-4B1E-996B-4EA295FAD966}" type="slidenum">
              <a:rPr lang="en-IN" smtClean="0"/>
              <a:t>‹#›</a:t>
            </a:fld>
            <a:endParaRPr lang="en-IN"/>
          </a:p>
        </p:txBody>
      </p:sp>
    </p:spTree>
    <p:extLst>
      <p:ext uri="{BB962C8B-B14F-4D97-AF65-F5344CB8AC3E}">
        <p14:creationId xmlns:p14="http://schemas.microsoft.com/office/powerpoint/2010/main" val="21640964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07C72D-D835-3F8B-7EC2-3C91DF8940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3A12657-F986-1AA0-0718-9A1E18CE442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9E883DD-BB02-A7F3-7ADD-BC2BBA96F3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38D588-07E4-80A1-7AD4-D658890E2C8E}"/>
              </a:ext>
            </a:extLst>
          </p:cNvPr>
          <p:cNvSpPr>
            <a:spLocks noGrp="1"/>
          </p:cNvSpPr>
          <p:nvPr>
            <p:ph type="dt" sz="half" idx="10"/>
          </p:nvPr>
        </p:nvSpPr>
        <p:spPr/>
        <p:txBody>
          <a:bodyPr/>
          <a:lstStyle/>
          <a:p>
            <a:fld id="{4BBCF454-7B61-4C94-A0B9-4801626CB9F5}" type="datetimeFigureOut">
              <a:rPr lang="en-IN" smtClean="0"/>
              <a:t>03-08-2022</a:t>
            </a:fld>
            <a:endParaRPr lang="en-IN"/>
          </a:p>
        </p:txBody>
      </p:sp>
      <p:sp>
        <p:nvSpPr>
          <p:cNvPr id="6" name="Footer Placeholder 5">
            <a:extLst>
              <a:ext uri="{FF2B5EF4-FFF2-40B4-BE49-F238E27FC236}">
                <a16:creationId xmlns:a16="http://schemas.microsoft.com/office/drawing/2014/main" id="{55F586F8-B7EC-B9ED-991C-FCCF4273D13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223472D-14DC-8EFE-C31E-0354B20809E0}"/>
              </a:ext>
            </a:extLst>
          </p:cNvPr>
          <p:cNvSpPr>
            <a:spLocks noGrp="1"/>
          </p:cNvSpPr>
          <p:nvPr>
            <p:ph type="sldNum" sz="quarter" idx="12"/>
          </p:nvPr>
        </p:nvSpPr>
        <p:spPr/>
        <p:txBody>
          <a:bodyPr/>
          <a:lstStyle/>
          <a:p>
            <a:fld id="{8D1EED8B-D500-4B1E-996B-4EA295FAD966}" type="slidenum">
              <a:rPr lang="en-IN" smtClean="0"/>
              <a:t>‹#›</a:t>
            </a:fld>
            <a:endParaRPr lang="en-IN"/>
          </a:p>
        </p:txBody>
      </p:sp>
    </p:spTree>
    <p:extLst>
      <p:ext uri="{BB962C8B-B14F-4D97-AF65-F5344CB8AC3E}">
        <p14:creationId xmlns:p14="http://schemas.microsoft.com/office/powerpoint/2010/main" val="29899285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2D771-85AF-C83F-A9D4-2C63C8CF221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04FF888-15CD-4700-6417-C9FAF3CC8CD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5AC82B0-11E4-3B7A-DF70-F74ED0859694}"/>
              </a:ext>
            </a:extLst>
          </p:cNvPr>
          <p:cNvSpPr>
            <a:spLocks noGrp="1"/>
          </p:cNvSpPr>
          <p:nvPr>
            <p:ph type="dt" sz="half" idx="10"/>
          </p:nvPr>
        </p:nvSpPr>
        <p:spPr/>
        <p:txBody>
          <a:bodyPr/>
          <a:lstStyle/>
          <a:p>
            <a:fld id="{4BBCF454-7B61-4C94-A0B9-4801626CB9F5}" type="datetimeFigureOut">
              <a:rPr lang="en-IN" smtClean="0"/>
              <a:t>03-08-2022</a:t>
            </a:fld>
            <a:endParaRPr lang="en-IN"/>
          </a:p>
        </p:txBody>
      </p:sp>
      <p:sp>
        <p:nvSpPr>
          <p:cNvPr id="5" name="Footer Placeholder 4">
            <a:extLst>
              <a:ext uri="{FF2B5EF4-FFF2-40B4-BE49-F238E27FC236}">
                <a16:creationId xmlns:a16="http://schemas.microsoft.com/office/drawing/2014/main" id="{BCB0205D-0016-0DAC-B828-6E00B4485A1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2ACA6EB-E91E-7176-DDCB-5DA0CDD41718}"/>
              </a:ext>
            </a:extLst>
          </p:cNvPr>
          <p:cNvSpPr>
            <a:spLocks noGrp="1"/>
          </p:cNvSpPr>
          <p:nvPr>
            <p:ph type="sldNum" sz="quarter" idx="12"/>
          </p:nvPr>
        </p:nvSpPr>
        <p:spPr/>
        <p:txBody>
          <a:bodyPr/>
          <a:lstStyle/>
          <a:p>
            <a:fld id="{8D1EED8B-D500-4B1E-996B-4EA295FAD966}" type="slidenum">
              <a:rPr lang="en-IN" smtClean="0"/>
              <a:t>‹#›</a:t>
            </a:fld>
            <a:endParaRPr lang="en-IN"/>
          </a:p>
        </p:txBody>
      </p:sp>
    </p:spTree>
    <p:extLst>
      <p:ext uri="{BB962C8B-B14F-4D97-AF65-F5344CB8AC3E}">
        <p14:creationId xmlns:p14="http://schemas.microsoft.com/office/powerpoint/2010/main" val="22473095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53DEC0B-F29A-ED2D-7DAF-EE06380E87D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50D36FD-8A3E-152C-871F-13D01F73917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5B2F905-63B5-D3A0-DC7E-DDCB9EBDD613}"/>
              </a:ext>
            </a:extLst>
          </p:cNvPr>
          <p:cNvSpPr>
            <a:spLocks noGrp="1"/>
          </p:cNvSpPr>
          <p:nvPr>
            <p:ph type="dt" sz="half" idx="10"/>
          </p:nvPr>
        </p:nvSpPr>
        <p:spPr/>
        <p:txBody>
          <a:bodyPr/>
          <a:lstStyle/>
          <a:p>
            <a:fld id="{4BBCF454-7B61-4C94-A0B9-4801626CB9F5}" type="datetimeFigureOut">
              <a:rPr lang="en-IN" smtClean="0"/>
              <a:t>03-08-2022</a:t>
            </a:fld>
            <a:endParaRPr lang="en-IN"/>
          </a:p>
        </p:txBody>
      </p:sp>
      <p:sp>
        <p:nvSpPr>
          <p:cNvPr id="5" name="Footer Placeholder 4">
            <a:extLst>
              <a:ext uri="{FF2B5EF4-FFF2-40B4-BE49-F238E27FC236}">
                <a16:creationId xmlns:a16="http://schemas.microsoft.com/office/drawing/2014/main" id="{4276D1F1-93C7-3608-8101-394320DC357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430A5D5-980C-DADE-AB2C-27CF5352723E}"/>
              </a:ext>
            </a:extLst>
          </p:cNvPr>
          <p:cNvSpPr>
            <a:spLocks noGrp="1"/>
          </p:cNvSpPr>
          <p:nvPr>
            <p:ph type="sldNum" sz="quarter" idx="12"/>
          </p:nvPr>
        </p:nvSpPr>
        <p:spPr/>
        <p:txBody>
          <a:bodyPr/>
          <a:lstStyle/>
          <a:p>
            <a:fld id="{8D1EED8B-D500-4B1E-996B-4EA295FAD966}" type="slidenum">
              <a:rPr lang="en-IN" smtClean="0"/>
              <a:t>‹#›</a:t>
            </a:fld>
            <a:endParaRPr lang="en-IN"/>
          </a:p>
        </p:txBody>
      </p:sp>
    </p:spTree>
    <p:extLst>
      <p:ext uri="{BB962C8B-B14F-4D97-AF65-F5344CB8AC3E}">
        <p14:creationId xmlns:p14="http://schemas.microsoft.com/office/powerpoint/2010/main" val="11936200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530E8A3-BBC3-A5DB-6C8B-D5E6428F46F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A1D01F5-46C9-EED2-F3C9-98A5DD2418D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CBDAFAC-5CF1-74D4-50CB-B6AF3F883C9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BBCF454-7B61-4C94-A0B9-4801626CB9F5}" type="datetimeFigureOut">
              <a:rPr lang="en-IN" smtClean="0"/>
              <a:t>03-08-2022</a:t>
            </a:fld>
            <a:endParaRPr lang="en-IN"/>
          </a:p>
        </p:txBody>
      </p:sp>
      <p:sp>
        <p:nvSpPr>
          <p:cNvPr id="5" name="Footer Placeholder 4">
            <a:extLst>
              <a:ext uri="{FF2B5EF4-FFF2-40B4-BE49-F238E27FC236}">
                <a16:creationId xmlns:a16="http://schemas.microsoft.com/office/drawing/2014/main" id="{ED065916-C158-8F36-0AE7-F52DD055178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F92864A-F623-5767-F2FF-10687F0ECA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1EED8B-D500-4B1E-996B-4EA295FAD966}" type="slidenum">
              <a:rPr lang="en-IN" smtClean="0"/>
              <a:t>‹#›</a:t>
            </a:fld>
            <a:endParaRPr lang="en-IN"/>
          </a:p>
        </p:txBody>
      </p:sp>
    </p:spTree>
    <p:extLst>
      <p:ext uri="{BB962C8B-B14F-4D97-AF65-F5344CB8AC3E}">
        <p14:creationId xmlns:p14="http://schemas.microsoft.com/office/powerpoint/2010/main" val="23205981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hyperlink" Target="https://www.tutorialandexample.com/informed-search-heuristic-search" TargetMode="Externa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49DF6-EE44-B47D-45B7-D61020A427F5}"/>
              </a:ext>
            </a:extLst>
          </p:cNvPr>
          <p:cNvSpPr>
            <a:spLocks noGrp="1"/>
          </p:cNvSpPr>
          <p:nvPr>
            <p:ph type="ctrTitle"/>
          </p:nvPr>
        </p:nvSpPr>
        <p:spPr/>
        <p:txBody>
          <a:bodyPr/>
          <a:lstStyle/>
          <a:p>
            <a:r>
              <a:rPr lang="en-IN" dirty="0"/>
              <a:t>Unit-2</a:t>
            </a:r>
          </a:p>
        </p:txBody>
      </p:sp>
      <p:sp>
        <p:nvSpPr>
          <p:cNvPr id="3" name="Subtitle 2">
            <a:extLst>
              <a:ext uri="{FF2B5EF4-FFF2-40B4-BE49-F238E27FC236}">
                <a16:creationId xmlns:a16="http://schemas.microsoft.com/office/drawing/2014/main" id="{CC56A5AC-E688-ACD7-C8CA-DF3A93379303}"/>
              </a:ext>
            </a:extLst>
          </p:cNvPr>
          <p:cNvSpPr>
            <a:spLocks noGrp="1"/>
          </p:cNvSpPr>
          <p:nvPr>
            <p:ph type="subTitle" idx="1"/>
          </p:nvPr>
        </p:nvSpPr>
        <p:spPr/>
        <p:txBody>
          <a:bodyPr/>
          <a:lstStyle/>
          <a:p>
            <a:r>
              <a:rPr lang="en-IN" dirty="0"/>
              <a:t>Problem-solving</a:t>
            </a:r>
          </a:p>
        </p:txBody>
      </p:sp>
    </p:spTree>
    <p:extLst>
      <p:ext uri="{BB962C8B-B14F-4D97-AF65-F5344CB8AC3E}">
        <p14:creationId xmlns:p14="http://schemas.microsoft.com/office/powerpoint/2010/main" val="18892816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9B96EB-A06E-878C-DCFB-DE06A572EB35}"/>
              </a:ext>
            </a:extLst>
          </p:cNvPr>
          <p:cNvSpPr>
            <a:spLocks noGrp="1"/>
          </p:cNvSpPr>
          <p:nvPr>
            <p:ph type="title"/>
          </p:nvPr>
        </p:nvSpPr>
        <p:spPr/>
        <p:txBody>
          <a:bodyPr/>
          <a:lstStyle/>
          <a:p>
            <a:r>
              <a:rPr lang="en-IN" dirty="0"/>
              <a:t>Points to be discussed:</a:t>
            </a:r>
          </a:p>
        </p:txBody>
      </p:sp>
      <p:sp>
        <p:nvSpPr>
          <p:cNvPr id="3" name="Content Placeholder 2">
            <a:extLst>
              <a:ext uri="{FF2B5EF4-FFF2-40B4-BE49-F238E27FC236}">
                <a16:creationId xmlns:a16="http://schemas.microsoft.com/office/drawing/2014/main" id="{2D4793B8-B9DC-EA57-EE06-FB7CAD92842B}"/>
              </a:ext>
            </a:extLst>
          </p:cNvPr>
          <p:cNvSpPr>
            <a:spLocks noGrp="1"/>
          </p:cNvSpPr>
          <p:nvPr>
            <p:ph idx="1"/>
          </p:nvPr>
        </p:nvSpPr>
        <p:spPr/>
        <p:txBody>
          <a:bodyPr>
            <a:normAutofit lnSpcReduction="10000"/>
          </a:bodyPr>
          <a:lstStyle/>
          <a:p>
            <a:r>
              <a:rPr lang="en-US" dirty="0"/>
              <a:t>Solving Problems by Searching, </a:t>
            </a:r>
          </a:p>
          <a:p>
            <a:r>
              <a:rPr lang="en-US" dirty="0"/>
              <a:t>Problem-Solving Agents, </a:t>
            </a:r>
          </a:p>
          <a:p>
            <a:r>
              <a:rPr lang="en-US" dirty="0"/>
              <a:t>Example Problems,</a:t>
            </a:r>
          </a:p>
          <a:p>
            <a:r>
              <a:rPr lang="en-US" dirty="0"/>
              <a:t> Search Algorithms, </a:t>
            </a:r>
          </a:p>
          <a:p>
            <a:r>
              <a:rPr lang="en-US" dirty="0"/>
              <a:t>Uninformed Search Strategies, </a:t>
            </a:r>
          </a:p>
          <a:p>
            <a:r>
              <a:rPr lang="en-US" dirty="0"/>
              <a:t>Informed (Heuristic) Search Strategies, </a:t>
            </a:r>
          </a:p>
          <a:p>
            <a:r>
              <a:rPr lang="en-US" dirty="0"/>
              <a:t>Heuristic Functions, </a:t>
            </a:r>
          </a:p>
          <a:p>
            <a:r>
              <a:rPr lang="en-US" dirty="0"/>
              <a:t>Search in Complex Environments, </a:t>
            </a:r>
          </a:p>
          <a:p>
            <a:r>
              <a:rPr lang="en-US" dirty="0"/>
              <a:t>Local Search and Optimization Problem</a:t>
            </a:r>
            <a:endParaRPr lang="en-IN" dirty="0"/>
          </a:p>
        </p:txBody>
      </p:sp>
    </p:spTree>
    <p:extLst>
      <p:ext uri="{BB962C8B-B14F-4D97-AF65-F5344CB8AC3E}">
        <p14:creationId xmlns:p14="http://schemas.microsoft.com/office/powerpoint/2010/main" val="21134313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9B96EB-A06E-878C-DCFB-DE06A572EB35}"/>
              </a:ext>
            </a:extLst>
          </p:cNvPr>
          <p:cNvSpPr>
            <a:spLocks noGrp="1"/>
          </p:cNvSpPr>
          <p:nvPr>
            <p:ph type="title"/>
          </p:nvPr>
        </p:nvSpPr>
        <p:spPr/>
        <p:txBody>
          <a:bodyPr>
            <a:normAutofit fontScale="90000"/>
          </a:bodyPr>
          <a:lstStyle/>
          <a:p>
            <a:pPr marL="457200">
              <a:spcAft>
                <a:spcPts val="300"/>
              </a:spcAft>
            </a:pPr>
            <a:br>
              <a:rPr lang="en-IN" sz="4400" b="1" dirty="0">
                <a:solidFill>
                  <a:srgbClr val="202124"/>
                </a:solidFill>
                <a:effectLst/>
                <a:latin typeface="Arial" panose="020B0604020202020204" pitchFamily="34" charset="0"/>
                <a:ea typeface="Times New Roman" panose="02020603050405020304" pitchFamily="18" charset="0"/>
              </a:rPr>
            </a:br>
            <a:br>
              <a:rPr lang="en-IN" sz="4400" b="1" dirty="0">
                <a:solidFill>
                  <a:srgbClr val="202124"/>
                </a:solidFill>
                <a:effectLst/>
                <a:latin typeface="Arial" panose="020B0604020202020204" pitchFamily="34" charset="0"/>
                <a:ea typeface="Times New Roman" panose="02020603050405020304" pitchFamily="18" charset="0"/>
              </a:rPr>
            </a:br>
            <a:r>
              <a:rPr lang="en-IN" sz="4400" b="1" dirty="0">
                <a:solidFill>
                  <a:srgbClr val="202124"/>
                </a:solidFill>
                <a:effectLst/>
                <a:latin typeface="Arial" panose="020B0604020202020204" pitchFamily="34" charset="0"/>
                <a:ea typeface="Times New Roman" panose="02020603050405020304" pitchFamily="18" charset="0"/>
              </a:rPr>
              <a:t>solving problems by searching</a:t>
            </a:r>
            <a:br>
              <a:rPr lang="en-IN" sz="4400" dirty="0">
                <a:effectLst/>
                <a:latin typeface="Times New Roman" panose="02020603050405020304" pitchFamily="18" charset="0"/>
                <a:ea typeface="Times New Roman" panose="02020603050405020304" pitchFamily="18" charset="0"/>
              </a:rPr>
            </a:br>
            <a:r>
              <a:rPr lang="en-IN" sz="4400" dirty="0">
                <a:solidFill>
                  <a:srgbClr val="202124"/>
                </a:solidFill>
                <a:effectLst/>
                <a:latin typeface="Arial" panose="020B0604020202020204" pitchFamily="34" charset="0"/>
                <a:ea typeface="Times New Roman" panose="02020603050405020304" pitchFamily="18" charset="0"/>
              </a:rPr>
              <a:t> </a:t>
            </a:r>
            <a:br>
              <a:rPr lang="en-IN" sz="4400" dirty="0">
                <a:effectLst/>
                <a:latin typeface="Times New Roman" panose="02020603050405020304" pitchFamily="18" charset="0"/>
                <a:ea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2D4793B8-B9DC-EA57-EE06-FB7CAD92842B}"/>
              </a:ext>
            </a:extLst>
          </p:cNvPr>
          <p:cNvSpPr>
            <a:spLocks noGrp="1"/>
          </p:cNvSpPr>
          <p:nvPr>
            <p:ph idx="1"/>
          </p:nvPr>
        </p:nvSpPr>
        <p:spPr/>
        <p:txBody>
          <a:bodyPr/>
          <a:lstStyle/>
          <a:p>
            <a:pPr marL="342900" lvl="0" indent="-342900">
              <a:spcAft>
                <a:spcPts val="300"/>
              </a:spcAft>
              <a:tabLst>
                <a:tab pos="457200" algn="l"/>
              </a:tabLst>
            </a:pPr>
            <a:r>
              <a:rPr lang="en-IN" sz="1800" dirty="0">
                <a:solidFill>
                  <a:srgbClr val="202124"/>
                </a:solidFill>
                <a:effectLst/>
                <a:latin typeface="Arial" panose="020B0604020202020204" pitchFamily="34" charset="0"/>
                <a:ea typeface="Times New Roman" panose="02020603050405020304" pitchFamily="18" charset="0"/>
              </a:rPr>
              <a:t>Define the problem.</a:t>
            </a:r>
            <a:endParaRPr lang="en-IN" sz="1800" dirty="0">
              <a:effectLst/>
              <a:latin typeface="Times New Roman" panose="02020603050405020304" pitchFamily="18" charset="0"/>
              <a:ea typeface="Times New Roman" panose="02020603050405020304" pitchFamily="18" charset="0"/>
            </a:endParaRPr>
          </a:p>
          <a:p>
            <a:pPr marL="342900" lvl="0" indent="-342900">
              <a:spcAft>
                <a:spcPts val="300"/>
              </a:spcAft>
              <a:tabLst>
                <a:tab pos="457200" algn="l"/>
              </a:tabLst>
            </a:pPr>
            <a:r>
              <a:rPr lang="en-IN" sz="1800" dirty="0" err="1">
                <a:solidFill>
                  <a:srgbClr val="202124"/>
                </a:solidFill>
                <a:effectLst/>
                <a:latin typeface="Arial" panose="020B0604020202020204" pitchFamily="34" charset="0"/>
                <a:ea typeface="Times New Roman" panose="02020603050405020304" pitchFamily="18" charset="0"/>
              </a:rPr>
              <a:t>Analyze</a:t>
            </a:r>
            <a:r>
              <a:rPr lang="en-IN" sz="1800" dirty="0">
                <a:solidFill>
                  <a:srgbClr val="202124"/>
                </a:solidFill>
                <a:effectLst/>
                <a:latin typeface="Arial" panose="020B0604020202020204" pitchFamily="34" charset="0"/>
                <a:ea typeface="Times New Roman" panose="02020603050405020304" pitchFamily="18" charset="0"/>
              </a:rPr>
              <a:t> the problem.</a:t>
            </a:r>
            <a:endParaRPr lang="en-IN" sz="1800" dirty="0">
              <a:effectLst/>
              <a:latin typeface="Times New Roman" panose="02020603050405020304" pitchFamily="18" charset="0"/>
              <a:ea typeface="Times New Roman" panose="02020603050405020304" pitchFamily="18" charset="0"/>
            </a:endParaRPr>
          </a:p>
          <a:p>
            <a:pPr marL="342900" lvl="0" indent="-342900">
              <a:spcAft>
                <a:spcPts val="300"/>
              </a:spcAft>
              <a:tabLst>
                <a:tab pos="457200" algn="l"/>
              </a:tabLst>
            </a:pPr>
            <a:r>
              <a:rPr lang="en-IN" sz="1800" dirty="0">
                <a:solidFill>
                  <a:srgbClr val="202124"/>
                </a:solidFill>
                <a:effectLst/>
                <a:latin typeface="Arial" panose="020B0604020202020204" pitchFamily="34" charset="0"/>
                <a:ea typeface="Times New Roman" panose="02020603050405020304" pitchFamily="18" charset="0"/>
              </a:rPr>
              <a:t>Identification of possible solutions.</a:t>
            </a:r>
            <a:endParaRPr lang="en-IN" sz="1800" dirty="0">
              <a:effectLst/>
              <a:latin typeface="Times New Roman" panose="02020603050405020304" pitchFamily="18" charset="0"/>
              <a:ea typeface="Times New Roman" panose="02020603050405020304" pitchFamily="18" charset="0"/>
            </a:endParaRPr>
          </a:p>
          <a:p>
            <a:pPr marL="342900" lvl="0" indent="-342900">
              <a:spcAft>
                <a:spcPts val="300"/>
              </a:spcAft>
              <a:tabLst>
                <a:tab pos="457200" algn="l"/>
              </a:tabLst>
            </a:pPr>
            <a:r>
              <a:rPr lang="en-IN" sz="1800" dirty="0">
                <a:solidFill>
                  <a:srgbClr val="202124"/>
                </a:solidFill>
                <a:effectLst/>
                <a:latin typeface="Arial" panose="020B0604020202020204" pitchFamily="34" charset="0"/>
                <a:ea typeface="Times New Roman" panose="02020603050405020304" pitchFamily="18" charset="0"/>
              </a:rPr>
              <a:t>Choosing the optimal solution.</a:t>
            </a:r>
            <a:endParaRPr lang="en-IN" sz="1800" dirty="0">
              <a:effectLst/>
              <a:latin typeface="Times New Roman" panose="02020603050405020304" pitchFamily="18" charset="0"/>
              <a:ea typeface="Times New Roman" panose="02020603050405020304" pitchFamily="18" charset="0"/>
            </a:endParaRPr>
          </a:p>
          <a:p>
            <a:pPr marL="342900" lvl="0" indent="-342900">
              <a:spcAft>
                <a:spcPts val="300"/>
              </a:spcAft>
              <a:tabLst>
                <a:tab pos="457200" algn="l"/>
              </a:tabLst>
            </a:pPr>
            <a:r>
              <a:rPr lang="en-IN" sz="1800" dirty="0">
                <a:solidFill>
                  <a:srgbClr val="202124"/>
                </a:solidFill>
                <a:effectLst/>
                <a:latin typeface="Arial" panose="020B0604020202020204" pitchFamily="34" charset="0"/>
                <a:ea typeface="Times New Roman" panose="02020603050405020304" pitchFamily="18" charset="0"/>
              </a:rPr>
              <a:t>Implementation.</a:t>
            </a:r>
            <a:endParaRPr lang="en-IN" sz="1800" dirty="0">
              <a:effectLst/>
              <a:latin typeface="Times New Roman" panose="02020603050405020304" pitchFamily="18" charset="0"/>
              <a:ea typeface="Times New Roman" panose="02020603050405020304" pitchFamily="18" charset="0"/>
            </a:endParaRPr>
          </a:p>
          <a:p>
            <a:endParaRPr lang="en-IN" dirty="0"/>
          </a:p>
        </p:txBody>
      </p:sp>
    </p:spTree>
    <p:extLst>
      <p:ext uri="{BB962C8B-B14F-4D97-AF65-F5344CB8AC3E}">
        <p14:creationId xmlns:p14="http://schemas.microsoft.com/office/powerpoint/2010/main" val="12538331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9B96EB-A06E-878C-DCFB-DE06A572EB35}"/>
              </a:ext>
            </a:extLst>
          </p:cNvPr>
          <p:cNvSpPr>
            <a:spLocks noGrp="1"/>
          </p:cNvSpPr>
          <p:nvPr>
            <p:ph type="title"/>
          </p:nvPr>
        </p:nvSpPr>
        <p:spPr/>
        <p:txBody>
          <a:bodyPr>
            <a:noAutofit/>
          </a:bodyPr>
          <a:lstStyle/>
          <a:p>
            <a:br>
              <a:rPr lang="en-IN" sz="4000" b="1" dirty="0">
                <a:effectLst/>
                <a:latin typeface="Calibri" panose="020F0502020204030204" pitchFamily="34" charset="0"/>
                <a:ea typeface="Calibri" panose="020F0502020204030204" pitchFamily="34" charset="0"/>
                <a:cs typeface="Times New Roman" panose="02020603050405020304" pitchFamily="18" charset="0"/>
              </a:rPr>
            </a:br>
            <a:br>
              <a:rPr lang="en-IN" sz="4000" b="1" dirty="0">
                <a:effectLst/>
                <a:latin typeface="Calibri" panose="020F0502020204030204" pitchFamily="34" charset="0"/>
                <a:ea typeface="Calibri" panose="020F0502020204030204" pitchFamily="34" charset="0"/>
                <a:cs typeface="Times New Roman" panose="02020603050405020304" pitchFamily="18" charset="0"/>
              </a:rPr>
            </a:br>
            <a:r>
              <a:rPr lang="en-IN" sz="4000" b="1" dirty="0">
                <a:effectLst/>
                <a:latin typeface="Calibri" panose="020F0502020204030204" pitchFamily="34" charset="0"/>
                <a:ea typeface="Calibri" panose="020F0502020204030204" pitchFamily="34" charset="0"/>
                <a:cs typeface="Times New Roman" panose="02020603050405020304" pitchFamily="18" charset="0"/>
              </a:rPr>
              <a:t>Why searching is important in problem solving?</a:t>
            </a:r>
            <a:br>
              <a:rPr lang="en-IN" sz="4000" b="1" dirty="0">
                <a:effectLst/>
                <a:latin typeface="Calibri" panose="020F0502020204030204" pitchFamily="34" charset="0"/>
                <a:ea typeface="Calibri" panose="020F0502020204030204" pitchFamily="34" charset="0"/>
                <a:cs typeface="Times New Roman" panose="02020603050405020304" pitchFamily="18" charset="0"/>
              </a:rPr>
            </a:br>
            <a:br>
              <a:rPr lang="en-IN" sz="4000" b="1" dirty="0">
                <a:effectLst/>
                <a:latin typeface="Calibri" panose="020F0502020204030204" pitchFamily="34" charset="0"/>
                <a:ea typeface="Calibri" panose="020F0502020204030204" pitchFamily="34" charset="0"/>
                <a:cs typeface="Times New Roman" panose="02020603050405020304" pitchFamily="18" charset="0"/>
              </a:rPr>
            </a:br>
            <a:endParaRPr lang="en-IN" sz="4000" b="1" dirty="0"/>
          </a:p>
        </p:txBody>
      </p:sp>
      <p:sp>
        <p:nvSpPr>
          <p:cNvPr id="3" name="Content Placeholder 2">
            <a:extLst>
              <a:ext uri="{FF2B5EF4-FFF2-40B4-BE49-F238E27FC236}">
                <a16:creationId xmlns:a16="http://schemas.microsoft.com/office/drawing/2014/main" id="{2D4793B8-B9DC-EA57-EE06-FB7CAD92842B}"/>
              </a:ext>
            </a:extLst>
          </p:cNvPr>
          <p:cNvSpPr>
            <a:spLocks noGrp="1"/>
          </p:cNvSpPr>
          <p:nvPr>
            <p:ph idx="1"/>
          </p:nvPr>
        </p:nvSpPr>
        <p:spPr/>
        <p:txBody>
          <a:bodyPr/>
          <a:lstStyle/>
          <a:p>
            <a:r>
              <a:rPr lang="en-IN" sz="4800" dirty="0">
                <a:solidFill>
                  <a:srgbClr val="202124"/>
                </a:solidFill>
                <a:effectLst/>
                <a:latin typeface="Arial" panose="020B0604020202020204" pitchFamily="34" charset="0"/>
                <a:ea typeface="Calibri" panose="020F0502020204030204" pitchFamily="34" charset="0"/>
                <a:cs typeface="Times New Roman" panose="02020603050405020304" pitchFamily="18" charset="0"/>
              </a:rPr>
              <a:t>important </a:t>
            </a:r>
            <a:r>
              <a:rPr lang="en-IN" sz="4800" b="1" dirty="0">
                <a:effectLst/>
                <a:latin typeface="Calibri" panose="020F0502020204030204" pitchFamily="34" charset="0"/>
                <a:ea typeface="Calibri" panose="020F0502020204030204" pitchFamily="34" charset="0"/>
                <a:cs typeface="Times New Roman" panose="02020603050405020304" pitchFamily="18" charset="0"/>
              </a:rPr>
              <a:t>to identify the scope of your task in terms of the problems which will need to be solved</a:t>
            </a:r>
            <a:r>
              <a:rPr lang="en-IN" sz="4800" dirty="0">
                <a:effectLst/>
                <a:latin typeface="Calibri" panose="020F0502020204030204" pitchFamily="34" charset="0"/>
                <a:ea typeface="Calibri" panose="020F0502020204030204" pitchFamily="34" charset="0"/>
                <a:cs typeface="Times New Roman" panose="02020603050405020304" pitchFamily="18" charset="0"/>
              </a:rPr>
              <a:t>.</a:t>
            </a:r>
          </a:p>
          <a:p>
            <a:endParaRPr lang="en-IN" dirty="0"/>
          </a:p>
        </p:txBody>
      </p:sp>
    </p:spTree>
    <p:extLst>
      <p:ext uri="{BB962C8B-B14F-4D97-AF65-F5344CB8AC3E}">
        <p14:creationId xmlns:p14="http://schemas.microsoft.com/office/powerpoint/2010/main" val="5564509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9B96EB-A06E-878C-DCFB-DE06A572EB35}"/>
              </a:ext>
            </a:extLst>
          </p:cNvPr>
          <p:cNvSpPr>
            <a:spLocks noGrp="1"/>
          </p:cNvSpPr>
          <p:nvPr>
            <p:ph type="title"/>
          </p:nvPr>
        </p:nvSpPr>
        <p:spPr/>
        <p:txBody>
          <a:bodyPr/>
          <a:lstStyle/>
          <a:p>
            <a:r>
              <a:rPr lang="en-IN" sz="4400" spc="-5" dirty="0">
                <a:solidFill>
                  <a:srgbClr val="292929"/>
                </a:solidFill>
                <a:effectLst/>
                <a:latin typeface="Georgia" panose="02040502050405020303" pitchFamily="18" charset="0"/>
                <a:ea typeface="Times New Roman" panose="02020603050405020304" pitchFamily="18" charset="0"/>
                <a:cs typeface="Times New Roman" panose="02020603050405020304" pitchFamily="18" charset="0"/>
              </a:rPr>
              <a:t>goal-based agents</a:t>
            </a:r>
            <a:endParaRPr lang="en-IN" dirty="0"/>
          </a:p>
        </p:txBody>
      </p:sp>
      <p:sp>
        <p:nvSpPr>
          <p:cNvPr id="3" name="Content Placeholder 2">
            <a:extLst>
              <a:ext uri="{FF2B5EF4-FFF2-40B4-BE49-F238E27FC236}">
                <a16:creationId xmlns:a16="http://schemas.microsoft.com/office/drawing/2014/main" id="{2D4793B8-B9DC-EA57-EE06-FB7CAD92842B}"/>
              </a:ext>
            </a:extLst>
          </p:cNvPr>
          <p:cNvSpPr>
            <a:spLocks noGrp="1"/>
          </p:cNvSpPr>
          <p:nvPr>
            <p:ph idx="1"/>
          </p:nvPr>
        </p:nvSpPr>
        <p:spPr/>
        <p:txBody>
          <a:bodyPr/>
          <a:lstStyle/>
          <a:p>
            <a:r>
              <a:rPr lang="en-IN" sz="4800" b="1" spc="-5" dirty="0">
                <a:solidFill>
                  <a:srgbClr val="292929"/>
                </a:solidFill>
                <a:effectLst/>
                <a:latin typeface="Georgia" panose="02040502050405020303" pitchFamily="18" charset="0"/>
                <a:ea typeface="Times New Roman" panose="02020603050405020304" pitchFamily="18" charset="0"/>
                <a:cs typeface="Times New Roman" panose="02020603050405020304" pitchFamily="18" charset="0"/>
              </a:rPr>
              <a:t>problem-solving agents</a:t>
            </a:r>
            <a:r>
              <a:rPr lang="en-IN" sz="4800" spc="-5" dirty="0">
                <a:solidFill>
                  <a:srgbClr val="292929"/>
                </a:solidFill>
                <a:effectLst/>
                <a:latin typeface="Georgia" panose="02040502050405020303" pitchFamily="18" charset="0"/>
                <a:ea typeface="Times New Roman" panose="02020603050405020304" pitchFamily="18" charset="0"/>
                <a:cs typeface="Times New Roman" panose="02020603050405020304" pitchFamily="18" charset="0"/>
              </a:rPr>
              <a:t> </a:t>
            </a:r>
          </a:p>
          <a:p>
            <a:r>
              <a:rPr lang="en-IN" sz="4800" b="1" spc="-5" dirty="0">
                <a:solidFill>
                  <a:srgbClr val="292929"/>
                </a:solidFill>
                <a:effectLst/>
                <a:latin typeface="Georgia" panose="02040502050405020303" pitchFamily="18" charset="0"/>
                <a:ea typeface="Times New Roman" panose="02020603050405020304" pitchFamily="18" charset="0"/>
                <a:cs typeface="Times New Roman" panose="02020603050405020304" pitchFamily="18" charset="0"/>
              </a:rPr>
              <a:t>planning agents</a:t>
            </a:r>
            <a:r>
              <a:rPr lang="en-IN" sz="4800" spc="-5" dirty="0">
                <a:solidFill>
                  <a:srgbClr val="292929"/>
                </a:solidFill>
                <a:effectLst/>
                <a:latin typeface="Georgia" panose="02040502050405020303" pitchFamily="18" charset="0"/>
                <a:ea typeface="Times New Roman" panose="02020603050405020304" pitchFamily="18" charset="0"/>
                <a:cs typeface="Times New Roman" panose="02020603050405020304" pitchFamily="18" charset="0"/>
              </a:rPr>
              <a:t>.</a:t>
            </a:r>
          </a:p>
          <a:p>
            <a:endParaRPr lang="en-IN" sz="1800" spc="-5" dirty="0">
              <a:solidFill>
                <a:srgbClr val="292929"/>
              </a:solidFill>
              <a:latin typeface="Georgia" panose="02040502050405020303" pitchFamily="18" charset="0"/>
              <a:ea typeface="Times New Roman" panose="02020603050405020304" pitchFamily="18" charset="0"/>
              <a:cs typeface="Times New Roman" panose="02020603050405020304" pitchFamily="18" charset="0"/>
            </a:endParaRPr>
          </a:p>
          <a:p>
            <a:r>
              <a:rPr lang="en-IN" sz="1800" spc="-5" dirty="0">
                <a:solidFill>
                  <a:srgbClr val="292929"/>
                </a:solidFill>
                <a:effectLst/>
                <a:latin typeface="Georgia" panose="02040502050405020303" pitchFamily="18" charset="0"/>
                <a:ea typeface="Times New Roman" panose="02020603050405020304" pitchFamily="18" charset="0"/>
                <a:cs typeface="Times New Roman" panose="02020603050405020304" pitchFamily="18" charset="0"/>
              </a:rPr>
              <a:t> </a:t>
            </a:r>
            <a:endParaRPr lang="en-IN" dirty="0"/>
          </a:p>
        </p:txBody>
      </p:sp>
    </p:spTree>
    <p:extLst>
      <p:ext uri="{BB962C8B-B14F-4D97-AF65-F5344CB8AC3E}">
        <p14:creationId xmlns:p14="http://schemas.microsoft.com/office/powerpoint/2010/main" val="42349372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9B96EB-A06E-878C-DCFB-DE06A572EB35}"/>
              </a:ext>
            </a:extLst>
          </p:cNvPr>
          <p:cNvSpPr>
            <a:spLocks noGrp="1"/>
          </p:cNvSpPr>
          <p:nvPr>
            <p:ph type="title"/>
          </p:nvPr>
        </p:nvSpPr>
        <p:spPr/>
        <p:txBody>
          <a:bodyPr/>
          <a:lstStyle/>
          <a:p>
            <a:r>
              <a:rPr lang="en-IN" sz="4400" spc="-5" dirty="0">
                <a:solidFill>
                  <a:srgbClr val="292929"/>
                </a:solidFill>
                <a:effectLst/>
                <a:latin typeface="Georgia" panose="02040502050405020303" pitchFamily="18" charset="0"/>
                <a:ea typeface="Times New Roman" panose="02020603050405020304" pitchFamily="18" charset="0"/>
                <a:cs typeface="Times New Roman" panose="02020603050405020304" pitchFamily="18" charset="0"/>
              </a:rPr>
              <a:t>Problem-solving agents</a:t>
            </a:r>
            <a:endParaRPr lang="en-IN" dirty="0"/>
          </a:p>
        </p:txBody>
      </p:sp>
      <p:sp>
        <p:nvSpPr>
          <p:cNvPr id="3" name="Content Placeholder 2">
            <a:extLst>
              <a:ext uri="{FF2B5EF4-FFF2-40B4-BE49-F238E27FC236}">
                <a16:creationId xmlns:a16="http://schemas.microsoft.com/office/drawing/2014/main" id="{2D4793B8-B9DC-EA57-EE06-FB7CAD92842B}"/>
              </a:ext>
            </a:extLst>
          </p:cNvPr>
          <p:cNvSpPr>
            <a:spLocks noGrp="1"/>
          </p:cNvSpPr>
          <p:nvPr>
            <p:ph idx="1"/>
          </p:nvPr>
        </p:nvSpPr>
        <p:spPr/>
        <p:txBody>
          <a:bodyPr/>
          <a:lstStyle/>
          <a:p>
            <a:r>
              <a:rPr lang="en-IN" sz="2800" spc="-5" dirty="0">
                <a:solidFill>
                  <a:srgbClr val="292929"/>
                </a:solidFill>
                <a:effectLst/>
                <a:latin typeface="Georgia" panose="02040502050405020303" pitchFamily="18" charset="0"/>
                <a:ea typeface="Times New Roman" panose="02020603050405020304" pitchFamily="18" charset="0"/>
                <a:cs typeface="Times New Roman" panose="02020603050405020304" pitchFamily="18" charset="0"/>
              </a:rPr>
              <a:t>consider each states of the world as </a:t>
            </a:r>
            <a:r>
              <a:rPr lang="en-IN" sz="2800" b="1" spc="-5" dirty="0">
                <a:solidFill>
                  <a:srgbClr val="292929"/>
                </a:solidFill>
                <a:effectLst/>
                <a:latin typeface="Georgia" panose="02040502050405020303" pitchFamily="18" charset="0"/>
                <a:ea typeface="Times New Roman" panose="02020603050405020304" pitchFamily="18" charset="0"/>
                <a:cs typeface="Times New Roman" panose="02020603050405020304" pitchFamily="18" charset="0"/>
              </a:rPr>
              <a:t>indivisible</a:t>
            </a:r>
            <a:r>
              <a:rPr lang="en-IN" sz="2800" spc="-5" dirty="0">
                <a:solidFill>
                  <a:srgbClr val="292929"/>
                </a:solidFill>
                <a:effectLst/>
                <a:latin typeface="Georgia" panose="02040502050405020303" pitchFamily="18" charset="0"/>
                <a:ea typeface="Times New Roman" panose="02020603050405020304" pitchFamily="18" charset="0"/>
                <a:cs typeface="Times New Roman" panose="02020603050405020304" pitchFamily="18" charset="0"/>
              </a:rPr>
              <a:t>, with no internal structure of the states visible to the problem-solving algorithms. </a:t>
            </a:r>
            <a:endParaRPr lang="en-IN" dirty="0"/>
          </a:p>
        </p:txBody>
      </p:sp>
    </p:spTree>
    <p:extLst>
      <p:ext uri="{BB962C8B-B14F-4D97-AF65-F5344CB8AC3E}">
        <p14:creationId xmlns:p14="http://schemas.microsoft.com/office/powerpoint/2010/main" val="41594973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9B96EB-A06E-878C-DCFB-DE06A572EB35}"/>
              </a:ext>
            </a:extLst>
          </p:cNvPr>
          <p:cNvSpPr>
            <a:spLocks noGrp="1"/>
          </p:cNvSpPr>
          <p:nvPr>
            <p:ph type="title"/>
          </p:nvPr>
        </p:nvSpPr>
        <p:spPr/>
        <p:txBody>
          <a:bodyPr/>
          <a:lstStyle/>
          <a:p>
            <a:r>
              <a:rPr lang="en-IN" sz="4400" spc="-5" dirty="0">
                <a:solidFill>
                  <a:srgbClr val="292929"/>
                </a:solidFill>
                <a:effectLst/>
                <a:latin typeface="Georgia" panose="02040502050405020303" pitchFamily="18" charset="0"/>
                <a:ea typeface="Times New Roman" panose="02020603050405020304" pitchFamily="18" charset="0"/>
                <a:cs typeface="Times New Roman" panose="02020603050405020304" pitchFamily="18" charset="0"/>
              </a:rPr>
              <a:t>Planning agents</a:t>
            </a:r>
            <a:endParaRPr lang="en-IN" dirty="0"/>
          </a:p>
        </p:txBody>
      </p:sp>
      <p:sp>
        <p:nvSpPr>
          <p:cNvPr id="3" name="Content Placeholder 2">
            <a:extLst>
              <a:ext uri="{FF2B5EF4-FFF2-40B4-BE49-F238E27FC236}">
                <a16:creationId xmlns:a16="http://schemas.microsoft.com/office/drawing/2014/main" id="{2D4793B8-B9DC-EA57-EE06-FB7CAD92842B}"/>
              </a:ext>
            </a:extLst>
          </p:cNvPr>
          <p:cNvSpPr>
            <a:spLocks noGrp="1"/>
          </p:cNvSpPr>
          <p:nvPr>
            <p:ph idx="1"/>
          </p:nvPr>
        </p:nvSpPr>
        <p:spPr/>
        <p:txBody>
          <a:bodyPr/>
          <a:lstStyle/>
          <a:p>
            <a:r>
              <a:rPr lang="en-IN" sz="2800" spc="-5" dirty="0">
                <a:solidFill>
                  <a:srgbClr val="292929"/>
                </a:solidFill>
                <a:effectLst/>
                <a:latin typeface="Georgia" panose="02040502050405020303" pitchFamily="18" charset="0"/>
                <a:ea typeface="Times New Roman" panose="02020603050405020304" pitchFamily="18" charset="0"/>
                <a:cs typeface="Times New Roman" panose="02020603050405020304" pitchFamily="18" charset="0"/>
              </a:rPr>
              <a:t>split up each state into </a:t>
            </a:r>
            <a:r>
              <a:rPr lang="en-IN" sz="2800" b="1" spc="-5" dirty="0">
                <a:solidFill>
                  <a:srgbClr val="292929"/>
                </a:solidFill>
                <a:effectLst/>
                <a:latin typeface="Georgia" panose="02040502050405020303" pitchFamily="18" charset="0"/>
                <a:ea typeface="Times New Roman" panose="02020603050405020304" pitchFamily="18" charset="0"/>
                <a:cs typeface="Times New Roman" panose="02020603050405020304" pitchFamily="18" charset="0"/>
              </a:rPr>
              <a:t>variables</a:t>
            </a:r>
            <a:r>
              <a:rPr lang="en-IN" sz="2800" spc="-5" dirty="0">
                <a:solidFill>
                  <a:srgbClr val="292929"/>
                </a:solidFill>
                <a:effectLst/>
                <a:latin typeface="Georgia" panose="02040502050405020303" pitchFamily="18" charset="0"/>
                <a:ea typeface="Times New Roman" panose="02020603050405020304" pitchFamily="18" charset="0"/>
                <a:cs typeface="Times New Roman" panose="02020603050405020304" pitchFamily="18" charset="0"/>
              </a:rPr>
              <a:t> and establishes </a:t>
            </a:r>
            <a:r>
              <a:rPr lang="en-IN" sz="2800" b="1" spc="-5" dirty="0">
                <a:solidFill>
                  <a:srgbClr val="292929"/>
                </a:solidFill>
                <a:effectLst/>
                <a:latin typeface="Georgia" panose="02040502050405020303" pitchFamily="18" charset="0"/>
                <a:ea typeface="Times New Roman" panose="02020603050405020304" pitchFamily="18" charset="0"/>
                <a:cs typeface="Times New Roman" panose="02020603050405020304" pitchFamily="18" charset="0"/>
              </a:rPr>
              <a:t>relationship</a:t>
            </a:r>
            <a:r>
              <a:rPr lang="en-IN" sz="2800" spc="-5" dirty="0">
                <a:solidFill>
                  <a:srgbClr val="292929"/>
                </a:solidFill>
                <a:effectLst/>
                <a:latin typeface="Georgia" panose="02040502050405020303" pitchFamily="18" charset="0"/>
                <a:ea typeface="Times New Roman" panose="02020603050405020304" pitchFamily="18" charset="0"/>
                <a:cs typeface="Times New Roman" panose="02020603050405020304" pitchFamily="18" charset="0"/>
              </a:rPr>
              <a:t> between them.</a:t>
            </a:r>
            <a:endParaRPr lang="en-IN" dirty="0"/>
          </a:p>
        </p:txBody>
      </p:sp>
    </p:spTree>
    <p:extLst>
      <p:ext uri="{BB962C8B-B14F-4D97-AF65-F5344CB8AC3E}">
        <p14:creationId xmlns:p14="http://schemas.microsoft.com/office/powerpoint/2010/main" val="17959329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9B96EB-A06E-878C-DCFB-DE06A572EB35}"/>
              </a:ext>
            </a:extLst>
          </p:cNvPr>
          <p:cNvSpPr>
            <a:spLocks noGrp="1"/>
          </p:cNvSpPr>
          <p:nvPr>
            <p:ph type="title"/>
          </p:nvPr>
        </p:nvSpPr>
        <p:spPr/>
        <p:txBody>
          <a:bodyPr/>
          <a:lstStyle/>
          <a:p>
            <a:r>
              <a:rPr lang="en-IN" dirty="0"/>
              <a:t>Road map of Part of Romania</a:t>
            </a:r>
          </a:p>
        </p:txBody>
      </p:sp>
      <p:pic>
        <p:nvPicPr>
          <p:cNvPr id="4" name="Content Placeholder 3">
            <a:extLst>
              <a:ext uri="{FF2B5EF4-FFF2-40B4-BE49-F238E27FC236}">
                <a16:creationId xmlns:a16="http://schemas.microsoft.com/office/drawing/2014/main" id="{2674E510-F3D9-6BE4-7205-366E73CDCD09}"/>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19615" y="1825625"/>
            <a:ext cx="7152770" cy="4351338"/>
          </a:xfrm>
          <a:prstGeom prst="rect">
            <a:avLst/>
          </a:prstGeom>
          <a:noFill/>
          <a:ln>
            <a:noFill/>
          </a:ln>
        </p:spPr>
      </p:pic>
    </p:spTree>
    <p:extLst>
      <p:ext uri="{BB962C8B-B14F-4D97-AF65-F5344CB8AC3E}">
        <p14:creationId xmlns:p14="http://schemas.microsoft.com/office/powerpoint/2010/main" val="17331708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9B96EB-A06E-878C-DCFB-DE06A572EB35}"/>
              </a:ext>
            </a:extLst>
          </p:cNvPr>
          <p:cNvSpPr>
            <a:spLocks noGrp="1"/>
          </p:cNvSpPr>
          <p:nvPr>
            <p:ph type="title"/>
          </p:nvPr>
        </p:nvSpPr>
        <p:spPr/>
        <p:txBody>
          <a:bodyPr/>
          <a:lstStyle/>
          <a:p>
            <a:r>
              <a:rPr lang="en-IN" dirty="0"/>
              <a:t>Problem is :</a:t>
            </a:r>
          </a:p>
        </p:txBody>
      </p:sp>
      <p:sp>
        <p:nvSpPr>
          <p:cNvPr id="3" name="Content Placeholder 2">
            <a:extLst>
              <a:ext uri="{FF2B5EF4-FFF2-40B4-BE49-F238E27FC236}">
                <a16:creationId xmlns:a16="http://schemas.microsoft.com/office/drawing/2014/main" id="{2D4793B8-B9DC-EA57-EE06-FB7CAD92842B}"/>
              </a:ext>
            </a:extLst>
          </p:cNvPr>
          <p:cNvSpPr>
            <a:spLocks noGrp="1"/>
          </p:cNvSpPr>
          <p:nvPr>
            <p:ph idx="1"/>
          </p:nvPr>
        </p:nvSpPr>
        <p:spPr/>
        <p:txBody>
          <a:bodyPr>
            <a:normAutofit/>
          </a:bodyPr>
          <a:lstStyle/>
          <a:p>
            <a:r>
              <a:rPr lang="en-IN" sz="4800" spc="-5" dirty="0">
                <a:solidFill>
                  <a:srgbClr val="292929"/>
                </a:solidFill>
                <a:effectLst/>
                <a:latin typeface="Georgia" panose="02040502050405020303" pitchFamily="18" charset="0"/>
                <a:ea typeface="Times New Roman" panose="02020603050405020304" pitchFamily="18" charset="0"/>
                <a:cs typeface="Times New Roman" panose="02020603050405020304" pitchFamily="18" charset="0"/>
              </a:rPr>
              <a:t>The problem is to travel from Arad to Bucharest in a day. For the agent, the goal will be to reach Bucharest the following day.</a:t>
            </a:r>
            <a:endParaRPr lang="en-IN" sz="6600" dirty="0"/>
          </a:p>
        </p:txBody>
      </p:sp>
    </p:spTree>
    <p:extLst>
      <p:ext uri="{BB962C8B-B14F-4D97-AF65-F5344CB8AC3E}">
        <p14:creationId xmlns:p14="http://schemas.microsoft.com/office/powerpoint/2010/main" val="20058427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9B96EB-A06E-878C-DCFB-DE06A572EB35}"/>
              </a:ext>
            </a:extLst>
          </p:cNvPr>
          <p:cNvSpPr>
            <a:spLocks noGrp="1"/>
          </p:cNvSpPr>
          <p:nvPr>
            <p:ph type="title"/>
          </p:nvPr>
        </p:nvSpPr>
        <p:spPr/>
        <p:txBody>
          <a:bodyPr/>
          <a:lstStyle/>
          <a:p>
            <a:r>
              <a:rPr lang="en-IN" sz="4400" spc="-5" dirty="0">
                <a:solidFill>
                  <a:srgbClr val="292929"/>
                </a:solidFill>
                <a:effectLst/>
                <a:latin typeface="Georgia" panose="02040502050405020303" pitchFamily="18" charset="0"/>
                <a:ea typeface="Times New Roman" panose="02020603050405020304" pitchFamily="18" charset="0"/>
                <a:cs typeface="Times New Roman" panose="02020603050405020304" pitchFamily="18" charset="0"/>
              </a:rPr>
              <a:t>Problem formulation</a:t>
            </a:r>
            <a:endParaRPr lang="en-IN" dirty="0"/>
          </a:p>
        </p:txBody>
      </p:sp>
      <p:sp>
        <p:nvSpPr>
          <p:cNvPr id="3" name="Content Placeholder 2">
            <a:extLst>
              <a:ext uri="{FF2B5EF4-FFF2-40B4-BE49-F238E27FC236}">
                <a16:creationId xmlns:a16="http://schemas.microsoft.com/office/drawing/2014/main" id="{2D4793B8-B9DC-EA57-EE06-FB7CAD92842B}"/>
              </a:ext>
            </a:extLst>
          </p:cNvPr>
          <p:cNvSpPr>
            <a:spLocks noGrp="1"/>
          </p:cNvSpPr>
          <p:nvPr>
            <p:ph idx="1"/>
          </p:nvPr>
        </p:nvSpPr>
        <p:spPr/>
        <p:txBody>
          <a:bodyPr>
            <a:normAutofit/>
          </a:bodyPr>
          <a:lstStyle/>
          <a:p>
            <a:r>
              <a:rPr lang="en-IN" sz="3200" spc="-5" dirty="0">
                <a:solidFill>
                  <a:srgbClr val="292929"/>
                </a:solidFill>
                <a:latin typeface="Georgia" panose="02040502050405020303" pitchFamily="18" charset="0"/>
                <a:ea typeface="Times New Roman" panose="02020603050405020304" pitchFamily="18" charset="0"/>
                <a:cs typeface="Times New Roman" panose="02020603050405020304" pitchFamily="18" charset="0"/>
              </a:rPr>
              <a:t>I</a:t>
            </a:r>
            <a:r>
              <a:rPr lang="en-IN" sz="3200" spc="-5" dirty="0">
                <a:solidFill>
                  <a:srgbClr val="292929"/>
                </a:solidFill>
                <a:effectLst/>
                <a:latin typeface="Georgia" panose="02040502050405020303" pitchFamily="18" charset="0"/>
                <a:ea typeface="Times New Roman" panose="02020603050405020304" pitchFamily="18" charset="0"/>
                <a:cs typeface="Times New Roman" panose="02020603050405020304" pitchFamily="18" charset="0"/>
              </a:rPr>
              <a:t>nvolves deciding what actions and states to consider, given the goal. </a:t>
            </a:r>
          </a:p>
          <a:p>
            <a:r>
              <a:rPr lang="en-IN" sz="3200" spc="-5" dirty="0">
                <a:solidFill>
                  <a:srgbClr val="292929"/>
                </a:solidFill>
                <a:effectLst/>
                <a:latin typeface="Georgia" panose="02040502050405020303" pitchFamily="18" charset="0"/>
                <a:ea typeface="Times New Roman" panose="02020603050405020304" pitchFamily="18" charset="0"/>
                <a:cs typeface="Times New Roman" panose="02020603050405020304" pitchFamily="18" charset="0"/>
              </a:rPr>
              <a:t>For example, if the agent were to consider the action to be at the level of “move the left foot by one inch” or “turn the steering wheel by 1 degree left”, there would be too many steps for the agent to leave the parking lot, let alone to Bucharest.</a:t>
            </a:r>
          </a:p>
          <a:p>
            <a:r>
              <a:rPr lang="en-IN" sz="3200" spc="-5" dirty="0">
                <a:solidFill>
                  <a:srgbClr val="292929"/>
                </a:solidFill>
                <a:effectLst/>
                <a:latin typeface="Georgia" panose="02040502050405020303" pitchFamily="18" charset="0"/>
                <a:ea typeface="Times New Roman" panose="02020603050405020304" pitchFamily="18" charset="0"/>
                <a:cs typeface="Times New Roman" panose="02020603050405020304" pitchFamily="18" charset="0"/>
              </a:rPr>
              <a:t> In general, we need to abstract the state details from the representation.</a:t>
            </a:r>
            <a:endParaRPr lang="en-IN" sz="32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sz="4400" dirty="0"/>
          </a:p>
        </p:txBody>
      </p:sp>
    </p:spTree>
    <p:extLst>
      <p:ext uri="{BB962C8B-B14F-4D97-AF65-F5344CB8AC3E}">
        <p14:creationId xmlns:p14="http://schemas.microsoft.com/office/powerpoint/2010/main" val="30341239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9B96EB-A06E-878C-DCFB-DE06A572EB35}"/>
              </a:ext>
            </a:extLst>
          </p:cNvPr>
          <p:cNvSpPr>
            <a:spLocks noGrp="1"/>
          </p:cNvSpPr>
          <p:nvPr>
            <p:ph type="title"/>
          </p:nvPr>
        </p:nvSpPr>
        <p:spPr/>
        <p:txBody>
          <a:bodyPr>
            <a:normAutofit/>
          </a:bodyPr>
          <a:lstStyle/>
          <a:p>
            <a:r>
              <a:rPr lang="en-IN" sz="2800" b="1" spc="-5" dirty="0">
                <a:solidFill>
                  <a:srgbClr val="292929"/>
                </a:solidFill>
                <a:effectLst/>
                <a:latin typeface="Georgia" panose="02040502050405020303" pitchFamily="18" charset="0"/>
                <a:ea typeface="Times New Roman" panose="02020603050405020304" pitchFamily="18" charset="0"/>
                <a:cs typeface="Times New Roman" panose="02020603050405020304" pitchFamily="18" charset="0"/>
              </a:rPr>
              <a:t>A problem can be defined formally by 5 components</a:t>
            </a:r>
            <a:endParaRPr lang="en-IN" sz="6000" b="1" dirty="0"/>
          </a:p>
        </p:txBody>
      </p:sp>
      <p:sp>
        <p:nvSpPr>
          <p:cNvPr id="3" name="Content Placeholder 2">
            <a:extLst>
              <a:ext uri="{FF2B5EF4-FFF2-40B4-BE49-F238E27FC236}">
                <a16:creationId xmlns:a16="http://schemas.microsoft.com/office/drawing/2014/main" id="{2D4793B8-B9DC-EA57-EE06-FB7CAD92842B}"/>
              </a:ext>
            </a:extLst>
          </p:cNvPr>
          <p:cNvSpPr>
            <a:spLocks noGrp="1"/>
          </p:cNvSpPr>
          <p:nvPr>
            <p:ph idx="1"/>
          </p:nvPr>
        </p:nvSpPr>
        <p:spPr/>
        <p:txBody>
          <a:bodyPr/>
          <a:lstStyle/>
          <a:p>
            <a:pPr marL="342900" lvl="0" indent="-342900">
              <a:lnSpc>
                <a:spcPts val="2100"/>
              </a:lnSpc>
              <a:spcBef>
                <a:spcPts val="2570"/>
              </a:spcBef>
              <a:spcAft>
                <a:spcPts val="800"/>
              </a:spcAft>
              <a:tabLst>
                <a:tab pos="457200" algn="l"/>
              </a:tabLst>
            </a:pPr>
            <a:r>
              <a:rPr lang="en-IN" sz="1800" spc="-5" dirty="0">
                <a:solidFill>
                  <a:srgbClr val="292929"/>
                </a:solidFill>
                <a:effectLst/>
                <a:latin typeface="Georgia" panose="02040502050405020303" pitchFamily="18" charset="0"/>
                <a:ea typeface="Times New Roman" panose="02020603050405020304" pitchFamily="18" charset="0"/>
                <a:cs typeface="Segoe UI" panose="020B0502040204020203" pitchFamily="34" charset="0"/>
              </a:rPr>
              <a:t>The </a:t>
            </a:r>
            <a:r>
              <a:rPr lang="en-IN" sz="1800" b="1" spc="-5" dirty="0">
                <a:solidFill>
                  <a:srgbClr val="292929"/>
                </a:solidFill>
                <a:effectLst/>
                <a:latin typeface="Georgia" panose="02040502050405020303" pitchFamily="18" charset="0"/>
                <a:ea typeface="Times New Roman" panose="02020603050405020304" pitchFamily="18" charset="0"/>
                <a:cs typeface="Segoe UI" panose="020B0502040204020203" pitchFamily="34" charset="0"/>
              </a:rPr>
              <a:t>initial state</a:t>
            </a:r>
            <a:r>
              <a:rPr lang="en-IN" sz="1800" spc="-5" dirty="0">
                <a:solidFill>
                  <a:srgbClr val="292929"/>
                </a:solidFill>
                <a:effectLst/>
                <a:latin typeface="Georgia" panose="02040502050405020303" pitchFamily="18" charset="0"/>
                <a:ea typeface="Times New Roman" panose="02020603050405020304" pitchFamily="18" charset="0"/>
                <a:cs typeface="Segoe UI" panose="020B0502040204020203" pitchFamily="34" charset="0"/>
              </a:rPr>
              <a:t> of the agent. In this case, the initial state can be described as </a:t>
            </a:r>
            <a:r>
              <a:rPr lang="en-IN" sz="1800" i="1" spc="-5" dirty="0">
                <a:solidFill>
                  <a:srgbClr val="292929"/>
                </a:solidFill>
                <a:effectLst/>
                <a:latin typeface="Georgia" panose="02040502050405020303" pitchFamily="18" charset="0"/>
                <a:ea typeface="Times New Roman" panose="02020603050405020304" pitchFamily="18" charset="0"/>
                <a:cs typeface="Segoe UI" panose="020B0502040204020203" pitchFamily="34" charset="0"/>
              </a:rPr>
              <a:t>In: Arad</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ts val="2100"/>
              </a:lnSpc>
              <a:spcBef>
                <a:spcPts val="1370"/>
              </a:spcBef>
              <a:spcAft>
                <a:spcPts val="800"/>
              </a:spcAft>
              <a:tabLst>
                <a:tab pos="457200" algn="l"/>
              </a:tabLst>
            </a:pPr>
            <a:r>
              <a:rPr lang="en-IN" sz="1800" spc="-5" dirty="0">
                <a:solidFill>
                  <a:srgbClr val="292929"/>
                </a:solidFill>
                <a:effectLst/>
                <a:latin typeface="Georgia" panose="02040502050405020303" pitchFamily="18" charset="0"/>
                <a:ea typeface="Times New Roman" panose="02020603050405020304" pitchFamily="18" charset="0"/>
                <a:cs typeface="Segoe UI" panose="020B0502040204020203" pitchFamily="34" charset="0"/>
              </a:rPr>
              <a:t>The possible </a:t>
            </a:r>
            <a:r>
              <a:rPr lang="en-IN" sz="1800" b="1" spc="-5" dirty="0">
                <a:solidFill>
                  <a:srgbClr val="292929"/>
                </a:solidFill>
                <a:effectLst/>
                <a:latin typeface="Georgia" panose="02040502050405020303" pitchFamily="18" charset="0"/>
                <a:ea typeface="Times New Roman" panose="02020603050405020304" pitchFamily="18" charset="0"/>
                <a:cs typeface="Segoe UI" panose="020B0502040204020203" pitchFamily="34" charset="0"/>
              </a:rPr>
              <a:t>actions</a:t>
            </a:r>
            <a:r>
              <a:rPr lang="en-IN" sz="1800" spc="-5" dirty="0">
                <a:solidFill>
                  <a:srgbClr val="292929"/>
                </a:solidFill>
                <a:effectLst/>
                <a:latin typeface="Georgia" panose="02040502050405020303" pitchFamily="18" charset="0"/>
                <a:ea typeface="Times New Roman" panose="02020603050405020304" pitchFamily="18" charset="0"/>
                <a:cs typeface="Segoe UI" panose="020B0502040204020203" pitchFamily="34" charset="0"/>
              </a:rPr>
              <a:t> available to the agent, corresponding to each of the state the agent resides in. For example, ACTIONS(</a:t>
            </a:r>
            <a:r>
              <a:rPr lang="en-IN" sz="1800" i="1" spc="-5" dirty="0">
                <a:solidFill>
                  <a:srgbClr val="292929"/>
                </a:solidFill>
                <a:effectLst/>
                <a:latin typeface="Georgia" panose="02040502050405020303" pitchFamily="18" charset="0"/>
                <a:ea typeface="Times New Roman" panose="02020603050405020304" pitchFamily="18" charset="0"/>
                <a:cs typeface="Segoe UI" panose="020B0502040204020203" pitchFamily="34" charset="0"/>
              </a:rPr>
              <a:t>In: Arad</a:t>
            </a:r>
            <a:r>
              <a:rPr lang="en-IN" sz="1800" spc="-5" dirty="0">
                <a:solidFill>
                  <a:srgbClr val="292929"/>
                </a:solidFill>
                <a:effectLst/>
                <a:latin typeface="Georgia" panose="02040502050405020303" pitchFamily="18" charset="0"/>
                <a:ea typeface="Times New Roman" panose="02020603050405020304" pitchFamily="18" charset="0"/>
                <a:cs typeface="Segoe UI" panose="020B0502040204020203" pitchFamily="34" charset="0"/>
              </a:rPr>
              <a:t>) = {</a:t>
            </a:r>
            <a:r>
              <a:rPr lang="en-IN" sz="1800" i="1" spc="-5" dirty="0">
                <a:solidFill>
                  <a:srgbClr val="292929"/>
                </a:solidFill>
                <a:effectLst/>
                <a:latin typeface="Georgia" panose="02040502050405020303" pitchFamily="18" charset="0"/>
                <a:ea typeface="Times New Roman" panose="02020603050405020304" pitchFamily="18" charset="0"/>
                <a:cs typeface="Segoe UI" panose="020B0502040204020203" pitchFamily="34" charset="0"/>
              </a:rPr>
              <a:t>Go: Sibiu</a:t>
            </a:r>
            <a:r>
              <a:rPr lang="en-IN" sz="1800" spc="-5" dirty="0">
                <a:solidFill>
                  <a:srgbClr val="292929"/>
                </a:solidFill>
                <a:effectLst/>
                <a:latin typeface="Georgia" panose="02040502050405020303" pitchFamily="18" charset="0"/>
                <a:ea typeface="Times New Roman" panose="02020603050405020304" pitchFamily="18" charset="0"/>
                <a:cs typeface="Segoe UI" panose="020B0502040204020203" pitchFamily="34" charset="0"/>
              </a:rPr>
              <a:t>, </a:t>
            </a:r>
            <a:r>
              <a:rPr lang="en-IN" sz="1800" i="1" spc="-5" dirty="0">
                <a:solidFill>
                  <a:srgbClr val="292929"/>
                </a:solidFill>
                <a:effectLst/>
                <a:latin typeface="Georgia" panose="02040502050405020303" pitchFamily="18" charset="0"/>
                <a:ea typeface="Times New Roman" panose="02020603050405020304" pitchFamily="18" charset="0"/>
                <a:cs typeface="Segoe UI" panose="020B0502040204020203" pitchFamily="34" charset="0"/>
              </a:rPr>
              <a:t>Go: Timisoara</a:t>
            </a:r>
            <a:r>
              <a:rPr lang="en-IN" sz="1800" spc="-5" dirty="0">
                <a:solidFill>
                  <a:srgbClr val="292929"/>
                </a:solidFill>
                <a:effectLst/>
                <a:latin typeface="Georgia" panose="02040502050405020303" pitchFamily="18" charset="0"/>
                <a:ea typeface="Times New Roman" panose="02020603050405020304" pitchFamily="18" charset="0"/>
                <a:cs typeface="Segoe UI" panose="020B0502040204020203" pitchFamily="34" charset="0"/>
              </a:rPr>
              <a:t>, </a:t>
            </a:r>
            <a:r>
              <a:rPr lang="en-IN" sz="1800" i="1" spc="-5" dirty="0">
                <a:solidFill>
                  <a:srgbClr val="292929"/>
                </a:solidFill>
                <a:effectLst/>
                <a:latin typeface="Georgia" panose="02040502050405020303" pitchFamily="18" charset="0"/>
                <a:ea typeface="Times New Roman" panose="02020603050405020304" pitchFamily="18" charset="0"/>
                <a:cs typeface="Segoe UI" panose="020B0502040204020203" pitchFamily="34" charset="0"/>
              </a:rPr>
              <a:t>Go: </a:t>
            </a:r>
            <a:r>
              <a:rPr lang="en-IN" sz="1800" i="1" spc="-5" dirty="0" err="1">
                <a:solidFill>
                  <a:srgbClr val="292929"/>
                </a:solidFill>
                <a:effectLst/>
                <a:latin typeface="Georgia" panose="02040502050405020303" pitchFamily="18" charset="0"/>
                <a:ea typeface="Times New Roman" panose="02020603050405020304" pitchFamily="18" charset="0"/>
                <a:cs typeface="Segoe UI" panose="020B0502040204020203" pitchFamily="34" charset="0"/>
              </a:rPr>
              <a:t>Zerind</a:t>
            </a:r>
            <a:r>
              <a:rPr lang="en-IN" sz="1800" spc="-5" dirty="0">
                <a:solidFill>
                  <a:srgbClr val="292929"/>
                </a:solidFill>
                <a:effectLst/>
                <a:latin typeface="Georgia" panose="02040502050405020303" pitchFamily="18" charset="0"/>
                <a:ea typeface="Times New Roman" panose="02020603050405020304" pitchFamily="18" charset="0"/>
                <a:cs typeface="Segoe UI" panose="020B0502040204020203" pitchFamily="34"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ts val="2100"/>
              </a:lnSpc>
              <a:spcBef>
                <a:spcPts val="1370"/>
              </a:spcBef>
              <a:spcAft>
                <a:spcPts val="800"/>
              </a:spcAft>
              <a:tabLst>
                <a:tab pos="457200" algn="l"/>
              </a:tabLst>
            </a:pPr>
            <a:r>
              <a:rPr lang="en-IN" sz="1800" spc="-5" dirty="0">
                <a:solidFill>
                  <a:srgbClr val="292929"/>
                </a:solidFill>
                <a:effectLst/>
                <a:latin typeface="Georgia" panose="02040502050405020303" pitchFamily="18" charset="0"/>
                <a:ea typeface="Times New Roman" panose="02020603050405020304" pitchFamily="18" charset="0"/>
                <a:cs typeface="Segoe UI" panose="020B0502040204020203" pitchFamily="34" charset="0"/>
              </a:rPr>
              <a:t>The </a:t>
            </a:r>
            <a:r>
              <a:rPr lang="en-IN" sz="1800" b="1" spc="-5" dirty="0">
                <a:solidFill>
                  <a:srgbClr val="292929"/>
                </a:solidFill>
                <a:effectLst/>
                <a:latin typeface="Georgia" panose="02040502050405020303" pitchFamily="18" charset="0"/>
                <a:ea typeface="Times New Roman" panose="02020603050405020304" pitchFamily="18" charset="0"/>
                <a:cs typeface="Segoe UI" panose="020B0502040204020203" pitchFamily="34" charset="0"/>
              </a:rPr>
              <a:t>transition model</a:t>
            </a:r>
            <a:r>
              <a:rPr lang="en-IN" sz="1800" spc="-5" dirty="0">
                <a:solidFill>
                  <a:srgbClr val="292929"/>
                </a:solidFill>
                <a:effectLst/>
                <a:latin typeface="Georgia" panose="02040502050405020303" pitchFamily="18" charset="0"/>
                <a:ea typeface="Times New Roman" panose="02020603050405020304" pitchFamily="18" charset="0"/>
                <a:cs typeface="Segoe UI" panose="020B0502040204020203" pitchFamily="34" charset="0"/>
              </a:rPr>
              <a:t> describing what each action does. Let us represent it by RESULT(s, a) where s is the state the action is currently in and a is the action performed by the agent. In this example, RESULT(</a:t>
            </a:r>
            <a:r>
              <a:rPr lang="en-IN" sz="1800" i="1" spc="-5" dirty="0">
                <a:solidFill>
                  <a:srgbClr val="292929"/>
                </a:solidFill>
                <a:effectLst/>
                <a:latin typeface="Georgia" panose="02040502050405020303" pitchFamily="18" charset="0"/>
                <a:ea typeface="Times New Roman" panose="02020603050405020304" pitchFamily="18" charset="0"/>
                <a:cs typeface="Segoe UI" panose="020B0502040204020203" pitchFamily="34" charset="0"/>
              </a:rPr>
              <a:t>In: Arad, Go: </a:t>
            </a:r>
            <a:r>
              <a:rPr lang="en-IN" sz="1800" i="1" spc="-5" dirty="0" err="1">
                <a:solidFill>
                  <a:srgbClr val="292929"/>
                </a:solidFill>
                <a:effectLst/>
                <a:latin typeface="Georgia" panose="02040502050405020303" pitchFamily="18" charset="0"/>
                <a:ea typeface="Times New Roman" panose="02020603050405020304" pitchFamily="18" charset="0"/>
                <a:cs typeface="Segoe UI" panose="020B0502040204020203" pitchFamily="34" charset="0"/>
              </a:rPr>
              <a:t>Zerind</a:t>
            </a:r>
            <a:r>
              <a:rPr lang="en-IN" sz="1800" spc="-5" dirty="0">
                <a:solidFill>
                  <a:srgbClr val="292929"/>
                </a:solidFill>
                <a:effectLst/>
                <a:latin typeface="Georgia" panose="02040502050405020303" pitchFamily="18" charset="0"/>
                <a:ea typeface="Times New Roman" panose="02020603050405020304" pitchFamily="18" charset="0"/>
                <a:cs typeface="Segoe UI" panose="020B0502040204020203" pitchFamily="34" charset="0"/>
              </a:rPr>
              <a:t>) = </a:t>
            </a:r>
            <a:r>
              <a:rPr lang="en-IN" sz="1800" i="1" spc="-5" dirty="0">
                <a:solidFill>
                  <a:srgbClr val="292929"/>
                </a:solidFill>
                <a:effectLst/>
                <a:latin typeface="Georgia" panose="02040502050405020303" pitchFamily="18" charset="0"/>
                <a:ea typeface="Times New Roman" panose="02020603050405020304" pitchFamily="18" charset="0"/>
                <a:cs typeface="Segoe UI" panose="020B0502040204020203" pitchFamily="34" charset="0"/>
              </a:rPr>
              <a:t>In: </a:t>
            </a:r>
            <a:r>
              <a:rPr lang="en-IN" sz="1800" i="1" spc="-5" dirty="0" err="1">
                <a:solidFill>
                  <a:srgbClr val="292929"/>
                </a:solidFill>
                <a:effectLst/>
                <a:latin typeface="Georgia" panose="02040502050405020303" pitchFamily="18" charset="0"/>
                <a:ea typeface="Times New Roman" panose="02020603050405020304" pitchFamily="18" charset="0"/>
                <a:cs typeface="Segoe UI" panose="020B0502040204020203" pitchFamily="34" charset="0"/>
              </a:rPr>
              <a:t>Zerind</a:t>
            </a:r>
            <a:r>
              <a:rPr lang="en-IN" sz="1800" i="1" spc="-5" dirty="0">
                <a:solidFill>
                  <a:srgbClr val="292929"/>
                </a:solidFill>
                <a:effectLst/>
                <a:latin typeface="Georgia" panose="02040502050405020303" pitchFamily="18" charset="0"/>
                <a:ea typeface="Times New Roman" panose="02020603050405020304" pitchFamily="18" charset="0"/>
                <a:cs typeface="Segoe UI" panose="020B0502040204020203" pitchFamily="34"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ts val="2100"/>
              </a:lnSpc>
              <a:spcBef>
                <a:spcPts val="1370"/>
              </a:spcBef>
              <a:spcAft>
                <a:spcPts val="800"/>
              </a:spcAft>
              <a:tabLst>
                <a:tab pos="457200" algn="l"/>
              </a:tabLst>
            </a:pPr>
            <a:r>
              <a:rPr lang="en-IN" sz="1800" spc="-5" dirty="0">
                <a:solidFill>
                  <a:srgbClr val="292929"/>
                </a:solidFill>
                <a:effectLst/>
                <a:latin typeface="Georgia" panose="02040502050405020303" pitchFamily="18" charset="0"/>
                <a:ea typeface="Times New Roman" panose="02020603050405020304" pitchFamily="18" charset="0"/>
                <a:cs typeface="Segoe UI" panose="020B0502040204020203" pitchFamily="34" charset="0"/>
              </a:rPr>
              <a:t>The </a:t>
            </a:r>
            <a:r>
              <a:rPr lang="en-IN" sz="1800" b="1" spc="-5" dirty="0">
                <a:solidFill>
                  <a:srgbClr val="292929"/>
                </a:solidFill>
                <a:effectLst/>
                <a:latin typeface="Georgia" panose="02040502050405020303" pitchFamily="18" charset="0"/>
                <a:ea typeface="Times New Roman" panose="02020603050405020304" pitchFamily="18" charset="0"/>
                <a:cs typeface="Segoe UI" panose="020B0502040204020203" pitchFamily="34" charset="0"/>
              </a:rPr>
              <a:t>goal test</a:t>
            </a:r>
            <a:r>
              <a:rPr lang="en-IN" sz="1800" spc="-5" dirty="0">
                <a:solidFill>
                  <a:srgbClr val="292929"/>
                </a:solidFill>
                <a:effectLst/>
                <a:latin typeface="Georgia" panose="02040502050405020303" pitchFamily="18" charset="0"/>
                <a:ea typeface="Times New Roman" panose="02020603050405020304" pitchFamily="18" charset="0"/>
                <a:cs typeface="Segoe UI" panose="020B0502040204020203" pitchFamily="34" charset="0"/>
              </a:rPr>
              <a:t>, determining whether the current state is a goal state. Here, the goal state is {</a:t>
            </a:r>
            <a:r>
              <a:rPr lang="en-IN" sz="1800" i="1" spc="-5" dirty="0">
                <a:solidFill>
                  <a:srgbClr val="292929"/>
                </a:solidFill>
                <a:effectLst/>
                <a:latin typeface="Georgia" panose="02040502050405020303" pitchFamily="18" charset="0"/>
                <a:ea typeface="Times New Roman" panose="02020603050405020304" pitchFamily="18" charset="0"/>
                <a:cs typeface="Segoe UI" panose="020B0502040204020203" pitchFamily="34" charset="0"/>
              </a:rPr>
              <a:t>In: Bucharest</a:t>
            </a:r>
            <a:r>
              <a:rPr lang="en-IN" sz="1800" spc="-5" dirty="0">
                <a:solidFill>
                  <a:srgbClr val="292929"/>
                </a:solidFill>
                <a:effectLst/>
                <a:latin typeface="Georgia" panose="02040502050405020303" pitchFamily="18" charset="0"/>
                <a:ea typeface="Times New Roman" panose="02020603050405020304" pitchFamily="18" charset="0"/>
                <a:cs typeface="Segoe UI" panose="020B0502040204020203" pitchFamily="34"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800" spc="-5" dirty="0">
                <a:solidFill>
                  <a:srgbClr val="292929"/>
                </a:solidFill>
                <a:effectLst/>
                <a:latin typeface="Georgia" panose="02040502050405020303" pitchFamily="18" charset="0"/>
                <a:ea typeface="Times New Roman" panose="02020603050405020304" pitchFamily="18" charset="0"/>
                <a:cs typeface="Segoe UI" panose="020B0502040204020203" pitchFamily="34" charset="0"/>
              </a:rPr>
              <a:t>The </a:t>
            </a:r>
            <a:r>
              <a:rPr lang="en-IN" sz="1800" b="1" spc="-5" dirty="0">
                <a:solidFill>
                  <a:srgbClr val="292929"/>
                </a:solidFill>
                <a:effectLst/>
                <a:latin typeface="Georgia" panose="02040502050405020303" pitchFamily="18" charset="0"/>
                <a:ea typeface="Times New Roman" panose="02020603050405020304" pitchFamily="18" charset="0"/>
                <a:cs typeface="Segoe UI" panose="020B0502040204020203" pitchFamily="34" charset="0"/>
              </a:rPr>
              <a:t>path cost</a:t>
            </a:r>
            <a:r>
              <a:rPr lang="en-IN" sz="1800" spc="-5" dirty="0">
                <a:solidFill>
                  <a:srgbClr val="292929"/>
                </a:solidFill>
                <a:effectLst/>
                <a:latin typeface="Georgia" panose="02040502050405020303" pitchFamily="18" charset="0"/>
                <a:ea typeface="Times New Roman" panose="02020603050405020304" pitchFamily="18" charset="0"/>
                <a:cs typeface="Segoe UI" panose="020B0502040204020203" pitchFamily="34" charset="0"/>
              </a:rPr>
              <a:t> function, which determine the cost of each path, which is reflecting in the performance measure.</a:t>
            </a:r>
            <a:endParaRPr lang="en-IN" dirty="0"/>
          </a:p>
        </p:txBody>
      </p:sp>
    </p:spTree>
    <p:extLst>
      <p:ext uri="{BB962C8B-B14F-4D97-AF65-F5344CB8AC3E}">
        <p14:creationId xmlns:p14="http://schemas.microsoft.com/office/powerpoint/2010/main" val="37423104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9B96EB-A06E-878C-DCFB-DE06A572EB35}"/>
              </a:ext>
            </a:extLst>
          </p:cNvPr>
          <p:cNvSpPr>
            <a:spLocks noGrp="1"/>
          </p:cNvSpPr>
          <p:nvPr>
            <p:ph type="title"/>
          </p:nvPr>
        </p:nvSpPr>
        <p:spPr/>
        <p:txBody>
          <a:bodyPr>
            <a:normAutofit/>
          </a:bodyPr>
          <a:lstStyle/>
          <a:p>
            <a:r>
              <a:rPr lang="en-IN" sz="3200" b="1" dirty="0">
                <a:solidFill>
                  <a:srgbClr val="292929"/>
                </a:solidFill>
                <a:effectLst/>
                <a:latin typeface="Helvetica" panose="020B0604020202020204" pitchFamily="34" charset="0"/>
                <a:ea typeface="Times New Roman" panose="02020603050405020304" pitchFamily="18" charset="0"/>
                <a:cs typeface="Times New Roman" panose="02020603050405020304" pitchFamily="18" charset="0"/>
              </a:rPr>
              <a:t>Performance measure:</a:t>
            </a:r>
            <a:endParaRPr lang="en-IN" sz="6600" dirty="0"/>
          </a:p>
        </p:txBody>
      </p:sp>
      <p:sp>
        <p:nvSpPr>
          <p:cNvPr id="3" name="Content Placeholder 2">
            <a:extLst>
              <a:ext uri="{FF2B5EF4-FFF2-40B4-BE49-F238E27FC236}">
                <a16:creationId xmlns:a16="http://schemas.microsoft.com/office/drawing/2014/main" id="{2D4793B8-B9DC-EA57-EE06-FB7CAD92842B}"/>
              </a:ext>
            </a:extLst>
          </p:cNvPr>
          <p:cNvSpPr>
            <a:spLocks noGrp="1"/>
          </p:cNvSpPr>
          <p:nvPr>
            <p:ph idx="1"/>
          </p:nvPr>
        </p:nvSpPr>
        <p:spPr/>
        <p:txBody>
          <a:bodyPr>
            <a:normAutofit/>
          </a:bodyPr>
          <a:lstStyle/>
          <a:p>
            <a:pPr marL="342900" lvl="0" indent="-342900">
              <a:lnSpc>
                <a:spcPts val="2100"/>
              </a:lnSpc>
              <a:spcBef>
                <a:spcPts val="2570"/>
              </a:spcBef>
              <a:spcAft>
                <a:spcPts val="800"/>
              </a:spcAft>
              <a:tabLst>
                <a:tab pos="457200" algn="l"/>
              </a:tabLst>
            </a:pPr>
            <a:r>
              <a:rPr lang="en-IN" sz="2400" b="1" spc="-5" dirty="0">
                <a:solidFill>
                  <a:srgbClr val="292929"/>
                </a:solidFill>
                <a:effectLst/>
                <a:latin typeface="Georgia" panose="02040502050405020303" pitchFamily="18" charset="0"/>
                <a:ea typeface="Times New Roman" panose="02020603050405020304" pitchFamily="18" charset="0"/>
                <a:cs typeface="Segoe UI" panose="020B0502040204020203" pitchFamily="34" charset="0"/>
              </a:rPr>
              <a:t>Completeness</a:t>
            </a:r>
            <a:r>
              <a:rPr lang="en-IN" sz="2400" spc="-5" dirty="0">
                <a:solidFill>
                  <a:srgbClr val="292929"/>
                </a:solidFill>
                <a:effectLst/>
                <a:latin typeface="Georgia" panose="02040502050405020303" pitchFamily="18" charset="0"/>
                <a:ea typeface="Times New Roman" panose="02020603050405020304" pitchFamily="18" charset="0"/>
                <a:cs typeface="Segoe UI" panose="020B0502040204020203" pitchFamily="34" charset="0"/>
              </a:rPr>
              <a:t>: Is the algorithm guaranteed to find a solution if there exist one?</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ts val="2100"/>
              </a:lnSpc>
              <a:spcBef>
                <a:spcPts val="1370"/>
              </a:spcBef>
              <a:spcAft>
                <a:spcPts val="800"/>
              </a:spcAft>
              <a:tabLst>
                <a:tab pos="457200" algn="l"/>
              </a:tabLst>
            </a:pPr>
            <a:r>
              <a:rPr lang="en-IN" sz="2400" b="1" spc="-5" dirty="0">
                <a:solidFill>
                  <a:srgbClr val="292929"/>
                </a:solidFill>
                <a:effectLst/>
                <a:latin typeface="Georgia" panose="02040502050405020303" pitchFamily="18" charset="0"/>
                <a:ea typeface="Times New Roman" panose="02020603050405020304" pitchFamily="18" charset="0"/>
                <a:cs typeface="Segoe UI" panose="020B0502040204020203" pitchFamily="34" charset="0"/>
              </a:rPr>
              <a:t>Optimality</a:t>
            </a:r>
            <a:r>
              <a:rPr lang="en-IN" sz="2400" spc="-5" dirty="0">
                <a:solidFill>
                  <a:srgbClr val="292929"/>
                </a:solidFill>
                <a:effectLst/>
                <a:latin typeface="Georgia" panose="02040502050405020303" pitchFamily="18" charset="0"/>
                <a:ea typeface="Times New Roman" panose="02020603050405020304" pitchFamily="18" charset="0"/>
                <a:cs typeface="Segoe UI" panose="020B0502040204020203" pitchFamily="34" charset="0"/>
              </a:rPr>
              <a:t>: Does the algorithm find the optimal solution?</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ts val="2100"/>
              </a:lnSpc>
              <a:spcBef>
                <a:spcPts val="1370"/>
              </a:spcBef>
              <a:spcAft>
                <a:spcPts val="800"/>
              </a:spcAft>
              <a:tabLst>
                <a:tab pos="457200" algn="l"/>
              </a:tabLst>
            </a:pPr>
            <a:r>
              <a:rPr lang="en-IN" sz="2400" b="1" spc="-5" dirty="0">
                <a:solidFill>
                  <a:srgbClr val="292929"/>
                </a:solidFill>
                <a:effectLst/>
                <a:latin typeface="Georgia" panose="02040502050405020303" pitchFamily="18" charset="0"/>
                <a:ea typeface="Times New Roman" panose="02020603050405020304" pitchFamily="18" charset="0"/>
                <a:cs typeface="Segoe UI" panose="020B0502040204020203" pitchFamily="34" charset="0"/>
              </a:rPr>
              <a:t>Time complexity</a:t>
            </a:r>
            <a:r>
              <a:rPr lang="en-IN" sz="2400" spc="-5" dirty="0">
                <a:solidFill>
                  <a:srgbClr val="292929"/>
                </a:solidFill>
                <a:effectLst/>
                <a:latin typeface="Georgia" panose="02040502050405020303" pitchFamily="18" charset="0"/>
                <a:ea typeface="Times New Roman" panose="02020603050405020304" pitchFamily="18" charset="0"/>
                <a:cs typeface="Segoe UI" panose="020B0502040204020203" pitchFamily="34" charset="0"/>
              </a:rPr>
              <a:t>: How long does it take for the algorithm to find a solution?</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ts val="2100"/>
              </a:lnSpc>
              <a:spcBef>
                <a:spcPts val="1370"/>
              </a:spcBef>
              <a:spcAft>
                <a:spcPts val="800"/>
              </a:spcAft>
              <a:tabLst>
                <a:tab pos="457200" algn="l"/>
              </a:tabLst>
            </a:pPr>
            <a:r>
              <a:rPr lang="en-IN" sz="2400" b="1" spc="-5" dirty="0">
                <a:solidFill>
                  <a:srgbClr val="292929"/>
                </a:solidFill>
                <a:effectLst/>
                <a:latin typeface="Georgia" panose="02040502050405020303" pitchFamily="18" charset="0"/>
                <a:ea typeface="Times New Roman" panose="02020603050405020304" pitchFamily="18" charset="0"/>
                <a:cs typeface="Segoe UI" panose="020B0502040204020203" pitchFamily="34" charset="0"/>
              </a:rPr>
              <a:t>Space complexity</a:t>
            </a:r>
            <a:r>
              <a:rPr lang="en-IN" sz="2400" spc="-5" dirty="0">
                <a:solidFill>
                  <a:srgbClr val="292929"/>
                </a:solidFill>
                <a:effectLst/>
                <a:latin typeface="Georgia" panose="02040502050405020303" pitchFamily="18" charset="0"/>
                <a:ea typeface="Times New Roman" panose="02020603050405020304" pitchFamily="18" charset="0"/>
                <a:cs typeface="Segoe UI" panose="020B0502040204020203" pitchFamily="34" charset="0"/>
              </a:rPr>
              <a:t>: How much memory is consumed in finding the solution?</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3600" dirty="0"/>
          </a:p>
        </p:txBody>
      </p:sp>
    </p:spTree>
    <p:extLst>
      <p:ext uri="{BB962C8B-B14F-4D97-AF65-F5344CB8AC3E}">
        <p14:creationId xmlns:p14="http://schemas.microsoft.com/office/powerpoint/2010/main" val="32828307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9B96EB-A06E-878C-DCFB-DE06A572EB35}"/>
              </a:ext>
            </a:extLst>
          </p:cNvPr>
          <p:cNvSpPr>
            <a:spLocks noGrp="1"/>
          </p:cNvSpPr>
          <p:nvPr>
            <p:ph type="title"/>
          </p:nvPr>
        </p:nvSpPr>
        <p:spPr/>
        <p:txBody>
          <a:bodyPr/>
          <a:lstStyle/>
          <a:p>
            <a:r>
              <a:rPr lang="en-US" b="0" i="0" dirty="0">
                <a:solidFill>
                  <a:srgbClr val="202124"/>
                </a:solidFill>
                <a:effectLst/>
                <a:latin typeface="arial" panose="020B0604020202020204" pitchFamily="34" charset="0"/>
              </a:rPr>
              <a:t>What is uninformed search strategies in artificial intelligence?</a:t>
            </a:r>
            <a:endParaRPr lang="en-IN" dirty="0"/>
          </a:p>
        </p:txBody>
      </p:sp>
      <p:sp>
        <p:nvSpPr>
          <p:cNvPr id="3" name="Content Placeholder 2">
            <a:extLst>
              <a:ext uri="{FF2B5EF4-FFF2-40B4-BE49-F238E27FC236}">
                <a16:creationId xmlns:a16="http://schemas.microsoft.com/office/drawing/2014/main" id="{2D4793B8-B9DC-EA57-EE06-FB7CAD92842B}"/>
              </a:ext>
            </a:extLst>
          </p:cNvPr>
          <p:cNvSpPr>
            <a:spLocks noGrp="1"/>
          </p:cNvSpPr>
          <p:nvPr>
            <p:ph idx="1"/>
          </p:nvPr>
        </p:nvSpPr>
        <p:spPr/>
        <p:txBody>
          <a:bodyPr>
            <a:normAutofit fontScale="92500" lnSpcReduction="20000"/>
          </a:bodyPr>
          <a:lstStyle/>
          <a:p>
            <a:pPr algn="l"/>
            <a:r>
              <a:rPr lang="en-US" b="0" i="0" dirty="0">
                <a:solidFill>
                  <a:srgbClr val="222222"/>
                </a:solidFill>
                <a:effectLst/>
                <a:latin typeface="Lato" panose="020F0502020204030203" pitchFamily="34" charset="0"/>
              </a:rPr>
              <a:t> ‘Uninformed Search’ means the machine blindly follows the algorithm regardless of whether right or wrong, efficient or in-efficient.</a:t>
            </a:r>
          </a:p>
          <a:p>
            <a:pPr algn="l"/>
            <a:r>
              <a:rPr lang="en-US" b="0" i="0" dirty="0">
                <a:solidFill>
                  <a:srgbClr val="222222"/>
                </a:solidFill>
                <a:effectLst/>
                <a:latin typeface="Lato" panose="020F0502020204030203" pitchFamily="34" charset="0"/>
              </a:rPr>
              <a:t>These algorithms are brute force operations, and they don’t have extra information about the search space; the only information they have is on how to traverse or visit the nodes in the tree.</a:t>
            </a:r>
          </a:p>
          <a:p>
            <a:pPr algn="l"/>
            <a:r>
              <a:rPr lang="en-US" b="0" i="0" dirty="0">
                <a:solidFill>
                  <a:srgbClr val="222222"/>
                </a:solidFill>
                <a:effectLst/>
                <a:latin typeface="Lato" panose="020F0502020204030203" pitchFamily="34" charset="0"/>
              </a:rPr>
              <a:t>Thus uninformed search algorithms are also called blind search algorithms. </a:t>
            </a:r>
          </a:p>
          <a:p>
            <a:pPr algn="l"/>
            <a:r>
              <a:rPr lang="en-US" b="0" i="0" dirty="0">
                <a:solidFill>
                  <a:srgbClr val="222222"/>
                </a:solidFill>
                <a:effectLst/>
                <a:latin typeface="Lato" panose="020F0502020204030203" pitchFamily="34" charset="0"/>
              </a:rPr>
              <a:t>The search algorithm produces the search tree without using any domain knowledge, which is a brute force in nature. </a:t>
            </a:r>
          </a:p>
          <a:p>
            <a:pPr algn="l"/>
            <a:r>
              <a:rPr lang="en-US" b="0" i="0" dirty="0">
                <a:solidFill>
                  <a:srgbClr val="222222"/>
                </a:solidFill>
                <a:effectLst/>
                <a:latin typeface="Lato" panose="020F0502020204030203" pitchFamily="34" charset="0"/>
              </a:rPr>
              <a:t>They don’t have any background information on how to approach the goal or whatsoever.</a:t>
            </a:r>
          </a:p>
          <a:p>
            <a:endParaRPr lang="en-IN" dirty="0"/>
          </a:p>
        </p:txBody>
      </p:sp>
    </p:spTree>
    <p:extLst>
      <p:ext uri="{BB962C8B-B14F-4D97-AF65-F5344CB8AC3E}">
        <p14:creationId xmlns:p14="http://schemas.microsoft.com/office/powerpoint/2010/main" val="13904390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9B96EB-A06E-878C-DCFB-DE06A572EB35}"/>
              </a:ext>
            </a:extLst>
          </p:cNvPr>
          <p:cNvSpPr>
            <a:spLocks noGrp="1"/>
          </p:cNvSpPr>
          <p:nvPr>
            <p:ph type="title"/>
          </p:nvPr>
        </p:nvSpPr>
        <p:spPr/>
        <p:txBody>
          <a:bodyPr/>
          <a:lstStyle/>
          <a:p>
            <a:r>
              <a:rPr lang="en-IN" b="1" dirty="0"/>
              <a:t>Different Types of Search Algorithms:</a:t>
            </a:r>
          </a:p>
        </p:txBody>
      </p:sp>
      <p:sp>
        <p:nvSpPr>
          <p:cNvPr id="3" name="Content Placeholder 2">
            <a:extLst>
              <a:ext uri="{FF2B5EF4-FFF2-40B4-BE49-F238E27FC236}">
                <a16:creationId xmlns:a16="http://schemas.microsoft.com/office/drawing/2014/main" id="{2D4793B8-B9DC-EA57-EE06-FB7CAD92842B}"/>
              </a:ext>
            </a:extLst>
          </p:cNvPr>
          <p:cNvSpPr>
            <a:spLocks noGrp="1"/>
          </p:cNvSpPr>
          <p:nvPr>
            <p:ph idx="1"/>
          </p:nvPr>
        </p:nvSpPr>
        <p:spPr/>
        <p:txBody>
          <a:bodyPr/>
          <a:lstStyle/>
          <a:p>
            <a:pPr>
              <a:lnSpc>
                <a:spcPts val="2475"/>
              </a:lnSpc>
              <a:spcAft>
                <a:spcPts val="800"/>
              </a:spcAft>
            </a:pPr>
            <a:r>
              <a:rPr lang="en-IN" sz="1800" dirty="0">
                <a:solidFill>
                  <a:srgbClr val="222222"/>
                </a:solidFill>
                <a:effectLst/>
                <a:latin typeface="Lato" panose="020F0502020204030203" pitchFamily="34" charset="0"/>
                <a:ea typeface="Calibri" panose="020F0502020204030204" pitchFamily="34" charset="0"/>
                <a:cs typeface="Times New Roman" panose="02020603050405020304" pitchFamily="18" charset="0"/>
              </a:rPr>
              <a:t> -&gt;Depth First Search: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2475"/>
              </a:lnSpc>
              <a:spcAft>
                <a:spcPts val="800"/>
              </a:spcAft>
            </a:pPr>
            <a:r>
              <a:rPr lang="en-IN" sz="1800" dirty="0">
                <a:solidFill>
                  <a:srgbClr val="222222"/>
                </a:solidFill>
                <a:effectLst/>
                <a:latin typeface="Lato" panose="020F0502020204030203" pitchFamily="34" charset="0"/>
                <a:ea typeface="Calibri" panose="020F0502020204030204" pitchFamily="34" charset="0"/>
                <a:cs typeface="Times New Roman" panose="02020603050405020304" pitchFamily="18" charset="0"/>
              </a:rPr>
              <a:t>-&gt; Breadth-First Search</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2475"/>
              </a:lnSpc>
              <a:spcAft>
                <a:spcPts val="800"/>
              </a:spcAft>
            </a:pPr>
            <a:r>
              <a:rPr lang="en-IN" sz="1800" dirty="0">
                <a:solidFill>
                  <a:srgbClr val="222222"/>
                </a:solidFill>
                <a:effectLst/>
                <a:latin typeface="Lato" panose="020F0502020204030203" pitchFamily="34" charset="0"/>
                <a:ea typeface="Calibri" panose="020F0502020204030204" pitchFamily="34" charset="0"/>
                <a:cs typeface="Times New Roman" panose="02020603050405020304" pitchFamily="18" charset="0"/>
              </a:rPr>
              <a:t>-&gt; Depth Limited Search</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2475"/>
              </a:lnSpc>
              <a:spcAft>
                <a:spcPts val="800"/>
              </a:spcAft>
            </a:pPr>
            <a:r>
              <a:rPr lang="en-IN" sz="1800" dirty="0">
                <a:solidFill>
                  <a:srgbClr val="222222"/>
                </a:solidFill>
                <a:effectLst/>
                <a:latin typeface="Lato" panose="020F0502020204030203" pitchFamily="34" charset="0"/>
                <a:ea typeface="Calibri" panose="020F0502020204030204" pitchFamily="34" charset="0"/>
                <a:cs typeface="Times New Roman" panose="02020603050405020304" pitchFamily="18" charset="0"/>
              </a:rPr>
              <a:t>-&gt; Uniform Cost Search</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2475"/>
              </a:lnSpc>
              <a:spcAft>
                <a:spcPts val="800"/>
              </a:spcAft>
            </a:pPr>
            <a:r>
              <a:rPr lang="en-IN" sz="1800" dirty="0">
                <a:solidFill>
                  <a:srgbClr val="222222"/>
                </a:solidFill>
                <a:effectLst/>
                <a:latin typeface="Lato" panose="020F0502020204030203" pitchFamily="34" charset="0"/>
                <a:ea typeface="Calibri" panose="020F0502020204030204" pitchFamily="34" charset="0"/>
                <a:cs typeface="Times New Roman" panose="02020603050405020304" pitchFamily="18" charset="0"/>
              </a:rPr>
              <a:t>-&gt; Iterative Deepening Depth First Search</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2475"/>
              </a:lnSpc>
              <a:spcAft>
                <a:spcPts val="800"/>
              </a:spcAft>
            </a:pPr>
            <a:r>
              <a:rPr lang="en-IN" sz="1800" dirty="0">
                <a:solidFill>
                  <a:srgbClr val="222222"/>
                </a:solidFill>
                <a:effectLst/>
                <a:latin typeface="Lato" panose="020F0502020204030203" pitchFamily="34" charset="0"/>
                <a:ea typeface="Calibri" panose="020F0502020204030204" pitchFamily="34" charset="0"/>
                <a:cs typeface="Times New Roman" panose="02020603050405020304" pitchFamily="18" charset="0"/>
              </a:rPr>
              <a:t>-&gt; Bidirectional Search (if applicable)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9797391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9B96EB-A06E-878C-DCFB-DE06A572EB35}"/>
              </a:ext>
            </a:extLst>
          </p:cNvPr>
          <p:cNvSpPr>
            <a:spLocks noGrp="1"/>
          </p:cNvSpPr>
          <p:nvPr>
            <p:ph type="title"/>
          </p:nvPr>
        </p:nvSpPr>
        <p:spPr>
          <a:xfrm>
            <a:off x="331124" y="182553"/>
            <a:ext cx="10515600" cy="1325563"/>
          </a:xfrm>
        </p:spPr>
        <p:txBody>
          <a:bodyPr>
            <a:normAutofit/>
          </a:bodyPr>
          <a:lstStyle/>
          <a:p>
            <a:r>
              <a:rPr lang="en-IN" sz="4400" b="1" dirty="0">
                <a:solidFill>
                  <a:srgbClr val="222222"/>
                </a:solidFill>
                <a:effectLst/>
                <a:latin typeface="Lato" panose="020F0502020204030203" pitchFamily="34" charset="0"/>
                <a:ea typeface="Calibri" panose="020F0502020204030204" pitchFamily="34" charset="0"/>
                <a:cs typeface="Times New Roman" panose="02020603050405020304" pitchFamily="18" charset="0"/>
              </a:rPr>
              <a:t>terms which will be frequently used</a:t>
            </a:r>
            <a:br>
              <a:rPr lang="en-IN" sz="4400" dirty="0">
                <a:effectLst/>
                <a:latin typeface="Calibri" panose="020F0502020204030204" pitchFamily="34" charset="0"/>
                <a:ea typeface="Calibri" panose="020F0502020204030204" pitchFamily="34"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2D4793B8-B9DC-EA57-EE06-FB7CAD92842B}"/>
              </a:ext>
            </a:extLst>
          </p:cNvPr>
          <p:cNvSpPr>
            <a:spLocks noGrp="1"/>
          </p:cNvSpPr>
          <p:nvPr>
            <p:ph idx="1"/>
          </p:nvPr>
        </p:nvSpPr>
        <p:spPr>
          <a:xfrm>
            <a:off x="414251" y="845334"/>
            <a:ext cx="10515600" cy="4351338"/>
          </a:xfrm>
        </p:spPr>
        <p:txBody>
          <a:bodyPr>
            <a:noAutofit/>
          </a:bodyPr>
          <a:lstStyle/>
          <a:p>
            <a:pPr>
              <a:lnSpc>
                <a:spcPct val="120000"/>
              </a:lnSpc>
              <a:spcAft>
                <a:spcPts val="800"/>
              </a:spcAft>
            </a:pPr>
            <a:r>
              <a:rPr lang="en-IN" sz="1800" dirty="0">
                <a:solidFill>
                  <a:srgbClr val="222222"/>
                </a:solidFill>
                <a:effectLst/>
                <a:latin typeface="Lato" panose="020F0502020204030203" pitchFamily="34" charset="0"/>
                <a:ea typeface="Calibri" panose="020F0502020204030204" pitchFamily="34" charset="0"/>
                <a:cs typeface="Times New Roman" panose="02020603050405020304" pitchFamily="18" charset="0"/>
              </a:rPr>
              <a:t>* </a:t>
            </a:r>
            <a:r>
              <a:rPr lang="en-IN" sz="1800" b="1" dirty="0">
                <a:solidFill>
                  <a:srgbClr val="222222"/>
                </a:solidFill>
                <a:effectLst/>
                <a:latin typeface="Lato" panose="020F0502020204030203" pitchFamily="34" charset="0"/>
                <a:ea typeface="Calibri" panose="020F0502020204030204" pitchFamily="34" charset="0"/>
                <a:cs typeface="Times New Roman" panose="02020603050405020304" pitchFamily="18" charset="0"/>
              </a:rPr>
              <a:t>State</a:t>
            </a:r>
            <a:r>
              <a:rPr lang="en-IN" sz="1800" dirty="0">
                <a:solidFill>
                  <a:srgbClr val="222222"/>
                </a:solidFill>
                <a:effectLst/>
                <a:latin typeface="Lato" panose="020F0502020204030203" pitchFamily="34" charset="0"/>
                <a:ea typeface="Calibri" panose="020F0502020204030204" pitchFamily="34" charset="0"/>
                <a:cs typeface="Times New Roman" panose="02020603050405020304" pitchFamily="18" charset="0"/>
              </a:rPr>
              <a:t>: It provides all the information about the environment.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Aft>
                <a:spcPts val="800"/>
              </a:spcAft>
            </a:pPr>
            <a:r>
              <a:rPr lang="en-IN" sz="1800" dirty="0">
                <a:solidFill>
                  <a:srgbClr val="222222"/>
                </a:solidFill>
                <a:effectLst/>
                <a:latin typeface="Lato" panose="020F0502020204030203" pitchFamily="34" charset="0"/>
                <a:ea typeface="Calibri" panose="020F0502020204030204" pitchFamily="34" charset="0"/>
                <a:cs typeface="Times New Roman" panose="02020603050405020304" pitchFamily="18" charset="0"/>
              </a:rPr>
              <a:t>* </a:t>
            </a:r>
            <a:r>
              <a:rPr lang="en-IN" sz="1800" b="1" dirty="0">
                <a:solidFill>
                  <a:srgbClr val="222222"/>
                </a:solidFill>
                <a:effectLst/>
                <a:latin typeface="Lato" panose="020F0502020204030203" pitchFamily="34" charset="0"/>
                <a:ea typeface="Calibri" panose="020F0502020204030204" pitchFamily="34" charset="0"/>
                <a:cs typeface="Times New Roman" panose="02020603050405020304" pitchFamily="18" charset="0"/>
              </a:rPr>
              <a:t>Goal State</a:t>
            </a:r>
            <a:r>
              <a:rPr lang="en-IN" sz="1800" dirty="0">
                <a:solidFill>
                  <a:srgbClr val="222222"/>
                </a:solidFill>
                <a:effectLst/>
                <a:latin typeface="Lato" panose="020F0502020204030203" pitchFamily="34" charset="0"/>
                <a:ea typeface="Calibri" panose="020F0502020204030204" pitchFamily="34" charset="0"/>
                <a:cs typeface="Times New Roman" panose="02020603050405020304" pitchFamily="18" charset="0"/>
              </a:rPr>
              <a:t>: The desired resulting condition in a given problem and the kind of search algorithm we are looking for.</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Aft>
                <a:spcPts val="800"/>
              </a:spcAft>
            </a:pPr>
            <a:r>
              <a:rPr lang="en-IN" sz="1800" dirty="0">
                <a:solidFill>
                  <a:srgbClr val="222222"/>
                </a:solidFill>
                <a:effectLst/>
                <a:latin typeface="Lato" panose="020F0502020204030203" pitchFamily="34" charset="0"/>
                <a:ea typeface="Calibri" panose="020F0502020204030204" pitchFamily="34" charset="0"/>
                <a:cs typeface="Times New Roman" panose="02020603050405020304" pitchFamily="18" charset="0"/>
              </a:rPr>
              <a:t>* </a:t>
            </a:r>
            <a:r>
              <a:rPr lang="en-IN" sz="1800" b="1" dirty="0">
                <a:solidFill>
                  <a:srgbClr val="222222"/>
                </a:solidFill>
                <a:effectLst/>
                <a:latin typeface="Lato" panose="020F0502020204030203" pitchFamily="34" charset="0"/>
                <a:ea typeface="Calibri" panose="020F0502020204030204" pitchFamily="34" charset="0"/>
                <a:cs typeface="Times New Roman" panose="02020603050405020304" pitchFamily="18" charset="0"/>
              </a:rPr>
              <a:t>Goal Test</a:t>
            </a:r>
            <a:r>
              <a:rPr lang="en-IN" sz="1800" dirty="0">
                <a:solidFill>
                  <a:srgbClr val="222222"/>
                </a:solidFill>
                <a:effectLst/>
                <a:latin typeface="Lato" panose="020F0502020204030203" pitchFamily="34" charset="0"/>
                <a:ea typeface="Calibri" panose="020F0502020204030204" pitchFamily="34" charset="0"/>
                <a:cs typeface="Times New Roman" panose="02020603050405020304" pitchFamily="18" charset="0"/>
              </a:rPr>
              <a:t>: The test to determine whether a particular state is a goal state.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Aft>
                <a:spcPts val="800"/>
              </a:spcAft>
            </a:pPr>
            <a:r>
              <a:rPr lang="en-IN" sz="1800" dirty="0">
                <a:solidFill>
                  <a:srgbClr val="222222"/>
                </a:solidFill>
                <a:effectLst/>
                <a:latin typeface="Lato" panose="020F0502020204030203" pitchFamily="34" charset="0"/>
                <a:ea typeface="Calibri" panose="020F0502020204030204" pitchFamily="34" charset="0"/>
                <a:cs typeface="Times New Roman" panose="02020603050405020304" pitchFamily="18" charset="0"/>
              </a:rPr>
              <a:t>* </a:t>
            </a:r>
            <a:r>
              <a:rPr lang="en-IN" sz="1800" b="1" dirty="0">
                <a:solidFill>
                  <a:srgbClr val="222222"/>
                </a:solidFill>
                <a:effectLst/>
                <a:latin typeface="Lato" panose="020F0502020204030203" pitchFamily="34" charset="0"/>
                <a:ea typeface="Calibri" panose="020F0502020204030204" pitchFamily="34" charset="0"/>
                <a:cs typeface="Times New Roman" panose="02020603050405020304" pitchFamily="18" charset="0"/>
              </a:rPr>
              <a:t>Path/Step Cost</a:t>
            </a:r>
            <a:r>
              <a:rPr lang="en-IN" sz="1800" dirty="0">
                <a:solidFill>
                  <a:srgbClr val="222222"/>
                </a:solidFill>
                <a:effectLst/>
                <a:latin typeface="Lato" panose="020F0502020204030203" pitchFamily="34" charset="0"/>
                <a:ea typeface="Calibri" panose="020F0502020204030204" pitchFamily="34" charset="0"/>
                <a:cs typeface="Times New Roman" panose="02020603050405020304" pitchFamily="18" charset="0"/>
              </a:rPr>
              <a:t>: These are integers that represent the cost to move from one node to another node.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Aft>
                <a:spcPts val="800"/>
              </a:spcAft>
            </a:pPr>
            <a:r>
              <a:rPr lang="en-IN" sz="1800" dirty="0">
                <a:solidFill>
                  <a:srgbClr val="222222"/>
                </a:solidFill>
                <a:effectLst/>
                <a:latin typeface="Lato" panose="020F0502020204030203" pitchFamily="34" charset="0"/>
                <a:ea typeface="Calibri" panose="020F0502020204030204" pitchFamily="34" charset="0"/>
                <a:cs typeface="Times New Roman" panose="02020603050405020304" pitchFamily="18" charset="0"/>
              </a:rPr>
              <a:t>* </a:t>
            </a:r>
            <a:r>
              <a:rPr lang="en-IN" sz="1800" b="1" dirty="0">
                <a:solidFill>
                  <a:srgbClr val="222222"/>
                </a:solidFill>
                <a:effectLst/>
                <a:latin typeface="Lato" panose="020F0502020204030203" pitchFamily="34" charset="0"/>
                <a:ea typeface="Calibri" panose="020F0502020204030204" pitchFamily="34" charset="0"/>
                <a:cs typeface="Times New Roman" panose="02020603050405020304" pitchFamily="18" charset="0"/>
              </a:rPr>
              <a:t>Space Complexity</a:t>
            </a:r>
            <a:r>
              <a:rPr lang="en-IN" sz="1800" dirty="0">
                <a:solidFill>
                  <a:srgbClr val="222222"/>
                </a:solidFill>
                <a:effectLst/>
                <a:latin typeface="Lato" panose="020F0502020204030203" pitchFamily="34" charset="0"/>
                <a:ea typeface="Calibri" panose="020F0502020204030204" pitchFamily="34" charset="0"/>
                <a:cs typeface="Times New Roman" panose="02020603050405020304" pitchFamily="18" charset="0"/>
              </a:rPr>
              <a:t>: A function describing the amount of space(memory) an algorithm takes in terms of input to the algorithm.</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Aft>
                <a:spcPts val="800"/>
              </a:spcAft>
            </a:pPr>
            <a:r>
              <a:rPr lang="en-IN" sz="1800" dirty="0">
                <a:solidFill>
                  <a:srgbClr val="222222"/>
                </a:solidFill>
                <a:effectLst/>
                <a:latin typeface="Lato" panose="020F0502020204030203" pitchFamily="34" charset="0"/>
                <a:ea typeface="Calibri" panose="020F0502020204030204" pitchFamily="34" charset="0"/>
                <a:cs typeface="Times New Roman" panose="02020603050405020304" pitchFamily="18" charset="0"/>
              </a:rPr>
              <a:t>* </a:t>
            </a:r>
            <a:r>
              <a:rPr lang="en-IN" sz="1800" b="1" dirty="0">
                <a:solidFill>
                  <a:srgbClr val="222222"/>
                </a:solidFill>
                <a:effectLst/>
                <a:latin typeface="Lato" panose="020F0502020204030203" pitchFamily="34" charset="0"/>
                <a:ea typeface="Calibri" panose="020F0502020204030204" pitchFamily="34" charset="0"/>
                <a:cs typeface="Times New Roman" panose="02020603050405020304" pitchFamily="18" charset="0"/>
              </a:rPr>
              <a:t>Time Complexity</a:t>
            </a:r>
            <a:r>
              <a:rPr lang="en-IN" sz="1800" dirty="0">
                <a:solidFill>
                  <a:srgbClr val="222222"/>
                </a:solidFill>
                <a:effectLst/>
                <a:latin typeface="Lato" panose="020F0502020204030203" pitchFamily="34" charset="0"/>
                <a:ea typeface="Calibri" panose="020F0502020204030204" pitchFamily="34" charset="0"/>
                <a:cs typeface="Times New Roman" panose="02020603050405020304" pitchFamily="18" charset="0"/>
              </a:rPr>
              <a:t>: A function describing the amount of time the algorithm takes in terms of input to the algorithm.</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Aft>
                <a:spcPts val="800"/>
              </a:spcAft>
            </a:pPr>
            <a:r>
              <a:rPr lang="en-IN" sz="1800" dirty="0">
                <a:solidFill>
                  <a:srgbClr val="222222"/>
                </a:solidFill>
                <a:effectLst/>
                <a:latin typeface="Lato" panose="020F0502020204030203" pitchFamily="34" charset="0"/>
                <a:ea typeface="Calibri" panose="020F0502020204030204" pitchFamily="34" charset="0"/>
                <a:cs typeface="Times New Roman" panose="02020603050405020304" pitchFamily="18" charset="0"/>
              </a:rPr>
              <a:t>* </a:t>
            </a:r>
            <a:r>
              <a:rPr lang="en-IN" sz="1800" b="1" dirty="0">
                <a:solidFill>
                  <a:srgbClr val="222222"/>
                </a:solidFill>
                <a:effectLst/>
                <a:latin typeface="Lato" panose="020F0502020204030203" pitchFamily="34" charset="0"/>
                <a:ea typeface="Calibri" panose="020F0502020204030204" pitchFamily="34" charset="0"/>
                <a:cs typeface="Times New Roman" panose="02020603050405020304" pitchFamily="18" charset="0"/>
              </a:rPr>
              <a:t>Optimal</a:t>
            </a:r>
            <a:r>
              <a:rPr lang="en-IN" sz="1800" dirty="0">
                <a:solidFill>
                  <a:srgbClr val="222222"/>
                </a:solidFill>
                <a:effectLst/>
                <a:latin typeface="Lato" panose="020F0502020204030203" pitchFamily="34" charset="0"/>
                <a:ea typeface="Calibri" panose="020F0502020204030204" pitchFamily="34" charset="0"/>
                <a:cs typeface="Times New Roman" panose="02020603050405020304" pitchFamily="18" charset="0"/>
              </a:rPr>
              <a:t>: Extent of preference of the algorithm * ‘</a:t>
            </a:r>
            <a:r>
              <a:rPr lang="en-IN" sz="1800" b="1" dirty="0">
                <a:solidFill>
                  <a:srgbClr val="222222"/>
                </a:solidFill>
                <a:effectLst/>
                <a:latin typeface="Lato" panose="020F0502020204030203" pitchFamily="34" charset="0"/>
                <a:ea typeface="Calibri" panose="020F0502020204030204" pitchFamily="34" charset="0"/>
                <a:cs typeface="Times New Roman" panose="02020603050405020304" pitchFamily="18" charset="0"/>
              </a:rPr>
              <a:t>b</a:t>
            </a:r>
            <a:r>
              <a:rPr lang="en-IN" sz="1800" dirty="0">
                <a:solidFill>
                  <a:srgbClr val="222222"/>
                </a:solidFill>
                <a:effectLst/>
                <a:latin typeface="Lato" panose="020F0502020204030203" pitchFamily="34" charset="0"/>
                <a:ea typeface="Calibri" panose="020F0502020204030204" pitchFamily="34" charset="0"/>
                <a:cs typeface="Times New Roman" panose="02020603050405020304" pitchFamily="18" charset="0"/>
              </a:rPr>
              <a:t>‘ – maximum branching factor in a tree.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Aft>
                <a:spcPts val="800"/>
              </a:spcAft>
            </a:pPr>
            <a:r>
              <a:rPr lang="en-IN" sz="1800" dirty="0">
                <a:solidFill>
                  <a:srgbClr val="222222"/>
                </a:solidFill>
                <a:effectLst/>
                <a:latin typeface="Lato" panose="020F0502020204030203" pitchFamily="34" charset="0"/>
                <a:ea typeface="Calibri" panose="020F0502020204030204" pitchFamily="34" charset="0"/>
                <a:cs typeface="Times New Roman" panose="02020603050405020304" pitchFamily="18" charset="0"/>
              </a:rPr>
              <a:t>* ‘</a:t>
            </a:r>
            <a:r>
              <a:rPr lang="en-IN" sz="1800" b="1" dirty="0">
                <a:solidFill>
                  <a:srgbClr val="222222"/>
                </a:solidFill>
                <a:effectLst/>
                <a:latin typeface="Lato" panose="020F0502020204030203" pitchFamily="34" charset="0"/>
                <a:ea typeface="Calibri" panose="020F0502020204030204" pitchFamily="34" charset="0"/>
                <a:cs typeface="Times New Roman" panose="02020603050405020304" pitchFamily="18" charset="0"/>
              </a:rPr>
              <a:t>d</a:t>
            </a:r>
            <a:r>
              <a:rPr lang="en-IN" sz="1800" dirty="0">
                <a:solidFill>
                  <a:srgbClr val="222222"/>
                </a:solidFill>
                <a:effectLst/>
                <a:latin typeface="Lato" panose="020F0502020204030203" pitchFamily="34" charset="0"/>
                <a:ea typeface="Calibri" panose="020F0502020204030204" pitchFamily="34" charset="0"/>
                <a:cs typeface="Times New Roman" panose="02020603050405020304" pitchFamily="18" charset="0"/>
              </a:rPr>
              <a:t>‘ – the depth of the least-cost solution.      * ‘</a:t>
            </a:r>
            <a:r>
              <a:rPr lang="en-IN" sz="1800" b="1" dirty="0">
                <a:solidFill>
                  <a:srgbClr val="222222"/>
                </a:solidFill>
                <a:effectLst/>
                <a:latin typeface="Lato" panose="020F0502020204030203" pitchFamily="34" charset="0"/>
                <a:ea typeface="Calibri" panose="020F0502020204030204" pitchFamily="34" charset="0"/>
                <a:cs typeface="Times New Roman" panose="02020603050405020304" pitchFamily="18" charset="0"/>
              </a:rPr>
              <a:t>m</a:t>
            </a:r>
            <a:r>
              <a:rPr lang="en-IN" sz="1800" dirty="0">
                <a:solidFill>
                  <a:srgbClr val="222222"/>
                </a:solidFill>
                <a:effectLst/>
                <a:latin typeface="Lato" panose="020F0502020204030203" pitchFamily="34" charset="0"/>
                <a:ea typeface="Calibri" panose="020F0502020204030204" pitchFamily="34" charset="0"/>
                <a:cs typeface="Times New Roman" panose="02020603050405020304" pitchFamily="18" charset="0"/>
              </a:rPr>
              <a:t>‘ – maximum depth state space(maybe infinity)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pPr>
            <a:endParaRPr lang="en-IN" sz="1800" dirty="0"/>
          </a:p>
        </p:txBody>
      </p:sp>
    </p:spTree>
    <p:extLst>
      <p:ext uri="{BB962C8B-B14F-4D97-AF65-F5344CB8AC3E}">
        <p14:creationId xmlns:p14="http://schemas.microsoft.com/office/powerpoint/2010/main" val="13525239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9B96EB-A06E-878C-DCFB-DE06A572EB35}"/>
              </a:ext>
            </a:extLst>
          </p:cNvPr>
          <p:cNvSpPr>
            <a:spLocks noGrp="1"/>
          </p:cNvSpPr>
          <p:nvPr>
            <p:ph type="title"/>
          </p:nvPr>
        </p:nvSpPr>
        <p:spPr/>
        <p:txBody>
          <a:bodyPr>
            <a:normAutofit/>
          </a:bodyPr>
          <a:lstStyle/>
          <a:p>
            <a:r>
              <a:rPr lang="en-IN" sz="4000" b="1" dirty="0">
                <a:solidFill>
                  <a:srgbClr val="222222"/>
                </a:solidFill>
                <a:effectLst/>
                <a:latin typeface="Lato" panose="020F0502020204030203" pitchFamily="34" charset="0"/>
                <a:ea typeface="Calibri" panose="020F0502020204030204" pitchFamily="34" charset="0"/>
                <a:cs typeface="Times New Roman" panose="02020603050405020304" pitchFamily="18" charset="0"/>
              </a:rPr>
              <a:t>Depth First Search (DFS)</a:t>
            </a:r>
            <a:endParaRPr lang="en-IN" sz="8000" dirty="0"/>
          </a:p>
        </p:txBody>
      </p:sp>
      <p:pic>
        <p:nvPicPr>
          <p:cNvPr id="5" name="Content Placeholder 4">
            <a:extLst>
              <a:ext uri="{FF2B5EF4-FFF2-40B4-BE49-F238E27FC236}">
                <a16:creationId xmlns:a16="http://schemas.microsoft.com/office/drawing/2014/main" id="{68E6C847-E77F-9173-4EA5-E25516FE08DC}"/>
              </a:ext>
            </a:extLst>
          </p:cNvPr>
          <p:cNvPicPr>
            <a:picLocks noGrp="1" noChangeAspect="1"/>
          </p:cNvPicPr>
          <p:nvPr>
            <p:ph idx="1"/>
          </p:nvPr>
        </p:nvPicPr>
        <p:blipFill>
          <a:blip r:embed="rId2"/>
          <a:stretch>
            <a:fillRect/>
          </a:stretch>
        </p:blipFill>
        <p:spPr>
          <a:xfrm>
            <a:off x="3472930" y="1825625"/>
            <a:ext cx="5246140" cy="4351338"/>
          </a:xfrm>
        </p:spPr>
      </p:pic>
    </p:spTree>
    <p:extLst>
      <p:ext uri="{BB962C8B-B14F-4D97-AF65-F5344CB8AC3E}">
        <p14:creationId xmlns:p14="http://schemas.microsoft.com/office/powerpoint/2010/main" val="25575672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4793B8-B9DC-EA57-EE06-FB7CAD92842B}"/>
              </a:ext>
            </a:extLst>
          </p:cNvPr>
          <p:cNvSpPr>
            <a:spLocks noGrp="1"/>
          </p:cNvSpPr>
          <p:nvPr>
            <p:ph idx="1"/>
          </p:nvPr>
        </p:nvSpPr>
        <p:spPr>
          <a:xfrm>
            <a:off x="405937" y="420773"/>
            <a:ext cx="11306695" cy="5722331"/>
          </a:xfrm>
        </p:spPr>
        <p:txBody>
          <a:bodyPr>
            <a:normAutofit/>
          </a:bodyPr>
          <a:lstStyle/>
          <a:p>
            <a:pPr algn="l"/>
            <a:r>
              <a:rPr lang="en-US" b="1" i="0" dirty="0">
                <a:solidFill>
                  <a:srgbClr val="222222"/>
                </a:solidFill>
                <a:effectLst/>
                <a:latin typeface="Lato" panose="020F0502020204030203" pitchFamily="34" charset="0"/>
              </a:rPr>
              <a:t>Advantages:</a:t>
            </a:r>
            <a:endParaRPr lang="en-US" b="0" i="0" dirty="0">
              <a:solidFill>
                <a:srgbClr val="222222"/>
              </a:solidFill>
              <a:effectLst/>
              <a:latin typeface="Lato" panose="020F0502020204030203" pitchFamily="34" charset="0"/>
            </a:endParaRPr>
          </a:p>
          <a:p>
            <a:pPr algn="l">
              <a:buFont typeface="Arial" panose="020B0604020202020204" pitchFamily="34" charset="0"/>
              <a:buChar char="•"/>
            </a:pPr>
            <a:r>
              <a:rPr lang="en-US" b="0" i="0" dirty="0">
                <a:solidFill>
                  <a:srgbClr val="222222"/>
                </a:solidFill>
                <a:effectLst/>
                <a:latin typeface="Lato" panose="020F0502020204030203" pitchFamily="34" charset="0"/>
              </a:rPr>
              <a:t>DFS requires very little memory as it only needs to store a stack of the nodes on the path from the root node to the current node.</a:t>
            </a:r>
          </a:p>
          <a:p>
            <a:pPr algn="l">
              <a:buFont typeface="Arial" panose="020B0604020202020204" pitchFamily="34" charset="0"/>
              <a:buChar char="•"/>
            </a:pPr>
            <a:r>
              <a:rPr lang="en-US" b="0" i="0" dirty="0">
                <a:solidFill>
                  <a:srgbClr val="222222"/>
                </a:solidFill>
                <a:effectLst/>
                <a:latin typeface="Lato" panose="020F0502020204030203" pitchFamily="34" charset="0"/>
              </a:rPr>
              <a:t>It takes less time to reach the goal node than the BFS algorithm [which is explained later](if it traverses in the right path).</a:t>
            </a:r>
          </a:p>
          <a:p>
            <a:pPr marL="0" indent="0" algn="l">
              <a:buNone/>
            </a:pPr>
            <a:endParaRPr lang="en-US" b="0" i="0" dirty="0">
              <a:solidFill>
                <a:srgbClr val="222222"/>
              </a:solidFill>
              <a:effectLst/>
              <a:latin typeface="Lato" panose="020F0502020204030203" pitchFamily="34" charset="0"/>
            </a:endParaRPr>
          </a:p>
          <a:p>
            <a:pPr algn="l"/>
            <a:r>
              <a:rPr lang="en-US" b="1" i="0" dirty="0">
                <a:solidFill>
                  <a:srgbClr val="222222"/>
                </a:solidFill>
                <a:effectLst/>
                <a:latin typeface="Lato" panose="020F0502020204030203" pitchFamily="34" charset="0"/>
              </a:rPr>
              <a:t>Disadvantages:</a:t>
            </a:r>
            <a:endParaRPr lang="en-US" b="0" i="0" dirty="0">
              <a:solidFill>
                <a:srgbClr val="222222"/>
              </a:solidFill>
              <a:effectLst/>
              <a:latin typeface="Lato" panose="020F0502020204030203" pitchFamily="34" charset="0"/>
            </a:endParaRPr>
          </a:p>
          <a:p>
            <a:pPr algn="l">
              <a:buFont typeface="Arial" panose="020B0604020202020204" pitchFamily="34" charset="0"/>
              <a:buChar char="•"/>
            </a:pPr>
            <a:r>
              <a:rPr lang="en-US" b="0" i="0" dirty="0">
                <a:solidFill>
                  <a:srgbClr val="222222"/>
                </a:solidFill>
                <a:effectLst/>
                <a:latin typeface="Lato" panose="020F0502020204030203" pitchFamily="34" charset="0"/>
              </a:rPr>
              <a:t>There is the possibility that many states keep reoccurring, and there is no guarantee of finding the solution.</a:t>
            </a:r>
          </a:p>
          <a:p>
            <a:pPr algn="l">
              <a:buFont typeface="Arial" panose="020B0604020202020204" pitchFamily="34" charset="0"/>
              <a:buChar char="•"/>
            </a:pPr>
            <a:r>
              <a:rPr lang="en-US" b="0" i="0" dirty="0">
                <a:solidFill>
                  <a:srgbClr val="222222"/>
                </a:solidFill>
                <a:effectLst/>
                <a:latin typeface="Lato" panose="020F0502020204030203" pitchFamily="34" charset="0"/>
              </a:rPr>
              <a:t>The DFS algorithm goes for deep down searching and sometimes it may go to the infinite loop.</a:t>
            </a:r>
          </a:p>
        </p:txBody>
      </p:sp>
    </p:spTree>
    <p:extLst>
      <p:ext uri="{BB962C8B-B14F-4D97-AF65-F5344CB8AC3E}">
        <p14:creationId xmlns:p14="http://schemas.microsoft.com/office/powerpoint/2010/main" val="27469844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4793B8-B9DC-EA57-EE06-FB7CAD92842B}"/>
              </a:ext>
            </a:extLst>
          </p:cNvPr>
          <p:cNvSpPr>
            <a:spLocks noGrp="1"/>
          </p:cNvSpPr>
          <p:nvPr>
            <p:ph idx="1"/>
          </p:nvPr>
        </p:nvSpPr>
        <p:spPr>
          <a:xfrm>
            <a:off x="638695" y="753283"/>
            <a:ext cx="10515600" cy="4351338"/>
          </a:xfrm>
        </p:spPr>
        <p:txBody>
          <a:bodyPr>
            <a:normAutofit fontScale="62500" lnSpcReduction="20000"/>
          </a:bodyPr>
          <a:lstStyle/>
          <a:p>
            <a:pPr algn="l"/>
            <a:r>
              <a:rPr lang="en-US" sz="4000" b="0" i="0" dirty="0">
                <a:solidFill>
                  <a:srgbClr val="222222"/>
                </a:solidFill>
                <a:effectLst/>
                <a:latin typeface="Lato" panose="020F0502020204030203" pitchFamily="34" charset="0"/>
              </a:rPr>
              <a:t>It occupies a lot of memory space, and time to execute when the solution is at the bottom or end of the tree and is implemented using LIFO Stack data structure[DS].</a:t>
            </a:r>
          </a:p>
          <a:p>
            <a:pPr marL="0" indent="0" algn="l">
              <a:buNone/>
            </a:pPr>
            <a:endParaRPr lang="en-US" sz="4000" b="0" i="0" dirty="0">
              <a:solidFill>
                <a:srgbClr val="222222"/>
              </a:solidFill>
              <a:effectLst/>
              <a:latin typeface="Lato" panose="020F0502020204030203" pitchFamily="34" charset="0"/>
            </a:endParaRPr>
          </a:p>
          <a:p>
            <a:pPr algn="l"/>
            <a:r>
              <a:rPr lang="en-US" sz="4000" b="0" i="0" u="sng" dirty="0">
                <a:solidFill>
                  <a:srgbClr val="222222"/>
                </a:solidFill>
                <a:effectLst/>
                <a:latin typeface="Lato" panose="020F0502020204030203" pitchFamily="34" charset="0"/>
              </a:rPr>
              <a:t>Complete</a:t>
            </a:r>
            <a:r>
              <a:rPr lang="en-US" sz="4000" b="0" i="0" dirty="0">
                <a:solidFill>
                  <a:srgbClr val="222222"/>
                </a:solidFill>
                <a:effectLst/>
                <a:latin typeface="Lato" panose="020F0502020204030203" pitchFamily="34" charset="0"/>
              </a:rPr>
              <a:t>: No</a:t>
            </a:r>
          </a:p>
          <a:p>
            <a:pPr marL="0" indent="0" algn="l">
              <a:buNone/>
            </a:pPr>
            <a:endParaRPr lang="en-US" sz="4000" b="0" i="0" dirty="0">
              <a:solidFill>
                <a:srgbClr val="222222"/>
              </a:solidFill>
              <a:effectLst/>
              <a:latin typeface="Lato" panose="020F0502020204030203" pitchFamily="34" charset="0"/>
            </a:endParaRPr>
          </a:p>
          <a:p>
            <a:pPr algn="l"/>
            <a:r>
              <a:rPr lang="en-US" sz="4000" b="0" i="0" u="sng" dirty="0">
                <a:solidFill>
                  <a:srgbClr val="222222"/>
                </a:solidFill>
                <a:effectLst/>
                <a:latin typeface="Lato" panose="020F0502020204030203" pitchFamily="34" charset="0"/>
              </a:rPr>
              <a:t>Time Complexity</a:t>
            </a:r>
            <a:r>
              <a:rPr lang="en-US" sz="4000" b="0" i="0" dirty="0">
                <a:solidFill>
                  <a:srgbClr val="222222"/>
                </a:solidFill>
                <a:effectLst/>
                <a:latin typeface="Lato" panose="020F0502020204030203" pitchFamily="34" charset="0"/>
              </a:rPr>
              <a:t>: O(b</a:t>
            </a:r>
            <a:r>
              <a:rPr lang="en-US" sz="4000" b="0" i="0" baseline="30000" dirty="0">
                <a:solidFill>
                  <a:srgbClr val="222222"/>
                </a:solidFill>
                <a:effectLst/>
                <a:latin typeface="Lato" panose="020F0502020204030203" pitchFamily="34" charset="0"/>
              </a:rPr>
              <a:t>m</a:t>
            </a:r>
            <a:r>
              <a:rPr lang="en-US" sz="4000" b="0" i="0" dirty="0">
                <a:solidFill>
                  <a:srgbClr val="222222"/>
                </a:solidFill>
                <a:effectLst/>
                <a:latin typeface="Lato" panose="020F0502020204030203" pitchFamily="34" charset="0"/>
              </a:rPr>
              <a:t>)</a:t>
            </a:r>
          </a:p>
          <a:p>
            <a:pPr marL="0" indent="0" algn="l">
              <a:buNone/>
            </a:pPr>
            <a:endParaRPr lang="en-US" sz="4000" b="0" i="0" dirty="0">
              <a:solidFill>
                <a:srgbClr val="222222"/>
              </a:solidFill>
              <a:effectLst/>
              <a:latin typeface="Lato" panose="020F0502020204030203" pitchFamily="34" charset="0"/>
            </a:endParaRPr>
          </a:p>
          <a:p>
            <a:pPr algn="l"/>
            <a:r>
              <a:rPr lang="en-US" sz="4000" b="0" i="0" u="sng" dirty="0">
                <a:solidFill>
                  <a:srgbClr val="222222"/>
                </a:solidFill>
                <a:effectLst/>
                <a:latin typeface="Lato" panose="020F0502020204030203" pitchFamily="34" charset="0"/>
              </a:rPr>
              <a:t>Space complexity</a:t>
            </a:r>
            <a:r>
              <a:rPr lang="en-US" sz="4000" b="0" i="0" dirty="0">
                <a:solidFill>
                  <a:srgbClr val="222222"/>
                </a:solidFill>
                <a:effectLst/>
                <a:latin typeface="Lato" panose="020F0502020204030203" pitchFamily="34" charset="0"/>
              </a:rPr>
              <a:t>: O(bm)</a:t>
            </a:r>
          </a:p>
          <a:p>
            <a:pPr marL="0" indent="0" algn="l">
              <a:buNone/>
            </a:pPr>
            <a:endParaRPr lang="en-US" sz="4000" b="0" i="0" dirty="0">
              <a:solidFill>
                <a:srgbClr val="222222"/>
              </a:solidFill>
              <a:effectLst/>
              <a:latin typeface="Lato" panose="020F0502020204030203" pitchFamily="34" charset="0"/>
            </a:endParaRPr>
          </a:p>
          <a:p>
            <a:pPr algn="l"/>
            <a:r>
              <a:rPr lang="en-US" sz="4000" b="0" i="0" u="sng" dirty="0">
                <a:solidFill>
                  <a:srgbClr val="222222"/>
                </a:solidFill>
                <a:effectLst/>
                <a:latin typeface="Lato" panose="020F0502020204030203" pitchFamily="34" charset="0"/>
              </a:rPr>
              <a:t>Optimal</a:t>
            </a:r>
            <a:r>
              <a:rPr lang="en-US" sz="4000" b="0" i="0" dirty="0">
                <a:solidFill>
                  <a:srgbClr val="222222"/>
                </a:solidFill>
                <a:effectLst/>
                <a:latin typeface="Lato" panose="020F0502020204030203" pitchFamily="34" charset="0"/>
              </a:rPr>
              <a:t>: Yes</a:t>
            </a:r>
          </a:p>
          <a:p>
            <a:endParaRPr lang="en-IN" sz="4000" dirty="0"/>
          </a:p>
        </p:txBody>
      </p:sp>
    </p:spTree>
    <p:extLst>
      <p:ext uri="{BB962C8B-B14F-4D97-AF65-F5344CB8AC3E}">
        <p14:creationId xmlns:p14="http://schemas.microsoft.com/office/powerpoint/2010/main" val="26810465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9B96EB-A06E-878C-DCFB-DE06A572EB35}"/>
              </a:ext>
            </a:extLst>
          </p:cNvPr>
          <p:cNvSpPr>
            <a:spLocks noGrp="1"/>
          </p:cNvSpPr>
          <p:nvPr>
            <p:ph type="title"/>
          </p:nvPr>
        </p:nvSpPr>
        <p:spPr/>
        <p:txBody>
          <a:bodyPr/>
          <a:lstStyle/>
          <a:p>
            <a:r>
              <a:rPr lang="en-IN" b="0" i="0" dirty="0">
                <a:solidFill>
                  <a:srgbClr val="222222"/>
                </a:solidFill>
                <a:effectLst/>
                <a:latin typeface="Lato" panose="020F0502020204030203" pitchFamily="34" charset="0"/>
              </a:rPr>
              <a:t>Breadth-First Search(BFS)</a:t>
            </a:r>
            <a:br>
              <a:rPr lang="en-IN" b="0" i="0" dirty="0">
                <a:solidFill>
                  <a:srgbClr val="222222"/>
                </a:solidFill>
                <a:effectLst/>
                <a:latin typeface="Lato" panose="020F0502020204030203" pitchFamily="34" charset="0"/>
              </a:rPr>
            </a:br>
            <a:endParaRPr lang="en-IN" dirty="0"/>
          </a:p>
        </p:txBody>
      </p:sp>
      <p:sp>
        <p:nvSpPr>
          <p:cNvPr id="3" name="Content Placeholder 2">
            <a:extLst>
              <a:ext uri="{FF2B5EF4-FFF2-40B4-BE49-F238E27FC236}">
                <a16:creationId xmlns:a16="http://schemas.microsoft.com/office/drawing/2014/main" id="{2D4793B8-B9DC-EA57-EE06-FB7CAD92842B}"/>
              </a:ext>
            </a:extLst>
          </p:cNvPr>
          <p:cNvSpPr>
            <a:spLocks noGrp="1"/>
          </p:cNvSpPr>
          <p:nvPr>
            <p:ph idx="1"/>
          </p:nvPr>
        </p:nvSpPr>
        <p:spPr/>
        <p:txBody>
          <a:bodyPr/>
          <a:lstStyle/>
          <a:p>
            <a:r>
              <a:rPr lang="en-US" b="0" i="0" dirty="0">
                <a:solidFill>
                  <a:srgbClr val="222222"/>
                </a:solidFill>
                <a:effectLst/>
                <a:latin typeface="Lato" panose="020F0502020204030203" pitchFamily="34" charset="0"/>
              </a:rPr>
              <a:t>It is another search algorithm in AI which traverses breadthwise to search the goal in a tree. </a:t>
            </a:r>
          </a:p>
          <a:p>
            <a:r>
              <a:rPr lang="en-US" b="0" i="0" dirty="0">
                <a:solidFill>
                  <a:srgbClr val="222222"/>
                </a:solidFill>
                <a:effectLst/>
                <a:latin typeface="Lato" panose="020F0502020204030203" pitchFamily="34" charset="0"/>
              </a:rPr>
              <a:t>It begins searching from the root node and expands the successor node before going expanding it further expands along breadthwise and traverses those nodes rather than searching depth-wise.</a:t>
            </a:r>
            <a:endParaRPr lang="en-IN" dirty="0"/>
          </a:p>
        </p:txBody>
      </p:sp>
    </p:spTree>
    <p:extLst>
      <p:ext uri="{BB962C8B-B14F-4D97-AF65-F5344CB8AC3E}">
        <p14:creationId xmlns:p14="http://schemas.microsoft.com/office/powerpoint/2010/main" val="8409297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836AE9B-29C7-9A32-8EBD-9C6AAE28AD29}"/>
              </a:ext>
            </a:extLst>
          </p:cNvPr>
          <p:cNvPicPr>
            <a:picLocks noChangeAspect="1"/>
          </p:cNvPicPr>
          <p:nvPr/>
        </p:nvPicPr>
        <p:blipFill>
          <a:blip r:embed="rId2"/>
          <a:stretch>
            <a:fillRect/>
          </a:stretch>
        </p:blipFill>
        <p:spPr>
          <a:xfrm>
            <a:off x="3162046" y="1180905"/>
            <a:ext cx="5867908" cy="4496190"/>
          </a:xfrm>
          <a:prstGeom prst="rect">
            <a:avLst/>
          </a:prstGeom>
        </p:spPr>
      </p:pic>
    </p:spTree>
    <p:extLst>
      <p:ext uri="{BB962C8B-B14F-4D97-AF65-F5344CB8AC3E}">
        <p14:creationId xmlns:p14="http://schemas.microsoft.com/office/powerpoint/2010/main" val="14187168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4793B8-B9DC-EA57-EE06-FB7CAD92842B}"/>
              </a:ext>
            </a:extLst>
          </p:cNvPr>
          <p:cNvSpPr>
            <a:spLocks noGrp="1"/>
          </p:cNvSpPr>
          <p:nvPr>
            <p:ph idx="1"/>
          </p:nvPr>
        </p:nvSpPr>
        <p:spPr>
          <a:xfrm>
            <a:off x="605443" y="803160"/>
            <a:ext cx="11065626" cy="5073938"/>
          </a:xfrm>
        </p:spPr>
        <p:txBody>
          <a:bodyPr>
            <a:normAutofit lnSpcReduction="10000"/>
          </a:bodyPr>
          <a:lstStyle/>
          <a:p>
            <a:pPr algn="l"/>
            <a:r>
              <a:rPr lang="en-US" b="1" i="0" dirty="0">
                <a:solidFill>
                  <a:srgbClr val="222222"/>
                </a:solidFill>
                <a:effectLst/>
                <a:latin typeface="Lato" panose="020F0502020204030203" pitchFamily="34" charset="0"/>
              </a:rPr>
              <a:t>Advantages:</a:t>
            </a:r>
            <a:endParaRPr lang="en-US" b="0" i="0" dirty="0">
              <a:solidFill>
                <a:srgbClr val="222222"/>
              </a:solidFill>
              <a:effectLst/>
              <a:latin typeface="Lato" panose="020F0502020204030203" pitchFamily="34" charset="0"/>
            </a:endParaRPr>
          </a:p>
          <a:p>
            <a:pPr algn="l">
              <a:buFont typeface="Arial" panose="020B0604020202020204" pitchFamily="34" charset="0"/>
              <a:buChar char="•"/>
            </a:pPr>
            <a:r>
              <a:rPr lang="en-US" b="0" i="0" dirty="0">
                <a:solidFill>
                  <a:srgbClr val="222222"/>
                </a:solidFill>
                <a:effectLst/>
                <a:latin typeface="Lato" panose="020F0502020204030203" pitchFamily="34" charset="0"/>
              </a:rPr>
              <a:t>BFS will provide a solution if any solution exists.</a:t>
            </a:r>
          </a:p>
          <a:p>
            <a:pPr algn="l">
              <a:buFont typeface="Arial" panose="020B0604020202020204" pitchFamily="34" charset="0"/>
              <a:buChar char="•"/>
            </a:pPr>
            <a:r>
              <a:rPr lang="en-US" b="0" i="0" dirty="0">
                <a:solidFill>
                  <a:srgbClr val="222222"/>
                </a:solidFill>
                <a:effectLst/>
                <a:latin typeface="Lato" panose="020F0502020204030203" pitchFamily="34" charset="0"/>
              </a:rPr>
              <a:t>If there is more than one solution for a given problem, then BFS will provide the minimal solution which requires the least number of steps.</a:t>
            </a:r>
          </a:p>
          <a:p>
            <a:pPr marL="0" indent="0" algn="l">
              <a:buNone/>
            </a:pPr>
            <a:endParaRPr lang="en-US" b="0" i="0" dirty="0">
              <a:solidFill>
                <a:srgbClr val="222222"/>
              </a:solidFill>
              <a:effectLst/>
              <a:latin typeface="Lato" panose="020F0502020204030203" pitchFamily="34" charset="0"/>
            </a:endParaRPr>
          </a:p>
          <a:p>
            <a:pPr algn="l"/>
            <a:r>
              <a:rPr lang="en-US" b="1" i="0" dirty="0">
                <a:solidFill>
                  <a:srgbClr val="222222"/>
                </a:solidFill>
                <a:effectLst/>
                <a:latin typeface="Lato" panose="020F0502020204030203" pitchFamily="34" charset="0"/>
              </a:rPr>
              <a:t>Disadvantages:</a:t>
            </a:r>
            <a:endParaRPr lang="en-US" b="0" i="0" dirty="0">
              <a:solidFill>
                <a:srgbClr val="222222"/>
              </a:solidFill>
              <a:effectLst/>
              <a:latin typeface="Lato" panose="020F0502020204030203" pitchFamily="34" charset="0"/>
            </a:endParaRPr>
          </a:p>
          <a:p>
            <a:pPr algn="l">
              <a:buFont typeface="Arial" panose="020B0604020202020204" pitchFamily="34" charset="0"/>
              <a:buChar char="•"/>
            </a:pPr>
            <a:r>
              <a:rPr lang="en-US" b="0" i="0" dirty="0">
                <a:solidFill>
                  <a:srgbClr val="222222"/>
                </a:solidFill>
                <a:effectLst/>
                <a:latin typeface="Lato" panose="020F0502020204030203" pitchFamily="34" charset="0"/>
              </a:rPr>
              <a:t>It requires lots of memory since each level of the tree must be saved into memory to expand the next level.</a:t>
            </a:r>
          </a:p>
          <a:p>
            <a:pPr algn="l">
              <a:buFont typeface="Arial" panose="020B0604020202020204" pitchFamily="34" charset="0"/>
              <a:buChar char="•"/>
            </a:pPr>
            <a:r>
              <a:rPr lang="en-US" b="0" i="0" dirty="0">
                <a:solidFill>
                  <a:srgbClr val="222222"/>
                </a:solidFill>
                <a:effectLst/>
                <a:latin typeface="Lato" panose="020F0502020204030203" pitchFamily="34" charset="0"/>
              </a:rPr>
              <a:t>BFS needs lots of time if the solution is far away from the root node.</a:t>
            </a:r>
          </a:p>
          <a:p>
            <a:endParaRPr lang="en-IN" dirty="0"/>
          </a:p>
        </p:txBody>
      </p:sp>
    </p:spTree>
    <p:extLst>
      <p:ext uri="{BB962C8B-B14F-4D97-AF65-F5344CB8AC3E}">
        <p14:creationId xmlns:p14="http://schemas.microsoft.com/office/powerpoint/2010/main" val="10840324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3F1E33-48AA-CE7D-93CD-3E012CB1EE87}"/>
              </a:ext>
            </a:extLst>
          </p:cNvPr>
          <p:cNvSpPr>
            <a:spLocks noGrp="1"/>
          </p:cNvSpPr>
          <p:nvPr>
            <p:ph idx="1"/>
          </p:nvPr>
        </p:nvSpPr>
        <p:spPr>
          <a:xfrm>
            <a:off x="713509" y="1069167"/>
            <a:ext cx="10515600" cy="4351338"/>
          </a:xfrm>
        </p:spPr>
        <p:txBody>
          <a:bodyPr/>
          <a:lstStyle/>
          <a:p>
            <a:pPr algn="l"/>
            <a:r>
              <a:rPr lang="en-US" b="0" i="0" dirty="0">
                <a:solidFill>
                  <a:srgbClr val="222222"/>
                </a:solidFill>
                <a:effectLst/>
                <a:latin typeface="Lato" panose="020F0502020204030203" pitchFamily="34" charset="0"/>
              </a:rPr>
              <a:t>It requires a lot of memory space and time consuming if the goal state is at the bottom or end. It uses a FIFO queue DS to implement.</a:t>
            </a:r>
          </a:p>
          <a:p>
            <a:pPr algn="l"/>
            <a:r>
              <a:rPr lang="en-US" b="0" i="0" u="sng" dirty="0">
                <a:solidFill>
                  <a:srgbClr val="222222"/>
                </a:solidFill>
                <a:effectLst/>
                <a:latin typeface="Lato" panose="020F0502020204030203" pitchFamily="34" charset="0"/>
              </a:rPr>
              <a:t>Complete</a:t>
            </a:r>
            <a:r>
              <a:rPr lang="en-US" b="0" i="0" dirty="0">
                <a:solidFill>
                  <a:srgbClr val="222222"/>
                </a:solidFill>
                <a:effectLst/>
                <a:latin typeface="Lato" panose="020F0502020204030203" pitchFamily="34" charset="0"/>
              </a:rPr>
              <a:t>: Yes (assuming b is finite)</a:t>
            </a:r>
          </a:p>
          <a:p>
            <a:pPr algn="l"/>
            <a:r>
              <a:rPr lang="en-US" b="0" i="0" u="sng" dirty="0">
                <a:solidFill>
                  <a:srgbClr val="222222"/>
                </a:solidFill>
                <a:effectLst/>
                <a:latin typeface="Lato" panose="020F0502020204030203" pitchFamily="34" charset="0"/>
              </a:rPr>
              <a:t>Time Complexity</a:t>
            </a:r>
            <a:r>
              <a:rPr lang="en-US" b="0" i="0" dirty="0">
                <a:solidFill>
                  <a:srgbClr val="222222"/>
                </a:solidFill>
                <a:effectLst/>
                <a:latin typeface="Lato" panose="020F0502020204030203" pitchFamily="34" charset="0"/>
              </a:rPr>
              <a:t>: O(b</a:t>
            </a:r>
            <a:r>
              <a:rPr lang="en-US" b="0" i="0" baseline="30000" dirty="0">
                <a:solidFill>
                  <a:srgbClr val="222222"/>
                </a:solidFill>
                <a:effectLst/>
                <a:latin typeface="Lato" panose="020F0502020204030203" pitchFamily="34" charset="0"/>
              </a:rPr>
              <a:t>d</a:t>
            </a:r>
            <a:r>
              <a:rPr lang="en-US" b="0" i="0" dirty="0">
                <a:solidFill>
                  <a:srgbClr val="222222"/>
                </a:solidFill>
                <a:effectLst/>
                <a:latin typeface="Lato" panose="020F0502020204030203" pitchFamily="34" charset="0"/>
              </a:rPr>
              <a:t>)</a:t>
            </a:r>
          </a:p>
          <a:p>
            <a:pPr algn="l"/>
            <a:r>
              <a:rPr lang="en-US" b="0" i="0" u="sng" dirty="0">
                <a:solidFill>
                  <a:srgbClr val="222222"/>
                </a:solidFill>
                <a:effectLst/>
                <a:latin typeface="Lato" panose="020F0502020204030203" pitchFamily="34" charset="0"/>
              </a:rPr>
              <a:t>Space complexity</a:t>
            </a:r>
            <a:r>
              <a:rPr lang="en-US" b="0" i="0" dirty="0">
                <a:solidFill>
                  <a:srgbClr val="222222"/>
                </a:solidFill>
                <a:effectLst/>
                <a:latin typeface="Lato" panose="020F0502020204030203" pitchFamily="34" charset="0"/>
              </a:rPr>
              <a:t>: O(b</a:t>
            </a:r>
            <a:r>
              <a:rPr lang="en-US" b="0" i="0" baseline="30000" dirty="0">
                <a:solidFill>
                  <a:srgbClr val="222222"/>
                </a:solidFill>
                <a:effectLst/>
                <a:latin typeface="Lato" panose="020F0502020204030203" pitchFamily="34" charset="0"/>
              </a:rPr>
              <a:t>d</a:t>
            </a:r>
            <a:r>
              <a:rPr lang="en-US" b="0" i="0" dirty="0">
                <a:solidFill>
                  <a:srgbClr val="222222"/>
                </a:solidFill>
                <a:effectLst/>
                <a:latin typeface="Lato" panose="020F0502020204030203" pitchFamily="34" charset="0"/>
              </a:rPr>
              <a:t>)</a:t>
            </a:r>
          </a:p>
          <a:p>
            <a:pPr algn="l"/>
            <a:r>
              <a:rPr lang="en-US" b="0" i="0" u="sng" dirty="0">
                <a:solidFill>
                  <a:srgbClr val="222222"/>
                </a:solidFill>
                <a:effectLst/>
                <a:latin typeface="Lato" panose="020F0502020204030203" pitchFamily="34" charset="0"/>
              </a:rPr>
              <a:t>Optimal</a:t>
            </a:r>
            <a:r>
              <a:rPr lang="en-US" b="0" i="0" dirty="0">
                <a:solidFill>
                  <a:srgbClr val="222222"/>
                </a:solidFill>
                <a:effectLst/>
                <a:latin typeface="Lato" panose="020F0502020204030203" pitchFamily="34" charset="0"/>
              </a:rPr>
              <a:t>: Yes, if Step cost = 1 (i.e. no cost/all step costs are same)</a:t>
            </a:r>
          </a:p>
          <a:p>
            <a:endParaRPr lang="en-IN" dirty="0"/>
          </a:p>
        </p:txBody>
      </p:sp>
    </p:spTree>
    <p:extLst>
      <p:ext uri="{BB962C8B-B14F-4D97-AF65-F5344CB8AC3E}">
        <p14:creationId xmlns:p14="http://schemas.microsoft.com/office/powerpoint/2010/main" val="26855208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EAD12-DD96-DD28-A4F4-94AB41B0FC7D}"/>
              </a:ext>
            </a:extLst>
          </p:cNvPr>
          <p:cNvSpPr>
            <a:spLocks noGrp="1"/>
          </p:cNvSpPr>
          <p:nvPr>
            <p:ph type="title"/>
          </p:nvPr>
        </p:nvSpPr>
        <p:spPr/>
        <p:txBody>
          <a:bodyPr/>
          <a:lstStyle/>
          <a:p>
            <a:r>
              <a:rPr lang="en-IN" b="0" i="0" dirty="0">
                <a:solidFill>
                  <a:srgbClr val="222222"/>
                </a:solidFill>
                <a:effectLst/>
                <a:latin typeface="Lato" panose="020F0502020204030203" pitchFamily="34" charset="0"/>
              </a:rPr>
              <a:t>Uniform Cost Search(UCS)</a:t>
            </a:r>
            <a:br>
              <a:rPr lang="en-IN" b="0" i="0" dirty="0">
                <a:solidFill>
                  <a:srgbClr val="222222"/>
                </a:solidFill>
                <a:effectLst/>
                <a:latin typeface="Lato" panose="020F0502020204030203" pitchFamily="34" charset="0"/>
              </a:rPr>
            </a:br>
            <a:endParaRPr lang="en-IN" dirty="0"/>
          </a:p>
        </p:txBody>
      </p:sp>
      <p:sp>
        <p:nvSpPr>
          <p:cNvPr id="3" name="Content Placeholder 2">
            <a:extLst>
              <a:ext uri="{FF2B5EF4-FFF2-40B4-BE49-F238E27FC236}">
                <a16:creationId xmlns:a16="http://schemas.microsoft.com/office/drawing/2014/main" id="{D53F1E33-48AA-CE7D-93CD-3E012CB1EE87}"/>
              </a:ext>
            </a:extLst>
          </p:cNvPr>
          <p:cNvSpPr>
            <a:spLocks noGrp="1"/>
          </p:cNvSpPr>
          <p:nvPr>
            <p:ph idx="1"/>
          </p:nvPr>
        </p:nvSpPr>
        <p:spPr>
          <a:xfrm>
            <a:off x="738448" y="1253331"/>
            <a:ext cx="10515600" cy="4351338"/>
          </a:xfrm>
        </p:spPr>
        <p:txBody>
          <a:bodyPr/>
          <a:lstStyle/>
          <a:p>
            <a:r>
              <a:rPr lang="en-US" b="0" i="0" dirty="0">
                <a:solidFill>
                  <a:srgbClr val="222222"/>
                </a:solidFill>
                <a:effectLst/>
                <a:latin typeface="Lato" panose="020F0502020204030203" pitchFamily="34" charset="0"/>
              </a:rPr>
              <a:t>This algorithm is mainly used when the step costs are not the same but we need the optimal solution to the goal state. </a:t>
            </a:r>
          </a:p>
          <a:p>
            <a:r>
              <a:rPr lang="en-US" b="0" i="0" dirty="0">
                <a:solidFill>
                  <a:srgbClr val="222222"/>
                </a:solidFill>
                <a:effectLst/>
                <a:latin typeface="Lato" panose="020F0502020204030203" pitchFamily="34" charset="0"/>
              </a:rPr>
              <a:t>In such cases, we use Uniform Cost Search to find the goal and the path including the cumulative cost to expand each node from the root node to the goal node. </a:t>
            </a:r>
          </a:p>
          <a:p>
            <a:r>
              <a:rPr lang="en-US" b="0" i="0" dirty="0">
                <a:solidFill>
                  <a:srgbClr val="222222"/>
                </a:solidFill>
                <a:effectLst/>
                <a:latin typeface="Lato" panose="020F0502020204030203" pitchFamily="34" charset="0"/>
              </a:rPr>
              <a:t>It does not go depth or breadth, it searches for the next node with the lowest cost and in the case of the same path cost, let’s consider lexicographical order in our case.</a:t>
            </a:r>
            <a:endParaRPr lang="en-IN" dirty="0"/>
          </a:p>
        </p:txBody>
      </p:sp>
    </p:spTree>
    <p:extLst>
      <p:ext uri="{BB962C8B-B14F-4D97-AF65-F5344CB8AC3E}">
        <p14:creationId xmlns:p14="http://schemas.microsoft.com/office/powerpoint/2010/main" val="25053404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3DC0C28-F1E0-6910-14D2-5F2016C9EC80}"/>
              </a:ext>
            </a:extLst>
          </p:cNvPr>
          <p:cNvPicPr>
            <a:picLocks noChangeAspect="1"/>
          </p:cNvPicPr>
          <p:nvPr/>
        </p:nvPicPr>
        <p:blipFill>
          <a:blip r:embed="rId2"/>
          <a:stretch>
            <a:fillRect/>
          </a:stretch>
        </p:blipFill>
        <p:spPr>
          <a:xfrm>
            <a:off x="2582875" y="1801989"/>
            <a:ext cx="7026249" cy="3254022"/>
          </a:xfrm>
          <a:prstGeom prst="rect">
            <a:avLst/>
          </a:prstGeom>
        </p:spPr>
      </p:pic>
    </p:spTree>
    <p:extLst>
      <p:ext uri="{BB962C8B-B14F-4D97-AF65-F5344CB8AC3E}">
        <p14:creationId xmlns:p14="http://schemas.microsoft.com/office/powerpoint/2010/main" val="19972544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3F1E33-48AA-CE7D-93CD-3E012CB1EE87}"/>
              </a:ext>
            </a:extLst>
          </p:cNvPr>
          <p:cNvSpPr>
            <a:spLocks noGrp="1"/>
          </p:cNvSpPr>
          <p:nvPr>
            <p:ph idx="1"/>
          </p:nvPr>
        </p:nvSpPr>
        <p:spPr/>
        <p:txBody>
          <a:bodyPr/>
          <a:lstStyle/>
          <a:p>
            <a:pPr algn="l"/>
            <a:r>
              <a:rPr lang="en-US" b="1" i="0" dirty="0">
                <a:solidFill>
                  <a:srgbClr val="222222"/>
                </a:solidFill>
                <a:effectLst/>
                <a:latin typeface="Lato" panose="020F0502020204030203" pitchFamily="34" charset="0"/>
              </a:rPr>
              <a:t>Advantages:</a:t>
            </a:r>
            <a:endParaRPr lang="en-US" b="0" i="0" dirty="0">
              <a:solidFill>
                <a:srgbClr val="222222"/>
              </a:solidFill>
              <a:effectLst/>
              <a:latin typeface="Lato" panose="020F0502020204030203" pitchFamily="34" charset="0"/>
            </a:endParaRPr>
          </a:p>
          <a:p>
            <a:pPr algn="l">
              <a:buFont typeface="Arial" panose="020B0604020202020204" pitchFamily="34" charset="0"/>
              <a:buChar char="•"/>
            </a:pPr>
            <a:r>
              <a:rPr lang="en-US" b="0" i="0" dirty="0">
                <a:solidFill>
                  <a:srgbClr val="222222"/>
                </a:solidFill>
                <a:effectLst/>
                <a:latin typeface="Lato" panose="020F0502020204030203" pitchFamily="34" charset="0"/>
              </a:rPr>
              <a:t>Uniform cost search is optimal because at every state the path with the least cost is chosen.</a:t>
            </a:r>
          </a:p>
          <a:p>
            <a:pPr algn="l"/>
            <a:r>
              <a:rPr lang="en-US" b="1" i="0" dirty="0">
                <a:solidFill>
                  <a:srgbClr val="222222"/>
                </a:solidFill>
                <a:effectLst/>
                <a:latin typeface="Lato" panose="020F0502020204030203" pitchFamily="34" charset="0"/>
              </a:rPr>
              <a:t>Disadvantages:</a:t>
            </a:r>
            <a:endParaRPr lang="en-US" b="0" i="0" dirty="0">
              <a:solidFill>
                <a:srgbClr val="222222"/>
              </a:solidFill>
              <a:effectLst/>
              <a:latin typeface="Lato" panose="020F0502020204030203" pitchFamily="34" charset="0"/>
            </a:endParaRPr>
          </a:p>
          <a:p>
            <a:pPr algn="l">
              <a:buFont typeface="Arial" panose="020B0604020202020204" pitchFamily="34" charset="0"/>
              <a:buChar char="•"/>
            </a:pPr>
            <a:r>
              <a:rPr lang="en-US" b="0" i="0" dirty="0">
                <a:solidFill>
                  <a:srgbClr val="222222"/>
                </a:solidFill>
                <a:effectLst/>
                <a:latin typeface="Lato" panose="020F0502020204030203" pitchFamily="34" charset="0"/>
              </a:rPr>
              <a:t>It does not care about the number of steps involved in searching and only concerned about path cost. Due to which this algorithm may be stuck in an infinite loop.</a:t>
            </a:r>
          </a:p>
          <a:p>
            <a:endParaRPr lang="en-IN" dirty="0"/>
          </a:p>
        </p:txBody>
      </p:sp>
    </p:spTree>
    <p:extLst>
      <p:ext uri="{BB962C8B-B14F-4D97-AF65-F5344CB8AC3E}">
        <p14:creationId xmlns:p14="http://schemas.microsoft.com/office/powerpoint/2010/main" val="23143872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EAD12-DD96-DD28-A4F4-94AB41B0FC7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53F1E33-48AA-CE7D-93CD-3E012CB1EE87}"/>
              </a:ext>
            </a:extLst>
          </p:cNvPr>
          <p:cNvSpPr>
            <a:spLocks noGrp="1"/>
          </p:cNvSpPr>
          <p:nvPr>
            <p:ph idx="1"/>
          </p:nvPr>
        </p:nvSpPr>
        <p:spPr/>
        <p:txBody>
          <a:bodyPr/>
          <a:lstStyle/>
          <a:p>
            <a:pPr algn="l"/>
            <a:r>
              <a:rPr lang="en-US" b="0" i="0" u="sng" dirty="0">
                <a:solidFill>
                  <a:srgbClr val="222222"/>
                </a:solidFill>
                <a:effectLst/>
                <a:latin typeface="Lato" panose="020F0502020204030203" pitchFamily="34" charset="0"/>
              </a:rPr>
              <a:t>Complete</a:t>
            </a:r>
            <a:r>
              <a:rPr lang="en-US" b="0" i="0" dirty="0">
                <a:solidFill>
                  <a:srgbClr val="222222"/>
                </a:solidFill>
                <a:effectLst/>
                <a:latin typeface="Lato" panose="020F0502020204030203" pitchFamily="34" charset="0"/>
              </a:rPr>
              <a:t>: Yes (if b is finite and costs are stepped costs are zero)</a:t>
            </a:r>
          </a:p>
          <a:p>
            <a:pPr marL="0" indent="0" algn="l">
              <a:buNone/>
            </a:pPr>
            <a:endParaRPr lang="en-US" b="0" i="0" dirty="0">
              <a:solidFill>
                <a:srgbClr val="222222"/>
              </a:solidFill>
              <a:effectLst/>
              <a:latin typeface="Lato" panose="020F0502020204030203" pitchFamily="34" charset="0"/>
            </a:endParaRPr>
          </a:p>
          <a:p>
            <a:pPr algn="l"/>
            <a:r>
              <a:rPr lang="en-US" b="0" i="0" u="sng" dirty="0">
                <a:solidFill>
                  <a:srgbClr val="222222"/>
                </a:solidFill>
                <a:effectLst/>
                <a:latin typeface="Lato" panose="020F0502020204030203" pitchFamily="34" charset="0"/>
              </a:rPr>
              <a:t>Time Complexity</a:t>
            </a:r>
            <a:r>
              <a:rPr lang="en-US" b="0" i="0" dirty="0">
                <a:solidFill>
                  <a:srgbClr val="222222"/>
                </a:solidFill>
                <a:effectLst/>
                <a:latin typeface="Lato" panose="020F0502020204030203" pitchFamily="34" charset="0"/>
              </a:rPr>
              <a:t>: O(b</a:t>
            </a:r>
            <a:r>
              <a:rPr lang="en-US" b="0" i="0" baseline="30000" dirty="0">
                <a:solidFill>
                  <a:srgbClr val="222222"/>
                </a:solidFill>
                <a:effectLst/>
                <a:latin typeface="Lato" panose="020F0502020204030203" pitchFamily="34" charset="0"/>
              </a:rPr>
              <a:t>(c/</a:t>
            </a:r>
            <a:r>
              <a:rPr lang="en-US" b="1" i="0" baseline="30000" dirty="0">
                <a:solidFill>
                  <a:srgbClr val="222222"/>
                </a:solidFill>
                <a:effectLst/>
                <a:latin typeface="Lato" panose="020F0502020204030203" pitchFamily="34" charset="0"/>
              </a:rPr>
              <a:t>ϵ</a:t>
            </a:r>
            <a:r>
              <a:rPr lang="en-US" b="0" i="0" baseline="30000" dirty="0">
                <a:solidFill>
                  <a:srgbClr val="222222"/>
                </a:solidFill>
                <a:effectLst/>
                <a:latin typeface="Lato" panose="020F0502020204030203" pitchFamily="34" charset="0"/>
              </a:rPr>
              <a:t>)</a:t>
            </a:r>
            <a:r>
              <a:rPr lang="en-US" b="0" i="0" dirty="0">
                <a:solidFill>
                  <a:srgbClr val="222222"/>
                </a:solidFill>
                <a:effectLst/>
                <a:latin typeface="Lato" panose="020F0502020204030203" pitchFamily="34" charset="0"/>
              </a:rPr>
              <a:t>)   where, </a:t>
            </a:r>
            <a:r>
              <a:rPr lang="en-US" b="1" i="0" dirty="0">
                <a:solidFill>
                  <a:srgbClr val="222222"/>
                </a:solidFill>
                <a:effectLst/>
                <a:latin typeface="Lato" panose="020F0502020204030203" pitchFamily="34" charset="0"/>
              </a:rPr>
              <a:t>ϵ -&gt; is the lowest cost, c -&gt; optimal cost</a:t>
            </a:r>
          </a:p>
          <a:p>
            <a:pPr marL="0" indent="0" algn="l">
              <a:buNone/>
            </a:pPr>
            <a:endParaRPr lang="en-US" b="0" i="0" dirty="0">
              <a:solidFill>
                <a:srgbClr val="222222"/>
              </a:solidFill>
              <a:effectLst/>
              <a:latin typeface="Lato" panose="020F0502020204030203" pitchFamily="34" charset="0"/>
            </a:endParaRPr>
          </a:p>
          <a:p>
            <a:pPr algn="l"/>
            <a:r>
              <a:rPr lang="en-US" b="0" i="0" u="sng" dirty="0">
                <a:solidFill>
                  <a:srgbClr val="222222"/>
                </a:solidFill>
                <a:effectLst/>
                <a:latin typeface="Lato" panose="020F0502020204030203" pitchFamily="34" charset="0"/>
              </a:rPr>
              <a:t>Space complexity</a:t>
            </a:r>
            <a:r>
              <a:rPr lang="en-US" b="0" i="0" dirty="0">
                <a:solidFill>
                  <a:srgbClr val="222222"/>
                </a:solidFill>
                <a:effectLst/>
                <a:latin typeface="Lato" panose="020F0502020204030203" pitchFamily="34" charset="0"/>
              </a:rPr>
              <a:t>: O(b</a:t>
            </a:r>
            <a:r>
              <a:rPr lang="en-US" b="0" i="0" baseline="30000" dirty="0">
                <a:solidFill>
                  <a:srgbClr val="222222"/>
                </a:solidFill>
                <a:effectLst/>
                <a:latin typeface="Lato" panose="020F0502020204030203" pitchFamily="34" charset="0"/>
              </a:rPr>
              <a:t>(c/</a:t>
            </a:r>
            <a:r>
              <a:rPr lang="en-US" b="1" i="0" baseline="30000" dirty="0">
                <a:solidFill>
                  <a:srgbClr val="222222"/>
                </a:solidFill>
                <a:effectLst/>
                <a:latin typeface="Lato" panose="020F0502020204030203" pitchFamily="34" charset="0"/>
              </a:rPr>
              <a:t>ϵ</a:t>
            </a:r>
            <a:r>
              <a:rPr lang="en-US" b="0" i="0" baseline="30000" dirty="0">
                <a:solidFill>
                  <a:srgbClr val="222222"/>
                </a:solidFill>
                <a:effectLst/>
                <a:latin typeface="Lato" panose="020F0502020204030203" pitchFamily="34" charset="0"/>
              </a:rPr>
              <a:t>)</a:t>
            </a:r>
            <a:r>
              <a:rPr lang="en-US" b="0" i="0" dirty="0">
                <a:solidFill>
                  <a:srgbClr val="222222"/>
                </a:solidFill>
                <a:effectLst/>
                <a:latin typeface="Lato" panose="020F0502020204030203" pitchFamily="34" charset="0"/>
              </a:rPr>
              <a:t>)</a:t>
            </a:r>
          </a:p>
          <a:p>
            <a:pPr marL="0" indent="0" algn="l">
              <a:buNone/>
            </a:pPr>
            <a:endParaRPr lang="en-US" b="0" i="0" dirty="0">
              <a:solidFill>
                <a:srgbClr val="222222"/>
              </a:solidFill>
              <a:effectLst/>
              <a:latin typeface="Lato" panose="020F0502020204030203" pitchFamily="34" charset="0"/>
            </a:endParaRPr>
          </a:p>
          <a:p>
            <a:pPr algn="l"/>
            <a:r>
              <a:rPr lang="en-US" b="0" i="0" u="sng" dirty="0">
                <a:solidFill>
                  <a:srgbClr val="222222"/>
                </a:solidFill>
                <a:effectLst/>
                <a:latin typeface="Lato" panose="020F0502020204030203" pitchFamily="34" charset="0"/>
              </a:rPr>
              <a:t>Optimal</a:t>
            </a:r>
            <a:r>
              <a:rPr lang="en-US" b="0" i="0" dirty="0">
                <a:solidFill>
                  <a:srgbClr val="222222"/>
                </a:solidFill>
                <a:effectLst/>
                <a:latin typeface="Lato" panose="020F0502020204030203" pitchFamily="34" charset="0"/>
              </a:rPr>
              <a:t>: Yes (even for non-even cost)</a:t>
            </a:r>
          </a:p>
          <a:p>
            <a:endParaRPr lang="en-IN" dirty="0"/>
          </a:p>
        </p:txBody>
      </p:sp>
    </p:spTree>
    <p:extLst>
      <p:ext uri="{BB962C8B-B14F-4D97-AF65-F5344CB8AC3E}">
        <p14:creationId xmlns:p14="http://schemas.microsoft.com/office/powerpoint/2010/main" val="42619949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EAD12-DD96-DD28-A4F4-94AB41B0FC7D}"/>
              </a:ext>
            </a:extLst>
          </p:cNvPr>
          <p:cNvSpPr>
            <a:spLocks noGrp="1"/>
          </p:cNvSpPr>
          <p:nvPr>
            <p:ph type="title"/>
          </p:nvPr>
        </p:nvSpPr>
        <p:spPr/>
        <p:txBody>
          <a:bodyPr/>
          <a:lstStyle/>
          <a:p>
            <a:r>
              <a:rPr lang="en-IN" b="0" i="0" dirty="0">
                <a:solidFill>
                  <a:srgbClr val="222222"/>
                </a:solidFill>
                <a:effectLst/>
                <a:latin typeface="Lato" panose="020F0502020204030203" pitchFamily="34" charset="0"/>
              </a:rPr>
              <a:t>Depth Limited Search(DLS)</a:t>
            </a:r>
            <a:br>
              <a:rPr lang="en-IN" b="0" i="0" dirty="0">
                <a:solidFill>
                  <a:srgbClr val="222222"/>
                </a:solidFill>
                <a:effectLst/>
                <a:latin typeface="Lato" panose="020F0502020204030203" pitchFamily="34" charset="0"/>
              </a:rPr>
            </a:br>
            <a:endParaRPr lang="en-IN" dirty="0"/>
          </a:p>
        </p:txBody>
      </p:sp>
      <p:pic>
        <p:nvPicPr>
          <p:cNvPr id="5" name="Content Placeholder 4">
            <a:extLst>
              <a:ext uri="{FF2B5EF4-FFF2-40B4-BE49-F238E27FC236}">
                <a16:creationId xmlns:a16="http://schemas.microsoft.com/office/drawing/2014/main" id="{80BA9E22-E087-9D46-2F96-661682219E42}"/>
              </a:ext>
            </a:extLst>
          </p:cNvPr>
          <p:cNvPicPr>
            <a:picLocks noGrp="1" noChangeAspect="1"/>
          </p:cNvPicPr>
          <p:nvPr>
            <p:ph idx="1"/>
          </p:nvPr>
        </p:nvPicPr>
        <p:blipFill>
          <a:blip r:embed="rId2"/>
          <a:stretch>
            <a:fillRect/>
          </a:stretch>
        </p:blipFill>
        <p:spPr>
          <a:xfrm>
            <a:off x="2548582" y="2778178"/>
            <a:ext cx="7094835" cy="2446232"/>
          </a:xfrm>
        </p:spPr>
      </p:pic>
    </p:spTree>
    <p:extLst>
      <p:ext uri="{BB962C8B-B14F-4D97-AF65-F5344CB8AC3E}">
        <p14:creationId xmlns:p14="http://schemas.microsoft.com/office/powerpoint/2010/main" val="28418450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EAD12-DD96-DD28-A4F4-94AB41B0FC7D}"/>
              </a:ext>
            </a:extLst>
          </p:cNvPr>
          <p:cNvSpPr>
            <a:spLocks noGrp="1"/>
          </p:cNvSpPr>
          <p:nvPr>
            <p:ph type="title"/>
          </p:nvPr>
        </p:nvSpPr>
        <p:spPr/>
        <p:txBody>
          <a:bodyPr>
            <a:normAutofit fontScale="90000"/>
          </a:bodyPr>
          <a:lstStyle/>
          <a:p>
            <a:r>
              <a:rPr lang="en-US" b="0" i="0" dirty="0">
                <a:solidFill>
                  <a:srgbClr val="222222"/>
                </a:solidFill>
                <a:effectLst/>
                <a:latin typeface="Lato" panose="020F0502020204030203" pitchFamily="34" charset="0"/>
              </a:rPr>
              <a:t>Depth-limited search can be halted in two cases:</a:t>
            </a:r>
            <a:br>
              <a:rPr lang="en-US" b="0" i="0" dirty="0">
                <a:solidFill>
                  <a:srgbClr val="222222"/>
                </a:solidFill>
                <a:effectLst/>
                <a:latin typeface="Lato" panose="020F0502020204030203" pitchFamily="34" charset="0"/>
              </a:rPr>
            </a:br>
            <a:endParaRPr lang="en-IN" dirty="0"/>
          </a:p>
        </p:txBody>
      </p:sp>
      <p:sp>
        <p:nvSpPr>
          <p:cNvPr id="3" name="Content Placeholder 2">
            <a:extLst>
              <a:ext uri="{FF2B5EF4-FFF2-40B4-BE49-F238E27FC236}">
                <a16:creationId xmlns:a16="http://schemas.microsoft.com/office/drawing/2014/main" id="{D53F1E33-48AA-CE7D-93CD-3E012CB1EE87}"/>
              </a:ext>
            </a:extLst>
          </p:cNvPr>
          <p:cNvSpPr>
            <a:spLocks noGrp="1"/>
          </p:cNvSpPr>
          <p:nvPr>
            <p:ph idx="1"/>
          </p:nvPr>
        </p:nvSpPr>
        <p:spPr/>
        <p:txBody>
          <a:bodyPr/>
          <a:lstStyle/>
          <a:p>
            <a:pPr algn="l"/>
            <a:r>
              <a:rPr lang="en-US" b="0" i="0" dirty="0">
                <a:solidFill>
                  <a:srgbClr val="222222"/>
                </a:solidFill>
                <a:effectLst/>
                <a:latin typeface="Lato" panose="020F0502020204030203" pitchFamily="34" charset="0"/>
              </a:rPr>
              <a:t> — </a:t>
            </a:r>
            <a:r>
              <a:rPr lang="en-US" b="0" i="0" u="sng" dirty="0">
                <a:solidFill>
                  <a:srgbClr val="222222"/>
                </a:solidFill>
                <a:effectLst/>
                <a:latin typeface="Lato" panose="020F0502020204030203" pitchFamily="34" charset="0"/>
              </a:rPr>
              <a:t>Standard Failure Value(SFV)</a:t>
            </a:r>
            <a:r>
              <a:rPr lang="en-US" b="0" i="0" dirty="0">
                <a:solidFill>
                  <a:srgbClr val="222222"/>
                </a:solidFill>
                <a:effectLst/>
                <a:latin typeface="Lato" panose="020F0502020204030203" pitchFamily="34" charset="0"/>
              </a:rPr>
              <a:t>: The SFV tells that there is no solution to the problem.</a:t>
            </a:r>
          </a:p>
          <a:p>
            <a:pPr algn="l"/>
            <a:r>
              <a:rPr lang="en-US" b="0" i="0" dirty="0">
                <a:solidFill>
                  <a:srgbClr val="222222"/>
                </a:solidFill>
                <a:effectLst/>
                <a:latin typeface="Lato" panose="020F0502020204030203" pitchFamily="34" charset="0"/>
              </a:rPr>
              <a:t>— </a:t>
            </a:r>
            <a:r>
              <a:rPr lang="en-US" b="0" i="0" u="sng" dirty="0">
                <a:solidFill>
                  <a:srgbClr val="222222"/>
                </a:solidFill>
                <a:effectLst/>
                <a:latin typeface="Lato" panose="020F0502020204030203" pitchFamily="34" charset="0"/>
              </a:rPr>
              <a:t>Cutoff Failure Value(CFV)</a:t>
            </a:r>
            <a:r>
              <a:rPr lang="en-US" b="0" i="0" dirty="0">
                <a:solidFill>
                  <a:srgbClr val="222222"/>
                </a:solidFill>
                <a:effectLst/>
                <a:latin typeface="Lato" panose="020F0502020204030203" pitchFamily="34" charset="0"/>
              </a:rPr>
              <a:t>: The Cutoff Failure Value tells that there is no solution within the given depth-limit.</a:t>
            </a:r>
          </a:p>
          <a:p>
            <a:endParaRPr lang="en-IN" dirty="0"/>
          </a:p>
        </p:txBody>
      </p:sp>
    </p:spTree>
    <p:extLst>
      <p:ext uri="{BB962C8B-B14F-4D97-AF65-F5344CB8AC3E}">
        <p14:creationId xmlns:p14="http://schemas.microsoft.com/office/powerpoint/2010/main" val="22286721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EAD12-DD96-DD28-A4F4-94AB41B0FC7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53F1E33-48AA-CE7D-93CD-3E012CB1EE87}"/>
              </a:ext>
            </a:extLst>
          </p:cNvPr>
          <p:cNvSpPr>
            <a:spLocks noGrp="1"/>
          </p:cNvSpPr>
          <p:nvPr>
            <p:ph idx="1"/>
          </p:nvPr>
        </p:nvSpPr>
        <p:spPr/>
        <p:txBody>
          <a:bodyPr/>
          <a:lstStyle/>
          <a:p>
            <a:r>
              <a:rPr lang="en-US" b="0" i="0" dirty="0">
                <a:solidFill>
                  <a:srgbClr val="222222"/>
                </a:solidFill>
                <a:effectLst/>
                <a:latin typeface="Lato" panose="020F0502020204030203" pitchFamily="34" charset="0"/>
              </a:rPr>
              <a:t> A is at Limit = 0, followed by nodes B, C, D, and E at Limit = 1 and nodes F, G, and H at Limit = 2. Our start state is considered to be node A and our goal state is node H. </a:t>
            </a:r>
          </a:p>
          <a:p>
            <a:r>
              <a:rPr lang="en-US" b="0" i="0" dirty="0">
                <a:solidFill>
                  <a:srgbClr val="222222"/>
                </a:solidFill>
                <a:effectLst/>
                <a:latin typeface="Lato" panose="020F0502020204030203" pitchFamily="34" charset="0"/>
              </a:rPr>
              <a:t>To reach node H  apply DLS.</a:t>
            </a:r>
          </a:p>
          <a:p>
            <a:r>
              <a:rPr lang="en-US" b="0" i="0" dirty="0">
                <a:solidFill>
                  <a:srgbClr val="222222"/>
                </a:solidFill>
                <a:effectLst/>
                <a:latin typeface="Lato" panose="020F0502020204030203" pitchFamily="34" charset="0"/>
              </a:rPr>
              <a:t>set limit to 0 and search for the goal.</a:t>
            </a:r>
            <a:endParaRPr lang="en-IN" dirty="0"/>
          </a:p>
        </p:txBody>
      </p:sp>
    </p:spTree>
    <p:extLst>
      <p:ext uri="{BB962C8B-B14F-4D97-AF65-F5344CB8AC3E}">
        <p14:creationId xmlns:p14="http://schemas.microsoft.com/office/powerpoint/2010/main" val="16682797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68DD5C7-DCDA-F7F3-3432-542493A6C3B5}"/>
              </a:ext>
            </a:extLst>
          </p:cNvPr>
          <p:cNvPicPr>
            <a:picLocks noGrp="1" noChangeAspect="1"/>
          </p:cNvPicPr>
          <p:nvPr>
            <p:ph idx="1"/>
          </p:nvPr>
        </p:nvPicPr>
        <p:blipFill>
          <a:blip r:embed="rId2"/>
          <a:stretch>
            <a:fillRect/>
          </a:stretch>
        </p:blipFill>
        <p:spPr>
          <a:xfrm>
            <a:off x="3493544" y="2492403"/>
            <a:ext cx="5204911" cy="3017782"/>
          </a:xfrm>
        </p:spPr>
      </p:pic>
    </p:spTree>
    <p:extLst>
      <p:ext uri="{BB962C8B-B14F-4D97-AF65-F5344CB8AC3E}">
        <p14:creationId xmlns:p14="http://schemas.microsoft.com/office/powerpoint/2010/main" val="34540381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DCDC97-75C1-DB88-2E77-C244323885C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1D69103-6F50-6FA4-A22E-5D95FB84D607}"/>
              </a:ext>
            </a:extLst>
          </p:cNvPr>
          <p:cNvSpPr>
            <a:spLocks noGrp="1"/>
          </p:cNvSpPr>
          <p:nvPr>
            <p:ph idx="1"/>
          </p:nvPr>
        </p:nvSpPr>
        <p:spPr/>
        <p:txBody>
          <a:bodyPr>
            <a:normAutofit fontScale="70000" lnSpcReduction="20000"/>
          </a:bodyPr>
          <a:lstStyle/>
          <a:p>
            <a:pPr algn="l"/>
            <a:r>
              <a:rPr lang="en-US" b="0" i="0" dirty="0">
                <a:solidFill>
                  <a:srgbClr val="222222"/>
                </a:solidFill>
                <a:effectLst/>
                <a:latin typeface="Lato" panose="020F0502020204030203" pitchFamily="34" charset="0"/>
              </a:rPr>
              <a:t>Depth-limited search can be terminated with two Conditions of failure:</a:t>
            </a:r>
          </a:p>
          <a:p>
            <a:pPr algn="l"/>
            <a:r>
              <a:rPr lang="en-US" b="0" i="0" u="sng" dirty="0">
                <a:solidFill>
                  <a:srgbClr val="222222"/>
                </a:solidFill>
                <a:effectLst/>
                <a:latin typeface="Lato" panose="020F0502020204030203" pitchFamily="34" charset="0"/>
              </a:rPr>
              <a:t>Standard Failure</a:t>
            </a:r>
            <a:r>
              <a:rPr lang="en-US" b="0" i="0" dirty="0">
                <a:solidFill>
                  <a:srgbClr val="222222"/>
                </a:solidFill>
                <a:effectLst/>
                <a:latin typeface="Lato" panose="020F0502020204030203" pitchFamily="34" charset="0"/>
              </a:rPr>
              <a:t>: it indicates that the problem does not have any solutions.</a:t>
            </a:r>
          </a:p>
          <a:p>
            <a:pPr algn="l"/>
            <a:r>
              <a:rPr lang="en-US" b="0" i="0" u="sng" dirty="0">
                <a:solidFill>
                  <a:srgbClr val="222222"/>
                </a:solidFill>
                <a:effectLst/>
                <a:latin typeface="Lato" panose="020F0502020204030203" pitchFamily="34" charset="0"/>
              </a:rPr>
              <a:t>Cutoff Failure Value</a:t>
            </a:r>
            <a:r>
              <a:rPr lang="en-US" b="0" i="0" dirty="0">
                <a:solidFill>
                  <a:srgbClr val="222222"/>
                </a:solidFill>
                <a:effectLst/>
                <a:latin typeface="Lato" panose="020F0502020204030203" pitchFamily="34" charset="0"/>
              </a:rPr>
              <a:t>: It defines no solution for the problem within a given depth limit.</a:t>
            </a:r>
          </a:p>
          <a:p>
            <a:pPr algn="l"/>
            <a:r>
              <a:rPr lang="en-US" b="1" i="0" dirty="0">
                <a:solidFill>
                  <a:srgbClr val="222222"/>
                </a:solidFill>
                <a:effectLst/>
                <a:latin typeface="Lato" panose="020F0502020204030203" pitchFamily="34" charset="0"/>
              </a:rPr>
              <a:t>Advantages:</a:t>
            </a:r>
            <a:endParaRPr lang="en-US" b="0" i="0" dirty="0">
              <a:solidFill>
                <a:srgbClr val="222222"/>
              </a:solidFill>
              <a:effectLst/>
              <a:latin typeface="Lato" panose="020F0502020204030203" pitchFamily="34" charset="0"/>
            </a:endParaRPr>
          </a:p>
          <a:p>
            <a:pPr algn="l"/>
            <a:r>
              <a:rPr lang="en-US" b="0" i="0" dirty="0">
                <a:solidFill>
                  <a:srgbClr val="222222"/>
                </a:solidFill>
                <a:effectLst/>
                <a:latin typeface="Lato" panose="020F0502020204030203" pitchFamily="34" charset="0"/>
              </a:rPr>
              <a:t>Depth-limited search is Memory efficient.</a:t>
            </a:r>
          </a:p>
          <a:p>
            <a:pPr algn="l"/>
            <a:r>
              <a:rPr lang="en-US" b="1" i="0" dirty="0">
                <a:solidFill>
                  <a:srgbClr val="222222"/>
                </a:solidFill>
                <a:effectLst/>
                <a:latin typeface="Lato" panose="020F0502020204030203" pitchFamily="34" charset="0"/>
              </a:rPr>
              <a:t>Disadvantages:</a:t>
            </a:r>
            <a:endParaRPr lang="en-US" b="0" i="0" dirty="0">
              <a:solidFill>
                <a:srgbClr val="222222"/>
              </a:solidFill>
              <a:effectLst/>
              <a:latin typeface="Lato" panose="020F0502020204030203" pitchFamily="34" charset="0"/>
            </a:endParaRPr>
          </a:p>
          <a:p>
            <a:pPr algn="l"/>
            <a:r>
              <a:rPr lang="en-US" b="0" i="0" dirty="0">
                <a:solidFill>
                  <a:srgbClr val="222222"/>
                </a:solidFill>
                <a:effectLst/>
                <a:latin typeface="Lato" panose="020F0502020204030203" pitchFamily="34" charset="0"/>
              </a:rPr>
              <a:t>The DLS has disadvantages of completeness and is not optimal if it has more than one goal state.</a:t>
            </a:r>
          </a:p>
          <a:p>
            <a:pPr algn="l"/>
            <a:r>
              <a:rPr lang="en-US" b="0" i="0" u="sng" dirty="0">
                <a:solidFill>
                  <a:srgbClr val="222222"/>
                </a:solidFill>
                <a:effectLst/>
                <a:latin typeface="Lato" panose="020F0502020204030203" pitchFamily="34" charset="0"/>
              </a:rPr>
              <a:t>Complete</a:t>
            </a:r>
            <a:r>
              <a:rPr lang="en-US" b="0" i="0" dirty="0">
                <a:solidFill>
                  <a:srgbClr val="222222"/>
                </a:solidFill>
                <a:effectLst/>
                <a:latin typeface="Lato" panose="020F0502020204030203" pitchFamily="34" charset="0"/>
              </a:rPr>
              <a:t>: Complete (if solution &gt; depth-limit)</a:t>
            </a:r>
          </a:p>
          <a:p>
            <a:pPr algn="l"/>
            <a:r>
              <a:rPr lang="en-US" b="0" i="0" u="sng" dirty="0">
                <a:solidFill>
                  <a:srgbClr val="222222"/>
                </a:solidFill>
                <a:effectLst/>
                <a:latin typeface="Lato" panose="020F0502020204030203" pitchFamily="34" charset="0"/>
              </a:rPr>
              <a:t>Time Complexity</a:t>
            </a:r>
            <a:r>
              <a:rPr lang="en-US" b="0" i="0" dirty="0">
                <a:solidFill>
                  <a:srgbClr val="222222"/>
                </a:solidFill>
                <a:effectLst/>
                <a:latin typeface="Lato" panose="020F0502020204030203" pitchFamily="34" charset="0"/>
              </a:rPr>
              <a:t>: O(b</a:t>
            </a:r>
            <a:r>
              <a:rPr lang="en-US" b="0" i="0" baseline="30000" dirty="0">
                <a:solidFill>
                  <a:srgbClr val="222222"/>
                </a:solidFill>
                <a:effectLst/>
                <a:latin typeface="Lato" panose="020F0502020204030203" pitchFamily="34" charset="0"/>
              </a:rPr>
              <a:t>l</a:t>
            </a:r>
            <a:r>
              <a:rPr lang="en-US" b="0" i="0" dirty="0">
                <a:solidFill>
                  <a:srgbClr val="222222"/>
                </a:solidFill>
                <a:effectLst/>
                <a:latin typeface="Lato" panose="020F0502020204030203" pitchFamily="34" charset="0"/>
              </a:rPr>
              <a:t>)  where, l -&gt; depth-limit</a:t>
            </a:r>
          </a:p>
          <a:p>
            <a:pPr algn="l"/>
            <a:r>
              <a:rPr lang="en-US" b="0" i="0" u="sng" dirty="0">
                <a:solidFill>
                  <a:srgbClr val="222222"/>
                </a:solidFill>
                <a:effectLst/>
                <a:latin typeface="Lato" panose="020F0502020204030203" pitchFamily="34" charset="0"/>
              </a:rPr>
              <a:t>Space complexity</a:t>
            </a:r>
            <a:r>
              <a:rPr lang="en-US" b="0" i="0" dirty="0">
                <a:solidFill>
                  <a:srgbClr val="222222"/>
                </a:solidFill>
                <a:effectLst/>
                <a:latin typeface="Lato" panose="020F0502020204030203" pitchFamily="34" charset="0"/>
              </a:rPr>
              <a:t>: O(bl)</a:t>
            </a:r>
          </a:p>
          <a:p>
            <a:pPr algn="l"/>
            <a:r>
              <a:rPr lang="en-US" b="0" i="0" u="sng" dirty="0">
                <a:solidFill>
                  <a:srgbClr val="222222"/>
                </a:solidFill>
                <a:effectLst/>
                <a:latin typeface="Lato" panose="020F0502020204030203" pitchFamily="34" charset="0"/>
              </a:rPr>
              <a:t>Optimal</a:t>
            </a:r>
            <a:r>
              <a:rPr lang="en-US" b="0" i="0" dirty="0">
                <a:solidFill>
                  <a:srgbClr val="222222"/>
                </a:solidFill>
                <a:effectLst/>
                <a:latin typeface="Lato" panose="020F0502020204030203" pitchFamily="34" charset="0"/>
              </a:rPr>
              <a:t>: Yes (only if l &gt; d)</a:t>
            </a:r>
          </a:p>
          <a:p>
            <a:endParaRPr lang="en-IN" dirty="0"/>
          </a:p>
        </p:txBody>
      </p:sp>
    </p:spTree>
    <p:extLst>
      <p:ext uri="{BB962C8B-B14F-4D97-AF65-F5344CB8AC3E}">
        <p14:creationId xmlns:p14="http://schemas.microsoft.com/office/powerpoint/2010/main" val="40219421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B451D5-C203-FF71-DB08-E2BEB5BE1533}"/>
              </a:ext>
            </a:extLst>
          </p:cNvPr>
          <p:cNvSpPr>
            <a:spLocks noGrp="1"/>
          </p:cNvSpPr>
          <p:nvPr>
            <p:ph type="title"/>
          </p:nvPr>
        </p:nvSpPr>
        <p:spPr/>
        <p:txBody>
          <a:bodyPr>
            <a:normAutofit fontScale="90000"/>
          </a:bodyPr>
          <a:lstStyle/>
          <a:p>
            <a:r>
              <a:rPr lang="en-US" b="0" i="0" dirty="0">
                <a:solidFill>
                  <a:srgbClr val="222222"/>
                </a:solidFill>
                <a:effectLst/>
                <a:latin typeface="Lato" panose="020F0502020204030203" pitchFamily="34" charset="0"/>
              </a:rPr>
              <a:t>Iterative Deepening Depth First Search(IDDFS)</a:t>
            </a:r>
            <a:br>
              <a:rPr lang="en-US" b="0" i="0" dirty="0">
                <a:solidFill>
                  <a:srgbClr val="222222"/>
                </a:solidFill>
                <a:effectLst/>
                <a:latin typeface="Lato" panose="020F0502020204030203" pitchFamily="34" charset="0"/>
              </a:rPr>
            </a:br>
            <a:endParaRPr lang="en-IN" dirty="0"/>
          </a:p>
        </p:txBody>
      </p:sp>
      <p:sp>
        <p:nvSpPr>
          <p:cNvPr id="3" name="Content Placeholder 2">
            <a:extLst>
              <a:ext uri="{FF2B5EF4-FFF2-40B4-BE49-F238E27FC236}">
                <a16:creationId xmlns:a16="http://schemas.microsoft.com/office/drawing/2014/main" id="{2CFDABA0-E118-1A13-EDD4-69B548C3CF6D}"/>
              </a:ext>
            </a:extLst>
          </p:cNvPr>
          <p:cNvSpPr>
            <a:spLocks noGrp="1"/>
          </p:cNvSpPr>
          <p:nvPr>
            <p:ph idx="1"/>
          </p:nvPr>
        </p:nvSpPr>
        <p:spPr/>
        <p:txBody>
          <a:bodyPr/>
          <a:lstStyle/>
          <a:p>
            <a:pPr algn="l"/>
            <a:r>
              <a:rPr lang="en-US" b="0" i="0" dirty="0">
                <a:solidFill>
                  <a:srgbClr val="222222"/>
                </a:solidFill>
                <a:effectLst/>
                <a:latin typeface="Lato" panose="020F0502020204030203" pitchFamily="34" charset="0"/>
              </a:rPr>
              <a:t>It is a search algorithm that uses the combined power of the BFS and DFS Algorithm. </a:t>
            </a:r>
          </a:p>
          <a:p>
            <a:pPr algn="l"/>
            <a:r>
              <a:rPr lang="en-US" b="0" i="0" dirty="0">
                <a:solidFill>
                  <a:srgbClr val="222222"/>
                </a:solidFill>
                <a:effectLst/>
                <a:latin typeface="Lato" panose="020F0502020204030203" pitchFamily="34" charset="0"/>
              </a:rPr>
              <a:t>It is iterative in nature.</a:t>
            </a:r>
          </a:p>
          <a:p>
            <a:pPr algn="l"/>
            <a:r>
              <a:rPr lang="en-US" b="0" i="0" dirty="0">
                <a:solidFill>
                  <a:srgbClr val="222222"/>
                </a:solidFill>
                <a:effectLst/>
                <a:latin typeface="Lato" panose="020F0502020204030203" pitchFamily="34" charset="0"/>
              </a:rPr>
              <a:t> It searches for the best depth in each iteration. </a:t>
            </a:r>
          </a:p>
          <a:p>
            <a:pPr algn="l"/>
            <a:r>
              <a:rPr lang="en-US" b="0" i="0" dirty="0">
                <a:solidFill>
                  <a:srgbClr val="222222"/>
                </a:solidFill>
                <a:effectLst/>
                <a:latin typeface="Lato" panose="020F0502020204030203" pitchFamily="34" charset="0"/>
              </a:rPr>
              <a:t>It performs the Algorithm until it reaches the goal node. </a:t>
            </a:r>
          </a:p>
          <a:p>
            <a:pPr algn="l"/>
            <a:r>
              <a:rPr lang="en-US" b="0" i="0" dirty="0">
                <a:solidFill>
                  <a:srgbClr val="222222"/>
                </a:solidFill>
                <a:effectLst/>
                <a:latin typeface="Lato" panose="020F0502020204030203" pitchFamily="34" charset="0"/>
              </a:rPr>
              <a:t>The algorithm is set to search until a certain depth and the depth keeps increasing at every iteration until it reaches the goal state.</a:t>
            </a:r>
          </a:p>
          <a:p>
            <a:pPr marL="0" indent="0">
              <a:buNone/>
            </a:pPr>
            <a:br>
              <a:rPr lang="en-US" b="0" i="0" dirty="0">
                <a:solidFill>
                  <a:srgbClr val="222222"/>
                </a:solidFill>
                <a:effectLst/>
                <a:latin typeface="Lato" panose="020F0502020204030203" pitchFamily="34" charset="0"/>
              </a:rPr>
            </a:br>
            <a:endParaRPr lang="en-IN" dirty="0"/>
          </a:p>
        </p:txBody>
      </p:sp>
    </p:spTree>
    <p:extLst>
      <p:ext uri="{BB962C8B-B14F-4D97-AF65-F5344CB8AC3E}">
        <p14:creationId xmlns:p14="http://schemas.microsoft.com/office/powerpoint/2010/main" val="17545678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B451D5-C203-FF71-DB08-E2BEB5BE1533}"/>
              </a:ext>
            </a:extLst>
          </p:cNvPr>
          <p:cNvSpPr>
            <a:spLocks noGrp="1"/>
          </p:cNvSpPr>
          <p:nvPr>
            <p:ph type="title"/>
          </p:nvPr>
        </p:nvSpPr>
        <p:spPr/>
        <p:txBody>
          <a:bodyPr/>
          <a:lstStyle/>
          <a:p>
            <a:endParaRPr lang="en-IN"/>
          </a:p>
        </p:txBody>
      </p:sp>
      <p:pic>
        <p:nvPicPr>
          <p:cNvPr id="5" name="Picture 4">
            <a:extLst>
              <a:ext uri="{FF2B5EF4-FFF2-40B4-BE49-F238E27FC236}">
                <a16:creationId xmlns:a16="http://schemas.microsoft.com/office/drawing/2014/main" id="{2879DD43-4012-D8B1-DD76-6BD351E03308}"/>
              </a:ext>
            </a:extLst>
          </p:cNvPr>
          <p:cNvPicPr>
            <a:picLocks noChangeAspect="1"/>
          </p:cNvPicPr>
          <p:nvPr/>
        </p:nvPicPr>
        <p:blipFill>
          <a:blip r:embed="rId2"/>
          <a:stretch>
            <a:fillRect/>
          </a:stretch>
        </p:blipFill>
        <p:spPr>
          <a:xfrm>
            <a:off x="1188454" y="1901057"/>
            <a:ext cx="8134895" cy="3851350"/>
          </a:xfrm>
          <a:prstGeom prst="rect">
            <a:avLst/>
          </a:prstGeom>
        </p:spPr>
      </p:pic>
    </p:spTree>
    <p:extLst>
      <p:ext uri="{BB962C8B-B14F-4D97-AF65-F5344CB8AC3E}">
        <p14:creationId xmlns:p14="http://schemas.microsoft.com/office/powerpoint/2010/main" val="25593953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CFDABA0-E118-1A13-EDD4-69B548C3CF6D}"/>
              </a:ext>
            </a:extLst>
          </p:cNvPr>
          <p:cNvSpPr>
            <a:spLocks noGrp="1"/>
          </p:cNvSpPr>
          <p:nvPr>
            <p:ph idx="1"/>
          </p:nvPr>
        </p:nvSpPr>
        <p:spPr>
          <a:xfrm>
            <a:off x="505691" y="362585"/>
            <a:ext cx="11273444" cy="5847022"/>
          </a:xfrm>
        </p:spPr>
        <p:txBody>
          <a:bodyPr>
            <a:normAutofit/>
          </a:bodyPr>
          <a:lstStyle/>
          <a:p>
            <a:pPr algn="l"/>
            <a:r>
              <a:rPr lang="en-US" b="1" i="0" dirty="0">
                <a:solidFill>
                  <a:srgbClr val="222222"/>
                </a:solidFill>
                <a:effectLst/>
                <a:latin typeface="Lato" panose="020F0502020204030203" pitchFamily="34" charset="0"/>
              </a:rPr>
              <a:t>Advantages:</a:t>
            </a:r>
            <a:endParaRPr lang="en-US" b="0" i="0" dirty="0">
              <a:solidFill>
                <a:srgbClr val="222222"/>
              </a:solidFill>
              <a:effectLst/>
              <a:latin typeface="Lato" panose="020F0502020204030203" pitchFamily="34" charset="0"/>
            </a:endParaRPr>
          </a:p>
          <a:p>
            <a:pPr algn="l">
              <a:buFont typeface="Arial" panose="020B0604020202020204" pitchFamily="34" charset="0"/>
              <a:buChar char="•"/>
            </a:pPr>
            <a:r>
              <a:rPr lang="en-US" b="0" i="0" dirty="0">
                <a:solidFill>
                  <a:srgbClr val="222222"/>
                </a:solidFill>
                <a:effectLst/>
                <a:latin typeface="Lato" panose="020F0502020204030203" pitchFamily="34" charset="0"/>
              </a:rPr>
              <a:t>It combines the benefits of BFS and DFS search algorithms in terms of fast search and memory efficiency.</a:t>
            </a:r>
          </a:p>
          <a:p>
            <a:pPr algn="l"/>
            <a:r>
              <a:rPr lang="en-US" b="1" i="0" dirty="0">
                <a:solidFill>
                  <a:srgbClr val="222222"/>
                </a:solidFill>
                <a:effectLst/>
                <a:latin typeface="Lato" panose="020F0502020204030203" pitchFamily="34" charset="0"/>
              </a:rPr>
              <a:t>Disadvantages:</a:t>
            </a:r>
            <a:endParaRPr lang="en-US" b="0" i="0" dirty="0">
              <a:solidFill>
                <a:srgbClr val="222222"/>
              </a:solidFill>
              <a:effectLst/>
              <a:latin typeface="Lato" panose="020F0502020204030203" pitchFamily="34" charset="0"/>
            </a:endParaRPr>
          </a:p>
          <a:p>
            <a:pPr algn="l">
              <a:buFont typeface="Arial" panose="020B0604020202020204" pitchFamily="34" charset="0"/>
              <a:buChar char="•"/>
            </a:pPr>
            <a:r>
              <a:rPr lang="en-US" b="0" i="0" dirty="0">
                <a:solidFill>
                  <a:srgbClr val="222222"/>
                </a:solidFill>
                <a:effectLst/>
                <a:latin typeface="Lato" panose="020F0502020204030203" pitchFamily="34" charset="0"/>
              </a:rPr>
              <a:t>The main drawback of IDDFS is that it repeats all the work from the previous phase.</a:t>
            </a:r>
          </a:p>
          <a:p>
            <a:pPr algn="l"/>
            <a:r>
              <a:rPr lang="en-US" b="0" i="0" u="sng" dirty="0">
                <a:solidFill>
                  <a:srgbClr val="222222"/>
                </a:solidFill>
                <a:effectLst/>
                <a:latin typeface="Lato" panose="020F0502020204030203" pitchFamily="34" charset="0"/>
              </a:rPr>
              <a:t>Complete</a:t>
            </a:r>
            <a:r>
              <a:rPr lang="en-US" b="0" i="0" dirty="0">
                <a:solidFill>
                  <a:srgbClr val="222222"/>
                </a:solidFill>
                <a:effectLst/>
                <a:latin typeface="Lato" panose="020F0502020204030203" pitchFamily="34" charset="0"/>
              </a:rPr>
              <a:t>: Yes (by limiting the depth)</a:t>
            </a:r>
          </a:p>
          <a:p>
            <a:pPr algn="l"/>
            <a:r>
              <a:rPr lang="en-US" b="0" i="0" u="sng" dirty="0">
                <a:solidFill>
                  <a:srgbClr val="222222"/>
                </a:solidFill>
                <a:effectLst/>
                <a:latin typeface="Lato" panose="020F0502020204030203" pitchFamily="34" charset="0"/>
              </a:rPr>
              <a:t>Time Complexity</a:t>
            </a:r>
            <a:r>
              <a:rPr lang="en-US" b="0" i="0" dirty="0">
                <a:solidFill>
                  <a:srgbClr val="222222"/>
                </a:solidFill>
                <a:effectLst/>
                <a:latin typeface="Lato" panose="020F0502020204030203" pitchFamily="34" charset="0"/>
              </a:rPr>
              <a:t>: O(b</a:t>
            </a:r>
            <a:r>
              <a:rPr lang="en-US" b="0" i="0" baseline="30000" dirty="0">
                <a:solidFill>
                  <a:srgbClr val="222222"/>
                </a:solidFill>
                <a:effectLst/>
                <a:latin typeface="Lato" panose="020F0502020204030203" pitchFamily="34" charset="0"/>
              </a:rPr>
              <a:t>d</a:t>
            </a:r>
            <a:r>
              <a:rPr lang="en-US" b="0" i="0" dirty="0">
                <a:solidFill>
                  <a:srgbClr val="222222"/>
                </a:solidFill>
                <a:effectLst/>
                <a:latin typeface="Lato" panose="020F0502020204030203" pitchFamily="34" charset="0"/>
              </a:rPr>
              <a:t>)</a:t>
            </a:r>
          </a:p>
          <a:p>
            <a:pPr algn="l"/>
            <a:r>
              <a:rPr lang="en-US" b="0" i="0" u="sng" dirty="0">
                <a:solidFill>
                  <a:srgbClr val="222222"/>
                </a:solidFill>
                <a:effectLst/>
                <a:latin typeface="Lato" panose="020F0502020204030203" pitchFamily="34" charset="0"/>
              </a:rPr>
              <a:t>Space complexity</a:t>
            </a:r>
            <a:r>
              <a:rPr lang="en-US" b="0" i="0" dirty="0">
                <a:solidFill>
                  <a:srgbClr val="222222"/>
                </a:solidFill>
                <a:effectLst/>
                <a:latin typeface="Lato" panose="020F0502020204030203" pitchFamily="34" charset="0"/>
              </a:rPr>
              <a:t>: O(bd)</a:t>
            </a:r>
          </a:p>
          <a:p>
            <a:pPr algn="l"/>
            <a:r>
              <a:rPr lang="en-US" b="0" i="0" u="sng" dirty="0">
                <a:solidFill>
                  <a:srgbClr val="222222"/>
                </a:solidFill>
                <a:effectLst/>
                <a:latin typeface="Lato" panose="020F0502020204030203" pitchFamily="34" charset="0"/>
              </a:rPr>
              <a:t>Optimal</a:t>
            </a:r>
            <a:r>
              <a:rPr lang="en-US" b="0" i="0" dirty="0">
                <a:solidFill>
                  <a:srgbClr val="222222"/>
                </a:solidFill>
                <a:effectLst/>
                <a:latin typeface="Lato" panose="020F0502020204030203" pitchFamily="34" charset="0"/>
              </a:rPr>
              <a:t>: Yes (if step cost is uniform)</a:t>
            </a:r>
          </a:p>
          <a:p>
            <a:endParaRPr lang="en-IN" dirty="0"/>
          </a:p>
        </p:txBody>
      </p:sp>
    </p:spTree>
    <p:extLst>
      <p:ext uri="{BB962C8B-B14F-4D97-AF65-F5344CB8AC3E}">
        <p14:creationId xmlns:p14="http://schemas.microsoft.com/office/powerpoint/2010/main" val="4439491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B451D5-C203-FF71-DB08-E2BEB5BE1533}"/>
              </a:ext>
            </a:extLst>
          </p:cNvPr>
          <p:cNvSpPr>
            <a:spLocks noGrp="1"/>
          </p:cNvSpPr>
          <p:nvPr>
            <p:ph type="title"/>
          </p:nvPr>
        </p:nvSpPr>
        <p:spPr/>
        <p:txBody>
          <a:bodyPr/>
          <a:lstStyle/>
          <a:p>
            <a:r>
              <a:rPr lang="en-IN" b="0" i="0" dirty="0">
                <a:solidFill>
                  <a:srgbClr val="222222"/>
                </a:solidFill>
                <a:effectLst/>
                <a:latin typeface="Lato" panose="020F0502020204030203" pitchFamily="34" charset="0"/>
              </a:rPr>
              <a:t> Bidirectional Search(BS)</a:t>
            </a:r>
            <a:br>
              <a:rPr lang="en-IN" b="0" i="0" dirty="0">
                <a:solidFill>
                  <a:srgbClr val="222222"/>
                </a:solidFill>
                <a:effectLst/>
                <a:latin typeface="Lato" panose="020F0502020204030203" pitchFamily="34" charset="0"/>
              </a:rPr>
            </a:br>
            <a:endParaRPr lang="en-IN" dirty="0"/>
          </a:p>
        </p:txBody>
      </p:sp>
      <p:sp>
        <p:nvSpPr>
          <p:cNvPr id="3" name="Content Placeholder 2">
            <a:extLst>
              <a:ext uri="{FF2B5EF4-FFF2-40B4-BE49-F238E27FC236}">
                <a16:creationId xmlns:a16="http://schemas.microsoft.com/office/drawing/2014/main" id="{2CFDABA0-E118-1A13-EDD4-69B548C3CF6D}"/>
              </a:ext>
            </a:extLst>
          </p:cNvPr>
          <p:cNvSpPr>
            <a:spLocks noGrp="1"/>
          </p:cNvSpPr>
          <p:nvPr>
            <p:ph idx="1"/>
          </p:nvPr>
        </p:nvSpPr>
        <p:spPr/>
        <p:txBody>
          <a:bodyPr/>
          <a:lstStyle/>
          <a:p>
            <a:pPr algn="l"/>
            <a:r>
              <a:rPr lang="en-US" b="0" i="0" u="sng" dirty="0">
                <a:solidFill>
                  <a:srgbClr val="222222"/>
                </a:solidFill>
                <a:effectLst/>
                <a:latin typeface="Lato" panose="020F0502020204030203" pitchFamily="34" charset="0"/>
              </a:rPr>
              <a:t>Forward Search</a:t>
            </a:r>
            <a:r>
              <a:rPr lang="en-US" b="0" i="0" dirty="0">
                <a:solidFill>
                  <a:srgbClr val="222222"/>
                </a:solidFill>
                <a:effectLst/>
                <a:latin typeface="Lato" panose="020F0502020204030203" pitchFamily="34" charset="0"/>
              </a:rPr>
              <a:t>: Looking in-front of the end from start.</a:t>
            </a:r>
          </a:p>
          <a:p>
            <a:pPr algn="l"/>
            <a:r>
              <a:rPr lang="en-US" b="0" i="0" u="sng" dirty="0">
                <a:solidFill>
                  <a:srgbClr val="222222"/>
                </a:solidFill>
                <a:effectLst/>
                <a:latin typeface="Lato" panose="020F0502020204030203" pitchFamily="34" charset="0"/>
              </a:rPr>
              <a:t>Backward Search</a:t>
            </a:r>
            <a:r>
              <a:rPr lang="en-US" b="0" i="0" dirty="0">
                <a:solidFill>
                  <a:srgbClr val="222222"/>
                </a:solidFill>
                <a:effectLst/>
                <a:latin typeface="Lato" panose="020F0502020204030203" pitchFamily="34" charset="0"/>
              </a:rPr>
              <a:t>: Looking from end to the start back-wards.</a:t>
            </a:r>
          </a:p>
          <a:p>
            <a:endParaRPr lang="en-IN" dirty="0"/>
          </a:p>
        </p:txBody>
      </p:sp>
    </p:spTree>
    <p:extLst>
      <p:ext uri="{BB962C8B-B14F-4D97-AF65-F5344CB8AC3E}">
        <p14:creationId xmlns:p14="http://schemas.microsoft.com/office/powerpoint/2010/main" val="19776570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CFDABA0-E118-1A13-EDD4-69B548C3CF6D}"/>
              </a:ext>
            </a:extLst>
          </p:cNvPr>
          <p:cNvSpPr>
            <a:spLocks noGrp="1"/>
          </p:cNvSpPr>
          <p:nvPr>
            <p:ph idx="1"/>
          </p:nvPr>
        </p:nvSpPr>
        <p:spPr>
          <a:xfrm>
            <a:off x="364374" y="379211"/>
            <a:ext cx="11389821" cy="6013276"/>
          </a:xfrm>
        </p:spPr>
        <p:txBody>
          <a:bodyPr/>
          <a:lstStyle/>
          <a:p>
            <a:r>
              <a:rPr lang="en-US" b="0" i="0" dirty="0">
                <a:solidFill>
                  <a:srgbClr val="222222"/>
                </a:solidFill>
                <a:effectLst/>
                <a:latin typeface="Lato" panose="020F0502020204030203" pitchFamily="34" charset="0"/>
              </a:rPr>
              <a:t>Bidirectional Search as the name suggests is a combination of forwarding and backward search. </a:t>
            </a:r>
          </a:p>
          <a:p>
            <a:r>
              <a:rPr lang="en-US" b="0" i="0" dirty="0">
                <a:solidFill>
                  <a:srgbClr val="222222"/>
                </a:solidFill>
                <a:effectLst/>
                <a:latin typeface="Lato" panose="020F0502020204030203" pitchFamily="34" charset="0"/>
              </a:rPr>
              <a:t>Basically, if the average branching factor going out of node / fan-out, if fan-out is less, prefer forward search. </a:t>
            </a:r>
          </a:p>
          <a:p>
            <a:r>
              <a:rPr lang="en-US" b="0" i="0" dirty="0">
                <a:solidFill>
                  <a:srgbClr val="222222"/>
                </a:solidFill>
                <a:effectLst/>
                <a:latin typeface="Lato" panose="020F0502020204030203" pitchFamily="34" charset="0"/>
              </a:rPr>
              <a:t>Else if the average branching factor is going into a node/fan in is less(i.e. fan-out is more), prefer backward search.</a:t>
            </a:r>
          </a:p>
          <a:p>
            <a:r>
              <a:rPr lang="en-US" b="0" i="0" dirty="0">
                <a:solidFill>
                  <a:srgbClr val="222222"/>
                </a:solidFill>
                <a:effectLst/>
                <a:latin typeface="Lato" panose="020F0502020204030203" pitchFamily="34" charset="0"/>
              </a:rPr>
              <a:t> We must traverse the tree from the start node and the goal node and wherever they meet the path from the start node to the goal through the intersection is the optimal solution. </a:t>
            </a:r>
          </a:p>
          <a:p>
            <a:r>
              <a:rPr lang="en-US" b="0" i="0" dirty="0">
                <a:solidFill>
                  <a:srgbClr val="222222"/>
                </a:solidFill>
                <a:effectLst/>
                <a:latin typeface="Lato" panose="020F0502020204030203" pitchFamily="34" charset="0"/>
              </a:rPr>
              <a:t>The BS Algorithm is applicable when generating predecessors is easy in both forward and backward directions and there exist only 1 or fewer goal states.</a:t>
            </a:r>
            <a:endParaRPr lang="en-IN" dirty="0"/>
          </a:p>
        </p:txBody>
      </p:sp>
    </p:spTree>
    <p:extLst>
      <p:ext uri="{BB962C8B-B14F-4D97-AF65-F5344CB8AC3E}">
        <p14:creationId xmlns:p14="http://schemas.microsoft.com/office/powerpoint/2010/main" val="32534463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CFDABA0-E118-1A13-EDD4-69B548C3CF6D}"/>
              </a:ext>
            </a:extLst>
          </p:cNvPr>
          <p:cNvSpPr>
            <a:spLocks noGrp="1"/>
          </p:cNvSpPr>
          <p:nvPr>
            <p:ph idx="1"/>
          </p:nvPr>
        </p:nvSpPr>
        <p:spPr>
          <a:xfrm>
            <a:off x="714895" y="996258"/>
            <a:ext cx="11112731" cy="4865483"/>
          </a:xfrm>
        </p:spPr>
        <p:txBody>
          <a:bodyPr>
            <a:normAutofit lnSpcReduction="10000"/>
          </a:bodyPr>
          <a:lstStyle/>
          <a:p>
            <a:r>
              <a:rPr lang="en-IN" dirty="0"/>
              <a:t>Root node</a:t>
            </a:r>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pPr lvl="8"/>
            <a:r>
              <a:rPr lang="en-IN" dirty="0"/>
              <a:t>                                                                                                 Goal Node</a:t>
            </a:r>
          </a:p>
        </p:txBody>
      </p:sp>
      <p:pic>
        <p:nvPicPr>
          <p:cNvPr id="5" name="Picture 4">
            <a:extLst>
              <a:ext uri="{FF2B5EF4-FFF2-40B4-BE49-F238E27FC236}">
                <a16:creationId xmlns:a16="http://schemas.microsoft.com/office/drawing/2014/main" id="{112F2F74-31AE-0345-BD09-C5E80FCB7912}"/>
              </a:ext>
            </a:extLst>
          </p:cNvPr>
          <p:cNvPicPr>
            <a:picLocks noChangeAspect="1"/>
          </p:cNvPicPr>
          <p:nvPr/>
        </p:nvPicPr>
        <p:blipFill>
          <a:blip r:embed="rId2"/>
          <a:stretch>
            <a:fillRect/>
          </a:stretch>
        </p:blipFill>
        <p:spPr>
          <a:xfrm>
            <a:off x="2502858" y="1062785"/>
            <a:ext cx="7186283" cy="4732430"/>
          </a:xfrm>
          <a:prstGeom prst="rect">
            <a:avLst/>
          </a:prstGeom>
        </p:spPr>
      </p:pic>
    </p:spTree>
    <p:extLst>
      <p:ext uri="{BB962C8B-B14F-4D97-AF65-F5344CB8AC3E}">
        <p14:creationId xmlns:p14="http://schemas.microsoft.com/office/powerpoint/2010/main" val="32210076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CFDABA0-E118-1A13-EDD4-69B548C3CF6D}"/>
              </a:ext>
            </a:extLst>
          </p:cNvPr>
          <p:cNvSpPr>
            <a:spLocks noGrp="1"/>
          </p:cNvSpPr>
          <p:nvPr>
            <p:ph idx="1"/>
          </p:nvPr>
        </p:nvSpPr>
        <p:spPr>
          <a:xfrm>
            <a:off x="405938" y="503901"/>
            <a:ext cx="11439697" cy="5680768"/>
          </a:xfrm>
        </p:spPr>
        <p:txBody>
          <a:bodyPr>
            <a:normAutofit fontScale="92500" lnSpcReduction="10000"/>
          </a:bodyPr>
          <a:lstStyle/>
          <a:p>
            <a:pPr algn="l"/>
            <a:r>
              <a:rPr lang="en-US" b="1" i="0" dirty="0">
                <a:solidFill>
                  <a:srgbClr val="222222"/>
                </a:solidFill>
                <a:effectLst/>
                <a:latin typeface="Lato" panose="020F0502020204030203" pitchFamily="34" charset="0"/>
              </a:rPr>
              <a:t>Advantages:</a:t>
            </a:r>
            <a:endParaRPr lang="en-US" b="0" i="0" dirty="0">
              <a:solidFill>
                <a:srgbClr val="222222"/>
              </a:solidFill>
              <a:effectLst/>
              <a:latin typeface="Lato" panose="020F0502020204030203" pitchFamily="34" charset="0"/>
            </a:endParaRPr>
          </a:p>
          <a:p>
            <a:pPr algn="l">
              <a:buFont typeface="Arial" panose="020B0604020202020204" pitchFamily="34" charset="0"/>
              <a:buChar char="•"/>
            </a:pPr>
            <a:r>
              <a:rPr lang="en-US" b="0" i="0" dirty="0">
                <a:solidFill>
                  <a:srgbClr val="222222"/>
                </a:solidFill>
                <a:effectLst/>
                <a:latin typeface="Lato" panose="020F0502020204030203" pitchFamily="34" charset="0"/>
              </a:rPr>
              <a:t>Since BS uses various techniques like DFS, BFS, DLS, </a:t>
            </a:r>
            <a:r>
              <a:rPr lang="en-US" b="0" i="0" dirty="0" err="1">
                <a:solidFill>
                  <a:srgbClr val="222222"/>
                </a:solidFill>
                <a:effectLst/>
                <a:latin typeface="Lato" panose="020F0502020204030203" pitchFamily="34" charset="0"/>
              </a:rPr>
              <a:t>etc</a:t>
            </a:r>
            <a:r>
              <a:rPr lang="en-US" b="0" i="0" dirty="0">
                <a:solidFill>
                  <a:srgbClr val="222222"/>
                </a:solidFill>
                <a:effectLst/>
                <a:latin typeface="Lato" panose="020F0502020204030203" pitchFamily="34" charset="0"/>
              </a:rPr>
              <a:t>, it is efficient and requires less memory.</a:t>
            </a:r>
          </a:p>
          <a:p>
            <a:pPr algn="l"/>
            <a:r>
              <a:rPr lang="en-US" b="1" i="0" dirty="0">
                <a:solidFill>
                  <a:srgbClr val="222222"/>
                </a:solidFill>
                <a:effectLst/>
                <a:latin typeface="Lato" panose="020F0502020204030203" pitchFamily="34" charset="0"/>
              </a:rPr>
              <a:t>Disadvantages:</a:t>
            </a:r>
            <a:endParaRPr lang="en-US" b="0" i="0" dirty="0">
              <a:solidFill>
                <a:srgbClr val="222222"/>
              </a:solidFill>
              <a:effectLst/>
              <a:latin typeface="Lato" panose="020F0502020204030203" pitchFamily="34" charset="0"/>
            </a:endParaRPr>
          </a:p>
          <a:p>
            <a:pPr algn="l">
              <a:buFont typeface="Arial" panose="020B0604020202020204" pitchFamily="34" charset="0"/>
              <a:buChar char="•"/>
            </a:pPr>
            <a:r>
              <a:rPr lang="en-US" b="0" i="0" dirty="0">
                <a:solidFill>
                  <a:srgbClr val="222222"/>
                </a:solidFill>
                <a:effectLst/>
                <a:latin typeface="Lato" panose="020F0502020204030203" pitchFamily="34" charset="0"/>
              </a:rPr>
              <a:t>Implementation of the bidirectional search tree is difficult.</a:t>
            </a:r>
          </a:p>
          <a:p>
            <a:pPr algn="l">
              <a:buFont typeface="Arial" panose="020B0604020202020204" pitchFamily="34" charset="0"/>
              <a:buChar char="•"/>
            </a:pPr>
            <a:r>
              <a:rPr lang="en-US" b="0" i="0" dirty="0">
                <a:solidFill>
                  <a:srgbClr val="222222"/>
                </a:solidFill>
                <a:effectLst/>
                <a:latin typeface="Lato" panose="020F0502020204030203" pitchFamily="34" charset="0"/>
              </a:rPr>
              <a:t>In bidirectional search, one should know the goal state in advance.</a:t>
            </a:r>
          </a:p>
          <a:p>
            <a:pPr algn="l"/>
            <a:endParaRPr lang="en-US" b="0" i="0" u="sng" dirty="0">
              <a:solidFill>
                <a:srgbClr val="222222"/>
              </a:solidFill>
              <a:effectLst/>
              <a:latin typeface="Lato" panose="020F0502020204030203" pitchFamily="34" charset="0"/>
            </a:endParaRPr>
          </a:p>
          <a:p>
            <a:pPr algn="l"/>
            <a:r>
              <a:rPr lang="en-US" b="0" i="0" u="sng" dirty="0">
                <a:solidFill>
                  <a:srgbClr val="222222"/>
                </a:solidFill>
                <a:effectLst/>
                <a:latin typeface="Lato" panose="020F0502020204030203" pitchFamily="34" charset="0"/>
              </a:rPr>
              <a:t>Complete</a:t>
            </a:r>
            <a:r>
              <a:rPr lang="en-US" b="0" i="0" dirty="0">
                <a:solidFill>
                  <a:srgbClr val="222222"/>
                </a:solidFill>
                <a:effectLst/>
                <a:latin typeface="Lato" panose="020F0502020204030203" pitchFamily="34" charset="0"/>
              </a:rPr>
              <a:t>: Yes</a:t>
            </a:r>
          </a:p>
          <a:p>
            <a:pPr marL="0" indent="0" algn="l">
              <a:buNone/>
            </a:pPr>
            <a:endParaRPr lang="en-US" b="0" i="0" dirty="0">
              <a:solidFill>
                <a:srgbClr val="222222"/>
              </a:solidFill>
              <a:effectLst/>
              <a:latin typeface="Lato" panose="020F0502020204030203" pitchFamily="34" charset="0"/>
            </a:endParaRPr>
          </a:p>
          <a:p>
            <a:pPr algn="l"/>
            <a:r>
              <a:rPr lang="en-US" b="0" i="0" u="sng" dirty="0">
                <a:solidFill>
                  <a:srgbClr val="222222"/>
                </a:solidFill>
                <a:effectLst/>
                <a:latin typeface="Lato" panose="020F0502020204030203" pitchFamily="34" charset="0"/>
              </a:rPr>
              <a:t>Time Complexity</a:t>
            </a:r>
            <a:r>
              <a:rPr lang="en-US" b="0" i="0" dirty="0">
                <a:solidFill>
                  <a:srgbClr val="222222"/>
                </a:solidFill>
                <a:effectLst/>
                <a:latin typeface="Lato" panose="020F0502020204030203" pitchFamily="34" charset="0"/>
              </a:rPr>
              <a:t>: O(b</a:t>
            </a:r>
            <a:r>
              <a:rPr lang="en-US" b="0" i="0" baseline="30000" dirty="0">
                <a:solidFill>
                  <a:srgbClr val="222222"/>
                </a:solidFill>
                <a:effectLst/>
                <a:latin typeface="Lato" panose="020F0502020204030203" pitchFamily="34" charset="0"/>
              </a:rPr>
              <a:t>d/2</a:t>
            </a:r>
            <a:r>
              <a:rPr lang="en-US" b="0" i="0" dirty="0">
                <a:solidFill>
                  <a:srgbClr val="222222"/>
                </a:solidFill>
                <a:effectLst/>
                <a:latin typeface="Lato" panose="020F0502020204030203" pitchFamily="34" charset="0"/>
              </a:rPr>
              <a:t>)</a:t>
            </a:r>
          </a:p>
          <a:p>
            <a:pPr algn="l"/>
            <a:r>
              <a:rPr lang="en-US" b="0" i="0" u="sng" dirty="0">
                <a:solidFill>
                  <a:srgbClr val="222222"/>
                </a:solidFill>
                <a:effectLst/>
                <a:latin typeface="Lato" panose="020F0502020204030203" pitchFamily="34" charset="0"/>
              </a:rPr>
              <a:t>Space complexity</a:t>
            </a:r>
            <a:r>
              <a:rPr lang="en-US" b="0" i="0" dirty="0">
                <a:solidFill>
                  <a:srgbClr val="222222"/>
                </a:solidFill>
                <a:effectLst/>
                <a:latin typeface="Lato" panose="020F0502020204030203" pitchFamily="34" charset="0"/>
              </a:rPr>
              <a:t>: O(b</a:t>
            </a:r>
            <a:r>
              <a:rPr lang="en-US" b="0" i="0" baseline="30000" dirty="0">
                <a:solidFill>
                  <a:srgbClr val="222222"/>
                </a:solidFill>
                <a:effectLst/>
                <a:latin typeface="Lato" panose="020F0502020204030203" pitchFamily="34" charset="0"/>
              </a:rPr>
              <a:t>d/2</a:t>
            </a:r>
            <a:r>
              <a:rPr lang="en-US" b="0" i="0" dirty="0">
                <a:solidFill>
                  <a:srgbClr val="222222"/>
                </a:solidFill>
                <a:effectLst/>
                <a:latin typeface="Lato" panose="020F0502020204030203" pitchFamily="34" charset="0"/>
              </a:rPr>
              <a:t>)</a:t>
            </a:r>
          </a:p>
          <a:p>
            <a:pPr algn="l"/>
            <a:r>
              <a:rPr lang="en-US" b="0" i="0" u="sng" dirty="0">
                <a:solidFill>
                  <a:srgbClr val="222222"/>
                </a:solidFill>
                <a:effectLst/>
                <a:latin typeface="Lato" panose="020F0502020204030203" pitchFamily="34" charset="0"/>
              </a:rPr>
              <a:t>Optimal</a:t>
            </a:r>
            <a:r>
              <a:rPr lang="en-US" b="0" i="0" dirty="0">
                <a:solidFill>
                  <a:srgbClr val="222222"/>
                </a:solidFill>
                <a:effectLst/>
                <a:latin typeface="Lato" panose="020F0502020204030203" pitchFamily="34" charset="0"/>
              </a:rPr>
              <a:t>: Yes (if step cost is uniform in both forward and backward directions)</a:t>
            </a:r>
          </a:p>
          <a:p>
            <a:endParaRPr lang="en-IN" dirty="0"/>
          </a:p>
        </p:txBody>
      </p:sp>
    </p:spTree>
    <p:extLst>
      <p:ext uri="{BB962C8B-B14F-4D97-AF65-F5344CB8AC3E}">
        <p14:creationId xmlns:p14="http://schemas.microsoft.com/office/powerpoint/2010/main" val="41193706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FD3FF-25E5-17D7-35F6-BFF8214C564B}"/>
              </a:ext>
            </a:extLst>
          </p:cNvPr>
          <p:cNvSpPr>
            <a:spLocks noGrp="1"/>
          </p:cNvSpPr>
          <p:nvPr>
            <p:ph type="title"/>
          </p:nvPr>
        </p:nvSpPr>
        <p:spPr/>
        <p:txBody>
          <a:bodyPr/>
          <a:lstStyle/>
          <a:p>
            <a:r>
              <a:rPr lang="en-IN" dirty="0"/>
              <a:t>What is heuristic function?</a:t>
            </a:r>
          </a:p>
        </p:txBody>
      </p:sp>
      <p:sp>
        <p:nvSpPr>
          <p:cNvPr id="3" name="Content Placeholder 2">
            <a:extLst>
              <a:ext uri="{FF2B5EF4-FFF2-40B4-BE49-F238E27FC236}">
                <a16:creationId xmlns:a16="http://schemas.microsoft.com/office/drawing/2014/main" id="{770DFE70-6CCB-BD9B-FA70-85D0D5F4B085}"/>
              </a:ext>
            </a:extLst>
          </p:cNvPr>
          <p:cNvSpPr>
            <a:spLocks noGrp="1"/>
          </p:cNvSpPr>
          <p:nvPr>
            <p:ph idx="1"/>
          </p:nvPr>
        </p:nvSpPr>
        <p:spPr/>
        <p:txBody>
          <a:bodyPr/>
          <a:lstStyle/>
          <a:p>
            <a:r>
              <a:rPr lang="en-US" b="0" i="0" dirty="0">
                <a:solidFill>
                  <a:srgbClr val="202124"/>
                </a:solidFill>
                <a:effectLst/>
                <a:latin typeface="arial" panose="020B0604020202020204" pitchFamily="34" charset="0"/>
              </a:rPr>
              <a:t>A heuristic function, also simply called a heuristic, is </a:t>
            </a:r>
            <a:r>
              <a:rPr lang="en-US" b="1" i="0" dirty="0">
                <a:solidFill>
                  <a:srgbClr val="202124"/>
                </a:solidFill>
                <a:effectLst/>
                <a:latin typeface="arial" panose="020B0604020202020204" pitchFamily="34" charset="0"/>
              </a:rPr>
              <a:t>a function that ranks alternatives in search algorithms at each branching step based on available information to decide which branch to follow</a:t>
            </a:r>
            <a:r>
              <a:rPr lang="en-US" b="0" i="0" dirty="0">
                <a:solidFill>
                  <a:srgbClr val="202124"/>
                </a:solidFill>
                <a:effectLst/>
                <a:latin typeface="arial" panose="020B0604020202020204" pitchFamily="34" charset="0"/>
              </a:rPr>
              <a:t>. For example, it may approximate the exact solution.</a:t>
            </a:r>
          </a:p>
          <a:p>
            <a:endParaRPr lang="en-US" dirty="0">
              <a:solidFill>
                <a:srgbClr val="202124"/>
              </a:solidFill>
              <a:latin typeface="arial" panose="020B0604020202020204" pitchFamily="34" charset="0"/>
            </a:endParaRPr>
          </a:p>
          <a:p>
            <a:r>
              <a:rPr lang="en-US" b="0" i="0" dirty="0">
                <a:solidFill>
                  <a:srgbClr val="202124"/>
                </a:solidFill>
                <a:effectLst/>
                <a:latin typeface="arial" panose="020B0604020202020204" pitchFamily="34" charset="0"/>
              </a:rPr>
              <a:t>Heuristic is </a:t>
            </a:r>
            <a:r>
              <a:rPr lang="en-US" b="1" i="0" dirty="0">
                <a:solidFill>
                  <a:srgbClr val="202124"/>
                </a:solidFill>
                <a:effectLst/>
                <a:latin typeface="arial" panose="020B0604020202020204" pitchFamily="34" charset="0"/>
              </a:rPr>
              <a:t>a function which is used in Informed Search, and it finds the most promising path</a:t>
            </a:r>
            <a:r>
              <a:rPr lang="en-US" b="0" i="0" dirty="0">
                <a:solidFill>
                  <a:srgbClr val="202124"/>
                </a:solidFill>
                <a:effectLst/>
                <a:latin typeface="arial" panose="020B0604020202020204" pitchFamily="34" charset="0"/>
              </a:rPr>
              <a:t>. It takes the current state of the agent as its input and produces the estimation of how close agent is from the goal.</a:t>
            </a:r>
            <a:endParaRPr lang="en-IN" dirty="0"/>
          </a:p>
        </p:txBody>
      </p:sp>
    </p:spTree>
    <p:extLst>
      <p:ext uri="{BB962C8B-B14F-4D97-AF65-F5344CB8AC3E}">
        <p14:creationId xmlns:p14="http://schemas.microsoft.com/office/powerpoint/2010/main" val="422768389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FD3FF-25E5-17D7-35F6-BFF8214C564B}"/>
              </a:ext>
            </a:extLst>
          </p:cNvPr>
          <p:cNvSpPr>
            <a:spLocks noGrp="1"/>
          </p:cNvSpPr>
          <p:nvPr>
            <p:ph type="title"/>
          </p:nvPr>
        </p:nvSpPr>
        <p:spPr/>
        <p:txBody>
          <a:bodyPr/>
          <a:lstStyle/>
          <a:p>
            <a:r>
              <a:rPr lang="en-IN" sz="1800" b="1" u="none" strike="noStrike" spc="-75" dirty="0">
                <a:solidFill>
                  <a:srgbClr val="333333"/>
                </a:solidFill>
                <a:effectLst/>
                <a:latin typeface="Segoe UI" panose="020B0502040204020203" pitchFamily="34" charset="0"/>
                <a:ea typeface="Times New Roman" panose="02020603050405020304" pitchFamily="18" charset="0"/>
                <a:hlinkClick r:id="rId2"/>
              </a:rPr>
              <a:t>Informed Search/ Heuristic Search in AI</a:t>
            </a:r>
            <a:br>
              <a:rPr lang="en-IN" sz="1800" b="1" dirty="0">
                <a:effectLst/>
                <a:latin typeface="Times New Roman" panose="02020603050405020304" pitchFamily="18" charset="0"/>
                <a:ea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770DFE70-6CCB-BD9B-FA70-85D0D5F4B085}"/>
              </a:ext>
            </a:extLst>
          </p:cNvPr>
          <p:cNvSpPr>
            <a:spLocks noGrp="1"/>
          </p:cNvSpPr>
          <p:nvPr>
            <p:ph idx="1"/>
          </p:nvPr>
        </p:nvSpPr>
        <p:spPr/>
        <p:txBody>
          <a:bodyPr/>
          <a:lstStyle/>
          <a:p>
            <a:r>
              <a:rPr lang="en-IN" sz="1800" dirty="0">
                <a:solidFill>
                  <a:srgbClr val="666666"/>
                </a:solidFill>
                <a:effectLst/>
                <a:latin typeface="Arial" panose="020B0604020202020204" pitchFamily="34" charset="0"/>
                <a:ea typeface="Calibri" panose="020F0502020204030204" pitchFamily="34" charset="0"/>
              </a:rPr>
              <a:t>An informed search is more efficient than an uninformed search</a:t>
            </a:r>
          </a:p>
          <a:p>
            <a:endParaRPr lang="en-IN" sz="1800" dirty="0">
              <a:solidFill>
                <a:srgbClr val="666666"/>
              </a:solidFill>
              <a:latin typeface="Arial" panose="020B0604020202020204" pitchFamily="34" charset="0"/>
            </a:endParaRPr>
          </a:p>
          <a:p>
            <a:pPr fontAlgn="base">
              <a:lnSpc>
                <a:spcPct val="107000"/>
              </a:lnSpc>
              <a:spcBef>
                <a:spcPts val="200"/>
              </a:spcBef>
            </a:pPr>
            <a:r>
              <a:rPr lang="en-IN" sz="1800" b="1" spc="-75" dirty="0">
                <a:solidFill>
                  <a:srgbClr val="333333"/>
                </a:solidFill>
                <a:effectLst/>
                <a:latin typeface="Arial" panose="020B0604020202020204" pitchFamily="34" charset="0"/>
                <a:ea typeface="Times New Roman" panose="02020603050405020304" pitchFamily="18" charset="0"/>
                <a:cs typeface="Times New Roman" panose="02020603050405020304" pitchFamily="18" charset="0"/>
              </a:rPr>
              <a:t>Best-first Search (Greedy search)</a:t>
            </a:r>
            <a:endParaRPr lang="en-IN" sz="1800" b="1" dirty="0">
              <a:solidFill>
                <a:srgbClr val="1F3763"/>
              </a:solidFill>
              <a:effectLst/>
              <a:latin typeface="Calibri Light" panose="020F0302020204030204" pitchFamily="34" charset="0"/>
              <a:ea typeface="Times New Roman" panose="02020603050405020304" pitchFamily="18" charset="0"/>
              <a:cs typeface="Times New Roman" panose="02020603050405020304" pitchFamily="18" charset="0"/>
            </a:endParaRPr>
          </a:p>
          <a:p>
            <a:r>
              <a:rPr lang="en-IN" sz="1800" dirty="0">
                <a:solidFill>
                  <a:srgbClr val="666666"/>
                </a:solidFill>
                <a:effectLst/>
                <a:latin typeface="Arial" panose="020B0604020202020204" pitchFamily="34" charset="0"/>
                <a:ea typeface="Calibri" panose="020F0502020204030204" pitchFamily="34" charset="0"/>
              </a:rPr>
              <a:t>A best-first search is a general approach of informed search. Here, a node is selected for expansion based on an </a:t>
            </a:r>
            <a:r>
              <a:rPr lang="en-IN" sz="1800" b="1" dirty="0">
                <a:solidFill>
                  <a:srgbClr val="504B3A"/>
                </a:solidFill>
                <a:effectLst/>
                <a:latin typeface="Arial" panose="020B0604020202020204" pitchFamily="34" charset="0"/>
                <a:ea typeface="Calibri" panose="020F0502020204030204" pitchFamily="34" charset="0"/>
              </a:rPr>
              <a:t>evaluation function f(n)</a:t>
            </a:r>
            <a:r>
              <a:rPr lang="en-IN" sz="1800" dirty="0">
                <a:solidFill>
                  <a:srgbClr val="666666"/>
                </a:solidFill>
                <a:effectLst/>
                <a:latin typeface="Arial" panose="020B0604020202020204" pitchFamily="34" charset="0"/>
                <a:ea typeface="Calibri" panose="020F0502020204030204" pitchFamily="34" charset="0"/>
              </a:rPr>
              <a:t>, </a:t>
            </a:r>
            <a:r>
              <a:rPr lang="en-IN" sz="1800" b="1" dirty="0">
                <a:solidFill>
                  <a:srgbClr val="504B3A"/>
                </a:solidFill>
                <a:effectLst/>
                <a:latin typeface="Arial" panose="020B0604020202020204" pitchFamily="34" charset="0"/>
                <a:ea typeface="Calibri" panose="020F0502020204030204" pitchFamily="34" charset="0"/>
              </a:rPr>
              <a:t>where f(n) interprets the cost estimate value</a:t>
            </a:r>
            <a:r>
              <a:rPr lang="en-IN" sz="1800" dirty="0">
                <a:solidFill>
                  <a:srgbClr val="666666"/>
                </a:solidFill>
                <a:effectLst/>
                <a:latin typeface="Arial" panose="020B0604020202020204" pitchFamily="34" charset="0"/>
                <a:ea typeface="Calibri" panose="020F0502020204030204" pitchFamily="34" charset="0"/>
              </a:rPr>
              <a:t>. </a:t>
            </a:r>
          </a:p>
          <a:p>
            <a:r>
              <a:rPr lang="en-IN" sz="1800" b="1" dirty="0">
                <a:solidFill>
                  <a:srgbClr val="504B3A"/>
                </a:solidFill>
                <a:effectLst/>
                <a:latin typeface="Arial" panose="020B0604020202020204" pitchFamily="34" charset="0"/>
                <a:ea typeface="Times New Roman" panose="02020603050405020304" pitchFamily="18" charset="0"/>
              </a:rPr>
              <a:t>h(n)= estimated cost of the cheapest path from the current node n to the goal node. </a:t>
            </a:r>
            <a:endParaRPr lang="en-IN" sz="1800" dirty="0">
              <a:effectLst/>
              <a:latin typeface="Times New Roman" panose="02020603050405020304" pitchFamily="18" charset="0"/>
              <a:ea typeface="Times New Roman" panose="02020603050405020304" pitchFamily="18" charset="0"/>
            </a:endParaRPr>
          </a:p>
          <a:p>
            <a:pPr fontAlgn="base"/>
            <a:r>
              <a:rPr lang="en-IN" sz="1800" dirty="0">
                <a:solidFill>
                  <a:srgbClr val="666666"/>
                </a:solidFill>
                <a:effectLst/>
                <a:latin typeface="Arial" panose="020B0604020202020204" pitchFamily="34" charset="0"/>
                <a:ea typeface="Times New Roman" panose="02020603050405020304" pitchFamily="18" charset="0"/>
              </a:rPr>
              <a:t>If the current node n is a goal node, the value of h(n) will be 0.</a:t>
            </a:r>
            <a:endParaRPr lang="en-IN" sz="1800" dirty="0">
              <a:effectLst/>
              <a:latin typeface="Times New Roman" panose="02020603050405020304" pitchFamily="18" charset="0"/>
              <a:ea typeface="Times New Roman" panose="02020603050405020304" pitchFamily="18" charset="0"/>
            </a:endParaRPr>
          </a:p>
          <a:p>
            <a:pPr fontAlgn="base"/>
            <a:r>
              <a:rPr lang="en-IN" sz="1800" dirty="0">
                <a:solidFill>
                  <a:srgbClr val="666666"/>
                </a:solidFill>
                <a:effectLst/>
                <a:latin typeface="Arial" panose="020B0604020202020204" pitchFamily="34" charset="0"/>
                <a:ea typeface="Times New Roman" panose="02020603050405020304" pitchFamily="18" charset="0"/>
              </a:rPr>
              <a:t>Best-first search is known as a greedy search because it always tries to explore the node which is nearest to the goal node and selects that path, which gives a quick solution. </a:t>
            </a:r>
          </a:p>
          <a:p>
            <a:pPr fontAlgn="base"/>
            <a:r>
              <a:rPr lang="en-IN" sz="1800" dirty="0">
                <a:solidFill>
                  <a:srgbClr val="666666"/>
                </a:solidFill>
                <a:effectLst/>
                <a:latin typeface="Arial" panose="020B0604020202020204" pitchFamily="34" charset="0"/>
                <a:ea typeface="Times New Roman" panose="02020603050405020304" pitchFamily="18" charset="0"/>
              </a:rPr>
              <a:t>Thus, it evaluates nodes with the help of the heuristic function, i.e., </a:t>
            </a:r>
            <a:r>
              <a:rPr lang="en-IN" sz="1800" b="1" dirty="0">
                <a:solidFill>
                  <a:srgbClr val="504B3A"/>
                </a:solidFill>
                <a:effectLst/>
                <a:latin typeface="Arial" panose="020B0604020202020204" pitchFamily="34" charset="0"/>
                <a:ea typeface="Times New Roman" panose="02020603050405020304" pitchFamily="18" charset="0"/>
              </a:rPr>
              <a:t>f(n)=h(n).</a:t>
            </a:r>
            <a:endParaRPr lang="en-IN" sz="1800" dirty="0">
              <a:effectLst/>
              <a:latin typeface="Times New Roman" panose="02020603050405020304" pitchFamily="18" charset="0"/>
              <a:ea typeface="Times New Roman" panose="02020603050405020304" pitchFamily="18" charset="0"/>
            </a:endParaRPr>
          </a:p>
          <a:p>
            <a:endParaRPr lang="en-IN" dirty="0"/>
          </a:p>
        </p:txBody>
      </p:sp>
    </p:spTree>
    <p:extLst>
      <p:ext uri="{BB962C8B-B14F-4D97-AF65-F5344CB8AC3E}">
        <p14:creationId xmlns:p14="http://schemas.microsoft.com/office/powerpoint/2010/main" val="202124980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FD3FF-25E5-17D7-35F6-BFF8214C564B}"/>
              </a:ext>
            </a:extLst>
          </p:cNvPr>
          <p:cNvSpPr>
            <a:spLocks noGrp="1"/>
          </p:cNvSpPr>
          <p:nvPr>
            <p:ph type="title"/>
          </p:nvPr>
        </p:nvSpPr>
        <p:spPr/>
        <p:txBody>
          <a:bodyPr/>
          <a:lstStyle/>
          <a:p>
            <a:r>
              <a:rPr lang="en-IN" sz="4400" b="1" spc="-75" dirty="0">
                <a:solidFill>
                  <a:srgbClr val="333333"/>
                </a:solidFill>
                <a:effectLst/>
                <a:latin typeface="Arial" panose="020B0604020202020204" pitchFamily="34" charset="0"/>
                <a:ea typeface="Times New Roman" panose="02020603050405020304" pitchFamily="18" charset="0"/>
                <a:cs typeface="Times New Roman" panose="02020603050405020304" pitchFamily="18" charset="0"/>
              </a:rPr>
              <a:t>Best-first search Algorithm</a:t>
            </a:r>
            <a:br>
              <a:rPr lang="en-IN" sz="4400" b="1" dirty="0">
                <a:solidFill>
                  <a:srgbClr val="1F3763"/>
                </a:solidFill>
                <a:effectLst/>
                <a:latin typeface="Calibri Light" panose="020F0302020204030204" pitchFamily="34" charset="0"/>
                <a:ea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770DFE70-6CCB-BD9B-FA70-85D0D5F4B085}"/>
              </a:ext>
            </a:extLst>
          </p:cNvPr>
          <p:cNvSpPr>
            <a:spLocks noGrp="1"/>
          </p:cNvSpPr>
          <p:nvPr>
            <p:ph idx="1"/>
          </p:nvPr>
        </p:nvSpPr>
        <p:spPr/>
        <p:txBody>
          <a:bodyPr/>
          <a:lstStyle/>
          <a:p>
            <a:pPr marL="342900" lvl="0" indent="-342900">
              <a:lnSpc>
                <a:spcPts val="1875"/>
              </a:lnSpc>
              <a:spcAft>
                <a:spcPts val="800"/>
              </a:spcAft>
              <a:tabLst>
                <a:tab pos="457200" algn="l"/>
              </a:tabLst>
            </a:pPr>
            <a:r>
              <a:rPr lang="en-IN" sz="1800" dirty="0">
                <a:solidFill>
                  <a:srgbClr val="666666"/>
                </a:solidFill>
                <a:effectLst/>
                <a:latin typeface="Arial" panose="020B0604020202020204" pitchFamily="34" charset="0"/>
                <a:ea typeface="Calibri" panose="020F0502020204030204" pitchFamily="34" charset="0"/>
                <a:cs typeface="Times New Roman" panose="02020603050405020304" pitchFamily="18" charset="0"/>
              </a:rPr>
              <a:t>Set an </a:t>
            </a:r>
            <a:r>
              <a:rPr lang="en-IN" sz="1800" b="1" dirty="0">
                <a:solidFill>
                  <a:srgbClr val="504B3A"/>
                </a:solidFill>
                <a:effectLst/>
                <a:latin typeface="Arial" panose="020B0604020202020204" pitchFamily="34" charset="0"/>
                <a:ea typeface="Calibri" panose="020F0502020204030204" pitchFamily="34" charset="0"/>
                <a:cs typeface="Times New Roman" panose="02020603050405020304" pitchFamily="18" charset="0"/>
              </a:rPr>
              <a:t>OPEN</a:t>
            </a:r>
            <a:r>
              <a:rPr lang="en-IN" sz="1800" dirty="0">
                <a:solidFill>
                  <a:srgbClr val="666666"/>
                </a:solidFill>
                <a:effectLst/>
                <a:latin typeface="Arial" panose="020B0604020202020204" pitchFamily="34" charset="0"/>
                <a:ea typeface="Calibri" panose="020F0502020204030204" pitchFamily="34" charset="0"/>
                <a:cs typeface="Times New Roman" panose="02020603050405020304" pitchFamily="18" charset="0"/>
              </a:rPr>
              <a:t> list and a </a:t>
            </a:r>
            <a:r>
              <a:rPr lang="en-IN" sz="1800" b="1" dirty="0">
                <a:solidFill>
                  <a:srgbClr val="504B3A"/>
                </a:solidFill>
                <a:effectLst/>
                <a:latin typeface="Arial" panose="020B0604020202020204" pitchFamily="34" charset="0"/>
                <a:ea typeface="Calibri" panose="020F0502020204030204" pitchFamily="34" charset="0"/>
                <a:cs typeface="Times New Roman" panose="02020603050405020304" pitchFamily="18" charset="0"/>
              </a:rPr>
              <a:t>CLOSE </a:t>
            </a:r>
            <a:r>
              <a:rPr lang="en-IN" sz="1800" dirty="0">
                <a:solidFill>
                  <a:srgbClr val="666666"/>
                </a:solidFill>
                <a:effectLst/>
                <a:latin typeface="Arial" panose="020B0604020202020204" pitchFamily="34" charset="0"/>
                <a:ea typeface="Calibri" panose="020F0502020204030204" pitchFamily="34" charset="0"/>
                <a:cs typeface="Times New Roman" panose="02020603050405020304" pitchFamily="18" charset="0"/>
              </a:rPr>
              <a:t>list where</a:t>
            </a:r>
            <a:r>
              <a:rPr lang="en-IN" sz="1800" b="1" dirty="0">
                <a:solidFill>
                  <a:srgbClr val="504B3A"/>
                </a:solidFill>
                <a:effectLst/>
                <a:latin typeface="Arial" panose="020B0604020202020204" pitchFamily="34" charset="0"/>
                <a:ea typeface="Calibri" panose="020F0502020204030204" pitchFamily="34" charset="0"/>
                <a:cs typeface="Times New Roman" panose="02020603050405020304" pitchFamily="18" charset="0"/>
              </a:rPr>
              <a:t> the OPEN</a:t>
            </a:r>
            <a:r>
              <a:rPr lang="en-IN" sz="1800" dirty="0">
                <a:solidFill>
                  <a:srgbClr val="666666"/>
                </a:solidFill>
                <a:effectLst/>
                <a:latin typeface="Arial" panose="020B0604020202020204" pitchFamily="34" charset="0"/>
                <a:ea typeface="Calibri" panose="020F0502020204030204" pitchFamily="34" charset="0"/>
                <a:cs typeface="Times New Roman" panose="02020603050405020304" pitchFamily="18" charset="0"/>
              </a:rPr>
              <a:t> list contains visited but unexpanded nodes and</a:t>
            </a:r>
            <a:r>
              <a:rPr lang="en-IN" sz="1800" b="1" dirty="0">
                <a:solidFill>
                  <a:srgbClr val="504B3A"/>
                </a:solidFill>
                <a:effectLst/>
                <a:latin typeface="Arial" panose="020B0604020202020204" pitchFamily="34" charset="0"/>
                <a:ea typeface="Calibri" panose="020F0502020204030204" pitchFamily="34" charset="0"/>
                <a:cs typeface="Times New Roman" panose="02020603050405020304" pitchFamily="18" charset="0"/>
              </a:rPr>
              <a:t> the CLOSE</a:t>
            </a:r>
            <a:r>
              <a:rPr lang="en-IN" sz="1800" dirty="0">
                <a:solidFill>
                  <a:srgbClr val="666666"/>
                </a:solidFill>
                <a:effectLst/>
                <a:latin typeface="Arial" panose="020B0604020202020204" pitchFamily="34" charset="0"/>
                <a:ea typeface="Calibri" panose="020F0502020204030204" pitchFamily="34" charset="0"/>
                <a:cs typeface="Times New Roman" panose="02020603050405020304" pitchFamily="18" charset="0"/>
              </a:rPr>
              <a:t> list contains visited as well as expanded nodes.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ts val="1875"/>
              </a:lnSpc>
              <a:spcAft>
                <a:spcPts val="800"/>
              </a:spcAft>
              <a:tabLst>
                <a:tab pos="457200" algn="l"/>
              </a:tabLst>
            </a:pPr>
            <a:r>
              <a:rPr lang="en-IN" sz="1800" dirty="0">
                <a:solidFill>
                  <a:srgbClr val="666666"/>
                </a:solidFill>
                <a:effectLst/>
                <a:latin typeface="Arial" panose="020B0604020202020204" pitchFamily="34" charset="0"/>
                <a:ea typeface="Calibri" panose="020F0502020204030204" pitchFamily="34" charset="0"/>
                <a:cs typeface="Times New Roman" panose="02020603050405020304" pitchFamily="18" charset="0"/>
              </a:rPr>
              <a:t>Initially, traverse the root node and visit its next successor nodes and place them in the </a:t>
            </a:r>
            <a:r>
              <a:rPr lang="en-IN" sz="1800" b="1" dirty="0">
                <a:solidFill>
                  <a:srgbClr val="504B3A"/>
                </a:solidFill>
                <a:effectLst/>
                <a:latin typeface="Arial" panose="020B0604020202020204" pitchFamily="34" charset="0"/>
                <a:ea typeface="Calibri" panose="020F0502020204030204" pitchFamily="34" charset="0"/>
                <a:cs typeface="Times New Roman" panose="02020603050405020304" pitchFamily="18" charset="0"/>
              </a:rPr>
              <a:t>OPEN  </a:t>
            </a:r>
            <a:r>
              <a:rPr lang="en-IN" sz="1800" dirty="0">
                <a:solidFill>
                  <a:srgbClr val="666666"/>
                </a:solidFill>
                <a:effectLst/>
                <a:latin typeface="Arial" panose="020B0604020202020204" pitchFamily="34" charset="0"/>
                <a:ea typeface="Calibri" panose="020F0502020204030204" pitchFamily="34" charset="0"/>
                <a:cs typeface="Times New Roman" panose="02020603050405020304" pitchFamily="18" charset="0"/>
              </a:rPr>
              <a:t>list in ascending order of their heuristic value.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ts val="1875"/>
              </a:lnSpc>
              <a:spcAft>
                <a:spcPts val="800"/>
              </a:spcAft>
              <a:tabLst>
                <a:tab pos="457200" algn="l"/>
              </a:tabLst>
            </a:pPr>
            <a:r>
              <a:rPr lang="en-IN" sz="1800" dirty="0">
                <a:solidFill>
                  <a:srgbClr val="666666"/>
                </a:solidFill>
                <a:effectLst/>
                <a:latin typeface="Arial" panose="020B0604020202020204" pitchFamily="34" charset="0"/>
                <a:ea typeface="Calibri" panose="020F0502020204030204" pitchFamily="34" charset="0"/>
                <a:cs typeface="Times New Roman" panose="02020603050405020304" pitchFamily="18" charset="0"/>
              </a:rPr>
              <a:t>Select the first successor node from the </a:t>
            </a:r>
            <a:r>
              <a:rPr lang="en-IN" sz="1800" b="1" dirty="0">
                <a:solidFill>
                  <a:srgbClr val="504B3A"/>
                </a:solidFill>
                <a:effectLst/>
                <a:latin typeface="Arial" panose="020B0604020202020204" pitchFamily="34" charset="0"/>
                <a:ea typeface="Calibri" panose="020F0502020204030204" pitchFamily="34" charset="0"/>
                <a:cs typeface="Times New Roman" panose="02020603050405020304" pitchFamily="18" charset="0"/>
              </a:rPr>
              <a:t>OPEN</a:t>
            </a:r>
            <a:r>
              <a:rPr lang="en-IN" sz="1800" dirty="0">
                <a:solidFill>
                  <a:srgbClr val="666666"/>
                </a:solidFill>
                <a:effectLst/>
                <a:latin typeface="Arial" panose="020B0604020202020204" pitchFamily="34" charset="0"/>
                <a:ea typeface="Calibri" panose="020F0502020204030204" pitchFamily="34" charset="0"/>
                <a:cs typeface="Times New Roman" panose="02020603050405020304" pitchFamily="18" charset="0"/>
              </a:rPr>
              <a:t> list with the lowest heuristic value and expand further</a:t>
            </a:r>
            <a:r>
              <a:rPr lang="en-IN" sz="1800" b="1" dirty="0">
                <a:solidFill>
                  <a:srgbClr val="504B3A"/>
                </a:solidFill>
                <a:effectLst/>
                <a:latin typeface="Arial" panose="020B0604020202020204" pitchFamily="34" charset="0"/>
                <a:ea typeface="Calibri" panose="020F0502020204030204" pitchFamily="34"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ts val="1875"/>
              </a:lnSpc>
              <a:spcAft>
                <a:spcPts val="800"/>
              </a:spcAft>
              <a:tabLst>
                <a:tab pos="457200" algn="l"/>
              </a:tabLst>
            </a:pPr>
            <a:r>
              <a:rPr lang="en-IN" sz="1800" dirty="0">
                <a:solidFill>
                  <a:srgbClr val="666666"/>
                </a:solidFill>
                <a:effectLst/>
                <a:latin typeface="Arial" panose="020B0604020202020204" pitchFamily="34" charset="0"/>
                <a:ea typeface="Calibri" panose="020F0502020204030204" pitchFamily="34" charset="0"/>
                <a:cs typeface="Times New Roman" panose="02020603050405020304" pitchFamily="18" charset="0"/>
              </a:rPr>
              <a:t>Now, rearrange all the remaining unexpanded nodes in the </a:t>
            </a:r>
            <a:r>
              <a:rPr lang="en-IN" sz="1800" b="1" dirty="0">
                <a:solidFill>
                  <a:srgbClr val="504B3A"/>
                </a:solidFill>
                <a:effectLst/>
                <a:latin typeface="Arial" panose="020B0604020202020204" pitchFamily="34" charset="0"/>
                <a:ea typeface="Calibri" panose="020F0502020204030204" pitchFamily="34" charset="0"/>
                <a:cs typeface="Times New Roman" panose="02020603050405020304" pitchFamily="18" charset="0"/>
              </a:rPr>
              <a:t>OPEN </a:t>
            </a:r>
            <a:r>
              <a:rPr lang="en-IN" sz="1800" dirty="0">
                <a:solidFill>
                  <a:srgbClr val="666666"/>
                </a:solidFill>
                <a:effectLst/>
                <a:latin typeface="Arial" panose="020B0604020202020204" pitchFamily="34" charset="0"/>
                <a:ea typeface="Calibri" panose="020F0502020204030204" pitchFamily="34" charset="0"/>
                <a:cs typeface="Times New Roman" panose="02020603050405020304" pitchFamily="18" charset="0"/>
              </a:rPr>
              <a:t>list and repeat above two steps.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ts val="1875"/>
              </a:lnSpc>
              <a:spcAft>
                <a:spcPts val="800"/>
              </a:spcAft>
              <a:tabLst>
                <a:tab pos="457200" algn="l"/>
              </a:tabLst>
            </a:pPr>
            <a:r>
              <a:rPr lang="en-IN" sz="1800" dirty="0">
                <a:solidFill>
                  <a:srgbClr val="666666"/>
                </a:solidFill>
                <a:effectLst/>
                <a:latin typeface="Arial" panose="020B0604020202020204" pitchFamily="34" charset="0"/>
                <a:ea typeface="Calibri" panose="020F0502020204030204" pitchFamily="34" charset="0"/>
                <a:cs typeface="Times New Roman" panose="02020603050405020304" pitchFamily="18" charset="0"/>
              </a:rPr>
              <a:t>If the goal node is reached, terminate the search, else expand further.</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42213599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FD3FF-25E5-17D7-35F6-BFF8214C564B}"/>
              </a:ext>
            </a:extLst>
          </p:cNvPr>
          <p:cNvSpPr>
            <a:spLocks noGrp="1"/>
          </p:cNvSpPr>
          <p:nvPr>
            <p:ph type="title"/>
          </p:nvPr>
        </p:nvSpPr>
        <p:spPr>
          <a:xfrm>
            <a:off x="5370022" y="689956"/>
            <a:ext cx="5627716" cy="4721629"/>
          </a:xfrm>
        </p:spPr>
        <p:txBody>
          <a:bodyPr>
            <a:normAutofit fontScale="90000"/>
          </a:bodyPr>
          <a:lstStyle/>
          <a:p>
            <a:pPr fontAlgn="base"/>
            <a:r>
              <a:rPr lang="en-IN" sz="1800" b="1" dirty="0">
                <a:solidFill>
                  <a:srgbClr val="504B3A"/>
                </a:solidFill>
                <a:effectLst/>
                <a:latin typeface="Arial" panose="020B0604020202020204" pitchFamily="34" charset="0"/>
                <a:ea typeface="Times New Roman" panose="02020603050405020304" pitchFamily="18" charset="0"/>
              </a:rPr>
              <a:t>The performance measure of Best-first search Algorithm:</a:t>
            </a:r>
            <a:br>
              <a:rPr lang="en-IN" sz="1800" dirty="0">
                <a:effectLst/>
                <a:latin typeface="Times New Roman" panose="02020603050405020304" pitchFamily="18" charset="0"/>
                <a:ea typeface="Times New Roman" panose="02020603050405020304" pitchFamily="18" charset="0"/>
              </a:rPr>
            </a:br>
            <a:r>
              <a:rPr lang="en-IN" sz="1800" b="1" dirty="0">
                <a:solidFill>
                  <a:srgbClr val="504B3A"/>
                </a:solidFill>
                <a:effectLst/>
                <a:latin typeface="Arial" panose="020B0604020202020204" pitchFamily="34" charset="0"/>
                <a:ea typeface="Calibri" panose="020F0502020204030204" pitchFamily="34" charset="0"/>
                <a:cs typeface="Times New Roman" panose="02020603050405020304" pitchFamily="18" charset="0"/>
              </a:rPr>
              <a:t>Completeness:</a:t>
            </a:r>
            <a:r>
              <a:rPr lang="en-IN" sz="1800" dirty="0">
                <a:solidFill>
                  <a:srgbClr val="666666"/>
                </a:solidFill>
                <a:effectLst/>
                <a:latin typeface="Arial" panose="020B0604020202020204" pitchFamily="34" charset="0"/>
                <a:ea typeface="Calibri" panose="020F0502020204030204" pitchFamily="34" charset="0"/>
                <a:cs typeface="Times New Roman" panose="02020603050405020304" pitchFamily="18" charset="0"/>
              </a:rPr>
              <a:t> Best-first search is incomplete even in finite state space.</a:t>
            </a:r>
            <a:br>
              <a:rPr lang="en-IN" sz="1800" dirty="0">
                <a:solidFill>
                  <a:srgbClr val="666666"/>
                </a:solidFill>
                <a:effectLst/>
                <a:latin typeface="Calibri" panose="020F0502020204030204" pitchFamily="34" charset="0"/>
                <a:ea typeface="Calibri" panose="020F0502020204030204" pitchFamily="34" charset="0"/>
                <a:cs typeface="Times New Roman" panose="02020603050405020304" pitchFamily="18" charset="0"/>
              </a:rPr>
            </a:br>
            <a:r>
              <a:rPr lang="en-IN" sz="1800" b="1" dirty="0">
                <a:solidFill>
                  <a:srgbClr val="504B3A"/>
                </a:solidFill>
                <a:effectLst/>
                <a:latin typeface="Arial" panose="020B0604020202020204" pitchFamily="34" charset="0"/>
                <a:ea typeface="Calibri" panose="020F0502020204030204" pitchFamily="34" charset="0"/>
                <a:cs typeface="Times New Roman" panose="02020603050405020304" pitchFamily="18" charset="0"/>
              </a:rPr>
              <a:t>Optimality:</a:t>
            </a:r>
            <a:r>
              <a:rPr lang="en-IN" sz="1800" dirty="0">
                <a:solidFill>
                  <a:srgbClr val="666666"/>
                </a:solidFill>
                <a:effectLst/>
                <a:latin typeface="Arial" panose="020B0604020202020204" pitchFamily="34" charset="0"/>
                <a:ea typeface="Calibri" panose="020F0502020204030204" pitchFamily="34" charset="0"/>
                <a:cs typeface="Times New Roman" panose="02020603050405020304" pitchFamily="18" charset="0"/>
              </a:rPr>
              <a:t> It does not provide an optimal solution.</a:t>
            </a:r>
            <a:br>
              <a:rPr lang="en-IN" sz="1800" dirty="0">
                <a:solidFill>
                  <a:srgbClr val="666666"/>
                </a:solidFill>
                <a:effectLst/>
                <a:latin typeface="Calibri" panose="020F0502020204030204" pitchFamily="34" charset="0"/>
                <a:ea typeface="Calibri" panose="020F0502020204030204" pitchFamily="34" charset="0"/>
                <a:cs typeface="Times New Roman" panose="02020603050405020304" pitchFamily="18" charset="0"/>
              </a:rPr>
            </a:br>
            <a:r>
              <a:rPr lang="en-IN" sz="1800" b="1" dirty="0">
                <a:solidFill>
                  <a:srgbClr val="504B3A"/>
                </a:solidFill>
                <a:effectLst/>
                <a:latin typeface="Arial" panose="020B0604020202020204" pitchFamily="34" charset="0"/>
                <a:ea typeface="Calibri" panose="020F0502020204030204" pitchFamily="34" charset="0"/>
                <a:cs typeface="Times New Roman" panose="02020603050405020304" pitchFamily="18" charset="0"/>
              </a:rPr>
              <a:t>Time and Space complexity:</a:t>
            </a:r>
            <a:r>
              <a:rPr lang="en-IN" sz="1800" dirty="0">
                <a:solidFill>
                  <a:srgbClr val="666666"/>
                </a:solidFill>
                <a:effectLst/>
                <a:latin typeface="Arial" panose="020B0604020202020204" pitchFamily="34" charset="0"/>
                <a:ea typeface="Calibri" panose="020F0502020204030204" pitchFamily="34" charset="0"/>
                <a:cs typeface="Times New Roman" panose="02020603050405020304" pitchFamily="18" charset="0"/>
              </a:rPr>
              <a:t> It has </a:t>
            </a:r>
            <a:r>
              <a:rPr lang="en-IN" sz="1800" b="1" dirty="0">
                <a:solidFill>
                  <a:srgbClr val="504B3A"/>
                </a:solidFill>
                <a:effectLst/>
                <a:latin typeface="Arial" panose="020B0604020202020204" pitchFamily="34" charset="0"/>
                <a:ea typeface="Calibri" panose="020F0502020204030204" pitchFamily="34" charset="0"/>
                <a:cs typeface="Times New Roman" panose="02020603050405020304" pitchFamily="18" charset="0"/>
              </a:rPr>
              <a:t>O(b</a:t>
            </a:r>
            <a:r>
              <a:rPr lang="en-IN" sz="1800" b="1" baseline="30000" dirty="0">
                <a:solidFill>
                  <a:srgbClr val="504B3A"/>
                </a:solidFill>
                <a:effectLst/>
                <a:latin typeface="Arial" panose="020B0604020202020204" pitchFamily="34" charset="0"/>
                <a:ea typeface="Calibri" panose="020F0502020204030204" pitchFamily="34" charset="0"/>
                <a:cs typeface="Times New Roman" panose="02020603050405020304" pitchFamily="18" charset="0"/>
              </a:rPr>
              <a:t>m</a:t>
            </a:r>
            <a:r>
              <a:rPr lang="en-IN" sz="1800" b="1" dirty="0">
                <a:solidFill>
                  <a:srgbClr val="504B3A"/>
                </a:solidFill>
                <a:effectLst/>
                <a:latin typeface="Arial" panose="020B0604020202020204" pitchFamily="34" charset="0"/>
                <a:ea typeface="Calibri" panose="020F0502020204030204" pitchFamily="34" charset="0"/>
                <a:cs typeface="Times New Roman" panose="02020603050405020304" pitchFamily="18" charset="0"/>
              </a:rPr>
              <a:t>)</a:t>
            </a:r>
            <a:r>
              <a:rPr lang="en-IN" sz="1800" dirty="0">
                <a:solidFill>
                  <a:srgbClr val="666666"/>
                </a:solidFill>
                <a:effectLst/>
                <a:latin typeface="Arial" panose="020B0604020202020204" pitchFamily="34" charset="0"/>
                <a:ea typeface="Calibri" panose="020F0502020204030204" pitchFamily="34" charset="0"/>
                <a:cs typeface="Times New Roman" panose="02020603050405020304" pitchFamily="18" charset="0"/>
              </a:rPr>
              <a:t> worst time and space complexity, where </a:t>
            </a:r>
            <a:r>
              <a:rPr lang="en-IN" sz="1800" b="1" dirty="0">
                <a:solidFill>
                  <a:srgbClr val="504B3A"/>
                </a:solidFill>
                <a:effectLst/>
                <a:latin typeface="Arial" panose="020B0604020202020204" pitchFamily="34" charset="0"/>
                <a:ea typeface="Calibri" panose="020F0502020204030204" pitchFamily="34" charset="0"/>
                <a:cs typeface="Times New Roman" panose="02020603050405020304" pitchFamily="18" charset="0"/>
              </a:rPr>
              <a:t>m is the maximum depth of the search tree</a:t>
            </a:r>
            <a:r>
              <a:rPr lang="en-IN" sz="1800" dirty="0">
                <a:solidFill>
                  <a:srgbClr val="666666"/>
                </a:solidFill>
                <a:effectLst/>
                <a:latin typeface="Arial" panose="020B0604020202020204" pitchFamily="34" charset="0"/>
                <a:ea typeface="Calibri" panose="020F0502020204030204" pitchFamily="34" charset="0"/>
                <a:cs typeface="Times New Roman" panose="02020603050405020304" pitchFamily="18" charset="0"/>
              </a:rPr>
              <a:t>. If the quality of the heuristic function is good, the complexities could be reduced substantially.</a:t>
            </a:r>
            <a:br>
              <a:rPr lang="en-IN" sz="1800" dirty="0">
                <a:solidFill>
                  <a:srgbClr val="666666"/>
                </a:solidFill>
                <a:effectLst/>
                <a:latin typeface="Calibri" panose="020F0502020204030204" pitchFamily="34" charset="0"/>
                <a:ea typeface="Calibri" panose="020F0502020204030204" pitchFamily="34" charset="0"/>
                <a:cs typeface="Times New Roman" panose="02020603050405020304" pitchFamily="18" charset="0"/>
              </a:rPr>
            </a:br>
            <a:r>
              <a:rPr lang="en-IN" sz="1800" dirty="0">
                <a:solidFill>
                  <a:srgbClr val="666666"/>
                </a:solidFill>
                <a:effectLst/>
                <a:latin typeface="Arial" panose="020B0604020202020204" pitchFamily="34" charset="0"/>
                <a:ea typeface="Times New Roman" panose="02020603050405020304" pitchFamily="18" charset="0"/>
              </a:rPr>
              <a:t>Note: Best first searches combines the advantage of BFS and DFS to find the best solution.</a:t>
            </a:r>
            <a:br>
              <a:rPr lang="en-IN" sz="1800" dirty="0">
                <a:effectLst/>
                <a:latin typeface="Times New Roman" panose="02020603050405020304" pitchFamily="18" charset="0"/>
                <a:ea typeface="Times New Roman" panose="02020603050405020304" pitchFamily="18" charset="0"/>
              </a:rPr>
            </a:br>
            <a:r>
              <a:rPr lang="en-IN" sz="1800" b="1" spc="-75" dirty="0">
                <a:solidFill>
                  <a:srgbClr val="333333"/>
                </a:solidFill>
                <a:effectLst/>
                <a:latin typeface="Arial" panose="020B0604020202020204" pitchFamily="34" charset="0"/>
                <a:ea typeface="Times New Roman" panose="02020603050405020304" pitchFamily="18" charset="0"/>
                <a:cs typeface="Times New Roman" panose="02020603050405020304" pitchFamily="18" charset="0"/>
              </a:rPr>
              <a:t>Disadvantages of Best-first search</a:t>
            </a:r>
            <a:br>
              <a:rPr lang="en-IN" sz="1800" b="1" dirty="0">
                <a:solidFill>
                  <a:srgbClr val="1F3763"/>
                </a:solidFill>
                <a:effectLst/>
                <a:latin typeface="Calibri Light" panose="020F0302020204030204" pitchFamily="34" charset="0"/>
                <a:ea typeface="Times New Roman" panose="02020603050405020304" pitchFamily="18" charset="0"/>
                <a:cs typeface="Times New Roman" panose="02020603050405020304" pitchFamily="18" charset="0"/>
              </a:rPr>
            </a:br>
            <a:r>
              <a:rPr lang="en-IN" sz="1800" dirty="0">
                <a:solidFill>
                  <a:srgbClr val="666666"/>
                </a:solidFill>
                <a:effectLst/>
                <a:latin typeface="Arial" panose="020B0604020202020204" pitchFamily="34" charset="0"/>
                <a:ea typeface="Calibri" panose="020F0502020204030204" pitchFamily="34" charset="0"/>
                <a:cs typeface="Times New Roman" panose="02020603050405020304" pitchFamily="18" charset="0"/>
              </a:rPr>
              <a:t>BFS does not guarantees to reach the goal state.</a:t>
            </a:r>
            <a:br>
              <a:rPr lang="en-IN" sz="1800" dirty="0">
                <a:solidFill>
                  <a:srgbClr val="666666"/>
                </a:solidFill>
                <a:effectLst/>
                <a:latin typeface="Calibri" panose="020F0502020204030204" pitchFamily="34" charset="0"/>
                <a:ea typeface="Calibri" panose="020F0502020204030204" pitchFamily="34" charset="0"/>
                <a:cs typeface="Times New Roman" panose="02020603050405020304" pitchFamily="18" charset="0"/>
              </a:rPr>
            </a:br>
            <a:r>
              <a:rPr lang="en-IN" sz="1800" dirty="0">
                <a:solidFill>
                  <a:srgbClr val="666666"/>
                </a:solidFill>
                <a:effectLst/>
                <a:latin typeface="Arial" panose="020B0604020202020204" pitchFamily="34" charset="0"/>
                <a:ea typeface="Calibri" panose="020F0502020204030204" pitchFamily="34" charset="0"/>
                <a:cs typeface="Times New Roman" panose="02020603050405020304" pitchFamily="18" charset="0"/>
              </a:rPr>
              <a:t>Since the best-first search is a greedy approach, it does not give an optimized solution.</a:t>
            </a:r>
            <a:br>
              <a:rPr lang="en-IN" sz="1800" dirty="0">
                <a:solidFill>
                  <a:srgbClr val="666666"/>
                </a:solidFill>
                <a:effectLst/>
                <a:latin typeface="Calibri" panose="020F0502020204030204" pitchFamily="34" charset="0"/>
                <a:ea typeface="Calibri" panose="020F0502020204030204" pitchFamily="34" charset="0"/>
                <a:cs typeface="Times New Roman" panose="02020603050405020304" pitchFamily="18" charset="0"/>
              </a:rPr>
            </a:br>
            <a:r>
              <a:rPr lang="en-IN" sz="1800" dirty="0">
                <a:solidFill>
                  <a:srgbClr val="666666"/>
                </a:solidFill>
                <a:effectLst/>
                <a:latin typeface="Arial" panose="020B0604020202020204" pitchFamily="34" charset="0"/>
                <a:ea typeface="Calibri" panose="020F0502020204030204" pitchFamily="34" charset="0"/>
                <a:cs typeface="Times New Roman" panose="02020603050405020304" pitchFamily="18" charset="0"/>
              </a:rPr>
              <a:t>It may cover a long distance in some cases.</a:t>
            </a:r>
            <a:br>
              <a:rPr lang="en-IN" sz="1800" dirty="0">
                <a:solidFill>
                  <a:srgbClr val="666666"/>
                </a:solidFill>
                <a:effectLst/>
                <a:latin typeface="Calibri" panose="020F0502020204030204" pitchFamily="34" charset="0"/>
                <a:ea typeface="Calibri" panose="020F0502020204030204" pitchFamily="34" charset="0"/>
                <a:cs typeface="Times New Roman" panose="02020603050405020304" pitchFamily="18" charset="0"/>
              </a:rPr>
            </a:br>
            <a:endParaRPr lang="en-IN" dirty="0"/>
          </a:p>
        </p:txBody>
      </p:sp>
      <p:pic>
        <p:nvPicPr>
          <p:cNvPr id="4" name="Content Placeholder 3" descr="measure of Best-first search Algorithm">
            <a:extLst>
              <a:ext uri="{FF2B5EF4-FFF2-40B4-BE49-F238E27FC236}">
                <a16:creationId xmlns:a16="http://schemas.microsoft.com/office/drawing/2014/main" id="{2CCF7C39-BA15-D9A2-860D-7C126691C67E}"/>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43460" y="1353982"/>
            <a:ext cx="4220164" cy="3067478"/>
          </a:xfrm>
          <a:prstGeom prst="rect">
            <a:avLst/>
          </a:prstGeom>
          <a:noFill/>
          <a:ln>
            <a:noFill/>
          </a:ln>
        </p:spPr>
      </p:pic>
    </p:spTree>
    <p:extLst>
      <p:ext uri="{BB962C8B-B14F-4D97-AF65-F5344CB8AC3E}">
        <p14:creationId xmlns:p14="http://schemas.microsoft.com/office/powerpoint/2010/main" val="417572691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0DFE70-6CCB-BD9B-FA70-85D0D5F4B085}"/>
              </a:ext>
            </a:extLst>
          </p:cNvPr>
          <p:cNvSpPr>
            <a:spLocks noGrp="1"/>
          </p:cNvSpPr>
          <p:nvPr>
            <p:ph idx="1"/>
          </p:nvPr>
        </p:nvSpPr>
        <p:spPr>
          <a:xfrm>
            <a:off x="465513" y="448887"/>
            <a:ext cx="10888287" cy="5728076"/>
          </a:xfrm>
        </p:spPr>
        <p:txBody>
          <a:bodyPr>
            <a:normAutofit fontScale="92500" lnSpcReduction="10000"/>
          </a:bodyPr>
          <a:lstStyle/>
          <a:p>
            <a:pPr algn="l" fontAlgn="base"/>
            <a:r>
              <a:rPr lang="en-US" b="1" i="0" dirty="0">
                <a:solidFill>
                  <a:srgbClr val="504B3A"/>
                </a:solidFill>
                <a:effectLst/>
                <a:latin typeface="Quicksand"/>
              </a:rPr>
              <a:t>f(n)=g(n)+h(n)</a:t>
            </a:r>
            <a:endParaRPr lang="en-US" b="0" i="0" dirty="0">
              <a:solidFill>
                <a:srgbClr val="666666"/>
              </a:solidFill>
              <a:effectLst/>
              <a:latin typeface="Quicksand"/>
            </a:endParaRPr>
          </a:p>
          <a:p>
            <a:pPr algn="l" fontAlgn="base"/>
            <a:r>
              <a:rPr lang="en-US" b="1" i="0" dirty="0">
                <a:solidFill>
                  <a:srgbClr val="333333"/>
                </a:solidFill>
                <a:effectLst/>
                <a:latin typeface="Quicksand"/>
              </a:rPr>
              <a:t>Calculation of f(n) for node S:</a:t>
            </a:r>
          </a:p>
          <a:p>
            <a:pPr algn="l" fontAlgn="base"/>
            <a:r>
              <a:rPr lang="en-US" b="0" i="0" dirty="0">
                <a:solidFill>
                  <a:srgbClr val="666666"/>
                </a:solidFill>
                <a:effectLst/>
                <a:latin typeface="Quicksand"/>
              </a:rPr>
              <a:t>f(S)=(distance from node S to S) + h(S)</a:t>
            </a:r>
          </a:p>
          <a:p>
            <a:pPr algn="l">
              <a:buFont typeface="Arial" panose="020B0604020202020204" pitchFamily="34" charset="0"/>
              <a:buChar char="•"/>
            </a:pPr>
            <a:r>
              <a:rPr lang="en-US" b="0" i="0" dirty="0">
                <a:solidFill>
                  <a:srgbClr val="666666"/>
                </a:solidFill>
                <a:effectLst/>
                <a:latin typeface="Quicksand"/>
              </a:rPr>
              <a:t>0+10=10.</a:t>
            </a:r>
          </a:p>
          <a:p>
            <a:pPr algn="l" fontAlgn="base"/>
            <a:r>
              <a:rPr lang="en-US" b="1" i="0" dirty="0">
                <a:solidFill>
                  <a:srgbClr val="504B3A"/>
                </a:solidFill>
                <a:effectLst/>
                <a:latin typeface="Quicksand"/>
              </a:rPr>
              <a:t>Calculation of f(n) for node A:</a:t>
            </a:r>
            <a:endParaRPr lang="en-US" b="0" i="0" dirty="0">
              <a:solidFill>
                <a:srgbClr val="666666"/>
              </a:solidFill>
              <a:effectLst/>
              <a:latin typeface="Quicksand"/>
            </a:endParaRPr>
          </a:p>
          <a:p>
            <a:pPr algn="l" fontAlgn="base"/>
            <a:r>
              <a:rPr lang="en-US" b="0" i="0" dirty="0">
                <a:solidFill>
                  <a:srgbClr val="666666"/>
                </a:solidFill>
                <a:effectLst/>
                <a:latin typeface="Quicksand"/>
              </a:rPr>
              <a:t>f(A)=(distance from node S to A)+h(A)</a:t>
            </a:r>
          </a:p>
          <a:p>
            <a:pPr algn="l">
              <a:buFont typeface="Arial" panose="020B0604020202020204" pitchFamily="34" charset="0"/>
              <a:buChar char="•"/>
            </a:pPr>
            <a:r>
              <a:rPr lang="en-US" b="0" i="0" dirty="0">
                <a:solidFill>
                  <a:srgbClr val="666666"/>
                </a:solidFill>
                <a:effectLst/>
                <a:latin typeface="Quicksand"/>
              </a:rPr>
              <a:t>2+12=14</a:t>
            </a:r>
          </a:p>
          <a:p>
            <a:pPr algn="l" fontAlgn="base"/>
            <a:r>
              <a:rPr lang="en-US" b="1" i="0" dirty="0">
                <a:solidFill>
                  <a:srgbClr val="504B3A"/>
                </a:solidFill>
                <a:effectLst/>
                <a:latin typeface="Quicksand"/>
              </a:rPr>
              <a:t>Calculation of f(n) for node B:</a:t>
            </a:r>
            <a:endParaRPr lang="en-US" b="0" i="0" dirty="0">
              <a:solidFill>
                <a:srgbClr val="666666"/>
              </a:solidFill>
              <a:effectLst/>
              <a:latin typeface="Quicksand"/>
            </a:endParaRPr>
          </a:p>
          <a:p>
            <a:pPr algn="l" fontAlgn="base"/>
            <a:r>
              <a:rPr lang="en-US" b="0" i="0" dirty="0">
                <a:solidFill>
                  <a:srgbClr val="666666"/>
                </a:solidFill>
                <a:effectLst/>
                <a:latin typeface="Quicksand"/>
              </a:rPr>
              <a:t>f(B)=(distance from node S to B)+h(B)</a:t>
            </a:r>
          </a:p>
          <a:p>
            <a:pPr algn="l">
              <a:buFont typeface="Arial" panose="020B0604020202020204" pitchFamily="34" charset="0"/>
              <a:buChar char="•"/>
            </a:pPr>
            <a:r>
              <a:rPr lang="en-US" b="0" i="0" dirty="0">
                <a:solidFill>
                  <a:srgbClr val="666666"/>
                </a:solidFill>
                <a:effectLst/>
                <a:latin typeface="Quicksand"/>
              </a:rPr>
              <a:t> 3+14=17</a:t>
            </a:r>
          </a:p>
          <a:p>
            <a:pPr algn="l" fontAlgn="base"/>
            <a:r>
              <a:rPr lang="en-US" b="0" i="0" dirty="0">
                <a:solidFill>
                  <a:srgbClr val="666666"/>
                </a:solidFill>
                <a:effectLst/>
                <a:latin typeface="Quicksand"/>
              </a:rPr>
              <a:t>Therefore, node A has the lowest f(n) value. Hence, node A will be explored to its next level nodes C and D and again calculate the lowest f(n) value. After calculating, the sequence we get is </a:t>
            </a:r>
            <a:r>
              <a:rPr lang="en-US" b="1" i="0" dirty="0">
                <a:solidFill>
                  <a:srgbClr val="504B3A"/>
                </a:solidFill>
                <a:effectLst/>
                <a:latin typeface="Quicksand"/>
              </a:rPr>
              <a:t>S-&gt;A</a:t>
            </a:r>
            <a:r>
              <a:rPr lang="en-US" b="0" i="0" dirty="0">
                <a:solidFill>
                  <a:srgbClr val="666666"/>
                </a:solidFill>
                <a:effectLst/>
                <a:latin typeface="Quicksand"/>
              </a:rPr>
              <a:t>-</a:t>
            </a:r>
            <a:r>
              <a:rPr lang="en-US" b="1" i="0" dirty="0">
                <a:solidFill>
                  <a:srgbClr val="504B3A"/>
                </a:solidFill>
                <a:effectLst/>
                <a:latin typeface="Quicksand"/>
              </a:rPr>
              <a:t>&gt;D-&gt;G</a:t>
            </a:r>
            <a:r>
              <a:rPr lang="en-US" b="0" i="0" dirty="0">
                <a:solidFill>
                  <a:srgbClr val="666666"/>
                </a:solidFill>
                <a:effectLst/>
                <a:latin typeface="Quicksand"/>
              </a:rPr>
              <a:t> with f(n)=13(lowest value).</a:t>
            </a:r>
          </a:p>
          <a:p>
            <a:endParaRPr lang="en-IN" dirty="0"/>
          </a:p>
        </p:txBody>
      </p:sp>
    </p:spTree>
    <p:extLst>
      <p:ext uri="{BB962C8B-B14F-4D97-AF65-F5344CB8AC3E}">
        <p14:creationId xmlns:p14="http://schemas.microsoft.com/office/powerpoint/2010/main" val="194083370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FD3FF-25E5-17D7-35F6-BFF8214C564B}"/>
              </a:ext>
            </a:extLst>
          </p:cNvPr>
          <p:cNvSpPr>
            <a:spLocks noGrp="1"/>
          </p:cNvSpPr>
          <p:nvPr>
            <p:ph type="title"/>
          </p:nvPr>
        </p:nvSpPr>
        <p:spPr/>
        <p:txBody>
          <a:bodyPr/>
          <a:lstStyle/>
          <a:p>
            <a:r>
              <a:rPr lang="en-IN" sz="4400" b="1" spc="-75" dirty="0">
                <a:solidFill>
                  <a:srgbClr val="333333"/>
                </a:solidFill>
                <a:effectLst/>
                <a:latin typeface="Arial" panose="020B0604020202020204" pitchFamily="34" charset="0"/>
                <a:ea typeface="Times New Roman" panose="02020603050405020304" pitchFamily="18" charset="0"/>
                <a:cs typeface="Times New Roman" panose="02020603050405020304" pitchFamily="18" charset="0"/>
              </a:rPr>
              <a:t>A* Search Algorithm</a:t>
            </a:r>
            <a:br>
              <a:rPr lang="en-IN" sz="4400" b="1" dirty="0">
                <a:solidFill>
                  <a:srgbClr val="1F3763"/>
                </a:solidFill>
                <a:effectLst/>
                <a:latin typeface="Calibri Light" panose="020F0302020204030204" pitchFamily="34" charset="0"/>
                <a:ea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770DFE70-6CCB-BD9B-FA70-85D0D5F4B085}"/>
              </a:ext>
            </a:extLst>
          </p:cNvPr>
          <p:cNvSpPr>
            <a:spLocks noGrp="1"/>
          </p:cNvSpPr>
          <p:nvPr>
            <p:ph idx="1"/>
          </p:nvPr>
        </p:nvSpPr>
        <p:spPr/>
        <p:txBody>
          <a:bodyPr>
            <a:normAutofit fontScale="92500" lnSpcReduction="20000"/>
          </a:bodyPr>
          <a:lstStyle/>
          <a:p>
            <a:pPr fontAlgn="base"/>
            <a:r>
              <a:rPr lang="en-IN" dirty="0">
                <a:solidFill>
                  <a:srgbClr val="666666"/>
                </a:solidFill>
                <a:effectLst/>
                <a:latin typeface="Arial" panose="020B0604020202020204" pitchFamily="34" charset="0"/>
                <a:ea typeface="Times New Roman" panose="02020603050405020304" pitchFamily="18" charset="0"/>
              </a:rPr>
              <a:t>A* search is the most widely used informed search algorithm where a node n is evaluated by combining values of the functions </a:t>
            </a:r>
            <a:r>
              <a:rPr lang="en-IN" b="1" dirty="0">
                <a:solidFill>
                  <a:srgbClr val="504B3A"/>
                </a:solidFill>
                <a:effectLst/>
                <a:latin typeface="Arial" panose="020B0604020202020204" pitchFamily="34" charset="0"/>
                <a:ea typeface="Times New Roman" panose="02020603050405020304" pitchFamily="18" charset="0"/>
              </a:rPr>
              <a:t>g(n)</a:t>
            </a:r>
            <a:r>
              <a:rPr lang="en-IN" dirty="0">
                <a:solidFill>
                  <a:srgbClr val="666666"/>
                </a:solidFill>
                <a:effectLst/>
                <a:latin typeface="Arial" panose="020B0604020202020204" pitchFamily="34" charset="0"/>
                <a:ea typeface="Times New Roman" panose="02020603050405020304" pitchFamily="18" charset="0"/>
              </a:rPr>
              <a:t>and</a:t>
            </a:r>
            <a:r>
              <a:rPr lang="en-IN" b="1" dirty="0">
                <a:solidFill>
                  <a:srgbClr val="504B3A"/>
                </a:solidFill>
                <a:effectLst/>
                <a:latin typeface="Arial" panose="020B0604020202020204" pitchFamily="34" charset="0"/>
                <a:ea typeface="Times New Roman" panose="02020603050405020304" pitchFamily="18" charset="0"/>
              </a:rPr>
              <a:t> h(n)</a:t>
            </a:r>
            <a:r>
              <a:rPr lang="en-IN" dirty="0">
                <a:solidFill>
                  <a:srgbClr val="666666"/>
                </a:solidFill>
                <a:effectLst/>
                <a:latin typeface="Arial" panose="020B0604020202020204" pitchFamily="34" charset="0"/>
                <a:ea typeface="Times New Roman" panose="02020603050405020304" pitchFamily="18" charset="0"/>
              </a:rPr>
              <a:t>. The function </a:t>
            </a:r>
            <a:r>
              <a:rPr lang="en-IN" b="1" dirty="0">
                <a:solidFill>
                  <a:srgbClr val="504B3A"/>
                </a:solidFill>
                <a:effectLst/>
                <a:latin typeface="Arial" panose="020B0604020202020204" pitchFamily="34" charset="0"/>
                <a:ea typeface="Times New Roman" panose="02020603050405020304" pitchFamily="18" charset="0"/>
              </a:rPr>
              <a:t>g(n) is the path cost from the start/initial node to a node n </a:t>
            </a:r>
            <a:r>
              <a:rPr lang="en-IN" dirty="0">
                <a:solidFill>
                  <a:srgbClr val="666666"/>
                </a:solidFill>
                <a:effectLst/>
                <a:latin typeface="Arial" panose="020B0604020202020204" pitchFamily="34" charset="0"/>
                <a:ea typeface="Times New Roman" panose="02020603050405020304" pitchFamily="18" charset="0"/>
              </a:rPr>
              <a:t>and</a:t>
            </a:r>
            <a:r>
              <a:rPr lang="en-IN" b="1" dirty="0">
                <a:solidFill>
                  <a:srgbClr val="504B3A"/>
                </a:solidFill>
                <a:effectLst/>
                <a:latin typeface="Arial" panose="020B0604020202020204" pitchFamily="34" charset="0"/>
                <a:ea typeface="Times New Roman" panose="02020603050405020304" pitchFamily="18" charset="0"/>
              </a:rPr>
              <a:t> h(n) is the estimated cost of the cheapest path from node n to the goal node.</a:t>
            </a:r>
            <a:r>
              <a:rPr lang="en-IN" dirty="0">
                <a:solidFill>
                  <a:srgbClr val="666666"/>
                </a:solidFill>
                <a:effectLst/>
                <a:latin typeface="Arial" panose="020B0604020202020204" pitchFamily="34" charset="0"/>
                <a:ea typeface="Times New Roman" panose="02020603050405020304" pitchFamily="18" charset="0"/>
              </a:rPr>
              <a:t> Therefore, we have</a:t>
            </a:r>
            <a:endParaRPr lang="en-IN" dirty="0">
              <a:effectLst/>
              <a:latin typeface="Times New Roman" panose="02020603050405020304" pitchFamily="18" charset="0"/>
              <a:ea typeface="Times New Roman" panose="02020603050405020304" pitchFamily="18" charset="0"/>
            </a:endParaRPr>
          </a:p>
          <a:p>
            <a:pPr fontAlgn="base"/>
            <a:r>
              <a:rPr lang="en-IN" b="1" dirty="0">
                <a:solidFill>
                  <a:srgbClr val="504B3A"/>
                </a:solidFill>
                <a:effectLst/>
                <a:latin typeface="Arial" panose="020B0604020202020204" pitchFamily="34" charset="0"/>
                <a:ea typeface="Times New Roman" panose="02020603050405020304" pitchFamily="18" charset="0"/>
              </a:rPr>
              <a:t>                                                      f(n)=g(n)+h(n)</a:t>
            </a:r>
            <a:endParaRPr lang="en-IN" dirty="0">
              <a:effectLst/>
              <a:latin typeface="Times New Roman" panose="02020603050405020304" pitchFamily="18" charset="0"/>
              <a:ea typeface="Times New Roman" panose="02020603050405020304" pitchFamily="18" charset="0"/>
            </a:endParaRPr>
          </a:p>
          <a:p>
            <a:pPr fontAlgn="base"/>
            <a:r>
              <a:rPr lang="en-IN" dirty="0">
                <a:solidFill>
                  <a:srgbClr val="666666"/>
                </a:solidFill>
                <a:effectLst/>
                <a:latin typeface="Arial" panose="020B0604020202020204" pitchFamily="34" charset="0"/>
                <a:ea typeface="Times New Roman" panose="02020603050405020304" pitchFamily="18" charset="0"/>
              </a:rPr>
              <a:t>where </a:t>
            </a:r>
            <a:r>
              <a:rPr lang="en-IN" b="1" dirty="0">
                <a:solidFill>
                  <a:srgbClr val="504B3A"/>
                </a:solidFill>
                <a:effectLst/>
                <a:latin typeface="Arial" panose="020B0604020202020204" pitchFamily="34" charset="0"/>
                <a:ea typeface="Times New Roman" panose="02020603050405020304" pitchFamily="18" charset="0"/>
              </a:rPr>
              <a:t>f(n) is the estimated cost of the cheapest solution through n.</a:t>
            </a:r>
            <a:endParaRPr lang="en-IN" dirty="0">
              <a:effectLst/>
              <a:latin typeface="Times New Roman" panose="02020603050405020304" pitchFamily="18" charset="0"/>
              <a:ea typeface="Times New Roman" panose="02020603050405020304" pitchFamily="18" charset="0"/>
            </a:endParaRPr>
          </a:p>
          <a:p>
            <a:pPr fontAlgn="base"/>
            <a:r>
              <a:rPr lang="en-IN" dirty="0">
                <a:solidFill>
                  <a:srgbClr val="666666"/>
                </a:solidFill>
                <a:effectLst/>
                <a:latin typeface="Arial" panose="020B0604020202020204" pitchFamily="34" charset="0"/>
                <a:ea typeface="Times New Roman" panose="02020603050405020304" pitchFamily="18" charset="0"/>
              </a:rPr>
              <a:t>So, in order to find the cheapest solution, try to find the lowest values of f(n).</a:t>
            </a:r>
            <a:endParaRPr lang="en-IN" dirty="0">
              <a:effectLst/>
              <a:latin typeface="Times New Roman" panose="02020603050405020304" pitchFamily="18" charset="0"/>
              <a:ea typeface="Times New Roman" panose="02020603050405020304" pitchFamily="18" charset="0"/>
            </a:endParaRPr>
          </a:p>
          <a:p>
            <a:pPr fontAlgn="base"/>
            <a:r>
              <a:rPr lang="en-IN" dirty="0">
                <a:solidFill>
                  <a:srgbClr val="666666"/>
                </a:solidFill>
                <a:effectLst/>
                <a:latin typeface="Arial" panose="020B0604020202020204" pitchFamily="34" charset="0"/>
                <a:ea typeface="Times New Roman" panose="02020603050405020304" pitchFamily="18" charset="0"/>
              </a:rPr>
              <a:t>Let’s see the below example to understand better.</a:t>
            </a:r>
            <a:endParaRPr lang="en-IN" dirty="0">
              <a:effectLst/>
              <a:latin typeface="Times New Roman" panose="02020603050405020304" pitchFamily="18" charset="0"/>
              <a:ea typeface="Times New Roman" panose="02020603050405020304" pitchFamily="18" charset="0"/>
            </a:endParaRPr>
          </a:p>
          <a:p>
            <a:endParaRPr lang="en-IN" dirty="0"/>
          </a:p>
        </p:txBody>
      </p:sp>
    </p:spTree>
    <p:extLst>
      <p:ext uri="{BB962C8B-B14F-4D97-AF65-F5344CB8AC3E}">
        <p14:creationId xmlns:p14="http://schemas.microsoft.com/office/powerpoint/2010/main" val="93283068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FD3FF-25E5-17D7-35F6-BFF8214C564B}"/>
              </a:ext>
            </a:extLst>
          </p:cNvPr>
          <p:cNvSpPr>
            <a:spLocks noGrp="1"/>
          </p:cNvSpPr>
          <p:nvPr>
            <p:ph type="title"/>
          </p:nvPr>
        </p:nvSpPr>
        <p:spPr>
          <a:xfrm>
            <a:off x="5583383" y="357447"/>
            <a:ext cx="6608617" cy="6143105"/>
          </a:xfrm>
        </p:spPr>
        <p:txBody>
          <a:bodyPr>
            <a:normAutofit/>
          </a:bodyPr>
          <a:lstStyle/>
          <a:p>
            <a:pPr fontAlgn="base"/>
            <a:r>
              <a:rPr lang="en-IN" sz="1800" dirty="0">
                <a:solidFill>
                  <a:srgbClr val="666666"/>
                </a:solidFill>
                <a:effectLst/>
                <a:latin typeface="Arial" panose="020B0604020202020204" pitchFamily="34" charset="0"/>
                <a:ea typeface="Times New Roman" panose="02020603050405020304" pitchFamily="18" charset="0"/>
              </a:rPr>
              <a:t>In the above example,  S is the root node, and G is the goal node. Starting from the root node </a:t>
            </a:r>
            <a:r>
              <a:rPr lang="en-IN" sz="1800" b="1" dirty="0">
                <a:solidFill>
                  <a:srgbClr val="504B3A"/>
                </a:solidFill>
                <a:effectLst/>
                <a:latin typeface="Arial" panose="020B0604020202020204" pitchFamily="34" charset="0"/>
                <a:ea typeface="Times New Roman" panose="02020603050405020304" pitchFamily="18" charset="0"/>
              </a:rPr>
              <a:t>S</a:t>
            </a:r>
            <a:r>
              <a:rPr lang="en-IN" sz="1800" dirty="0">
                <a:solidFill>
                  <a:srgbClr val="666666"/>
                </a:solidFill>
                <a:effectLst/>
                <a:latin typeface="Arial" panose="020B0604020202020204" pitchFamily="34" charset="0"/>
                <a:ea typeface="Times New Roman" panose="02020603050405020304" pitchFamily="18" charset="0"/>
              </a:rPr>
              <a:t> and moving  towards its next successive nodes </a:t>
            </a:r>
            <a:r>
              <a:rPr lang="en-IN" sz="1800" b="1" dirty="0">
                <a:solidFill>
                  <a:srgbClr val="504B3A"/>
                </a:solidFill>
                <a:effectLst/>
                <a:latin typeface="Arial" panose="020B0604020202020204" pitchFamily="34" charset="0"/>
                <a:ea typeface="Times New Roman" panose="02020603050405020304" pitchFamily="18" charset="0"/>
              </a:rPr>
              <a:t>A </a:t>
            </a:r>
            <a:r>
              <a:rPr lang="en-IN" sz="1800" dirty="0">
                <a:solidFill>
                  <a:srgbClr val="666666"/>
                </a:solidFill>
                <a:effectLst/>
                <a:latin typeface="Arial" panose="020B0604020202020204" pitchFamily="34" charset="0"/>
                <a:ea typeface="Times New Roman" panose="02020603050405020304" pitchFamily="18" charset="0"/>
              </a:rPr>
              <a:t>and </a:t>
            </a:r>
            <a:r>
              <a:rPr lang="en-IN" sz="1800" b="1" dirty="0">
                <a:solidFill>
                  <a:srgbClr val="504B3A"/>
                </a:solidFill>
                <a:effectLst/>
                <a:latin typeface="Arial" panose="020B0604020202020204" pitchFamily="34" charset="0"/>
                <a:ea typeface="Times New Roman" panose="02020603050405020304" pitchFamily="18" charset="0"/>
              </a:rPr>
              <a:t>B</a:t>
            </a:r>
            <a:r>
              <a:rPr lang="en-IN" sz="1800" dirty="0">
                <a:solidFill>
                  <a:srgbClr val="666666"/>
                </a:solidFill>
                <a:effectLst/>
                <a:latin typeface="Arial" panose="020B0604020202020204" pitchFamily="34" charset="0"/>
                <a:ea typeface="Times New Roman" panose="02020603050405020304" pitchFamily="18" charset="0"/>
              </a:rPr>
              <a:t>. In order to reach the goal node </a:t>
            </a:r>
            <a:r>
              <a:rPr lang="en-IN" sz="1800" b="1" dirty="0">
                <a:solidFill>
                  <a:srgbClr val="504B3A"/>
                </a:solidFill>
                <a:effectLst/>
                <a:latin typeface="Arial" panose="020B0604020202020204" pitchFamily="34" charset="0"/>
                <a:ea typeface="Times New Roman" panose="02020603050405020304" pitchFamily="18" charset="0"/>
              </a:rPr>
              <a:t>G</a:t>
            </a:r>
            <a:r>
              <a:rPr lang="en-IN" sz="1800" dirty="0">
                <a:solidFill>
                  <a:srgbClr val="666666"/>
                </a:solidFill>
                <a:effectLst/>
                <a:latin typeface="Arial" panose="020B0604020202020204" pitchFamily="34" charset="0"/>
                <a:ea typeface="Times New Roman" panose="02020603050405020304" pitchFamily="18" charset="0"/>
              </a:rPr>
              <a:t>, calculate the f(n) value of node </a:t>
            </a:r>
            <a:r>
              <a:rPr lang="en-IN" sz="1800" b="1" dirty="0">
                <a:solidFill>
                  <a:srgbClr val="504B3A"/>
                </a:solidFill>
                <a:effectLst/>
                <a:latin typeface="Arial" panose="020B0604020202020204" pitchFamily="34" charset="0"/>
                <a:ea typeface="Times New Roman" panose="02020603050405020304" pitchFamily="18" charset="0"/>
              </a:rPr>
              <a:t>S, A</a:t>
            </a:r>
            <a:r>
              <a:rPr lang="en-IN" sz="1800" dirty="0">
                <a:solidFill>
                  <a:srgbClr val="666666"/>
                </a:solidFill>
                <a:effectLst/>
                <a:latin typeface="Arial" panose="020B0604020202020204" pitchFamily="34" charset="0"/>
                <a:ea typeface="Times New Roman" panose="02020603050405020304" pitchFamily="18" charset="0"/>
              </a:rPr>
              <a:t> and </a:t>
            </a:r>
            <a:r>
              <a:rPr lang="en-IN" sz="1800" b="1" dirty="0">
                <a:solidFill>
                  <a:srgbClr val="504B3A"/>
                </a:solidFill>
                <a:effectLst/>
                <a:latin typeface="Arial" panose="020B0604020202020204" pitchFamily="34" charset="0"/>
                <a:ea typeface="Times New Roman" panose="02020603050405020304" pitchFamily="18" charset="0"/>
              </a:rPr>
              <a:t>B</a:t>
            </a:r>
            <a:r>
              <a:rPr lang="en-IN" sz="1800" dirty="0">
                <a:solidFill>
                  <a:srgbClr val="666666"/>
                </a:solidFill>
                <a:effectLst/>
                <a:latin typeface="Arial" panose="020B0604020202020204" pitchFamily="34" charset="0"/>
                <a:ea typeface="Times New Roman" panose="02020603050405020304" pitchFamily="18" charset="0"/>
              </a:rPr>
              <a:t> using the evaluation equation i.e.</a:t>
            </a:r>
            <a:br>
              <a:rPr lang="en-IN" sz="1800" dirty="0">
                <a:effectLst/>
                <a:latin typeface="Times New Roman" panose="02020603050405020304" pitchFamily="18" charset="0"/>
                <a:ea typeface="Times New Roman" panose="02020603050405020304" pitchFamily="18" charset="0"/>
              </a:rPr>
            </a:br>
            <a:r>
              <a:rPr lang="en-IN" sz="1800" b="1" dirty="0">
                <a:solidFill>
                  <a:srgbClr val="504B3A"/>
                </a:solidFill>
                <a:effectLst/>
                <a:latin typeface="Arial" panose="020B0604020202020204" pitchFamily="34" charset="0"/>
                <a:ea typeface="Times New Roman" panose="02020603050405020304" pitchFamily="18" charset="0"/>
              </a:rPr>
              <a:t>f(n)=g(n)+h(n)</a:t>
            </a:r>
            <a:br>
              <a:rPr lang="en-IN" sz="1800" dirty="0">
                <a:effectLst/>
                <a:latin typeface="Times New Roman" panose="02020603050405020304" pitchFamily="18" charset="0"/>
                <a:ea typeface="Times New Roman" panose="02020603050405020304" pitchFamily="18" charset="0"/>
              </a:rPr>
            </a:br>
            <a:r>
              <a:rPr lang="en-IN" sz="1800" b="1" i="1" spc="-75" dirty="0">
                <a:solidFill>
                  <a:srgbClr val="333333"/>
                </a:solidFill>
                <a:effectLst/>
                <a:latin typeface="Arial" panose="020B0604020202020204" pitchFamily="34" charset="0"/>
                <a:ea typeface="Times New Roman" panose="02020603050405020304" pitchFamily="18" charset="0"/>
                <a:cs typeface="Times New Roman" panose="02020603050405020304" pitchFamily="18" charset="0"/>
              </a:rPr>
              <a:t>Calculation of f(n) for node S:</a:t>
            </a:r>
            <a:br>
              <a:rPr lang="en-IN" sz="1800" b="1" i="1"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rPr>
            </a:br>
            <a:r>
              <a:rPr lang="en-IN" sz="1800" dirty="0">
                <a:solidFill>
                  <a:srgbClr val="666666"/>
                </a:solidFill>
                <a:effectLst/>
                <a:latin typeface="Arial" panose="020B0604020202020204" pitchFamily="34" charset="0"/>
                <a:ea typeface="Times New Roman" panose="02020603050405020304" pitchFamily="18" charset="0"/>
              </a:rPr>
              <a:t>f(S)=(distance from node S to S) + h(S)</a:t>
            </a:r>
            <a:br>
              <a:rPr lang="en-IN" sz="1800" dirty="0">
                <a:effectLst/>
                <a:latin typeface="Times New Roman" panose="02020603050405020304" pitchFamily="18" charset="0"/>
                <a:ea typeface="Times New Roman" panose="02020603050405020304" pitchFamily="18" charset="0"/>
              </a:rPr>
            </a:br>
            <a:r>
              <a:rPr lang="en-IN" sz="1800" dirty="0">
                <a:solidFill>
                  <a:srgbClr val="666666"/>
                </a:solidFill>
                <a:effectLst/>
                <a:latin typeface="Arial" panose="020B0604020202020204" pitchFamily="34" charset="0"/>
                <a:ea typeface="Calibri" panose="020F0502020204030204" pitchFamily="34" charset="0"/>
                <a:cs typeface="Times New Roman" panose="02020603050405020304" pitchFamily="18" charset="0"/>
              </a:rPr>
              <a:t>0+10=10.</a:t>
            </a:r>
            <a:br>
              <a:rPr lang="en-IN" sz="1800" dirty="0">
                <a:solidFill>
                  <a:srgbClr val="666666"/>
                </a:solidFill>
                <a:effectLst/>
                <a:latin typeface="Calibri" panose="020F0502020204030204" pitchFamily="34" charset="0"/>
                <a:ea typeface="Calibri" panose="020F0502020204030204" pitchFamily="34" charset="0"/>
                <a:cs typeface="Times New Roman" panose="02020603050405020304" pitchFamily="18" charset="0"/>
              </a:rPr>
            </a:br>
            <a:r>
              <a:rPr lang="en-IN" sz="1800" b="1" dirty="0">
                <a:solidFill>
                  <a:srgbClr val="504B3A"/>
                </a:solidFill>
                <a:effectLst/>
                <a:latin typeface="Arial" panose="020B0604020202020204" pitchFamily="34" charset="0"/>
                <a:ea typeface="Times New Roman" panose="02020603050405020304" pitchFamily="18" charset="0"/>
              </a:rPr>
              <a:t>Calculation of f(n) for node A:</a:t>
            </a:r>
            <a:br>
              <a:rPr lang="en-IN" sz="1800" dirty="0">
                <a:effectLst/>
                <a:latin typeface="Times New Roman" panose="02020603050405020304" pitchFamily="18" charset="0"/>
                <a:ea typeface="Times New Roman" panose="02020603050405020304" pitchFamily="18" charset="0"/>
              </a:rPr>
            </a:br>
            <a:r>
              <a:rPr lang="en-IN" sz="1800" dirty="0">
                <a:solidFill>
                  <a:srgbClr val="666666"/>
                </a:solidFill>
                <a:effectLst/>
                <a:latin typeface="Arial" panose="020B0604020202020204" pitchFamily="34" charset="0"/>
                <a:ea typeface="Times New Roman" panose="02020603050405020304" pitchFamily="18" charset="0"/>
              </a:rPr>
              <a:t>f(A)=(distance from node S to A)+h(A)</a:t>
            </a:r>
            <a:br>
              <a:rPr lang="en-IN" sz="1800" dirty="0">
                <a:effectLst/>
                <a:latin typeface="Times New Roman" panose="02020603050405020304" pitchFamily="18" charset="0"/>
                <a:ea typeface="Times New Roman" panose="02020603050405020304" pitchFamily="18" charset="0"/>
              </a:rPr>
            </a:br>
            <a:r>
              <a:rPr lang="en-IN" sz="1800" dirty="0">
                <a:solidFill>
                  <a:srgbClr val="666666"/>
                </a:solidFill>
                <a:effectLst/>
                <a:latin typeface="Arial" panose="020B0604020202020204" pitchFamily="34" charset="0"/>
                <a:ea typeface="Calibri" panose="020F0502020204030204" pitchFamily="34" charset="0"/>
                <a:cs typeface="Times New Roman" panose="02020603050405020304" pitchFamily="18" charset="0"/>
              </a:rPr>
              <a:t>2+12=14</a:t>
            </a:r>
            <a:br>
              <a:rPr lang="en-IN" sz="1800" dirty="0">
                <a:solidFill>
                  <a:srgbClr val="666666"/>
                </a:solidFill>
                <a:effectLst/>
                <a:latin typeface="Calibri" panose="020F0502020204030204" pitchFamily="34" charset="0"/>
                <a:ea typeface="Calibri" panose="020F0502020204030204" pitchFamily="34" charset="0"/>
                <a:cs typeface="Times New Roman" panose="02020603050405020304" pitchFamily="18" charset="0"/>
              </a:rPr>
            </a:br>
            <a:r>
              <a:rPr lang="en-IN" sz="1800" b="1" dirty="0">
                <a:solidFill>
                  <a:srgbClr val="504B3A"/>
                </a:solidFill>
                <a:effectLst/>
                <a:latin typeface="Arial" panose="020B0604020202020204" pitchFamily="34" charset="0"/>
                <a:ea typeface="Times New Roman" panose="02020603050405020304" pitchFamily="18" charset="0"/>
              </a:rPr>
              <a:t>Calculation of f(n) for node B:</a:t>
            </a:r>
            <a:br>
              <a:rPr lang="en-IN" sz="1800" dirty="0">
                <a:effectLst/>
                <a:latin typeface="Times New Roman" panose="02020603050405020304" pitchFamily="18" charset="0"/>
                <a:ea typeface="Times New Roman" panose="02020603050405020304" pitchFamily="18" charset="0"/>
              </a:rPr>
            </a:br>
            <a:r>
              <a:rPr lang="en-IN" sz="1800" dirty="0">
                <a:solidFill>
                  <a:srgbClr val="666666"/>
                </a:solidFill>
                <a:effectLst/>
                <a:latin typeface="Arial" panose="020B0604020202020204" pitchFamily="34" charset="0"/>
                <a:ea typeface="Times New Roman" panose="02020603050405020304" pitchFamily="18" charset="0"/>
              </a:rPr>
              <a:t>f(B)=(distance from node S to B)+h(B)</a:t>
            </a:r>
            <a:br>
              <a:rPr lang="en-IN" sz="1800" dirty="0">
                <a:effectLst/>
                <a:latin typeface="Times New Roman" panose="02020603050405020304" pitchFamily="18" charset="0"/>
                <a:ea typeface="Times New Roman" panose="02020603050405020304" pitchFamily="18" charset="0"/>
              </a:rPr>
            </a:br>
            <a:r>
              <a:rPr lang="en-IN" sz="1800" dirty="0">
                <a:solidFill>
                  <a:srgbClr val="666666"/>
                </a:solidFill>
                <a:effectLst/>
                <a:latin typeface="Arial" panose="020B0604020202020204" pitchFamily="34" charset="0"/>
                <a:ea typeface="Calibri" panose="020F0502020204030204" pitchFamily="34" charset="0"/>
                <a:cs typeface="Times New Roman" panose="02020603050405020304" pitchFamily="18" charset="0"/>
              </a:rPr>
              <a:t> 3+14=17</a:t>
            </a:r>
            <a:br>
              <a:rPr lang="en-IN" sz="1800" dirty="0">
                <a:solidFill>
                  <a:srgbClr val="666666"/>
                </a:solidFill>
                <a:effectLst/>
                <a:latin typeface="Calibri" panose="020F0502020204030204" pitchFamily="34" charset="0"/>
                <a:ea typeface="Calibri" panose="020F0502020204030204" pitchFamily="34" charset="0"/>
                <a:cs typeface="Times New Roman" panose="02020603050405020304" pitchFamily="18" charset="0"/>
              </a:rPr>
            </a:br>
            <a:r>
              <a:rPr lang="en-IN" sz="1800" dirty="0">
                <a:solidFill>
                  <a:srgbClr val="666666"/>
                </a:solidFill>
                <a:effectLst/>
                <a:latin typeface="Arial" panose="020B0604020202020204" pitchFamily="34" charset="0"/>
                <a:ea typeface="Times New Roman" panose="02020603050405020304" pitchFamily="18" charset="0"/>
              </a:rPr>
              <a:t>Therefore, node A has the lowest f(n) value. Hence, node A will be explored to its next level nodes C and D and again calculate the lowest f(n) value. After calculating, the sequence we get is </a:t>
            </a:r>
            <a:r>
              <a:rPr lang="en-IN" sz="1800" b="1" dirty="0">
                <a:solidFill>
                  <a:srgbClr val="504B3A"/>
                </a:solidFill>
                <a:effectLst/>
                <a:latin typeface="Arial" panose="020B0604020202020204" pitchFamily="34" charset="0"/>
                <a:ea typeface="Times New Roman" panose="02020603050405020304" pitchFamily="18" charset="0"/>
              </a:rPr>
              <a:t>S-&gt;A</a:t>
            </a:r>
            <a:r>
              <a:rPr lang="en-IN" sz="1800" dirty="0">
                <a:solidFill>
                  <a:srgbClr val="666666"/>
                </a:solidFill>
                <a:effectLst/>
                <a:latin typeface="Arial" panose="020B0604020202020204" pitchFamily="34" charset="0"/>
                <a:ea typeface="Times New Roman" panose="02020603050405020304" pitchFamily="18" charset="0"/>
              </a:rPr>
              <a:t>-</a:t>
            </a:r>
            <a:r>
              <a:rPr lang="en-IN" sz="1800" b="1" dirty="0">
                <a:solidFill>
                  <a:srgbClr val="504B3A"/>
                </a:solidFill>
                <a:effectLst/>
                <a:latin typeface="Arial" panose="020B0604020202020204" pitchFamily="34" charset="0"/>
                <a:ea typeface="Times New Roman" panose="02020603050405020304" pitchFamily="18" charset="0"/>
              </a:rPr>
              <a:t>&gt;D-&gt;G</a:t>
            </a:r>
            <a:r>
              <a:rPr lang="en-IN" sz="1800" dirty="0">
                <a:solidFill>
                  <a:srgbClr val="666666"/>
                </a:solidFill>
                <a:effectLst/>
                <a:latin typeface="Arial" panose="020B0604020202020204" pitchFamily="34" charset="0"/>
                <a:ea typeface="Times New Roman" panose="02020603050405020304" pitchFamily="18" charset="0"/>
              </a:rPr>
              <a:t> with f(n)=13(lowest value).</a:t>
            </a:r>
            <a:br>
              <a:rPr lang="en-IN" sz="1800" dirty="0">
                <a:effectLst/>
                <a:latin typeface="Times New Roman" panose="02020603050405020304" pitchFamily="18" charset="0"/>
                <a:ea typeface="Times New Roman" panose="02020603050405020304" pitchFamily="18" charset="0"/>
              </a:rPr>
            </a:br>
            <a:endParaRPr lang="en-IN" dirty="0"/>
          </a:p>
        </p:txBody>
      </p:sp>
      <p:pic>
        <p:nvPicPr>
          <p:cNvPr id="4" name="Content Placeholder 3" descr="A* search is the most widely used informed search algorithm.">
            <a:extLst>
              <a:ext uri="{FF2B5EF4-FFF2-40B4-BE49-F238E27FC236}">
                <a16:creationId xmlns:a16="http://schemas.microsoft.com/office/drawing/2014/main" id="{E8A5DA6A-110B-0EC6-35EC-33CEB2F2126C}"/>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57293" y="482629"/>
            <a:ext cx="4525006" cy="4344006"/>
          </a:xfrm>
          <a:prstGeom prst="rect">
            <a:avLst/>
          </a:prstGeom>
          <a:noFill/>
          <a:ln>
            <a:noFill/>
          </a:ln>
        </p:spPr>
      </p:pic>
    </p:spTree>
    <p:extLst>
      <p:ext uri="{BB962C8B-B14F-4D97-AF65-F5344CB8AC3E}">
        <p14:creationId xmlns:p14="http://schemas.microsoft.com/office/powerpoint/2010/main" val="122514223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FD3FF-25E5-17D7-35F6-BFF8214C564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70DFE70-6CCB-BD9B-FA70-85D0D5F4B085}"/>
              </a:ext>
            </a:extLst>
          </p:cNvPr>
          <p:cNvSpPr>
            <a:spLocks noGrp="1"/>
          </p:cNvSpPr>
          <p:nvPr>
            <p:ph idx="1"/>
          </p:nvPr>
        </p:nvSpPr>
        <p:spPr/>
        <p:txBody>
          <a:bodyPr/>
          <a:lstStyle/>
          <a:p>
            <a:pPr fontAlgn="base"/>
            <a:r>
              <a:rPr lang="en-IN" sz="1800" b="1" dirty="0">
                <a:solidFill>
                  <a:srgbClr val="504B3A"/>
                </a:solidFill>
                <a:effectLst/>
                <a:latin typeface="Arial" panose="020B0604020202020204" pitchFamily="34" charset="0"/>
                <a:ea typeface="Times New Roman" panose="02020603050405020304" pitchFamily="18" charset="0"/>
              </a:rPr>
              <a:t>The performance measure of A* search</a:t>
            </a:r>
            <a:endParaRPr lang="en-IN" sz="1800" dirty="0">
              <a:effectLst/>
              <a:latin typeface="Times New Roman" panose="02020603050405020304" pitchFamily="18" charset="0"/>
              <a:ea typeface="Times New Roman" panose="02020603050405020304" pitchFamily="18" charset="0"/>
            </a:endParaRPr>
          </a:p>
          <a:p>
            <a:pPr marL="342900" lvl="0" indent="-342900">
              <a:lnSpc>
                <a:spcPts val="1875"/>
              </a:lnSpc>
              <a:spcAft>
                <a:spcPts val="800"/>
              </a:spcAft>
              <a:buSzPts val="1000"/>
              <a:buFont typeface="Symbol" panose="05050102010706020507" pitchFamily="18" charset="2"/>
              <a:buChar char=""/>
              <a:tabLst>
                <a:tab pos="457200" algn="l"/>
              </a:tabLst>
            </a:pPr>
            <a:r>
              <a:rPr lang="en-IN" sz="1800" b="1" dirty="0">
                <a:solidFill>
                  <a:srgbClr val="504B3A"/>
                </a:solidFill>
                <a:effectLst/>
                <a:latin typeface="Arial" panose="020B0604020202020204" pitchFamily="34" charset="0"/>
                <a:ea typeface="Calibri" panose="020F0502020204030204" pitchFamily="34" charset="0"/>
                <a:cs typeface="Times New Roman" panose="02020603050405020304" pitchFamily="18" charset="0"/>
              </a:rPr>
              <a:t>Completeness:</a:t>
            </a:r>
            <a:r>
              <a:rPr lang="en-IN" sz="1800" dirty="0">
                <a:solidFill>
                  <a:srgbClr val="666666"/>
                </a:solidFill>
                <a:effectLst/>
                <a:latin typeface="Arial" panose="020B0604020202020204" pitchFamily="34" charset="0"/>
                <a:ea typeface="Calibri" panose="020F0502020204030204" pitchFamily="34" charset="0"/>
                <a:cs typeface="Times New Roman" panose="02020603050405020304" pitchFamily="18" charset="0"/>
              </a:rPr>
              <a:t> The star(*) in A* search guarantees to reach the goal node.</a:t>
            </a:r>
            <a:endParaRPr lang="en-IN" sz="1800" dirty="0">
              <a:solidFill>
                <a:srgbClr val="666666"/>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ts val="1875"/>
              </a:lnSpc>
              <a:spcAft>
                <a:spcPts val="800"/>
              </a:spcAft>
              <a:buSzPts val="1000"/>
              <a:buFont typeface="Symbol" panose="05050102010706020507" pitchFamily="18" charset="2"/>
              <a:buChar char=""/>
              <a:tabLst>
                <a:tab pos="457200" algn="l"/>
              </a:tabLst>
            </a:pPr>
            <a:r>
              <a:rPr lang="en-IN" sz="1800" b="1" dirty="0">
                <a:solidFill>
                  <a:srgbClr val="504B3A"/>
                </a:solidFill>
                <a:effectLst/>
                <a:latin typeface="Arial" panose="020B0604020202020204" pitchFamily="34" charset="0"/>
                <a:ea typeface="Calibri" panose="020F0502020204030204" pitchFamily="34" charset="0"/>
                <a:cs typeface="Times New Roman" panose="02020603050405020304" pitchFamily="18" charset="0"/>
              </a:rPr>
              <a:t>Optimality:</a:t>
            </a:r>
            <a:r>
              <a:rPr lang="en-IN" sz="1800" dirty="0">
                <a:solidFill>
                  <a:srgbClr val="666666"/>
                </a:solidFill>
                <a:effectLst/>
                <a:latin typeface="Arial" panose="020B0604020202020204" pitchFamily="34" charset="0"/>
                <a:ea typeface="Calibri" panose="020F0502020204030204" pitchFamily="34" charset="0"/>
                <a:cs typeface="Times New Roman" panose="02020603050405020304" pitchFamily="18" charset="0"/>
              </a:rPr>
              <a:t> An underestimated cost will always give an optimal solution.</a:t>
            </a:r>
            <a:endParaRPr lang="en-IN" sz="1800" dirty="0">
              <a:solidFill>
                <a:srgbClr val="666666"/>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ts val="1875"/>
              </a:lnSpc>
              <a:spcAft>
                <a:spcPts val="800"/>
              </a:spcAft>
              <a:buSzPts val="1000"/>
              <a:buFont typeface="Symbol" panose="05050102010706020507" pitchFamily="18" charset="2"/>
              <a:buChar char=""/>
              <a:tabLst>
                <a:tab pos="457200" algn="l"/>
              </a:tabLst>
            </a:pPr>
            <a:r>
              <a:rPr lang="en-IN" sz="1800" b="1" dirty="0">
                <a:solidFill>
                  <a:srgbClr val="504B3A"/>
                </a:solidFill>
                <a:effectLst/>
                <a:latin typeface="Arial" panose="020B0604020202020204" pitchFamily="34" charset="0"/>
                <a:ea typeface="Calibri" panose="020F0502020204030204" pitchFamily="34" charset="0"/>
                <a:cs typeface="Times New Roman" panose="02020603050405020304" pitchFamily="18" charset="0"/>
              </a:rPr>
              <a:t>Space and time complexity:</a:t>
            </a:r>
            <a:r>
              <a:rPr lang="en-IN" sz="1800" dirty="0">
                <a:solidFill>
                  <a:srgbClr val="666666"/>
                </a:solidFill>
                <a:effectLst/>
                <a:latin typeface="Arial" panose="020B0604020202020204" pitchFamily="34" charset="0"/>
                <a:ea typeface="Calibri" panose="020F0502020204030204" pitchFamily="34" charset="0"/>
                <a:cs typeface="Times New Roman" panose="02020603050405020304" pitchFamily="18" charset="0"/>
              </a:rPr>
              <a:t> A* search has </a:t>
            </a:r>
            <a:r>
              <a:rPr lang="en-IN" sz="1800" b="1" dirty="0">
                <a:solidFill>
                  <a:srgbClr val="504B3A"/>
                </a:solidFill>
                <a:effectLst/>
                <a:latin typeface="Arial" panose="020B0604020202020204" pitchFamily="34" charset="0"/>
                <a:ea typeface="Calibri" panose="020F0502020204030204" pitchFamily="34" charset="0"/>
                <a:cs typeface="Times New Roman" panose="02020603050405020304" pitchFamily="18" charset="0"/>
              </a:rPr>
              <a:t>O(b</a:t>
            </a:r>
            <a:r>
              <a:rPr lang="en-IN" sz="1800" b="1" baseline="30000" dirty="0">
                <a:solidFill>
                  <a:srgbClr val="504B3A"/>
                </a:solidFill>
                <a:effectLst/>
                <a:latin typeface="Arial" panose="020B0604020202020204" pitchFamily="34" charset="0"/>
                <a:ea typeface="Calibri" panose="020F0502020204030204" pitchFamily="34" charset="0"/>
                <a:cs typeface="Times New Roman" panose="02020603050405020304" pitchFamily="18" charset="0"/>
              </a:rPr>
              <a:t>d</a:t>
            </a:r>
            <a:r>
              <a:rPr lang="en-IN" sz="1800" b="1" dirty="0">
                <a:solidFill>
                  <a:srgbClr val="504B3A"/>
                </a:solidFill>
                <a:effectLst/>
                <a:latin typeface="Arial" panose="020B0604020202020204" pitchFamily="34" charset="0"/>
                <a:ea typeface="Calibri" panose="020F0502020204030204" pitchFamily="34" charset="0"/>
                <a:cs typeface="Times New Roman" panose="02020603050405020304" pitchFamily="18" charset="0"/>
              </a:rPr>
              <a:t>) space and time </a:t>
            </a:r>
            <a:r>
              <a:rPr lang="en-IN" sz="1800" dirty="0">
                <a:solidFill>
                  <a:srgbClr val="666666"/>
                </a:solidFill>
                <a:effectLst/>
                <a:latin typeface="Arial" panose="020B0604020202020204" pitchFamily="34" charset="0"/>
                <a:ea typeface="Calibri" panose="020F0502020204030204" pitchFamily="34" charset="0"/>
                <a:cs typeface="Times New Roman" panose="02020603050405020304" pitchFamily="18" charset="0"/>
              </a:rPr>
              <a:t>complexities.</a:t>
            </a:r>
            <a:endParaRPr lang="en-IN" sz="1800" dirty="0">
              <a:solidFill>
                <a:srgbClr val="666666"/>
              </a:solidFill>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Bef>
                <a:spcPts val="200"/>
              </a:spcBef>
            </a:pPr>
            <a:r>
              <a:rPr lang="en-IN" sz="1800" b="1" spc="-75" dirty="0">
                <a:solidFill>
                  <a:srgbClr val="333333"/>
                </a:solidFill>
                <a:effectLst/>
                <a:latin typeface="Arial" panose="020B0604020202020204" pitchFamily="34" charset="0"/>
                <a:ea typeface="Times New Roman" panose="02020603050405020304" pitchFamily="18" charset="0"/>
                <a:cs typeface="Times New Roman" panose="02020603050405020304" pitchFamily="18" charset="0"/>
              </a:rPr>
              <a:t>Disadvantage of A* search</a:t>
            </a:r>
            <a:endParaRPr lang="en-IN" sz="1800" b="1" dirty="0">
              <a:solidFill>
                <a:srgbClr val="1F3763"/>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marL="342900" lvl="0" indent="-342900">
              <a:lnSpc>
                <a:spcPts val="1875"/>
              </a:lnSpc>
              <a:spcAft>
                <a:spcPts val="800"/>
              </a:spcAft>
              <a:buSzPts val="1000"/>
              <a:buFont typeface="Symbol" panose="05050102010706020507" pitchFamily="18" charset="2"/>
              <a:buChar char=""/>
              <a:tabLst>
                <a:tab pos="457200" algn="l"/>
              </a:tabLst>
            </a:pPr>
            <a:r>
              <a:rPr lang="en-IN" sz="1800" dirty="0">
                <a:solidFill>
                  <a:srgbClr val="666666"/>
                </a:solidFill>
                <a:effectLst/>
                <a:latin typeface="Arial" panose="020B0604020202020204" pitchFamily="34" charset="0"/>
                <a:ea typeface="Calibri" panose="020F0502020204030204" pitchFamily="34" charset="0"/>
                <a:cs typeface="Times New Roman" panose="02020603050405020304" pitchFamily="18" charset="0"/>
              </a:rPr>
              <a:t>A* mostly runs out of space for a long period.</a:t>
            </a:r>
            <a:endParaRPr lang="en-IN" sz="1800" dirty="0">
              <a:solidFill>
                <a:srgbClr val="666666"/>
              </a:solidFill>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08527982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FD3FF-25E5-17D7-35F6-BFF8214C564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70DFE70-6CCB-BD9B-FA70-85D0D5F4B085}"/>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1967472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FD3FF-25E5-17D7-35F6-BFF8214C564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70DFE70-6CCB-BD9B-FA70-85D0D5F4B085}"/>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9854175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FD3FF-25E5-17D7-35F6-BFF8214C564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70DFE70-6CCB-BD9B-FA70-85D0D5F4B085}"/>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00825499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FD3FF-25E5-17D7-35F6-BFF8214C564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70DFE70-6CCB-BD9B-FA70-85D0D5F4B085}"/>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30812430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FD3FF-25E5-17D7-35F6-BFF8214C564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70DFE70-6CCB-BD9B-FA70-85D0D5F4B085}"/>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09374459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FD3FF-25E5-17D7-35F6-BFF8214C564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70DFE70-6CCB-BD9B-FA70-85D0D5F4B085}"/>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95304762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FD3FF-25E5-17D7-35F6-BFF8214C564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70DFE70-6CCB-BD9B-FA70-85D0D5F4B085}"/>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92528963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FD3FF-25E5-17D7-35F6-BFF8214C564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70DFE70-6CCB-BD9B-FA70-85D0D5F4B085}"/>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98648815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FD3FF-25E5-17D7-35F6-BFF8214C564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70DFE70-6CCB-BD9B-FA70-85D0D5F4B085}"/>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32804355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FD3FF-25E5-17D7-35F6-BFF8214C564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70DFE70-6CCB-BD9B-FA70-85D0D5F4B085}"/>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84890574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FD3FF-25E5-17D7-35F6-BFF8214C564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70DFE70-6CCB-BD9B-FA70-85D0D5F4B085}"/>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74707425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FD3FF-25E5-17D7-35F6-BFF8214C564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70DFE70-6CCB-BD9B-FA70-85D0D5F4B085}"/>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16920847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FD3FF-25E5-17D7-35F6-BFF8214C564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70DFE70-6CCB-BD9B-FA70-85D0D5F4B085}"/>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82963272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FD3FF-25E5-17D7-35F6-BFF8214C564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70DFE70-6CCB-BD9B-FA70-85D0D5F4B085}"/>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63620059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FD3FF-25E5-17D7-35F6-BFF8214C564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70DFE70-6CCB-BD9B-FA70-85D0D5F4B085}"/>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11748631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FD3FF-25E5-17D7-35F6-BFF8214C564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70DFE70-6CCB-BD9B-FA70-85D0D5F4B085}"/>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94389925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FD3FF-25E5-17D7-35F6-BFF8214C564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70DFE70-6CCB-BD9B-FA70-85D0D5F4B085}"/>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5572098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FD3FF-25E5-17D7-35F6-BFF8214C564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70DFE70-6CCB-BD9B-FA70-85D0D5F4B085}"/>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30860450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FD3FF-25E5-17D7-35F6-BFF8214C564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70DFE70-6CCB-BD9B-FA70-85D0D5F4B085}"/>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90041198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FD3FF-25E5-17D7-35F6-BFF8214C564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70DFE70-6CCB-BD9B-FA70-85D0D5F4B085}"/>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96764244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FD3FF-25E5-17D7-35F6-BFF8214C564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70DFE70-6CCB-BD9B-FA70-85D0D5F4B085}"/>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896468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130</TotalTime>
  <Words>3166</Words>
  <Application>Microsoft Office PowerPoint</Application>
  <PresentationFormat>Widescreen</PresentationFormat>
  <Paragraphs>222</Paragraphs>
  <Slides>67</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67</vt:i4>
      </vt:variant>
    </vt:vector>
  </HeadingPairs>
  <TitlesOfParts>
    <vt:vector size="79" baseType="lpstr">
      <vt:lpstr>Arial</vt:lpstr>
      <vt:lpstr>Arial</vt:lpstr>
      <vt:lpstr>Calibri</vt:lpstr>
      <vt:lpstr>Calibri Light</vt:lpstr>
      <vt:lpstr>Georgia</vt:lpstr>
      <vt:lpstr>Helvetica</vt:lpstr>
      <vt:lpstr>Lato</vt:lpstr>
      <vt:lpstr>Quicksand</vt:lpstr>
      <vt:lpstr>Segoe UI</vt:lpstr>
      <vt:lpstr>Symbol</vt:lpstr>
      <vt:lpstr>Times New Roman</vt:lpstr>
      <vt:lpstr>Office Theme</vt:lpstr>
      <vt:lpstr>Unit-2</vt:lpstr>
      <vt:lpstr>Points to be discussed:</vt:lpstr>
      <vt:lpstr>  solving problems by searching   </vt:lpstr>
      <vt:lpstr>  Why searching is important in problem solving?  </vt:lpstr>
      <vt:lpstr>goal-based agents</vt:lpstr>
      <vt:lpstr>Problem-solving agents</vt:lpstr>
      <vt:lpstr>Planning agents</vt:lpstr>
      <vt:lpstr>Road map of Part of Romania</vt:lpstr>
      <vt:lpstr>Problem is :</vt:lpstr>
      <vt:lpstr>Problem formulation</vt:lpstr>
      <vt:lpstr>A problem can be defined formally by 5 components</vt:lpstr>
      <vt:lpstr>Performance measure:</vt:lpstr>
      <vt:lpstr>What is uninformed search strategies in artificial intelligence?</vt:lpstr>
      <vt:lpstr>Different Types of Search Algorithms:</vt:lpstr>
      <vt:lpstr>terms which will be frequently used </vt:lpstr>
      <vt:lpstr>Depth First Search (DFS)</vt:lpstr>
      <vt:lpstr>PowerPoint Presentation</vt:lpstr>
      <vt:lpstr>PowerPoint Presentation</vt:lpstr>
      <vt:lpstr>Breadth-First Search(BFS) </vt:lpstr>
      <vt:lpstr>PowerPoint Presentation</vt:lpstr>
      <vt:lpstr>PowerPoint Presentation</vt:lpstr>
      <vt:lpstr>PowerPoint Presentation</vt:lpstr>
      <vt:lpstr>Uniform Cost Search(UCS) </vt:lpstr>
      <vt:lpstr>PowerPoint Presentation</vt:lpstr>
      <vt:lpstr>PowerPoint Presentation</vt:lpstr>
      <vt:lpstr>PowerPoint Presentation</vt:lpstr>
      <vt:lpstr>Depth Limited Search(DLS) </vt:lpstr>
      <vt:lpstr>Depth-limited search can be halted in two cases: </vt:lpstr>
      <vt:lpstr>PowerPoint Presentation</vt:lpstr>
      <vt:lpstr>PowerPoint Presentation</vt:lpstr>
      <vt:lpstr>PowerPoint Presentation</vt:lpstr>
      <vt:lpstr>Iterative Deepening Depth First Search(IDDFS) </vt:lpstr>
      <vt:lpstr>PowerPoint Presentation</vt:lpstr>
      <vt:lpstr>PowerPoint Presentation</vt:lpstr>
      <vt:lpstr> Bidirectional Search(BS) </vt:lpstr>
      <vt:lpstr>PowerPoint Presentation</vt:lpstr>
      <vt:lpstr>PowerPoint Presentation</vt:lpstr>
      <vt:lpstr>PowerPoint Presentation</vt:lpstr>
      <vt:lpstr>What is heuristic function?</vt:lpstr>
      <vt:lpstr>Informed Search/ Heuristic Search in AI </vt:lpstr>
      <vt:lpstr>Best-first search Algorithm </vt:lpstr>
      <vt:lpstr>The performance measure of Best-first search Algorithm: Completeness: Best-first search is incomplete even in finite state space. Optimality: It does not provide an optimal solution. Time and Space complexity: It has O(bm) worst time and space complexity, where m is the maximum depth of the search tree. If the quality of the heuristic function is good, the complexities could be reduced substantially. Note: Best first searches combines the advantage of BFS and DFS to find the best solution. Disadvantages of Best-first search BFS does not guarantees to reach the goal state. Since the best-first search is a greedy approach, it does not give an optimized solution. It may cover a long distance in some cases. </vt:lpstr>
      <vt:lpstr>PowerPoint Presentation</vt:lpstr>
      <vt:lpstr>A* Search Algorithm </vt:lpstr>
      <vt:lpstr>In the above example,  S is the root node, and G is the goal node. Starting from the root node S and moving  towards its next successive nodes A and B. In order to reach the goal node G, calculate the f(n) value of node S, A and B using the evaluation equation i.e. f(n)=g(n)+h(n) Calculation of f(n) for node S: f(S)=(distance from node S to S) + h(S) 0+10=10. Calculation of f(n) for node A: f(A)=(distance from node S to A)+h(A) 2+12=14 Calculation of f(n) for node B: f(B)=(distance from node S to B)+h(B)  3+14=17 Therefore, node A has the lowest f(n) value. Hence, node A will be explored to its next level nodes C and D and again calculate the lowest f(n) value. After calculating, the sequence we get is S-&gt;A-&gt;D-&gt;G with f(n)=13(lowest value).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Unit-2</dc:title>
  <dc:creator>vanitakshirsagar123@outlook.com</dc:creator>
  <cp:lastModifiedBy>vanitakshirsagar123@outlook.com</cp:lastModifiedBy>
  <cp:revision>2</cp:revision>
  <dcterms:created xsi:type="dcterms:W3CDTF">2022-08-03T06:31:12Z</dcterms:created>
  <dcterms:modified xsi:type="dcterms:W3CDTF">2022-08-03T08:42:05Z</dcterms:modified>
</cp:coreProperties>
</file>