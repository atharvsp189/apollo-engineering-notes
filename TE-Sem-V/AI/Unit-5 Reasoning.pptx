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68"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5" r:id="rId39"/>
    <p:sldId id="294" r:id="rId40"/>
    <p:sldId id="296" r:id="rId41"/>
    <p:sldId id="297" r:id="rId42"/>
    <p:sldId id="298" r:id="rId43"/>
    <p:sldId id="299" r:id="rId44"/>
    <p:sldId id="300" r:id="rId45"/>
    <p:sldId id="301" r:id="rId46"/>
    <p:sldId id="302" r:id="rId47"/>
    <p:sldId id="303" r:id="rId48"/>
    <p:sldId id="306" r:id="rId49"/>
    <p:sldId id="304" r:id="rId50"/>
    <p:sldId id="305"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293" r:id="rId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822"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2CEDD89-BA0F-45F9-8ABC-282BA3B819A4}" type="datetimeFigureOut">
              <a:rPr lang="en-US" smtClean="0"/>
              <a:pPr/>
              <a:t>10/19/2022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DE6F020-7C34-44F3-BCCA-8BFD8A7DE15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DE6F020-7C34-44F3-BCCA-8BFD8A7DE156}" type="slidenum">
              <a:rPr lang="en-US" smtClean="0"/>
              <a:pPr/>
              <a:t>21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10/19/2022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10/19/2022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10/19/2022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Unit-5</a:t>
            </a:r>
            <a:br>
              <a:rPr lang="en-US" b="1" dirty="0" smtClean="0"/>
            </a:br>
            <a:r>
              <a:rPr lang="en-US" b="1" dirty="0" smtClean="0"/>
              <a:t>Reasoning 	</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685800"/>
          </a:xfrm>
        </p:spPr>
        <p:txBody>
          <a:bodyPr>
            <a:normAutofit fontScale="90000"/>
          </a:bodyPr>
          <a:lstStyle/>
          <a:p>
            <a:r>
              <a:rPr lang="en-US" dirty="0" smtClean="0"/>
              <a:t>Contents</a:t>
            </a:r>
            <a:endParaRPr lang="en-US" dirty="0"/>
          </a:p>
        </p:txBody>
      </p:sp>
      <p:sp>
        <p:nvSpPr>
          <p:cNvPr id="3" name="Content Placeholder 2"/>
          <p:cNvSpPr>
            <a:spLocks noGrp="1"/>
          </p:cNvSpPr>
          <p:nvPr>
            <p:ph idx="1"/>
          </p:nvPr>
        </p:nvSpPr>
        <p:spPr>
          <a:xfrm>
            <a:off x="0" y="838200"/>
            <a:ext cx="9144000" cy="6019800"/>
          </a:xfrm>
        </p:spPr>
        <p:txBody>
          <a:bodyPr>
            <a:normAutofit fontScale="92500" lnSpcReduction="20000"/>
          </a:bodyPr>
          <a:lstStyle/>
          <a:p>
            <a:r>
              <a:rPr lang="en-US" dirty="0" smtClean="0"/>
              <a:t>Inference in First-Order Logic,</a:t>
            </a:r>
          </a:p>
          <a:p>
            <a:r>
              <a:rPr lang="en-US" dirty="0" smtClean="0"/>
              <a:t>Propositional vs. First-Order Inference, </a:t>
            </a:r>
          </a:p>
          <a:p>
            <a:r>
              <a:rPr lang="en-US" dirty="0" smtClean="0"/>
              <a:t>Unification and First-Order Inference, </a:t>
            </a:r>
          </a:p>
          <a:p>
            <a:r>
              <a:rPr lang="en-US" dirty="0" smtClean="0"/>
              <a:t>Forward Chaining, </a:t>
            </a:r>
          </a:p>
          <a:p>
            <a:r>
              <a:rPr lang="en-US" dirty="0" smtClean="0"/>
              <a:t>Backward Chaining, </a:t>
            </a:r>
          </a:p>
          <a:p>
            <a:r>
              <a:rPr lang="en-US" dirty="0" smtClean="0"/>
              <a:t>Resolution, </a:t>
            </a:r>
          </a:p>
          <a:p>
            <a:r>
              <a:rPr lang="en-US" dirty="0" smtClean="0"/>
              <a:t>Knowledge Representation, </a:t>
            </a:r>
          </a:p>
          <a:p>
            <a:r>
              <a:rPr lang="en-US" dirty="0" smtClean="0"/>
              <a:t>Ontological Engineering, </a:t>
            </a:r>
          </a:p>
          <a:p>
            <a:r>
              <a:rPr lang="en-US" dirty="0" smtClean="0"/>
              <a:t>Categories and Objects, </a:t>
            </a:r>
          </a:p>
          <a:p>
            <a:r>
              <a:rPr lang="en-US" dirty="0" smtClean="0"/>
              <a:t>Events, </a:t>
            </a:r>
          </a:p>
          <a:p>
            <a:r>
              <a:rPr lang="en-US" dirty="0" smtClean="0"/>
              <a:t>Mental Objects and Modal Logic, </a:t>
            </a:r>
          </a:p>
          <a:p>
            <a:r>
              <a:rPr lang="en-US" dirty="0" smtClean="0"/>
              <a:t>Reasoning Systems for Categories, </a:t>
            </a:r>
          </a:p>
          <a:p>
            <a:r>
              <a:rPr lang="en-US" dirty="0" smtClean="0"/>
              <a:t>Reasoning with Default Information 	</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Inference in First-Order Logic</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Inference in First-Order Logic is used to deduce new facts or sentences from existing sentences.</a:t>
            </a:r>
          </a:p>
          <a:p>
            <a:r>
              <a:rPr lang="en-US" dirty="0" smtClean="0"/>
              <a:t>First-Order logic does not only use predicate and terms for making atomic sentences but also uses another way, which is equality in FOL. For this, we can use </a:t>
            </a:r>
            <a:r>
              <a:rPr lang="en-US" b="1" dirty="0" smtClean="0"/>
              <a:t>equality symbols</a:t>
            </a:r>
            <a:r>
              <a:rPr lang="en-US" dirty="0" smtClean="0"/>
              <a:t> which specify that the two terms refer to the same object.</a:t>
            </a:r>
          </a:p>
          <a:p>
            <a:r>
              <a:rPr lang="en-US" b="1" dirty="0" smtClean="0"/>
              <a:t>Example: Brother (John) = Smith.</a:t>
            </a:r>
          </a:p>
          <a:p>
            <a:r>
              <a:rPr lang="en-US" dirty="0" smtClean="0"/>
              <a:t>As in the above example, the object referred by the </a:t>
            </a:r>
            <a:r>
              <a:rPr lang="en-US" b="1" dirty="0" smtClean="0"/>
              <a:t>Brother (John)</a:t>
            </a:r>
            <a:r>
              <a:rPr lang="en-US" dirty="0" smtClean="0"/>
              <a:t> is similar to the object referred by </a:t>
            </a:r>
            <a:r>
              <a:rPr lang="en-US" b="1" dirty="0" smtClean="0"/>
              <a:t>Smith</a:t>
            </a:r>
            <a:r>
              <a:rPr lang="en-US" dirty="0" smtClean="0"/>
              <a:t>. The equality symbol can also be used with negation to represent that two terms are not the same objects.</a:t>
            </a:r>
          </a:p>
          <a:p>
            <a:r>
              <a:rPr lang="en-US" b="1" dirty="0" smtClean="0"/>
              <a:t>Example: ￢(x=y) which is equivalent to x ≠y.</a:t>
            </a:r>
            <a:endParaRPr lang="en-US" dirty="0" smtClean="0"/>
          </a:p>
          <a:p>
            <a:endParaRPr lang="en-US"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FOL inference rules for quantifier</a:t>
            </a:r>
            <a:br>
              <a:rPr lang="en-US" dirty="0" smtClean="0"/>
            </a:br>
            <a:endParaRPr lang="en-US" dirty="0"/>
          </a:p>
        </p:txBody>
      </p:sp>
      <p:sp>
        <p:nvSpPr>
          <p:cNvPr id="3" name="Content Placeholder 2"/>
          <p:cNvSpPr>
            <a:spLocks noGrp="1"/>
          </p:cNvSpPr>
          <p:nvPr>
            <p:ph idx="1"/>
          </p:nvPr>
        </p:nvSpPr>
        <p:spPr>
          <a:xfrm>
            <a:off x="0" y="609600"/>
            <a:ext cx="9144000" cy="6248400"/>
          </a:xfrm>
        </p:spPr>
        <p:txBody>
          <a:bodyPr/>
          <a:lstStyle/>
          <a:p>
            <a:r>
              <a:rPr lang="en-US" b="1" dirty="0" smtClean="0"/>
              <a:t>Universal Generalization</a:t>
            </a:r>
            <a:endParaRPr lang="en-US" dirty="0" smtClean="0"/>
          </a:p>
          <a:p>
            <a:r>
              <a:rPr lang="en-US" b="1" dirty="0" smtClean="0"/>
              <a:t>Universal Instantiation</a:t>
            </a:r>
            <a:endParaRPr lang="en-US" dirty="0" smtClean="0"/>
          </a:p>
          <a:p>
            <a:r>
              <a:rPr lang="en-US" b="1" dirty="0" smtClean="0"/>
              <a:t>Existential Instantiation</a:t>
            </a:r>
            <a:endParaRPr lang="en-US" dirty="0" smtClean="0"/>
          </a:p>
          <a:p>
            <a:r>
              <a:rPr lang="en-US" b="1" dirty="0" smtClean="0"/>
              <a:t>Existential introduction</a:t>
            </a:r>
            <a:endParaRPr lang="en-US" dirty="0" smtClean="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FOL inference rules for quantifier</a:t>
            </a:r>
            <a:br>
              <a:rPr lang="en-US" dirty="0" smtClean="0"/>
            </a:br>
            <a:endParaRPr lang="en-US" dirty="0"/>
          </a:p>
        </p:txBody>
      </p:sp>
      <p:sp>
        <p:nvSpPr>
          <p:cNvPr id="3" name="Content Placeholder 2"/>
          <p:cNvSpPr>
            <a:spLocks noGrp="1"/>
          </p:cNvSpPr>
          <p:nvPr>
            <p:ph idx="1"/>
          </p:nvPr>
        </p:nvSpPr>
        <p:spPr>
          <a:xfrm>
            <a:off x="0" y="609600"/>
            <a:ext cx="9144000" cy="6248400"/>
          </a:xfrm>
        </p:spPr>
        <p:txBody>
          <a:bodyPr>
            <a:normAutofit/>
          </a:bodyPr>
          <a:lstStyle/>
          <a:p>
            <a:r>
              <a:rPr lang="en-US" b="1" dirty="0" smtClean="0"/>
              <a:t>Universal Generalization</a:t>
            </a:r>
            <a:endParaRPr lang="en-US" dirty="0" smtClean="0"/>
          </a:p>
          <a:p>
            <a:r>
              <a:rPr lang="en-US" dirty="0" smtClean="0"/>
              <a:t>Universal generalization is a valid inference rule which states that if premise P(c) is true for any arbitrary element c in the universe of discourse, then we can have a conclusion as ∀ x P(x).</a:t>
            </a:r>
          </a:p>
          <a:p>
            <a:r>
              <a:rPr lang="en-US" dirty="0" smtClean="0"/>
              <a:t>This rule can be used if we want to show that every element has a similar property.</a:t>
            </a:r>
          </a:p>
          <a:p>
            <a:r>
              <a:rPr lang="en-US" dirty="0" smtClean="0"/>
              <a:t>In this rule, x must not appear as a free variable.</a:t>
            </a:r>
          </a:p>
          <a:p>
            <a:r>
              <a:rPr lang="en-US" b="1" dirty="0" smtClean="0"/>
              <a:t>Example:</a:t>
            </a:r>
            <a:r>
              <a:rPr lang="en-US" dirty="0" smtClean="0"/>
              <a:t> Let's represent, P(c): "</a:t>
            </a:r>
            <a:r>
              <a:rPr lang="en-US" b="1" dirty="0" smtClean="0"/>
              <a:t>A byte contains 8 bits</a:t>
            </a:r>
            <a:r>
              <a:rPr lang="en-US" dirty="0" smtClean="0"/>
              <a:t>", so for </a:t>
            </a:r>
            <a:r>
              <a:rPr lang="en-US" b="1" dirty="0" smtClean="0"/>
              <a:t>∀ x P(x)</a:t>
            </a:r>
            <a:r>
              <a:rPr lang="en-US" dirty="0" smtClean="0"/>
              <a:t> "</a:t>
            </a:r>
            <a:r>
              <a:rPr lang="en-US" b="1" dirty="0" smtClean="0"/>
              <a:t>All bytes contain 8 bits</a:t>
            </a:r>
            <a:r>
              <a:rPr lang="en-US" dirty="0" smtClean="0"/>
              <a:t>.", it will also be true.</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FOL inference rules for quantifier</a:t>
            </a:r>
            <a:br>
              <a:rPr lang="en-US" dirty="0" smtClean="0"/>
            </a:br>
            <a:endParaRPr lang="en-US" dirty="0"/>
          </a:p>
        </p:txBody>
      </p:sp>
      <p:sp>
        <p:nvSpPr>
          <p:cNvPr id="3" name="Content Placeholder 2"/>
          <p:cNvSpPr>
            <a:spLocks noGrp="1"/>
          </p:cNvSpPr>
          <p:nvPr>
            <p:ph idx="1"/>
          </p:nvPr>
        </p:nvSpPr>
        <p:spPr>
          <a:xfrm>
            <a:off x="0" y="609600"/>
            <a:ext cx="9144000" cy="6248400"/>
          </a:xfrm>
        </p:spPr>
        <p:txBody>
          <a:bodyPr>
            <a:normAutofit fontScale="92500" lnSpcReduction="20000"/>
          </a:bodyPr>
          <a:lstStyle/>
          <a:p>
            <a:r>
              <a:rPr lang="en-US" b="1" dirty="0" smtClean="0"/>
              <a:t>Universal Instantiation</a:t>
            </a:r>
            <a:endParaRPr lang="en-US" dirty="0" smtClean="0"/>
          </a:p>
          <a:p>
            <a:r>
              <a:rPr lang="en-US" dirty="0" smtClean="0"/>
              <a:t>Universal instantiation is also called as universal elimination or UI is a valid inference rule. It can be applied multiple times to add new sentences.</a:t>
            </a:r>
          </a:p>
          <a:p>
            <a:r>
              <a:rPr lang="en-US" dirty="0" smtClean="0"/>
              <a:t>The new KB is logically equivalent to the previous KB.</a:t>
            </a:r>
          </a:p>
          <a:p>
            <a:r>
              <a:rPr lang="en-US" dirty="0" smtClean="0"/>
              <a:t>As per UI, </a:t>
            </a:r>
            <a:r>
              <a:rPr lang="en-US" b="1" dirty="0" smtClean="0"/>
              <a:t>we can infer any sentence obtained by substituting a ground term for the variable</a:t>
            </a:r>
            <a:r>
              <a:rPr lang="en-US" dirty="0" smtClean="0"/>
              <a:t>.</a:t>
            </a:r>
          </a:p>
          <a:p>
            <a:r>
              <a:rPr lang="en-US" dirty="0" smtClean="0"/>
              <a:t>The UI rule state that we can infer any sentence P(c) by substituting a ground term c (a constant within domain x) from </a:t>
            </a:r>
            <a:r>
              <a:rPr lang="en-US" b="1" dirty="0" smtClean="0"/>
              <a:t>∀ x P(x) for any object in the universe of discourse</a:t>
            </a:r>
            <a:r>
              <a:rPr lang="en-US" dirty="0" smtClean="0"/>
              <a:t>.</a:t>
            </a:r>
          </a:p>
          <a:p>
            <a:r>
              <a:rPr lang="en-US" dirty="0" smtClean="0"/>
              <a:t>IF "Every person like ice-cream"=&gt; ∀x P(x) so we can infer that</a:t>
            </a:r>
            <a:br>
              <a:rPr lang="en-US" dirty="0" smtClean="0"/>
            </a:br>
            <a:r>
              <a:rPr lang="en-US" dirty="0" smtClean="0"/>
              <a:t>"John likes ice-cream" =&gt; P(c)</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dirty="0" smtClean="0"/>
              <a:t>"All kings who are greedy are Evil." So let our knowledge base contains this detail as in the form of FOL:</a:t>
            </a:r>
          </a:p>
          <a:p>
            <a:r>
              <a:rPr lang="en-US" b="1" dirty="0" smtClean="0"/>
              <a:t>∀x king(x) ∧ greedy (x) → Evil (x),</a:t>
            </a:r>
            <a:endParaRPr lang="en-US" dirty="0" smtClean="0"/>
          </a:p>
          <a:p>
            <a:r>
              <a:rPr lang="en-US" dirty="0" smtClean="0"/>
              <a:t>So from this information, we can infer any of the following statements using Universal Instantiation:</a:t>
            </a:r>
          </a:p>
          <a:p>
            <a:r>
              <a:rPr lang="en-US" b="1" dirty="0" smtClean="0"/>
              <a:t>King(John) ∧ Greedy (John) → Evil (John),</a:t>
            </a:r>
            <a:endParaRPr lang="en-US" dirty="0" smtClean="0"/>
          </a:p>
          <a:p>
            <a:r>
              <a:rPr lang="en-US" b="1" dirty="0" smtClean="0"/>
              <a:t>King(Richard) ∧ Greedy (Richard) → Evil (Richard),</a:t>
            </a:r>
            <a:endParaRPr lang="en-US" dirty="0" smtClean="0"/>
          </a:p>
          <a:p>
            <a:r>
              <a:rPr lang="en-US" b="1" dirty="0" smtClean="0"/>
              <a:t>King(Father(John)) ∧ Greedy (Father(John)) → Evil (Father(John)),</a:t>
            </a:r>
            <a:endParaRPr lang="en-US" dirty="0" smtClean="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Existential Instantiation:</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Existential instantiation is also called as Existential Elimination, which is a valid inference rule in first-order logic.</a:t>
            </a:r>
          </a:p>
          <a:p>
            <a:r>
              <a:rPr lang="en-US" dirty="0" smtClean="0"/>
              <a:t>It can be applied only once to replace the existential sentence.</a:t>
            </a:r>
          </a:p>
          <a:p>
            <a:r>
              <a:rPr lang="en-US" dirty="0" smtClean="0"/>
              <a:t>The new KB is not logically equivalent to old KB, but it will be </a:t>
            </a:r>
            <a:r>
              <a:rPr lang="en-US" dirty="0" err="1" smtClean="0"/>
              <a:t>satisfiable</a:t>
            </a:r>
            <a:r>
              <a:rPr lang="en-US" dirty="0" smtClean="0"/>
              <a:t> if old KB was </a:t>
            </a:r>
            <a:r>
              <a:rPr lang="en-US" dirty="0" err="1" smtClean="0"/>
              <a:t>satisfiable</a:t>
            </a:r>
            <a:r>
              <a:rPr lang="en-US" dirty="0" smtClean="0"/>
              <a:t>.</a:t>
            </a:r>
          </a:p>
          <a:p>
            <a:r>
              <a:rPr lang="en-US" dirty="0" smtClean="0"/>
              <a:t>This rule states that one can infer P(c) from the formula given in the form of ∃x P(x) for a new constant symbol c.</a:t>
            </a:r>
          </a:p>
          <a:p>
            <a:r>
              <a:rPr lang="en-US" dirty="0" smtClean="0"/>
              <a:t>The restriction with this rule is that c used in the rule must be a new term for which P(c ) is true.</a:t>
            </a:r>
          </a:p>
          <a:p>
            <a:r>
              <a:rPr lang="en-US" dirty="0" smtClean="0"/>
              <a:t>From the given sentence: </a:t>
            </a:r>
            <a:r>
              <a:rPr lang="en-US" b="1" dirty="0" smtClean="0"/>
              <a:t>∃x Crown(x) ∧ </a:t>
            </a:r>
            <a:r>
              <a:rPr lang="en-US" b="1" dirty="0" err="1" smtClean="0"/>
              <a:t>OnHead</a:t>
            </a:r>
            <a:r>
              <a:rPr lang="en-US" b="1" dirty="0" smtClean="0"/>
              <a:t>(x, John),</a:t>
            </a:r>
            <a:endParaRPr lang="en-US" dirty="0" smtClean="0"/>
          </a:p>
          <a:p>
            <a:r>
              <a:rPr lang="en-US" dirty="0" smtClean="0"/>
              <a:t>So we can infer: </a:t>
            </a:r>
            <a:r>
              <a:rPr lang="en-US" b="1" dirty="0" smtClean="0"/>
              <a:t>Crown(K) ∧ </a:t>
            </a:r>
            <a:r>
              <a:rPr lang="en-US" b="1" dirty="0" err="1" smtClean="0"/>
              <a:t>OnHead</a:t>
            </a:r>
            <a:r>
              <a:rPr lang="en-US" b="1" dirty="0" smtClean="0"/>
              <a:t>( K, John),</a:t>
            </a:r>
            <a:r>
              <a:rPr lang="en-US" dirty="0" smtClean="0"/>
              <a:t> as long as K does not appear in the knowledge base.</a:t>
            </a:r>
          </a:p>
          <a:p>
            <a:r>
              <a:rPr lang="en-US" dirty="0" smtClean="0"/>
              <a:t>The above used K is a constant symbol, which is called </a:t>
            </a:r>
            <a:r>
              <a:rPr lang="en-US" b="1" dirty="0" err="1" smtClean="0"/>
              <a:t>Skolem</a:t>
            </a:r>
            <a:r>
              <a:rPr lang="en-US" b="1" dirty="0" smtClean="0"/>
              <a:t> constant</a:t>
            </a:r>
            <a:r>
              <a:rPr lang="en-US" dirty="0" smtClean="0"/>
              <a:t>.</a:t>
            </a:r>
          </a:p>
          <a:p>
            <a:r>
              <a:rPr lang="en-US" dirty="0" smtClean="0"/>
              <a:t>The Existential instantiation is a special case of </a:t>
            </a:r>
            <a:r>
              <a:rPr lang="en-US" b="1" dirty="0" err="1" smtClean="0"/>
              <a:t>Skolemization</a:t>
            </a:r>
            <a:r>
              <a:rPr lang="en-US" b="1" dirty="0" smtClean="0"/>
              <a:t> process</a:t>
            </a:r>
            <a:r>
              <a:rPr lang="en-US" dirty="0" smtClean="0"/>
              <a:t>.</a:t>
            </a:r>
          </a:p>
          <a:p>
            <a:endParaRPr lang="en-US" dirty="0" smtClean="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Existential instantiation</a:t>
            </a:r>
            <a:endParaRPr lang="en-US" b="1" dirty="0"/>
          </a:p>
        </p:txBody>
      </p:sp>
      <p:sp>
        <p:nvSpPr>
          <p:cNvPr id="3" name="Content Placeholder 2"/>
          <p:cNvSpPr>
            <a:spLocks noGrp="1"/>
          </p:cNvSpPr>
          <p:nvPr>
            <p:ph idx="1"/>
          </p:nvPr>
        </p:nvSpPr>
        <p:spPr/>
        <p:txBody>
          <a:bodyPr>
            <a:normAutofit fontScale="70000" lnSpcReduction="20000"/>
          </a:bodyPr>
          <a:lstStyle/>
          <a:p>
            <a:r>
              <a:rPr lang="en-US" dirty="0" smtClean="0"/>
              <a:t>Existential instantiation is also called as Existential Elimination, which is a valid inference rule in first-order logic.</a:t>
            </a:r>
          </a:p>
          <a:p>
            <a:r>
              <a:rPr lang="en-US" dirty="0" smtClean="0"/>
              <a:t>It can be applied only once to replace the existential sentence.</a:t>
            </a:r>
          </a:p>
          <a:p>
            <a:r>
              <a:rPr lang="en-US" dirty="0" smtClean="0"/>
              <a:t>The new KB is not logically equivalent to old KB, but it will be </a:t>
            </a:r>
            <a:r>
              <a:rPr lang="en-US" dirty="0" err="1" smtClean="0"/>
              <a:t>satisfiable</a:t>
            </a:r>
            <a:r>
              <a:rPr lang="en-US" dirty="0" smtClean="0"/>
              <a:t> if old KB was </a:t>
            </a:r>
            <a:r>
              <a:rPr lang="en-US" dirty="0" err="1" smtClean="0"/>
              <a:t>satisfiable</a:t>
            </a:r>
            <a:r>
              <a:rPr lang="en-US" dirty="0" smtClean="0"/>
              <a:t>.</a:t>
            </a:r>
          </a:p>
          <a:p>
            <a:r>
              <a:rPr lang="en-US" dirty="0" smtClean="0"/>
              <a:t>This rule states that one can infer P(c) from the formula given in the form of ∃x P(x) for a new constant symbol c.</a:t>
            </a:r>
          </a:p>
          <a:p>
            <a:r>
              <a:rPr lang="en-US" dirty="0" smtClean="0"/>
              <a:t>The restriction with this rule is that c used in the rule must be a new term for which P(c ) is true.</a:t>
            </a:r>
          </a:p>
          <a:p>
            <a:r>
              <a:rPr lang="en-US" dirty="0" smtClean="0"/>
              <a:t>From the given sentence: </a:t>
            </a:r>
            <a:r>
              <a:rPr lang="en-US" b="1" dirty="0" smtClean="0"/>
              <a:t>∃x Crown(x) ∧ </a:t>
            </a:r>
            <a:r>
              <a:rPr lang="en-US" b="1" dirty="0" err="1" smtClean="0"/>
              <a:t>OnHead</a:t>
            </a:r>
            <a:r>
              <a:rPr lang="en-US" b="1" dirty="0" smtClean="0"/>
              <a:t>(x, John),</a:t>
            </a:r>
            <a:endParaRPr lang="en-US" dirty="0" smtClean="0"/>
          </a:p>
          <a:p>
            <a:r>
              <a:rPr lang="en-US" dirty="0" smtClean="0"/>
              <a:t>So we can infer: </a:t>
            </a:r>
            <a:r>
              <a:rPr lang="en-US" b="1" dirty="0" smtClean="0"/>
              <a:t>Crown(K) ∧ </a:t>
            </a:r>
            <a:r>
              <a:rPr lang="en-US" b="1" dirty="0" err="1" smtClean="0"/>
              <a:t>OnHead</a:t>
            </a:r>
            <a:r>
              <a:rPr lang="en-US" b="1" dirty="0" smtClean="0"/>
              <a:t>( K, John),</a:t>
            </a:r>
            <a:r>
              <a:rPr lang="en-US" dirty="0" smtClean="0"/>
              <a:t> as long as K does not appear in the knowledge base.</a:t>
            </a:r>
          </a:p>
          <a:p>
            <a:r>
              <a:rPr lang="en-US" dirty="0" smtClean="0"/>
              <a:t>The above used K is a constant symbol.</a:t>
            </a:r>
          </a:p>
          <a:p>
            <a:endParaRPr lang="en-US" dirty="0" smtClean="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Existential introduction</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An existential introduction is also known as an existential generalization, which is a valid inference rule in first-order logic.</a:t>
            </a:r>
          </a:p>
          <a:p>
            <a:r>
              <a:rPr lang="en-US" dirty="0" smtClean="0"/>
              <a:t>This rule states that if there is some element c in the universe of discourse which has a property P, then we can infer that there exists something in the universe which has the property P.</a:t>
            </a:r>
          </a:p>
          <a:p>
            <a:r>
              <a:rPr lang="en-US" b="1" dirty="0" smtClean="0"/>
              <a:t>Example: Let's say that,</a:t>
            </a:r>
            <a:r>
              <a:rPr lang="en-US" dirty="0" smtClean="0"/>
              <a:t/>
            </a:r>
            <a:br>
              <a:rPr lang="en-US" dirty="0" smtClean="0"/>
            </a:br>
            <a:r>
              <a:rPr lang="en-US" dirty="0" smtClean="0"/>
              <a:t>"</a:t>
            </a:r>
            <a:r>
              <a:rPr lang="en-US" dirty="0" err="1" smtClean="0"/>
              <a:t>Priyanka</a:t>
            </a:r>
            <a:r>
              <a:rPr lang="en-US" dirty="0" smtClean="0"/>
              <a:t> got good marks in English."</a:t>
            </a:r>
            <a:br>
              <a:rPr lang="en-US" dirty="0" smtClean="0"/>
            </a:br>
            <a:r>
              <a:rPr lang="en-US" dirty="0" smtClean="0"/>
              <a:t>"Therefore, someone got good marks in English."</a:t>
            </a:r>
          </a:p>
          <a:p>
            <a:endParaRPr lang="en-US" dirty="0" smtClean="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87362"/>
          </a:xfrm>
        </p:spPr>
        <p:txBody>
          <a:bodyPr>
            <a:normAutofit fontScale="90000"/>
          </a:bodyPr>
          <a:lstStyle/>
          <a:p>
            <a:r>
              <a:rPr lang="en-US" dirty="0" smtClean="0"/>
              <a:t>Propositional vs. First-Order Inference</a:t>
            </a:r>
            <a:endParaRPr lang="en-US" dirty="0"/>
          </a:p>
        </p:txBody>
      </p:sp>
      <p:sp>
        <p:nvSpPr>
          <p:cNvPr id="6" name="Content Placeholder 5"/>
          <p:cNvSpPr>
            <a:spLocks noGrp="1"/>
          </p:cNvSpPr>
          <p:nvPr>
            <p:ph idx="1"/>
          </p:nvPr>
        </p:nvSpPr>
        <p:spPr>
          <a:xfrm>
            <a:off x="0" y="609600"/>
            <a:ext cx="9144000" cy="6248400"/>
          </a:xfrm>
        </p:spPr>
        <p:txBody>
          <a:bodyPr>
            <a:normAutofit fontScale="92500" lnSpcReduction="10000"/>
          </a:bodyPr>
          <a:lstStyle/>
          <a:p>
            <a:pPr algn="just"/>
            <a:r>
              <a:rPr lang="en-US" dirty="0" smtClean="0"/>
              <a:t>Propositional Logic converts a complete sentence into a symbol and makes it logical whereas in First-Order Logic relation of a particular sentence will be made that involves relations, constants, functions, and constants.</a:t>
            </a:r>
          </a:p>
          <a:p>
            <a:pPr algn="just"/>
            <a:r>
              <a:rPr lang="en-US" dirty="0" smtClean="0"/>
              <a:t>The limitation of PL is that it does not represent any individual entities whereas FOL can easily represent the individual establishment that means if you are writing a single sentence then it can be easily represented in FOL.</a:t>
            </a:r>
          </a:p>
          <a:p>
            <a:pPr algn="just"/>
            <a:r>
              <a:rPr lang="en-US" dirty="0" smtClean="0"/>
              <a:t>PL does not signify or express the generalization, specialization or pattern for example ‘QUANTIFIERS’ cannot be used in PL but in FOL users can easily use quantifiers as it does express the generalization, specialization, and pattern.</a:t>
            </a:r>
          </a:p>
          <a:p>
            <a:pPr algn="just"/>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87362"/>
          </a:xfrm>
        </p:spPr>
        <p:txBody>
          <a:bodyPr>
            <a:normAutofit fontScale="90000"/>
          </a:bodyPr>
          <a:lstStyle/>
          <a:p>
            <a:r>
              <a:rPr lang="en-US" b="1" dirty="0" smtClean="0"/>
              <a:t>Unification and First-Order Inference</a:t>
            </a:r>
            <a:endParaRPr lang="en-US" b="1" dirty="0"/>
          </a:p>
        </p:txBody>
      </p:sp>
      <p:sp>
        <p:nvSpPr>
          <p:cNvPr id="3" name="Content Placeholder 2"/>
          <p:cNvSpPr>
            <a:spLocks noGrp="1"/>
          </p:cNvSpPr>
          <p:nvPr>
            <p:ph idx="1"/>
          </p:nvPr>
        </p:nvSpPr>
        <p:spPr>
          <a:xfrm>
            <a:off x="0" y="609600"/>
            <a:ext cx="9144000" cy="6248400"/>
          </a:xfrm>
        </p:spPr>
        <p:txBody>
          <a:bodyPr>
            <a:normAutofit lnSpcReduction="10000"/>
          </a:bodyPr>
          <a:lstStyle/>
          <a:p>
            <a:r>
              <a:rPr lang="en-US" b="1" dirty="0" smtClean="0"/>
              <a:t>Unification is a key component of all first-order inference algorithms</a:t>
            </a:r>
            <a:r>
              <a:rPr lang="en-US" dirty="0" smtClean="0"/>
              <a:t>. It returns fail if the expressions do not match with each other. The substitution variables are called Most General Unifier or MGU.</a:t>
            </a:r>
          </a:p>
          <a:p>
            <a:r>
              <a:rPr lang="en-US" b="1" dirty="0" smtClean="0"/>
              <a:t>John likes all kind of food.</a:t>
            </a:r>
            <a:endParaRPr lang="en-US" dirty="0" smtClean="0"/>
          </a:p>
          <a:p>
            <a:r>
              <a:rPr lang="en-US" b="1" dirty="0" smtClean="0"/>
              <a:t>Apple and vegetable are food</a:t>
            </a:r>
            <a:endParaRPr lang="en-US" dirty="0" smtClean="0"/>
          </a:p>
          <a:p>
            <a:r>
              <a:rPr lang="en-US" b="1" dirty="0" smtClean="0"/>
              <a:t>Anything anyone eats and not killed is food.</a:t>
            </a:r>
            <a:endParaRPr lang="en-US" dirty="0" smtClean="0"/>
          </a:p>
          <a:p>
            <a:r>
              <a:rPr lang="en-US" b="1" dirty="0" smtClean="0"/>
              <a:t>Anil eats peanuts and still alive</a:t>
            </a:r>
            <a:endParaRPr lang="en-US" dirty="0" smtClean="0"/>
          </a:p>
          <a:p>
            <a:r>
              <a:rPr lang="en-US" b="1" dirty="0" smtClean="0"/>
              <a:t>Harry eats everything that Anil eats.</a:t>
            </a:r>
            <a:r>
              <a:rPr lang="en-US" dirty="0" smtClean="0"/>
              <a:t/>
            </a:r>
            <a:br>
              <a:rPr lang="en-US" dirty="0" smtClean="0"/>
            </a:br>
            <a:r>
              <a:rPr lang="en-US" b="1" dirty="0" smtClean="0"/>
              <a:t>Prove by resolution that:</a:t>
            </a:r>
            <a:endParaRPr lang="en-US" dirty="0" smtClean="0"/>
          </a:p>
          <a:p>
            <a:r>
              <a:rPr lang="en-US" b="1" dirty="0" smtClean="0"/>
              <a:t>John likes peanuts.</a:t>
            </a:r>
            <a:endParaRPr lang="en-US" dirty="0" smtClean="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r>
              <a:rPr lang="en-US" b="1" dirty="0" smtClean="0"/>
              <a:t>Step-1: Conversion of Facts into FOL</a:t>
            </a:r>
            <a:endParaRPr lang="en-US" dirty="0" smtClean="0"/>
          </a:p>
          <a:p>
            <a:r>
              <a:rPr lang="en-US" dirty="0" smtClean="0"/>
              <a:t>In the first step we will convert all the given statements into its first order logic.</a:t>
            </a:r>
          </a:p>
          <a:p>
            <a:endParaRPr lang="en-US" dirty="0"/>
          </a:p>
        </p:txBody>
      </p:sp>
      <p:pic>
        <p:nvPicPr>
          <p:cNvPr id="3074" name="Picture 2"/>
          <p:cNvPicPr>
            <a:picLocks noChangeAspect="1" noChangeArrowheads="1"/>
          </p:cNvPicPr>
          <p:nvPr/>
        </p:nvPicPr>
        <p:blipFill>
          <a:blip r:embed="rId2"/>
          <a:srcRect/>
          <a:stretch>
            <a:fillRect/>
          </a:stretch>
        </p:blipFill>
        <p:spPr bwMode="auto">
          <a:xfrm>
            <a:off x="457200" y="1556265"/>
            <a:ext cx="7467600" cy="5314778"/>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r>
              <a:rPr lang="en-US" b="1" dirty="0" smtClean="0"/>
              <a:t>Step-2: Conversion of FOL into CNF</a:t>
            </a:r>
            <a:endParaRPr lang="en-US" dirty="0"/>
          </a:p>
        </p:txBody>
      </p:sp>
      <p:pic>
        <p:nvPicPr>
          <p:cNvPr id="4099" name="Picture 3"/>
          <p:cNvPicPr>
            <a:picLocks noChangeAspect="1" noChangeArrowheads="1"/>
          </p:cNvPicPr>
          <p:nvPr/>
        </p:nvPicPr>
        <p:blipFill>
          <a:blip r:embed="rId2"/>
          <a:srcRect/>
          <a:stretch>
            <a:fillRect/>
          </a:stretch>
        </p:blipFill>
        <p:spPr bwMode="auto">
          <a:xfrm>
            <a:off x="0" y="609600"/>
            <a:ext cx="6858000" cy="5774174"/>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srcRect/>
          <a:stretch>
            <a:fillRect/>
          </a:stretch>
        </p:blipFill>
        <p:spPr bwMode="auto">
          <a:xfrm>
            <a:off x="0" y="-1"/>
            <a:ext cx="6858000" cy="6747387"/>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Grp="1" noChangeAspect="1" noChangeArrowheads="1"/>
          </p:cNvPicPr>
          <p:nvPr>
            <p:ph idx="1"/>
          </p:nvPr>
        </p:nvPicPr>
        <p:blipFill>
          <a:blip r:embed="rId2"/>
          <a:srcRect/>
          <a:stretch>
            <a:fillRect/>
          </a:stretch>
        </p:blipFill>
        <p:spPr bwMode="auto">
          <a:xfrm>
            <a:off x="0" y="0"/>
            <a:ext cx="7239000" cy="6855626"/>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b="1" dirty="0" smtClean="0"/>
              <a:t>Eliminate existential instantiation quantifier by elimination.</a:t>
            </a:r>
            <a:r>
              <a:rPr lang="en-US" dirty="0" smtClean="0"/>
              <a:t/>
            </a:r>
            <a:br>
              <a:rPr lang="en-US" dirty="0" smtClean="0"/>
            </a:br>
            <a:r>
              <a:rPr lang="en-US" dirty="0" smtClean="0"/>
              <a:t>In this step, we will eliminate existential quantifier ∃, and this process is known as </a:t>
            </a:r>
            <a:r>
              <a:rPr lang="en-US" b="1" dirty="0" err="1" smtClean="0"/>
              <a:t>Skolemization</a:t>
            </a:r>
            <a:r>
              <a:rPr lang="en-US" dirty="0" smtClean="0"/>
              <a:t>. But in this example problem since there is no existential quantifier so all the statements will remain same in this step.</a:t>
            </a:r>
          </a:p>
          <a:p>
            <a:r>
              <a:rPr lang="en-US" dirty="0" smtClean="0"/>
              <a:t/>
            </a:r>
            <a:br>
              <a:rPr lang="en-US" dirty="0" smtClean="0"/>
            </a:b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838200"/>
            <a:ext cx="8686800" cy="5287963"/>
          </a:xfrm>
        </p:spPr>
        <p:txBody>
          <a:bodyPr/>
          <a:lstStyle/>
          <a:p>
            <a:r>
              <a:rPr lang="en-US" b="1" dirty="0" smtClean="0"/>
              <a:t>Distribute conjunction ∧ over disjunction ¬.</a:t>
            </a:r>
            <a:r>
              <a:rPr lang="en-US" dirty="0" smtClean="0"/>
              <a:t/>
            </a:r>
            <a:br>
              <a:rPr lang="en-US" dirty="0" smtClean="0"/>
            </a:br>
            <a:r>
              <a:rPr lang="en-US" dirty="0" smtClean="0"/>
              <a:t>This step will not make any change in this problem.</a:t>
            </a:r>
          </a:p>
          <a:p>
            <a:r>
              <a:rPr lang="en-US" b="1" dirty="0" smtClean="0"/>
              <a:t>Step-3: Negate the statement to be proved</a:t>
            </a:r>
            <a:endParaRPr lang="en-US" dirty="0" smtClean="0"/>
          </a:p>
          <a:p>
            <a:r>
              <a:rPr lang="en-US" dirty="0" smtClean="0"/>
              <a:t>In this statement, we will apply negation to the conclusion statements, which will be written as ¬likes(John, Peanuts)</a:t>
            </a:r>
          </a:p>
          <a:p>
            <a:r>
              <a:rPr lang="en-US" b="1" dirty="0" smtClean="0"/>
              <a:t>Step-4: Draw Resolution graph:</a:t>
            </a:r>
            <a:endParaRPr lang="en-US" dirty="0" smtClean="0"/>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52800" y="0"/>
            <a:ext cx="5791200" cy="6858000"/>
          </a:xfrm>
        </p:spPr>
        <p:txBody>
          <a:bodyPr>
            <a:normAutofit fontScale="62500" lnSpcReduction="20000"/>
          </a:bodyPr>
          <a:lstStyle/>
          <a:p>
            <a:r>
              <a:rPr lang="en-US" dirty="0" smtClean="0"/>
              <a:t>In the first step of resolution graph, </a:t>
            </a:r>
            <a:r>
              <a:rPr lang="en-US" b="1" dirty="0" smtClean="0"/>
              <a:t>¬likes(John, Peanuts) </a:t>
            </a:r>
            <a:r>
              <a:rPr lang="en-US" dirty="0" smtClean="0"/>
              <a:t>, and </a:t>
            </a:r>
            <a:r>
              <a:rPr lang="en-US" b="1" dirty="0" smtClean="0"/>
              <a:t>likes(John, x) </a:t>
            </a:r>
            <a:r>
              <a:rPr lang="en-US" dirty="0" smtClean="0"/>
              <a:t>get resolved(canceled) by substitution of </a:t>
            </a:r>
            <a:r>
              <a:rPr lang="en-US" b="1" dirty="0" smtClean="0"/>
              <a:t>{Peanuts/x}</a:t>
            </a:r>
            <a:r>
              <a:rPr lang="en-US" dirty="0" smtClean="0"/>
              <a:t>, and we are left with </a:t>
            </a:r>
            <a:r>
              <a:rPr lang="en-US" b="1" dirty="0" smtClean="0"/>
              <a:t>¬ food(Peanuts)</a:t>
            </a:r>
          </a:p>
          <a:p>
            <a:endParaRPr lang="en-US" dirty="0" smtClean="0"/>
          </a:p>
          <a:p>
            <a:r>
              <a:rPr lang="en-US" dirty="0" smtClean="0"/>
              <a:t>In the second step of the resolution graph, </a:t>
            </a:r>
            <a:r>
              <a:rPr lang="en-US" b="1" dirty="0" smtClean="0"/>
              <a:t>¬ food(Peanuts) </a:t>
            </a:r>
            <a:r>
              <a:rPr lang="en-US" dirty="0" smtClean="0"/>
              <a:t>, and </a:t>
            </a:r>
            <a:r>
              <a:rPr lang="en-US" b="1" dirty="0" smtClean="0"/>
              <a:t>food(z) </a:t>
            </a:r>
            <a:r>
              <a:rPr lang="en-US" dirty="0" smtClean="0"/>
              <a:t>get resolved (canceled) by substitution of </a:t>
            </a:r>
            <a:r>
              <a:rPr lang="en-US" b="1" dirty="0" smtClean="0"/>
              <a:t>{ Peanuts/z}</a:t>
            </a:r>
            <a:r>
              <a:rPr lang="en-US" dirty="0" smtClean="0"/>
              <a:t>, and we are left with </a:t>
            </a:r>
            <a:r>
              <a:rPr lang="en-US" b="1" dirty="0" smtClean="0"/>
              <a:t>¬ eats(y, Peanuts) V killed(y) </a:t>
            </a:r>
            <a:r>
              <a:rPr lang="en-US" dirty="0" smtClean="0"/>
              <a:t>.</a:t>
            </a:r>
          </a:p>
          <a:p>
            <a:endParaRPr lang="en-US" dirty="0" smtClean="0"/>
          </a:p>
          <a:p>
            <a:r>
              <a:rPr lang="en-US" dirty="0" smtClean="0"/>
              <a:t>In the third step of the resolution graph, </a:t>
            </a:r>
            <a:r>
              <a:rPr lang="en-US" b="1" dirty="0" smtClean="0"/>
              <a:t>¬ eats(y, Peanuts) </a:t>
            </a:r>
            <a:r>
              <a:rPr lang="en-US" dirty="0" smtClean="0"/>
              <a:t>and </a:t>
            </a:r>
            <a:r>
              <a:rPr lang="en-US" b="1" dirty="0" smtClean="0"/>
              <a:t>eats (Anil, Peanuts) </a:t>
            </a:r>
            <a:r>
              <a:rPr lang="en-US" dirty="0" smtClean="0"/>
              <a:t>get resolved by substitution </a:t>
            </a:r>
            <a:r>
              <a:rPr lang="en-US" b="1" dirty="0" smtClean="0"/>
              <a:t>{Anil/y}</a:t>
            </a:r>
            <a:r>
              <a:rPr lang="en-US" dirty="0" smtClean="0"/>
              <a:t>, and we are left with </a:t>
            </a:r>
            <a:r>
              <a:rPr lang="en-US" b="1" dirty="0" smtClean="0"/>
              <a:t>Killed(Anil) </a:t>
            </a:r>
            <a:r>
              <a:rPr lang="en-US" dirty="0" smtClean="0"/>
              <a:t>.</a:t>
            </a:r>
          </a:p>
          <a:p>
            <a:endParaRPr lang="en-US" dirty="0" smtClean="0"/>
          </a:p>
          <a:p>
            <a:r>
              <a:rPr lang="en-US" dirty="0" smtClean="0"/>
              <a:t>In the fourth step of the resolution graph, </a:t>
            </a:r>
            <a:r>
              <a:rPr lang="en-US" b="1" dirty="0" smtClean="0"/>
              <a:t>Killed(Anil) </a:t>
            </a:r>
            <a:r>
              <a:rPr lang="en-US" dirty="0" smtClean="0"/>
              <a:t>and </a:t>
            </a:r>
            <a:r>
              <a:rPr lang="en-US" b="1" dirty="0" smtClean="0"/>
              <a:t>¬ killed(k) </a:t>
            </a:r>
            <a:r>
              <a:rPr lang="en-US" dirty="0" smtClean="0"/>
              <a:t>get resolve by substitution </a:t>
            </a:r>
            <a:r>
              <a:rPr lang="en-US" b="1" dirty="0" smtClean="0"/>
              <a:t>{Anil/k}</a:t>
            </a:r>
            <a:r>
              <a:rPr lang="en-US" dirty="0" smtClean="0"/>
              <a:t>, and we are left with </a:t>
            </a:r>
            <a:r>
              <a:rPr lang="en-US" b="1" dirty="0" smtClean="0"/>
              <a:t>¬ alive(Anil) </a:t>
            </a:r>
            <a:r>
              <a:rPr lang="en-US" dirty="0" smtClean="0"/>
              <a:t>.</a:t>
            </a:r>
          </a:p>
          <a:p>
            <a:endParaRPr lang="en-US" dirty="0" smtClean="0"/>
          </a:p>
          <a:p>
            <a:r>
              <a:rPr lang="en-US" dirty="0" smtClean="0"/>
              <a:t>In the last step of the resolution graph </a:t>
            </a:r>
            <a:r>
              <a:rPr lang="en-US" b="1" dirty="0" smtClean="0"/>
              <a:t>¬ alive(Anil) </a:t>
            </a:r>
            <a:r>
              <a:rPr lang="en-US" dirty="0" smtClean="0"/>
              <a:t>and </a:t>
            </a:r>
            <a:r>
              <a:rPr lang="en-US" b="1" dirty="0" smtClean="0"/>
              <a:t>alive(Anil) </a:t>
            </a:r>
            <a:r>
              <a:rPr lang="en-US" dirty="0" smtClean="0"/>
              <a:t>get resolved.</a:t>
            </a:r>
          </a:p>
          <a:p>
            <a:r>
              <a:rPr lang="en-US" dirty="0" smtClean="0"/>
              <a:t/>
            </a:r>
            <a:br>
              <a:rPr lang="en-US" dirty="0" smtClean="0"/>
            </a:br>
            <a:endParaRPr lang="en-US" dirty="0"/>
          </a:p>
        </p:txBody>
      </p:sp>
      <p:pic>
        <p:nvPicPr>
          <p:cNvPr id="4" name="Picture 2"/>
          <p:cNvPicPr>
            <a:picLocks noChangeAspect="1" noChangeArrowheads="1"/>
          </p:cNvPicPr>
          <p:nvPr/>
        </p:nvPicPr>
        <p:blipFill>
          <a:blip r:embed="rId2"/>
          <a:srcRect/>
          <a:stretch>
            <a:fillRect/>
          </a:stretch>
        </p:blipFill>
        <p:spPr bwMode="auto">
          <a:xfrm>
            <a:off x="0" y="0"/>
            <a:ext cx="3733800" cy="6858000"/>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Forward Chaining, </a:t>
            </a:r>
            <a:br>
              <a:rPr lang="en-US" b="1" dirty="0" smtClean="0"/>
            </a:br>
            <a:r>
              <a:rPr lang="en-US" b="1" dirty="0" smtClean="0"/>
              <a:t>Backward Chaining</a:t>
            </a:r>
            <a:endParaRPr lang="en-US" b="1" dirty="0"/>
          </a:p>
        </p:txBody>
      </p:sp>
      <p:sp>
        <p:nvSpPr>
          <p:cNvPr id="3" name="Content Placeholder 2"/>
          <p:cNvSpPr>
            <a:spLocks noGrp="1"/>
          </p:cNvSpPr>
          <p:nvPr>
            <p:ph idx="1"/>
          </p:nvPr>
        </p:nvSpPr>
        <p:spPr/>
        <p:txBody>
          <a:bodyPr>
            <a:normAutofit fontScale="92500" lnSpcReduction="10000"/>
          </a:bodyPr>
          <a:lstStyle/>
          <a:p>
            <a:r>
              <a:rPr lang="en-US" dirty="0" smtClean="0"/>
              <a:t>Inference engine:</a:t>
            </a:r>
          </a:p>
          <a:p>
            <a:r>
              <a:rPr lang="en-US" dirty="0" smtClean="0"/>
              <a:t>The inference engine is the component of the intelligent system in artificial intelligence, which applies logical rules to the knowledge base to infer new information from known facts. The first inference engine was part of the expert system. Inference engine commonly proceeds in two modes, which are:</a:t>
            </a:r>
          </a:p>
          <a:p>
            <a:r>
              <a:rPr lang="en-US" b="1" dirty="0" smtClean="0"/>
              <a:t>Forward chaining</a:t>
            </a:r>
            <a:endParaRPr lang="en-US" dirty="0" smtClean="0"/>
          </a:p>
          <a:p>
            <a:r>
              <a:rPr lang="en-US" b="1" dirty="0" smtClean="0"/>
              <a:t>Backward chaining</a:t>
            </a:r>
            <a:endParaRPr lang="en-US" dirty="0" smtClean="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Forward Chaining</a:t>
            </a:r>
            <a:br>
              <a:rPr lang="en-US" dirty="0" smtClean="0"/>
            </a:br>
            <a:endParaRPr lang="en-US" dirty="0"/>
          </a:p>
        </p:txBody>
      </p:sp>
      <p:sp>
        <p:nvSpPr>
          <p:cNvPr id="3" name="Content Placeholder 2"/>
          <p:cNvSpPr>
            <a:spLocks noGrp="1"/>
          </p:cNvSpPr>
          <p:nvPr>
            <p:ph idx="1"/>
          </p:nvPr>
        </p:nvSpPr>
        <p:spPr>
          <a:xfrm>
            <a:off x="0" y="838200"/>
            <a:ext cx="9144000" cy="6019800"/>
          </a:xfrm>
        </p:spPr>
        <p:txBody>
          <a:bodyPr>
            <a:normAutofit fontScale="77500" lnSpcReduction="20000"/>
          </a:bodyPr>
          <a:lstStyle/>
          <a:p>
            <a:r>
              <a:rPr lang="en-US" dirty="0" smtClean="0"/>
              <a:t>Forward chaining is also known as a forward deduction or forward reasoning method when using an inference engine. Forward chaining is a form of reasoning which start with atomic sentences in the knowledge base and applies inference rules  in the forward direction to extract more data until a goal is reached.</a:t>
            </a:r>
          </a:p>
          <a:p>
            <a:r>
              <a:rPr lang="en-US" dirty="0" smtClean="0"/>
              <a:t>The Forward-chaining algorithm starts from known facts, triggers all rules whose premises are satisfied, and add their conclusion to the known facts. This process repeats until the problem is solved.</a:t>
            </a:r>
          </a:p>
          <a:p>
            <a:r>
              <a:rPr lang="en-US" b="1" dirty="0" smtClean="0"/>
              <a:t>Properties of Forward-Chaining:</a:t>
            </a:r>
            <a:endParaRPr lang="en-US" dirty="0" smtClean="0"/>
          </a:p>
          <a:p>
            <a:r>
              <a:rPr lang="en-US" dirty="0" smtClean="0"/>
              <a:t>It is a down-up approach, as it moves from bottom to top.</a:t>
            </a:r>
          </a:p>
          <a:p>
            <a:r>
              <a:rPr lang="en-US" dirty="0" smtClean="0"/>
              <a:t>It is a process of making a conclusion based on known facts or data, by starting from the initial state and reaches the goal state.</a:t>
            </a:r>
          </a:p>
          <a:p>
            <a:r>
              <a:rPr lang="en-US" dirty="0" smtClean="0"/>
              <a:t>Forward-chaining approach is also called as data-driven as we reach to the goal using available data.</a:t>
            </a:r>
          </a:p>
          <a:p>
            <a:r>
              <a:rPr lang="en-US" dirty="0" smtClean="0"/>
              <a:t>Forward -chaining approach is commonly used in the expert system, such as CLIPS, business, and production rule systems</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"As per the law, it is a crime for an American to sell weapons to hostile nations. Country A, an enemy of America, has some missiles, and all the missiles were sold to it by Robert, who is an American citizen."</a:t>
            </a:r>
            <a:endParaRPr lang="en-US" dirty="0" smtClean="0"/>
          </a:p>
          <a:p>
            <a:r>
              <a:rPr lang="en-US" dirty="0" smtClean="0"/>
              <a:t>Prove that </a:t>
            </a:r>
            <a:r>
              <a:rPr lang="en-US" b="1" dirty="0" smtClean="0"/>
              <a:t>"Robert is criminal."</a:t>
            </a:r>
            <a:endParaRPr lang="en-US" dirty="0" smtClean="0"/>
          </a:p>
          <a:p>
            <a:r>
              <a:rPr lang="en-US" dirty="0" smtClean="0"/>
              <a:t>To solve the above problem, first, we will convert all the above facts into first-order definite clauses, and then we will use a forward-chaining algorithm to reach the goal.</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1143000"/>
          </a:xfrm>
        </p:spPr>
        <p:txBody>
          <a:bodyPr>
            <a:normAutofit fontScale="90000"/>
          </a:bodyPr>
          <a:lstStyle/>
          <a:p>
            <a:r>
              <a:rPr lang="en-US" dirty="0" smtClean="0"/>
              <a:t>Facts Conversion into FOL:</a:t>
            </a:r>
            <a:br>
              <a:rPr lang="en-US" dirty="0" smtClean="0"/>
            </a:br>
            <a:endParaRPr lang="en-US" dirty="0"/>
          </a:p>
        </p:txBody>
      </p:sp>
      <p:sp>
        <p:nvSpPr>
          <p:cNvPr id="3" name="Content Placeholder 2"/>
          <p:cNvSpPr>
            <a:spLocks noGrp="1"/>
          </p:cNvSpPr>
          <p:nvPr>
            <p:ph idx="1"/>
          </p:nvPr>
        </p:nvSpPr>
        <p:spPr>
          <a:xfrm>
            <a:off x="0" y="685800"/>
            <a:ext cx="9144000" cy="6172200"/>
          </a:xfrm>
        </p:spPr>
        <p:txBody>
          <a:bodyPr>
            <a:normAutofit fontScale="70000" lnSpcReduction="20000"/>
          </a:bodyPr>
          <a:lstStyle/>
          <a:p>
            <a:r>
              <a:rPr lang="en-US" dirty="0" smtClean="0"/>
              <a:t>It is a crime for an American to sell weapons to hostile nations. (Let's say p, q, and r are variables)</a:t>
            </a:r>
            <a:br>
              <a:rPr lang="en-US" dirty="0" smtClean="0"/>
            </a:br>
            <a:r>
              <a:rPr lang="en-US" b="1" dirty="0" smtClean="0"/>
              <a:t>American (p) ∧ weapon(q) ∧ sells (p, q, r) ∧ hostile(r) → Criminal(p)       ...(1)</a:t>
            </a:r>
            <a:endParaRPr lang="en-US" dirty="0" smtClean="0"/>
          </a:p>
          <a:p>
            <a:r>
              <a:rPr lang="en-US" dirty="0" smtClean="0"/>
              <a:t>Country A has some missiles. </a:t>
            </a:r>
            <a:r>
              <a:rPr lang="en-US" b="1" dirty="0" smtClean="0"/>
              <a:t>?p Owns(A, p) ∧ Missile(p)</a:t>
            </a:r>
            <a:r>
              <a:rPr lang="en-US" dirty="0" smtClean="0"/>
              <a:t>. It can be written in two definite clauses by using Existential Instantiation, introducing new Constant T1.</a:t>
            </a:r>
            <a:br>
              <a:rPr lang="en-US" dirty="0" smtClean="0"/>
            </a:br>
            <a:r>
              <a:rPr lang="en-US" b="1" dirty="0" smtClean="0"/>
              <a:t>Owns(A, T1)             ......(2)</a:t>
            </a:r>
            <a:r>
              <a:rPr lang="en-US" dirty="0" smtClean="0"/>
              <a:t/>
            </a:r>
            <a:br>
              <a:rPr lang="en-US" dirty="0" smtClean="0"/>
            </a:br>
            <a:r>
              <a:rPr lang="en-US" b="1" dirty="0" smtClean="0"/>
              <a:t>Missile(T1)             .......(3)</a:t>
            </a:r>
            <a:endParaRPr lang="en-US" dirty="0" smtClean="0"/>
          </a:p>
          <a:p>
            <a:r>
              <a:rPr lang="en-US" dirty="0" smtClean="0"/>
              <a:t>All of the missiles were sold to country A by Robert.</a:t>
            </a:r>
            <a:br>
              <a:rPr lang="en-US" dirty="0" smtClean="0"/>
            </a:br>
            <a:r>
              <a:rPr lang="en-US" b="1" dirty="0" smtClean="0"/>
              <a:t>?p Missiles(p) ∧ Owns (A, p) → Sells (Robert, p, A)       ......(4)</a:t>
            </a:r>
            <a:endParaRPr lang="en-US" dirty="0" smtClean="0"/>
          </a:p>
          <a:p>
            <a:r>
              <a:rPr lang="en-US" dirty="0" smtClean="0"/>
              <a:t>Missiles are weapons.</a:t>
            </a:r>
            <a:br>
              <a:rPr lang="en-US" dirty="0" smtClean="0"/>
            </a:br>
            <a:r>
              <a:rPr lang="en-US" b="1" dirty="0" smtClean="0"/>
              <a:t>Missile(p) → Weapons (p)             .......(5)</a:t>
            </a:r>
            <a:endParaRPr lang="en-US" dirty="0" smtClean="0"/>
          </a:p>
          <a:p>
            <a:r>
              <a:rPr lang="en-US" dirty="0" smtClean="0"/>
              <a:t>Enemy of America is known as hostile.</a:t>
            </a:r>
            <a:br>
              <a:rPr lang="en-US" dirty="0" smtClean="0"/>
            </a:br>
            <a:r>
              <a:rPr lang="en-US" b="1" dirty="0" smtClean="0"/>
              <a:t>Enemy(p, America) →Hostile(p)             ........(6)</a:t>
            </a:r>
            <a:endParaRPr lang="en-US" dirty="0" smtClean="0"/>
          </a:p>
          <a:p>
            <a:r>
              <a:rPr lang="en-US" dirty="0" smtClean="0"/>
              <a:t>Country A is an enemy of America.</a:t>
            </a:r>
            <a:br>
              <a:rPr lang="en-US" dirty="0" smtClean="0"/>
            </a:br>
            <a:r>
              <a:rPr lang="en-US" b="1" dirty="0" smtClean="0"/>
              <a:t>Enemy (A, America)             .........(7)</a:t>
            </a:r>
            <a:endParaRPr lang="en-US" dirty="0" smtClean="0"/>
          </a:p>
          <a:p>
            <a:r>
              <a:rPr lang="en-US" dirty="0" smtClean="0"/>
              <a:t>Robert is American</a:t>
            </a:r>
            <a:br>
              <a:rPr lang="en-US" dirty="0" smtClean="0"/>
            </a:br>
            <a:r>
              <a:rPr lang="en-US" b="1" dirty="0" smtClean="0"/>
              <a:t>American(Robert).             ..........(8)</a:t>
            </a:r>
            <a:endParaRPr lang="en-US" dirty="0" smtClean="0"/>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Forward chaining proof:</a:t>
            </a:r>
            <a:br>
              <a:rPr lang="en-US" dirty="0" smtClean="0"/>
            </a:br>
            <a:endParaRPr lang="en-US" dirty="0"/>
          </a:p>
        </p:txBody>
      </p:sp>
      <p:sp>
        <p:nvSpPr>
          <p:cNvPr id="3" name="Content Placeholder 2"/>
          <p:cNvSpPr>
            <a:spLocks noGrp="1"/>
          </p:cNvSpPr>
          <p:nvPr>
            <p:ph idx="1"/>
          </p:nvPr>
        </p:nvSpPr>
        <p:spPr>
          <a:xfrm>
            <a:off x="0" y="609600"/>
            <a:ext cx="9144000" cy="6248400"/>
          </a:xfrm>
        </p:spPr>
        <p:txBody>
          <a:bodyPr/>
          <a:lstStyle/>
          <a:p>
            <a:r>
              <a:rPr lang="en-US" b="1" dirty="0" smtClean="0"/>
              <a:t>Step-1:</a:t>
            </a:r>
            <a:endParaRPr lang="en-US" dirty="0" smtClean="0"/>
          </a:p>
          <a:p>
            <a:r>
              <a:rPr lang="en-US" dirty="0" smtClean="0"/>
              <a:t>In the first step we will start with the known facts and will choose the sentences which do not have implications, such as: </a:t>
            </a:r>
            <a:r>
              <a:rPr lang="en-US" b="1" dirty="0" smtClean="0"/>
              <a:t>American(Robert), Enemy(A, America), Owns(A, T1), and Missile(T1)</a:t>
            </a:r>
            <a:r>
              <a:rPr lang="en-US" dirty="0" smtClean="0"/>
              <a:t>. All these facts will be represented as below.</a:t>
            </a:r>
          </a:p>
          <a:p>
            <a:endParaRPr lang="en-US" dirty="0"/>
          </a:p>
        </p:txBody>
      </p:sp>
      <p:pic>
        <p:nvPicPr>
          <p:cNvPr id="8194" name="Picture 2"/>
          <p:cNvPicPr>
            <a:picLocks noChangeAspect="1" noChangeArrowheads="1"/>
          </p:cNvPicPr>
          <p:nvPr/>
        </p:nvPicPr>
        <p:blipFill>
          <a:blip r:embed="rId2"/>
          <a:srcRect/>
          <a:stretch>
            <a:fillRect/>
          </a:stretch>
        </p:blipFill>
        <p:spPr bwMode="auto">
          <a:xfrm>
            <a:off x="304800" y="3733800"/>
            <a:ext cx="8087710" cy="9144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5257800"/>
          </a:xfrm>
        </p:spPr>
        <p:txBody>
          <a:bodyPr>
            <a:normAutofit fontScale="92500" lnSpcReduction="10000"/>
          </a:bodyPr>
          <a:lstStyle/>
          <a:p>
            <a:r>
              <a:rPr lang="en-US" b="1" dirty="0" smtClean="0"/>
              <a:t>Step-2:</a:t>
            </a:r>
            <a:endParaRPr lang="en-US" dirty="0" smtClean="0"/>
          </a:p>
          <a:p>
            <a:r>
              <a:rPr lang="en-US" dirty="0" smtClean="0"/>
              <a:t>At the second step, we will see those facts which infer from available facts and with satisfied premises.</a:t>
            </a:r>
          </a:p>
          <a:p>
            <a:r>
              <a:rPr lang="en-US" dirty="0" smtClean="0"/>
              <a:t>Rule-(1) does not satisfy premises, so it will not be added in the first iteration.</a:t>
            </a:r>
          </a:p>
          <a:p>
            <a:r>
              <a:rPr lang="en-US" dirty="0" smtClean="0"/>
              <a:t>Rule-(2) and (3) are already added.</a:t>
            </a:r>
          </a:p>
          <a:p>
            <a:r>
              <a:rPr lang="en-US" dirty="0" smtClean="0"/>
              <a:t>Rule-(4) satisfy with the substitution {p/T1}, </a:t>
            </a:r>
            <a:r>
              <a:rPr lang="en-US" b="1" dirty="0" smtClean="0"/>
              <a:t>so Sells (Robert, T1, A)</a:t>
            </a:r>
            <a:r>
              <a:rPr lang="en-US" dirty="0" smtClean="0"/>
              <a:t> is added, which infers from the conjunction of Rule (2) and (3).</a:t>
            </a:r>
          </a:p>
          <a:p>
            <a:r>
              <a:rPr lang="en-US" dirty="0" smtClean="0"/>
              <a:t>Rule-(6) is satisfied with the substitution(p/A), so Hostile(A) is added and which infers from Rule-(7).</a:t>
            </a:r>
          </a:p>
          <a:p>
            <a:endParaRPr lang="en-US" dirty="0"/>
          </a:p>
        </p:txBody>
      </p:sp>
      <p:pic>
        <p:nvPicPr>
          <p:cNvPr id="9219" name="Picture 3"/>
          <p:cNvPicPr>
            <a:picLocks noChangeAspect="1" noChangeArrowheads="1"/>
          </p:cNvPicPr>
          <p:nvPr/>
        </p:nvPicPr>
        <p:blipFill>
          <a:blip r:embed="rId2"/>
          <a:srcRect/>
          <a:stretch>
            <a:fillRect/>
          </a:stretch>
        </p:blipFill>
        <p:spPr bwMode="auto">
          <a:xfrm>
            <a:off x="381000" y="4960934"/>
            <a:ext cx="7924800" cy="1897066"/>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8686800" cy="6126163"/>
          </a:xfrm>
        </p:spPr>
        <p:txBody>
          <a:bodyPr/>
          <a:lstStyle/>
          <a:p>
            <a:r>
              <a:rPr lang="en-US" b="1" dirty="0" smtClean="0"/>
              <a:t>Step-3:</a:t>
            </a:r>
            <a:endParaRPr lang="en-US" dirty="0" smtClean="0"/>
          </a:p>
          <a:p>
            <a:r>
              <a:rPr lang="en-US" dirty="0" smtClean="0"/>
              <a:t>At step-3, as we can check Rule-(1) is satisfied with the substitution </a:t>
            </a:r>
            <a:r>
              <a:rPr lang="en-US" b="1" dirty="0" smtClean="0"/>
              <a:t>{p/Robert, q/T1, r/A}, so we can add Criminal(Robert)</a:t>
            </a:r>
            <a:r>
              <a:rPr lang="en-US" dirty="0" smtClean="0"/>
              <a:t> which infers all the available facts. And hence we reached our goal statement.</a:t>
            </a:r>
          </a:p>
          <a:p>
            <a:endParaRPr lang="en-US" dirty="0"/>
          </a:p>
        </p:txBody>
      </p:sp>
      <p:pic>
        <p:nvPicPr>
          <p:cNvPr id="10242" name="Picture 2"/>
          <p:cNvPicPr>
            <a:picLocks noChangeAspect="1" noChangeArrowheads="1"/>
          </p:cNvPicPr>
          <p:nvPr/>
        </p:nvPicPr>
        <p:blipFill>
          <a:blip r:embed="rId2"/>
          <a:srcRect/>
          <a:stretch>
            <a:fillRect/>
          </a:stretch>
        </p:blipFill>
        <p:spPr bwMode="auto">
          <a:xfrm>
            <a:off x="914400" y="3048000"/>
            <a:ext cx="6544086" cy="3810000"/>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Backward Chaining:</a:t>
            </a:r>
            <a:br>
              <a:rPr lang="en-US" dirty="0" smtClean="0"/>
            </a:br>
            <a:endParaRPr lang="en-US" dirty="0"/>
          </a:p>
        </p:txBody>
      </p:sp>
      <p:sp>
        <p:nvSpPr>
          <p:cNvPr id="3" name="Content Placeholder 2"/>
          <p:cNvSpPr>
            <a:spLocks noGrp="1"/>
          </p:cNvSpPr>
          <p:nvPr>
            <p:ph idx="1"/>
          </p:nvPr>
        </p:nvSpPr>
        <p:spPr/>
        <p:txBody>
          <a:bodyPr/>
          <a:lstStyle/>
          <a:p>
            <a:r>
              <a:rPr lang="en-US" dirty="0" smtClean="0"/>
              <a:t>Backward-chaining is also known as a backward deduction or backward reasoning method when using an inference engine. A backward chaining algorithm is a form of reasoning, which starts with the goal and works backward, chaining through rules to find known facts that support the goal.</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Properties of backward chaining:</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It is known as a top-down approach.</a:t>
            </a:r>
          </a:p>
          <a:p>
            <a:r>
              <a:rPr lang="en-US" dirty="0" smtClean="0"/>
              <a:t>Backward-chaining is based on modus ponens inference rule.</a:t>
            </a:r>
          </a:p>
          <a:p>
            <a:r>
              <a:rPr lang="en-US" dirty="0" smtClean="0"/>
              <a:t>In backward chaining, the goal is broken into sub-goal or sub-goals to prove the facts true.</a:t>
            </a:r>
          </a:p>
          <a:p>
            <a:r>
              <a:rPr lang="en-US" dirty="0" smtClean="0"/>
              <a:t>It is called a goal-driven approach, as a list of goals decides which rules are selected and used.</a:t>
            </a:r>
          </a:p>
          <a:p>
            <a:r>
              <a:rPr lang="en-US" dirty="0" smtClean="0"/>
              <a:t>Backward -chaining algorithm is used in game theory, automated theorem proving tools, inference engines, proof assistants, and various AI applications.</a:t>
            </a:r>
          </a:p>
          <a:p>
            <a:r>
              <a:rPr lang="en-US" dirty="0" smtClean="0"/>
              <a:t>The backward-chaining method mostly used a </a:t>
            </a:r>
            <a:r>
              <a:rPr lang="en-US" b="1" dirty="0" smtClean="0"/>
              <a:t>depth-first search</a:t>
            </a:r>
            <a:r>
              <a:rPr lang="en-US" dirty="0" smtClean="0"/>
              <a:t> strategy for proof.</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American (p) ∧ weapon(q) ∧ sells (p, q, r) ∧ hostile(r) → Criminal(p) ...(1)</a:t>
            </a:r>
            <a:r>
              <a:rPr lang="en-US" dirty="0" smtClean="0"/>
              <a:t/>
            </a:r>
            <a:br>
              <a:rPr lang="en-US" dirty="0" smtClean="0"/>
            </a:br>
            <a:r>
              <a:rPr lang="en-US" b="1" dirty="0" smtClean="0"/>
              <a:t>Owns(A, T1)                 ........(2)</a:t>
            </a:r>
            <a:endParaRPr lang="en-US" dirty="0" smtClean="0"/>
          </a:p>
          <a:p>
            <a:r>
              <a:rPr lang="en-US" b="1" dirty="0" smtClean="0"/>
              <a:t>Missile(T1)</a:t>
            </a:r>
            <a:endParaRPr lang="en-US" dirty="0" smtClean="0"/>
          </a:p>
          <a:p>
            <a:r>
              <a:rPr lang="en-US" b="1" dirty="0" smtClean="0"/>
              <a:t>?p Missiles(p) ∧ Owns (A, p) → Sells (Robert, p, A)           ......(4)</a:t>
            </a:r>
            <a:endParaRPr lang="en-US" dirty="0" smtClean="0"/>
          </a:p>
          <a:p>
            <a:r>
              <a:rPr lang="en-US" b="1" dirty="0" smtClean="0"/>
              <a:t>Missile(p) → Weapons (p)                 .......(5)</a:t>
            </a:r>
            <a:endParaRPr lang="en-US" dirty="0" smtClean="0"/>
          </a:p>
          <a:p>
            <a:r>
              <a:rPr lang="en-US" b="1" dirty="0" smtClean="0"/>
              <a:t>Enemy(p, America) →Hostile(p)                 ........(6)</a:t>
            </a:r>
            <a:endParaRPr lang="en-US" dirty="0" smtClean="0"/>
          </a:p>
          <a:p>
            <a:r>
              <a:rPr lang="en-US" b="1" dirty="0" smtClean="0"/>
              <a:t>Enemy (A, America)                 .........(7)</a:t>
            </a:r>
            <a:endParaRPr lang="en-US" dirty="0" smtClean="0"/>
          </a:p>
          <a:p>
            <a:r>
              <a:rPr lang="en-US" b="1" dirty="0" smtClean="0"/>
              <a:t>American(Robert).                 ..........(8)</a:t>
            </a:r>
            <a:endParaRPr lang="en-US" dirty="0" smtClean="0"/>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r>
              <a:rPr lang="en-US" b="1" dirty="0" smtClean="0"/>
              <a:t>Step-1:</a:t>
            </a:r>
            <a:endParaRPr lang="en-US" dirty="0" smtClean="0"/>
          </a:p>
          <a:p>
            <a:r>
              <a:rPr lang="en-US" dirty="0" smtClean="0"/>
              <a:t>At the first step, we will take the goal fact. And from the goal fact, we will infer other facts, and at last, we will prove those facts true. So our goal fact is "Robert is Criminal," so following is the predicate of it.</a:t>
            </a:r>
          </a:p>
          <a:p>
            <a:endParaRPr lang="en-US" dirty="0"/>
          </a:p>
        </p:txBody>
      </p:sp>
      <p:pic>
        <p:nvPicPr>
          <p:cNvPr id="11266" name="Picture 2"/>
          <p:cNvPicPr>
            <a:picLocks noChangeAspect="1" noChangeArrowheads="1"/>
          </p:cNvPicPr>
          <p:nvPr/>
        </p:nvPicPr>
        <p:blipFill>
          <a:blip r:embed="rId2"/>
          <a:srcRect/>
          <a:stretch>
            <a:fillRect/>
          </a:stretch>
        </p:blipFill>
        <p:spPr bwMode="auto">
          <a:xfrm>
            <a:off x="1219200" y="2743200"/>
            <a:ext cx="3954743" cy="1309687"/>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3581400"/>
          </a:xfrm>
        </p:spPr>
        <p:txBody>
          <a:bodyPr>
            <a:normAutofit fontScale="92500" lnSpcReduction="20000"/>
          </a:bodyPr>
          <a:lstStyle/>
          <a:p>
            <a:r>
              <a:rPr lang="en-US" b="1" dirty="0" smtClean="0"/>
              <a:t>Step-2:</a:t>
            </a:r>
            <a:endParaRPr lang="en-US" dirty="0" smtClean="0"/>
          </a:p>
          <a:p>
            <a:r>
              <a:rPr lang="en-US" dirty="0" smtClean="0"/>
              <a:t>At the second step, we will infer other facts form goal fact which satisfies the rules. So as we can see in Rule-1, the goal predicate Criminal (Robert) is present with substitution {Robert/P}. So we will add all the conjunctive facts below the first level and will replace p with Robert.</a:t>
            </a:r>
          </a:p>
          <a:p>
            <a:r>
              <a:rPr lang="en-US" b="1" dirty="0" smtClean="0"/>
              <a:t>Here we can see American (Robert) is a fact, so it is proved here.</a:t>
            </a:r>
            <a:endParaRPr lang="en-US" dirty="0" smtClean="0"/>
          </a:p>
          <a:p>
            <a:endParaRPr lang="en-US" dirty="0"/>
          </a:p>
        </p:txBody>
      </p:sp>
      <p:pic>
        <p:nvPicPr>
          <p:cNvPr id="12291" name="Picture 3"/>
          <p:cNvPicPr>
            <a:picLocks noChangeAspect="1" noChangeArrowheads="1"/>
          </p:cNvPicPr>
          <p:nvPr/>
        </p:nvPicPr>
        <p:blipFill>
          <a:blip r:embed="rId2"/>
          <a:srcRect/>
          <a:stretch>
            <a:fillRect/>
          </a:stretch>
        </p:blipFill>
        <p:spPr bwMode="auto">
          <a:xfrm>
            <a:off x="2514600" y="3276600"/>
            <a:ext cx="5909582" cy="3581400"/>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r>
              <a:rPr lang="en-US" b="1" dirty="0" smtClean="0"/>
              <a:t>Step-3:</a:t>
            </a:r>
            <a:r>
              <a:rPr lang="en-US" dirty="0" smtClean="0"/>
              <a:t>t At step-3, we will extract further fact Missile(q) which infer from Weapon(q), as it satisfies Rule-(5). Weapon (q) is also true with the substitution of a constant T1 at q.</a:t>
            </a:r>
            <a:endParaRPr lang="en-US" dirty="0"/>
          </a:p>
        </p:txBody>
      </p:sp>
      <p:pic>
        <p:nvPicPr>
          <p:cNvPr id="13314" name="Picture 2"/>
          <p:cNvPicPr>
            <a:picLocks noChangeAspect="1" noChangeArrowheads="1"/>
          </p:cNvPicPr>
          <p:nvPr/>
        </p:nvPicPr>
        <p:blipFill>
          <a:blip r:embed="rId2"/>
          <a:srcRect/>
          <a:stretch>
            <a:fillRect/>
          </a:stretch>
        </p:blipFill>
        <p:spPr bwMode="auto">
          <a:xfrm>
            <a:off x="990600" y="2133600"/>
            <a:ext cx="6019800" cy="4467074"/>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r>
              <a:rPr lang="en-US" b="1" dirty="0" smtClean="0"/>
              <a:t>Step-4:</a:t>
            </a:r>
            <a:endParaRPr lang="en-US" dirty="0" smtClean="0"/>
          </a:p>
          <a:p>
            <a:r>
              <a:rPr lang="en-US" dirty="0" smtClean="0"/>
              <a:t>At step-4, we can infer facts Missile(T1) and Owns(A, T1) form Sells(Robert, T1, r) which satisfies the </a:t>
            </a:r>
            <a:r>
              <a:rPr lang="en-US" b="1" dirty="0" smtClean="0"/>
              <a:t>Rule- 4</a:t>
            </a:r>
            <a:r>
              <a:rPr lang="en-US" dirty="0" smtClean="0"/>
              <a:t>, with the substitution of A in place of r. So these two statements are proved here.</a:t>
            </a:r>
          </a:p>
          <a:p>
            <a:endParaRPr lang="en-US" dirty="0"/>
          </a:p>
        </p:txBody>
      </p:sp>
      <p:pic>
        <p:nvPicPr>
          <p:cNvPr id="14338" name="Picture 2"/>
          <p:cNvPicPr>
            <a:picLocks noChangeAspect="1" noChangeArrowheads="1"/>
          </p:cNvPicPr>
          <p:nvPr/>
        </p:nvPicPr>
        <p:blipFill>
          <a:blip r:embed="rId2"/>
          <a:srcRect/>
          <a:stretch>
            <a:fillRect/>
          </a:stretch>
        </p:blipFill>
        <p:spPr bwMode="auto">
          <a:xfrm>
            <a:off x="838200" y="2514600"/>
            <a:ext cx="5638800" cy="4184347"/>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4525963"/>
          </a:xfrm>
        </p:spPr>
        <p:txBody>
          <a:bodyPr/>
          <a:lstStyle/>
          <a:p>
            <a:r>
              <a:rPr lang="en-US" b="1" dirty="0" smtClean="0"/>
              <a:t>Step-5:</a:t>
            </a:r>
            <a:endParaRPr lang="en-US" dirty="0" smtClean="0"/>
          </a:p>
          <a:p>
            <a:r>
              <a:rPr lang="en-US" dirty="0" smtClean="0"/>
              <a:t>At step-5, we can infer the fact </a:t>
            </a:r>
            <a:r>
              <a:rPr lang="en-US" b="1" dirty="0" smtClean="0"/>
              <a:t>Enemy(A, America)</a:t>
            </a:r>
            <a:r>
              <a:rPr lang="en-US" dirty="0" smtClean="0"/>
              <a:t> from </a:t>
            </a:r>
            <a:r>
              <a:rPr lang="en-US" b="1" dirty="0" smtClean="0"/>
              <a:t>Hostile(A)</a:t>
            </a:r>
            <a:r>
              <a:rPr lang="en-US" dirty="0" smtClean="0"/>
              <a:t> which satisfies Rule- 6. And hence all the statements are proved true using backward chaining.</a:t>
            </a:r>
          </a:p>
          <a:p>
            <a:endParaRPr lang="en-US" dirty="0"/>
          </a:p>
        </p:txBody>
      </p:sp>
      <p:pic>
        <p:nvPicPr>
          <p:cNvPr id="15362" name="Picture 2"/>
          <p:cNvPicPr>
            <a:picLocks noChangeAspect="1" noChangeArrowheads="1"/>
          </p:cNvPicPr>
          <p:nvPr/>
        </p:nvPicPr>
        <p:blipFill>
          <a:blip r:embed="rId2"/>
          <a:srcRect/>
          <a:stretch>
            <a:fillRect/>
          </a:stretch>
        </p:blipFill>
        <p:spPr bwMode="auto">
          <a:xfrm>
            <a:off x="1828800" y="2675515"/>
            <a:ext cx="5562600" cy="4182485"/>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Resolution</a:t>
            </a:r>
            <a:endParaRPr lang="en-US" dirty="0"/>
          </a:p>
        </p:txBody>
      </p:sp>
      <p:sp>
        <p:nvSpPr>
          <p:cNvPr id="3" name="Content Placeholder 2"/>
          <p:cNvSpPr>
            <a:spLocks noGrp="1"/>
          </p:cNvSpPr>
          <p:nvPr>
            <p:ph idx="1"/>
          </p:nvPr>
        </p:nvSpPr>
        <p:spPr/>
        <p:txBody>
          <a:bodyPr/>
          <a:lstStyle/>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Ontological Engineering</a:t>
            </a:r>
            <a:endParaRPr lang="en-US" dirty="0"/>
          </a:p>
        </p:txBody>
      </p:sp>
      <p:sp>
        <p:nvSpPr>
          <p:cNvPr id="3" name="Content Placeholder 2"/>
          <p:cNvSpPr>
            <a:spLocks noGrp="1"/>
          </p:cNvSpPr>
          <p:nvPr>
            <p:ph idx="1"/>
          </p:nvPr>
        </p:nvSpPr>
        <p:spPr/>
        <p:txBody>
          <a:bodyPr/>
          <a:lstStyle/>
          <a:p>
            <a:r>
              <a:rPr lang="en-US" dirty="0" smtClean="0"/>
              <a:t>Ontology Engineering is “</a:t>
            </a:r>
            <a:r>
              <a:rPr lang="en-US" b="1" dirty="0" smtClean="0"/>
              <a:t>the set of activities that concern the ontology development process, the ontology life cycle, and the methodologies, tools and languages for building </a:t>
            </a:r>
            <a:r>
              <a:rPr lang="en-US" b="1" dirty="0" err="1" smtClean="0"/>
              <a:t>ontologies</a:t>
            </a:r>
            <a:r>
              <a:rPr lang="en-US" dirty="0" smtClean="0"/>
              <a:t>” </a:t>
            </a:r>
            <a:r>
              <a:rPr lang="en-US" dirty="0" smtClean="0"/>
              <a:t>.</a:t>
            </a:r>
          </a:p>
          <a:p>
            <a:r>
              <a:rPr lang="en-US" dirty="0" smtClean="0"/>
              <a:t> </a:t>
            </a:r>
            <a:r>
              <a:rPr lang="en-US" dirty="0" smtClean="0"/>
              <a:t>It provides “a basis of building models of all things in which computer science is interested”</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Ontological Engineering</a:t>
            </a:r>
            <a:endParaRPr lang="en-US" dirty="0"/>
          </a:p>
        </p:txBody>
      </p:sp>
      <p:sp>
        <p:nvSpPr>
          <p:cNvPr id="3" name="Content Placeholder 2"/>
          <p:cNvSpPr>
            <a:spLocks noGrp="1"/>
          </p:cNvSpPr>
          <p:nvPr>
            <p:ph idx="1"/>
          </p:nvPr>
        </p:nvSpPr>
        <p:spPr/>
        <p:txBody>
          <a:bodyPr>
            <a:normAutofit lnSpcReduction="10000"/>
          </a:bodyPr>
          <a:lstStyle/>
          <a:p>
            <a:r>
              <a:rPr lang="en-US" dirty="0" smtClean="0"/>
              <a:t>An ontology is </a:t>
            </a:r>
            <a:r>
              <a:rPr lang="en-US" b="1" dirty="0" smtClean="0"/>
              <a:t>a set of concepts and categories in a subject area or domain that possesses the properties and relations between them</a:t>
            </a:r>
            <a:r>
              <a:rPr lang="en-US" dirty="0" smtClean="0"/>
              <a:t>. </a:t>
            </a:r>
            <a:endParaRPr lang="en-US" dirty="0" smtClean="0"/>
          </a:p>
          <a:p>
            <a:r>
              <a:rPr lang="en-US" dirty="0" smtClean="0"/>
              <a:t>Ontological </a:t>
            </a:r>
            <a:r>
              <a:rPr lang="en-US" dirty="0" smtClean="0"/>
              <a:t>Modeling can help the cognitive AI or machine learning model by broadening its' scope</a:t>
            </a:r>
            <a:r>
              <a:rPr lang="en-US" dirty="0" smtClean="0"/>
              <a:t>.</a:t>
            </a:r>
          </a:p>
          <a:p>
            <a:r>
              <a:rPr lang="en-US" dirty="0" smtClean="0"/>
              <a:t> </a:t>
            </a:r>
            <a:r>
              <a:rPr lang="en-US" dirty="0" smtClean="0"/>
              <a:t>They can include any data type or variation and set each diver data to a specific task.</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Ontological Engineering</a:t>
            </a:r>
            <a:endParaRPr lang="en-US" dirty="0"/>
          </a:p>
        </p:txBody>
      </p:sp>
      <p:sp>
        <p:nvSpPr>
          <p:cNvPr id="3" name="Content Placeholder 2"/>
          <p:cNvSpPr>
            <a:spLocks noGrp="1"/>
          </p:cNvSpPr>
          <p:nvPr>
            <p:ph idx="1"/>
          </p:nvPr>
        </p:nvSpPr>
        <p:spPr/>
        <p:txBody>
          <a:bodyPr/>
          <a:lstStyle/>
          <a:p>
            <a:r>
              <a:rPr lang="en-US" dirty="0" smtClean="0"/>
              <a:t>An entity ontologically depends on another entity if the first entity cannot exist without the second entity. </a:t>
            </a:r>
            <a:endParaRPr lang="en-US" dirty="0" smtClean="0"/>
          </a:p>
          <a:p>
            <a:r>
              <a:rPr lang="en-US" dirty="0" smtClean="0"/>
              <a:t>Ontologically </a:t>
            </a:r>
            <a:r>
              <a:rPr lang="en-US" dirty="0" smtClean="0"/>
              <a:t>independent entities, on the other hand, can exist all by themselves. </a:t>
            </a:r>
            <a:endParaRPr lang="en-US" dirty="0" smtClean="0"/>
          </a:p>
          <a:p>
            <a:r>
              <a:rPr lang="en-US" dirty="0" smtClean="0"/>
              <a:t>For </a:t>
            </a:r>
            <a:r>
              <a:rPr lang="en-US" dirty="0" smtClean="0"/>
              <a:t>example, </a:t>
            </a:r>
            <a:r>
              <a:rPr lang="en-US" b="1" dirty="0" smtClean="0"/>
              <a:t>the surface of an apple cannot exist without the apple and so depends on it ontologically</a:t>
            </a:r>
            <a:r>
              <a:rPr lang="en-US" dirty="0" smtClean="0"/>
              <a:t>.</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Ontological Engineering</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1967907" y="1600200"/>
            <a:ext cx="5208185" cy="4525963"/>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Ontological Engineering</a:t>
            </a:r>
            <a:endParaRPr lang="en-US" dirty="0"/>
          </a:p>
        </p:txBody>
      </p:sp>
      <p:sp>
        <p:nvSpPr>
          <p:cNvPr id="3" name="Content Placeholder 2"/>
          <p:cNvSpPr>
            <a:spLocks noGrp="1"/>
          </p:cNvSpPr>
          <p:nvPr>
            <p:ph idx="1"/>
          </p:nvPr>
        </p:nvSpPr>
        <p:spPr/>
        <p:txBody>
          <a:bodyPr/>
          <a:lstStyle/>
          <a:p>
            <a:r>
              <a:rPr lang="en-US" dirty="0" smtClean="0"/>
              <a:t> </a:t>
            </a:r>
            <a:r>
              <a:rPr lang="en-US" b="1" dirty="0" smtClean="0"/>
              <a:t>physical objects, abstract objects, time, locations, actions, events, beliefs</a:t>
            </a:r>
            <a:r>
              <a:rPr lang="en-US" dirty="0" smtClean="0"/>
              <a:t>. </a:t>
            </a:r>
            <a:endParaRPr lang="en-US" dirty="0" smtClean="0"/>
          </a:p>
          <a:p>
            <a:r>
              <a:rPr lang="en-US" dirty="0" smtClean="0"/>
              <a:t>Decisions </a:t>
            </a:r>
            <a:r>
              <a:rPr lang="en-US" dirty="0" smtClean="0"/>
              <a:t>made on imperfect representations can be wrong. </a:t>
            </a:r>
            <a:endParaRPr lang="en-US" dirty="0" smtClean="0"/>
          </a:p>
          <a:p>
            <a:r>
              <a:rPr lang="en-US" dirty="0" smtClean="0"/>
              <a:t>We </a:t>
            </a:r>
            <a:r>
              <a:rPr lang="en-US" dirty="0" smtClean="0"/>
              <a:t>must choose the representation with this in mind. Selecting a particular representation means making an ontological commitment.</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Ontological Engineering</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177709" y="1676400"/>
            <a:ext cx="8881092" cy="4419600"/>
          </a:xfrm>
          <a:prstGeom prst="rect">
            <a:avLst/>
          </a:prstGeom>
          <a:noFill/>
          <a:ln w="9525">
            <a:no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KB and Database</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 </a:t>
            </a:r>
            <a:r>
              <a:rPr lang="en-US" dirty="0" smtClean="0"/>
              <a:t>KB in a program can be represented as a relational database.</a:t>
            </a:r>
          </a:p>
          <a:p>
            <a:r>
              <a:rPr lang="en-US" dirty="0" smtClean="0"/>
              <a:t>The larger the KB, the better its structure must be thought from the start.</a:t>
            </a:r>
          </a:p>
          <a:p>
            <a:r>
              <a:rPr lang="en-US" dirty="0" smtClean="0"/>
              <a:t>The database should be consistent in terms of connectivity - if something changes in one place, the change must be reflected everywhere else.</a:t>
            </a:r>
          </a:p>
          <a:p>
            <a:r>
              <a:rPr lang="en-US" dirty="0" smtClean="0"/>
              <a:t>The database must be unified, meaning that we must be able to use its various components within the same framework. A particular application may require more than 1 component.</a:t>
            </a: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Expert Systems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Programs </a:t>
            </a:r>
            <a:r>
              <a:rPr lang="en-US" dirty="0" smtClean="0"/>
              <a:t>that incorporate knowledge of a particular domain and that can help with making decisions.</a:t>
            </a:r>
          </a:p>
          <a:p>
            <a:r>
              <a:rPr lang="en-US" dirty="0" smtClean="0"/>
              <a:t>They often emerge from the retirement of a human expert that takes time and effort to replace.</a:t>
            </a:r>
          </a:p>
          <a:p>
            <a:r>
              <a:rPr lang="en-US" dirty="0" smtClean="0"/>
              <a:t>Basic components: a knowledge base KB and an inference system.</a:t>
            </a:r>
          </a:p>
          <a:p>
            <a:r>
              <a:rPr lang="en-US" dirty="0" smtClean="0"/>
              <a:t>The expertise is organized in rules of type "if-then" by a human expert.</a:t>
            </a:r>
          </a:p>
          <a:p>
            <a:r>
              <a:rPr lang="en-US" dirty="0" smtClean="0"/>
              <a:t>For classification/diagnosis problems this often results in a tree.</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General Functionality</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The </a:t>
            </a:r>
            <a:r>
              <a:rPr lang="en-US" dirty="0" smtClean="0"/>
              <a:t>user seeks a diagnosis or goal (car failure).</a:t>
            </a:r>
          </a:p>
          <a:p>
            <a:r>
              <a:rPr lang="en-US" dirty="0" smtClean="0"/>
              <a:t>The system asks a question, often with a yes/no answer.</a:t>
            </a:r>
          </a:p>
          <a:p>
            <a:r>
              <a:rPr lang="en-US" dirty="0" smtClean="0"/>
              <a:t>If this answer is not sufficient to determine the diagnosis completely, another question will be asked.</a:t>
            </a:r>
          </a:p>
          <a:p>
            <a:r>
              <a:rPr lang="en-US" dirty="0" smtClean="0"/>
              <a:t>Some of the systems can allow for an undetermined answer (I don't know) and they can adapt to that,</a:t>
            </a:r>
          </a:p>
          <a:p>
            <a:r>
              <a:rPr lang="en-US" dirty="0" smtClean="0"/>
              <a:t>The answer might be given with a certain probability.</a:t>
            </a:r>
          </a:p>
          <a:p>
            <a:r>
              <a:rPr lang="en-US" dirty="0" smtClean="0"/>
              <a:t>In general they avoid asking for irrelevant input.</a:t>
            </a:r>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143366" y="1371600"/>
            <a:ext cx="8532774" cy="4800600"/>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Semantic Networks</a:t>
            </a:r>
            <a:r>
              <a:rPr lang="en-US" dirty="0" smtClean="0"/>
              <a:t/>
            </a:r>
            <a:br>
              <a:rPr lang="en-US" dirty="0" smtClean="0"/>
            </a:br>
            <a:endParaRPr lang="en-US" dirty="0"/>
          </a:p>
        </p:txBody>
      </p:sp>
      <p:sp>
        <p:nvSpPr>
          <p:cNvPr id="3" name="Content Placeholder 2"/>
          <p:cNvSpPr>
            <a:spLocks noGrp="1"/>
          </p:cNvSpPr>
          <p:nvPr>
            <p:ph idx="1"/>
          </p:nvPr>
        </p:nvSpPr>
        <p:spPr>
          <a:xfrm>
            <a:off x="152400" y="1066800"/>
            <a:ext cx="8991600" cy="5410200"/>
          </a:xfrm>
        </p:spPr>
        <p:txBody>
          <a:bodyPr>
            <a:normAutofit fontScale="85000" lnSpcReduction="10000"/>
          </a:bodyPr>
          <a:lstStyle/>
          <a:p>
            <a:r>
              <a:rPr lang="en-US" dirty="0" smtClean="0"/>
              <a:t>A </a:t>
            </a:r>
            <a:r>
              <a:rPr lang="en-US" dirty="0" smtClean="0"/>
              <a:t>graph notation for representing knowledge. The nodes are concepts and the edges are relations between them.</a:t>
            </a:r>
          </a:p>
          <a:p>
            <a:r>
              <a:rPr lang="en-US" i="1" dirty="0" smtClean="0"/>
              <a:t>Definitional</a:t>
            </a:r>
            <a:r>
              <a:rPr lang="en-US" dirty="0" smtClean="0"/>
              <a:t> networks - the relations are subtype or is-a.</a:t>
            </a:r>
          </a:p>
          <a:p>
            <a:r>
              <a:rPr lang="en-US" i="1" dirty="0" err="1" smtClean="0"/>
              <a:t>Assertional</a:t>
            </a:r>
            <a:r>
              <a:rPr lang="en-US" dirty="0" smtClean="0"/>
              <a:t> networks are designed to assert propositions.</a:t>
            </a:r>
          </a:p>
          <a:p>
            <a:r>
              <a:rPr lang="en-US" i="1" dirty="0" smtClean="0"/>
              <a:t>Implicational</a:t>
            </a:r>
            <a:r>
              <a:rPr lang="en-US" dirty="0" smtClean="0"/>
              <a:t> networks use implication to connect nodes.</a:t>
            </a:r>
          </a:p>
          <a:p>
            <a:r>
              <a:rPr lang="en-US" i="1" dirty="0" smtClean="0"/>
              <a:t>Executable</a:t>
            </a:r>
            <a:r>
              <a:rPr lang="en-US" dirty="0" smtClean="0"/>
              <a:t> networks can include procedures.</a:t>
            </a:r>
          </a:p>
          <a:p>
            <a:r>
              <a:rPr lang="en-US" i="1" dirty="0" smtClean="0"/>
              <a:t>Learning</a:t>
            </a:r>
            <a:r>
              <a:rPr lang="en-US" dirty="0" smtClean="0"/>
              <a:t> networks build or extend their representations by acquiring knowledge from examples.</a:t>
            </a:r>
          </a:p>
          <a:p>
            <a:r>
              <a:rPr lang="en-US" i="1" dirty="0" smtClean="0"/>
              <a:t>Hybrid</a:t>
            </a:r>
            <a:r>
              <a:rPr lang="en-US" dirty="0" smtClean="0"/>
              <a:t> networks combine two or more of the previous techniques.</a:t>
            </a:r>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 Definition Network</a:t>
            </a:r>
            <a:endParaRPr lang="en-US" dirty="0"/>
          </a:p>
        </p:txBody>
      </p:sp>
      <p:pic>
        <p:nvPicPr>
          <p:cNvPr id="4098" name="Picture 2"/>
          <p:cNvPicPr>
            <a:picLocks noGrp="1" noChangeAspect="1" noChangeArrowheads="1"/>
          </p:cNvPicPr>
          <p:nvPr>
            <p:ph idx="1"/>
          </p:nvPr>
        </p:nvPicPr>
        <p:blipFill>
          <a:blip r:embed="rId2"/>
          <a:srcRect/>
          <a:stretch>
            <a:fillRect/>
          </a:stretch>
        </p:blipFill>
        <p:spPr bwMode="auto">
          <a:xfrm>
            <a:off x="152400" y="1198208"/>
            <a:ext cx="8501620" cy="5126392"/>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Categories and Objects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Organizing </a:t>
            </a:r>
            <a:r>
              <a:rPr lang="en-US" dirty="0" smtClean="0"/>
              <a:t>the objects in categories.</a:t>
            </a:r>
          </a:p>
          <a:p>
            <a:r>
              <a:rPr lang="en-US" dirty="0" smtClean="0"/>
              <a:t>Some reasoning takes places at the level of categories.</a:t>
            </a:r>
          </a:p>
          <a:p>
            <a:r>
              <a:rPr lang="en-US" dirty="0" smtClean="0"/>
              <a:t>"I want to eat an apple."</a:t>
            </a:r>
          </a:p>
          <a:p>
            <a:r>
              <a:rPr lang="en-US" dirty="0" smtClean="0"/>
              <a:t>Apple(x), or Member(x, Apple) and Subset(Apple, Food).</a:t>
            </a:r>
          </a:p>
          <a:p>
            <a:r>
              <a:rPr lang="en-US" dirty="0" smtClean="0"/>
              <a:t>The categories form a hierarchy where each class inherits the properties of the parent, or simply a network (apples are both food and fruit).</a:t>
            </a:r>
          </a:p>
          <a:p>
            <a:r>
              <a:rPr lang="en-US" dirty="0" smtClean="0"/>
              <a:t>The categories of a class compose a taxonomy.</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Partitioning</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Two </a:t>
            </a:r>
            <a:r>
              <a:rPr lang="en-US" dirty="0" smtClean="0"/>
              <a:t>or more categories are disjoint if they are mutually exclusive (male/female).</a:t>
            </a:r>
          </a:p>
          <a:p>
            <a:r>
              <a:rPr lang="en-US" dirty="0" smtClean="0"/>
              <a:t>A decomposition of a class into categories is called exhaustive if each object of the class must belong to at least one category</a:t>
            </a:r>
          </a:p>
          <a:p>
            <a:r>
              <a:rPr lang="en-US" dirty="0" smtClean="0"/>
              <a:t>living = {animal, vegetable, fungi, bacteria}</a:t>
            </a:r>
          </a:p>
          <a:p>
            <a:r>
              <a:rPr lang="en-US" dirty="0" smtClean="0"/>
              <a:t>A partition is a an exhaustive decomposition of a class into disjoint subsets.</a:t>
            </a:r>
          </a:p>
          <a:p>
            <a:r>
              <a:rPr lang="en-US" dirty="0" smtClean="0"/>
              <a:t>student = {undergraduate, graduate}</a:t>
            </a:r>
          </a:p>
          <a:p>
            <a:r>
              <a:rPr lang="en-US" dirty="0" smtClean="0"/>
              <a:t>Related problem: clustering. Given a set of objects, find an appropriate category for each of them. The categories may not be predefined.</a:t>
            </a:r>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Attributes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Composition</a:t>
            </a:r>
            <a:r>
              <a:rPr lang="en-US" dirty="0" smtClean="0"/>
              <a:t>: </a:t>
            </a:r>
            <a:r>
              <a:rPr lang="en-US" dirty="0" err="1" smtClean="0"/>
              <a:t>PartOf</a:t>
            </a:r>
            <a:r>
              <a:rPr lang="en-US" dirty="0" smtClean="0"/>
              <a:t>(nose, face).</a:t>
            </a:r>
          </a:p>
          <a:p>
            <a:r>
              <a:rPr lang="en-US" dirty="0" smtClean="0"/>
              <a:t>Some categories can be defined as rules:</a:t>
            </a:r>
          </a:p>
          <a:p>
            <a:r>
              <a:rPr lang="en-US" dirty="0" smtClean="0"/>
              <a:t>Biped(x) =&gt;  b1, b2 (Leg(b1) &amp; Leg(b2) &amp; </a:t>
            </a:r>
            <a:r>
              <a:rPr lang="en-US" dirty="0" err="1" smtClean="0"/>
              <a:t>PartOf</a:t>
            </a:r>
            <a:r>
              <a:rPr lang="en-US" dirty="0" smtClean="0"/>
              <a:t>(b1, x) &amp; </a:t>
            </a:r>
            <a:r>
              <a:rPr lang="en-US" dirty="0" err="1" smtClean="0"/>
              <a:t>PartOf</a:t>
            </a:r>
            <a:r>
              <a:rPr lang="en-US" dirty="0" smtClean="0"/>
              <a:t>(b2, x) &amp; !equal(b1, b2).</a:t>
            </a:r>
          </a:p>
          <a:p>
            <a:r>
              <a:rPr lang="en-US" dirty="0" smtClean="0"/>
              <a:t>Prime(n) &lt;=&gt; (Number(n) &amp; n != 1 &amp; d (equal(</a:t>
            </a:r>
            <a:r>
              <a:rPr lang="en-US" dirty="0" err="1" smtClean="0"/>
              <a:t>n%d</a:t>
            </a:r>
            <a:r>
              <a:rPr lang="en-US" dirty="0" smtClean="0"/>
              <a:t>, 0) =&gt; (equal(d, 1) | (equal(d, n))))</a:t>
            </a:r>
          </a:p>
          <a:p>
            <a:r>
              <a:rPr lang="en-US" dirty="0" smtClean="0"/>
              <a:t>Measurements: Length(x), Price(x), etc. These are functions, not predicates.</a:t>
            </a:r>
          </a:p>
          <a:p>
            <a:r>
              <a:rPr lang="en-US" dirty="0" smtClean="0"/>
              <a:t>Things: 3 apples. Stuff: water, more water, some quantity of water.</a:t>
            </a:r>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Situations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a:bodyPr>
          <a:lstStyle/>
          <a:p>
            <a:r>
              <a:rPr lang="en-US" dirty="0" smtClean="0"/>
              <a:t>Situation</a:t>
            </a:r>
            <a:r>
              <a:rPr lang="en-US" dirty="0" smtClean="0"/>
              <a:t>: a predicate that is true at a particular moment in time. They may also have a specific location. A particular state of the system.</a:t>
            </a:r>
          </a:p>
          <a:p>
            <a:r>
              <a:rPr lang="en-US" dirty="0" smtClean="0"/>
              <a:t>Drives(Mary, car, I90, 03/15/096)</a:t>
            </a:r>
          </a:p>
          <a:p>
            <a:r>
              <a:rPr lang="en-US" i="1" dirty="0" smtClean="0"/>
              <a:t>Fluent</a:t>
            </a:r>
            <a:r>
              <a:rPr lang="en-US" dirty="0" smtClean="0"/>
              <a:t>: predicates and functions that can change from a moment to another. Happy(x).</a:t>
            </a:r>
          </a:p>
          <a:p>
            <a:r>
              <a:rPr lang="en-US" dirty="0" err="1" smtClean="0"/>
              <a:t>Atemporal</a:t>
            </a:r>
            <a:r>
              <a:rPr lang="en-US" dirty="0" smtClean="0"/>
              <a:t> or eternal predicates: Warrior(A) will be true for as long as the object A exists. Alive(A) may change from a moment to the next.</a:t>
            </a:r>
          </a:p>
          <a:p>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Actions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Predicates </a:t>
            </a:r>
            <a:r>
              <a:rPr lang="en-US" dirty="0" smtClean="0"/>
              <a:t>that represent changes in the environment. The involve at least a subject, often one or more objects.</a:t>
            </a:r>
          </a:p>
          <a:p>
            <a:r>
              <a:rPr lang="en-US" dirty="0" smtClean="0"/>
              <a:t>eat(x, y), sleep(x), talk(x), say(x, y)</a:t>
            </a:r>
          </a:p>
          <a:p>
            <a:r>
              <a:rPr lang="en-US" dirty="0" smtClean="0"/>
              <a:t>When an action is part of a situation, it can result in other predicates becoming true at a later moment in time.</a:t>
            </a:r>
          </a:p>
          <a:p>
            <a:r>
              <a:rPr lang="en-US" dirty="0" smtClean="0"/>
              <a:t>(Eat(x, y, t) &amp; Apple(y)) =&gt; !Hungry(x, t+1)</a:t>
            </a:r>
          </a:p>
          <a:p>
            <a:r>
              <a:rPr lang="en-US" dirty="0" smtClean="0"/>
              <a:t>Projection: the agent can use some rules to predict the outcome of its possible actions and choose the appropriate one. This is done by planning.</a:t>
            </a:r>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Situation Calculus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Description </a:t>
            </a:r>
            <a:r>
              <a:rPr lang="en-US" dirty="0" smtClean="0"/>
              <a:t>of an action:</a:t>
            </a:r>
          </a:p>
          <a:p>
            <a:r>
              <a:rPr lang="en-US" dirty="0" smtClean="0"/>
              <a:t>Possibility rule (precondition): a sentence that specifies when an action is possible.</a:t>
            </a:r>
          </a:p>
          <a:p>
            <a:r>
              <a:rPr lang="en-US" dirty="0" smtClean="0"/>
              <a:t>has(x, y, s) &amp; apple(y) =&gt; Possible(eat(x, y), s)</a:t>
            </a:r>
          </a:p>
          <a:p>
            <a:r>
              <a:rPr lang="en-US" dirty="0" smtClean="0"/>
              <a:t>Effect rule (</a:t>
            </a:r>
            <a:r>
              <a:rPr lang="en-US" dirty="0" err="1" smtClean="0"/>
              <a:t>postcondition</a:t>
            </a:r>
            <a:r>
              <a:rPr lang="en-US" dirty="0" smtClean="0"/>
              <a:t>): a sentence that describes the consequences of an action.</a:t>
            </a:r>
          </a:p>
          <a:p>
            <a:r>
              <a:rPr lang="en-US" dirty="0" smtClean="0"/>
              <a:t>eat(x, y, s) =&gt; !exist(y, s+1)</a:t>
            </a:r>
          </a:p>
          <a:p>
            <a:r>
              <a:rPr lang="en-US" dirty="0" smtClean="0"/>
              <a:t>collect(x, y, s) =&gt; has(x, y, s+1)</a:t>
            </a:r>
          </a:p>
          <a:p>
            <a:r>
              <a:rPr lang="en-US" dirty="0" smtClean="0"/>
              <a:t>Frame problem: the collection of things / predicates that don't change.</a:t>
            </a:r>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Time and Events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In </a:t>
            </a:r>
            <a:r>
              <a:rPr lang="en-US" dirty="0" smtClean="0"/>
              <a:t>time-based calculus the </a:t>
            </a:r>
            <a:r>
              <a:rPr lang="en-US" dirty="0" err="1" smtClean="0"/>
              <a:t>fluents</a:t>
            </a:r>
            <a:r>
              <a:rPr lang="en-US" dirty="0" smtClean="0"/>
              <a:t> are valid for particular moments in time instead of in a particular situation.</a:t>
            </a:r>
          </a:p>
          <a:p>
            <a:r>
              <a:rPr lang="en-US" dirty="0" smtClean="0"/>
              <a:t>A fluent is true at a particular point in time if it was initiated or caused by an event in the past, and was not terminated by another event in the meantime.</a:t>
            </a:r>
          </a:p>
          <a:p>
            <a:r>
              <a:rPr lang="en-US" dirty="0" smtClean="0"/>
              <a:t>Initiates(e, f, t), e-event, f-fluent, t-time.</a:t>
            </a:r>
          </a:p>
          <a:p>
            <a:r>
              <a:rPr lang="en-US" dirty="0" smtClean="0"/>
              <a:t>Terminates(e, f, t). Happens(e, t). Clipped(f, t, t2)</a:t>
            </a:r>
          </a:p>
          <a:p>
            <a:r>
              <a:rPr lang="en-US" dirty="0" smtClean="0"/>
              <a:t>T(f, t2) &lt;=&gt;  e, t (Happens(e, t) &amp; Initiates(e, f, t) &amp; (t &lt; t2) &amp; !Clipped(f, t, t2) )</a:t>
            </a:r>
          </a:p>
          <a:p>
            <a:r>
              <a:rPr lang="en-US" dirty="0" smtClean="0"/>
              <a:t>Clipped(f, t, t2) &lt;=&gt;  e, t1 (Happens(e, t1) &amp; Terminates(e, f, t1) &amp; (t &lt; t1) &amp; (t1 &lt; t2) )</a:t>
            </a:r>
          </a:p>
          <a:p>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Mental Processes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Does </a:t>
            </a:r>
            <a:r>
              <a:rPr lang="en-US" dirty="0" smtClean="0"/>
              <a:t>an agent know that he knows something?</a:t>
            </a:r>
          </a:p>
          <a:p>
            <a:r>
              <a:rPr lang="en-US" dirty="0" smtClean="0"/>
              <a:t>We need to represent the fact that an agent believes something to be true or knows something to be true.</a:t>
            </a:r>
          </a:p>
          <a:p>
            <a:r>
              <a:rPr lang="en-US" dirty="0" smtClean="0"/>
              <a:t>We can make inferences about things an agent believes, things that the agent knows, and things that are true, but the combinations are not always possible.</a:t>
            </a:r>
          </a:p>
          <a:p>
            <a:r>
              <a:rPr lang="en-US" dirty="0" smtClean="0"/>
              <a:t>The inferences can be made only if the agent is a logical agent capable of reasoning.</a:t>
            </a:r>
          </a:p>
          <a:p>
            <a:r>
              <a:rPr lang="en-US" dirty="0" smtClean="0"/>
              <a:t>This is called modal logic.</a:t>
            </a:r>
          </a:p>
          <a:p>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Beliefs</a:t>
            </a:r>
            <a:endParaRPr lang="en-US" dirty="0" smtClean="0"/>
          </a:p>
        </p:txBody>
      </p:sp>
      <p:sp>
        <p:nvSpPr>
          <p:cNvPr id="3" name="Content Placeholder 2"/>
          <p:cNvSpPr>
            <a:spLocks noGrp="1"/>
          </p:cNvSpPr>
          <p:nvPr>
            <p:ph idx="1"/>
          </p:nvPr>
        </p:nvSpPr>
        <p:spPr/>
        <p:txBody>
          <a:bodyPr>
            <a:normAutofit fontScale="92500" lnSpcReduction="20000"/>
          </a:bodyPr>
          <a:lstStyle/>
          <a:p>
            <a:r>
              <a:rPr lang="en-US" dirty="0" smtClean="0"/>
              <a:t>Believes(x</a:t>
            </a:r>
            <a:r>
              <a:rPr lang="en-US" dirty="0" smtClean="0"/>
              <a:t>, P(a)) x believes that P(a) is true.</a:t>
            </a:r>
          </a:p>
          <a:p>
            <a:r>
              <a:rPr lang="en-US" dirty="0" smtClean="0"/>
              <a:t>Inferences are not obvious.</a:t>
            </a:r>
          </a:p>
          <a:p>
            <a:r>
              <a:rPr lang="en-US" dirty="0" smtClean="0"/>
              <a:t>Believes(x, P(a)) &amp; (a = b) does not imply that Believes(x, P(b)) is also true.</a:t>
            </a:r>
          </a:p>
          <a:p>
            <a:r>
              <a:rPr lang="en-US" dirty="0" smtClean="0"/>
              <a:t>We can apply reasoning within the system of beliefs for a logical agent:</a:t>
            </a:r>
          </a:p>
          <a:p>
            <a:r>
              <a:rPr lang="en-US" dirty="0" smtClean="0"/>
              <a:t>Believes(x, P(a)) &amp; Believes(x, P(y) =&gt; Q(y)) can imply that Believes(x, Q(a)).</a:t>
            </a:r>
          </a:p>
          <a:p>
            <a:r>
              <a:rPr lang="en-US" dirty="0" smtClean="0"/>
              <a:t>We can't apply MP if the agent doesn't know or believe that P(y) =&gt; Q(y).</a:t>
            </a:r>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Knowledge and Belief</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Knows(x</a:t>
            </a:r>
            <a:r>
              <a:rPr lang="en-US" dirty="0" smtClean="0"/>
              <a:t>, P(a)) is similar to Believes, but the fact P(a) must be true.</a:t>
            </a:r>
          </a:p>
          <a:p>
            <a:r>
              <a:rPr lang="en-US" dirty="0" err="1" smtClean="0"/>
              <a:t>KnowsWhether</a:t>
            </a:r>
            <a:r>
              <a:rPr lang="en-US" dirty="0" smtClean="0"/>
              <a:t>(x, P(a)) means Knows(x, P(a)) | Knows(x, !P(a)).</a:t>
            </a:r>
          </a:p>
          <a:p>
            <a:r>
              <a:rPr lang="en-US" dirty="0" err="1" smtClean="0"/>
              <a:t>KnowsWhat</a:t>
            </a:r>
            <a:r>
              <a:rPr lang="en-US" dirty="0" smtClean="0"/>
              <a:t>(x, </a:t>
            </a:r>
            <a:r>
              <a:rPr lang="en-US" dirty="0" err="1" smtClean="0"/>
              <a:t>EyeColor</a:t>
            </a:r>
            <a:r>
              <a:rPr lang="en-US" dirty="0" smtClean="0"/>
              <a:t>(a)) means that  y Color(y) &amp; Knows(x, (</a:t>
            </a:r>
            <a:r>
              <a:rPr lang="en-US" dirty="0" err="1" smtClean="0"/>
              <a:t>EyeColor</a:t>
            </a:r>
            <a:r>
              <a:rPr lang="en-US" dirty="0" smtClean="0"/>
              <a:t>(a) = y)).</a:t>
            </a:r>
          </a:p>
          <a:p>
            <a:r>
              <a:rPr lang="en-US" dirty="0" smtClean="0"/>
              <a:t>Believes(x, P(a)) &amp; Knows(x, P(y)=&gt;Q(y)) implies Believes(x, Q(a)).</a:t>
            </a:r>
          </a:p>
          <a:p>
            <a:r>
              <a:rPr lang="en-US" dirty="0" smtClean="0"/>
              <a:t>Knows(x, P(a)) &amp; Believes (x, P(y)=&gt;Q(y)) implies Believes(x, Q(a)).</a:t>
            </a:r>
          </a:p>
          <a:p>
            <a:r>
              <a:rPr lang="en-US" dirty="0" smtClean="0"/>
              <a:t>Knows(x, P(a)) &amp; Knows(x, P(y)=&gt;Q(y)) implies Knows(x, Q(a)).</a:t>
            </a:r>
          </a:p>
          <a:p>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Fuzzy Logic</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First </a:t>
            </a:r>
            <a:r>
              <a:rPr lang="en-US" dirty="0" smtClean="0"/>
              <a:t>author: </a:t>
            </a:r>
            <a:r>
              <a:rPr lang="en-US" dirty="0" err="1" smtClean="0"/>
              <a:t>Lotfi</a:t>
            </a:r>
            <a:r>
              <a:rPr lang="en-US" dirty="0" smtClean="0"/>
              <a:t> </a:t>
            </a:r>
            <a:r>
              <a:rPr lang="en-US" dirty="0" err="1" smtClean="0"/>
              <a:t>Zadeh</a:t>
            </a:r>
            <a:r>
              <a:rPr lang="en-US" dirty="0" smtClean="0"/>
              <a:t>, University of California at Berkley, 1965.</a:t>
            </a:r>
          </a:p>
          <a:p>
            <a:r>
              <a:rPr lang="en-US" b="1" dirty="0" smtClean="0"/>
              <a:t>Def.</a:t>
            </a:r>
            <a:r>
              <a:rPr lang="en-US" dirty="0" smtClean="0"/>
              <a:t> Part of logic dealing with approximate reasoning, derived from the fuzzy set theory.</a:t>
            </a:r>
          </a:p>
          <a:p>
            <a:r>
              <a:rPr lang="en-US" dirty="0" smtClean="0"/>
              <a:t>A fuzzy set is one to which elements belong with a given percentage.</a:t>
            </a:r>
          </a:p>
          <a:p>
            <a:r>
              <a:rPr lang="en-US" dirty="0" smtClean="0"/>
              <a:t>In fuzzy logic the truth values belong to the interval [0, 1] representing a percentage of truth.</a:t>
            </a:r>
          </a:p>
          <a:p>
            <a:r>
              <a:rPr lang="en-US" dirty="0" smtClean="0"/>
              <a:t>It is better suited to represent imprecise information/attributes from the real world and to make appropriate inferences.</a:t>
            </a:r>
          </a:p>
          <a:p>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Categories and Objects</a:t>
            </a:r>
            <a:endParaRPr lang="en-US" dirty="0"/>
          </a:p>
        </p:txBody>
      </p:sp>
      <p:sp>
        <p:nvSpPr>
          <p:cNvPr id="3" name="Content Placeholder 2"/>
          <p:cNvSpPr>
            <a:spLocks noGrp="1"/>
          </p:cNvSpPr>
          <p:nvPr>
            <p:ph idx="1"/>
          </p:nvPr>
        </p:nvSpPr>
        <p:spPr/>
        <p:txBody>
          <a:bodyPr/>
          <a:lstStyle/>
          <a:p>
            <a:r>
              <a:rPr lang="en-US" dirty="0" smtClean="0"/>
              <a:t>Events, </a:t>
            </a:r>
          </a:p>
          <a:p>
            <a:r>
              <a:rPr lang="en-US" dirty="0" smtClean="0"/>
              <a:t>Mental Objects and Modal Logic, </a:t>
            </a:r>
          </a:p>
          <a:p>
            <a:r>
              <a:rPr lang="en-US" dirty="0" smtClean="0"/>
              <a:t>Reasoning Systems for Categories, </a:t>
            </a:r>
          </a:p>
          <a:p>
            <a:r>
              <a:rPr lang="en-US" dirty="0" smtClean="0"/>
              <a:t>Reasoning with Default Information</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TotalTime>
  <Words>2876</Words>
  <Application>Microsoft Office PowerPoint</Application>
  <PresentationFormat>On-screen Show (4:3)</PresentationFormat>
  <Paragraphs>287</Paragraphs>
  <Slides>63</Slides>
  <Notes>1</Notes>
  <HiddenSlides>0</HiddenSlides>
  <MMClips>0</MMClips>
  <ScaleCrop>false</ScaleCrop>
  <HeadingPairs>
    <vt:vector size="4" baseType="variant">
      <vt:variant>
        <vt:lpstr>Theme</vt:lpstr>
      </vt:variant>
      <vt:variant>
        <vt:i4>1</vt:i4>
      </vt:variant>
      <vt:variant>
        <vt:lpstr>Slide Titles</vt:lpstr>
      </vt:variant>
      <vt:variant>
        <vt:i4>63</vt:i4>
      </vt:variant>
    </vt:vector>
  </HeadingPairs>
  <TitlesOfParts>
    <vt:vector size="64" baseType="lpstr">
      <vt:lpstr>Office Theme</vt:lpstr>
      <vt:lpstr>Unit-5 Reasoning  </vt:lpstr>
      <vt:lpstr>Contents</vt:lpstr>
      <vt:lpstr>Inference in First-Order Logic</vt:lpstr>
      <vt:lpstr>FOL inference rules for quantifier </vt:lpstr>
      <vt:lpstr>FOL inference rules for quantifier </vt:lpstr>
      <vt:lpstr>FOL inference rules for quantifier </vt:lpstr>
      <vt:lpstr>Slide 7</vt:lpstr>
      <vt:lpstr>Existential Instantiation:</vt:lpstr>
      <vt:lpstr>Existential instantiation</vt:lpstr>
      <vt:lpstr>Existential introduction </vt:lpstr>
      <vt:lpstr>Propositional vs. First-Order Inference</vt:lpstr>
      <vt:lpstr>Unification and First-Order Inference</vt:lpstr>
      <vt:lpstr>Slide 13</vt:lpstr>
      <vt:lpstr>Slide 14</vt:lpstr>
      <vt:lpstr>Slide 15</vt:lpstr>
      <vt:lpstr>Slide 16</vt:lpstr>
      <vt:lpstr>Slide 17</vt:lpstr>
      <vt:lpstr>Slide 18</vt:lpstr>
      <vt:lpstr>Slide 19</vt:lpstr>
      <vt:lpstr>Slide 20</vt:lpstr>
      <vt:lpstr>Forward Chaining,  Backward Chaining</vt:lpstr>
      <vt:lpstr>Forward Chaining </vt:lpstr>
      <vt:lpstr>Example:</vt:lpstr>
      <vt:lpstr>Facts Conversion into FOL: </vt:lpstr>
      <vt:lpstr>Forward chaining proof: </vt:lpstr>
      <vt:lpstr>Slide 26</vt:lpstr>
      <vt:lpstr>Slide 27</vt:lpstr>
      <vt:lpstr>Backward Chaining: </vt:lpstr>
      <vt:lpstr>Properties of backward chaining: </vt:lpstr>
      <vt:lpstr>Example</vt:lpstr>
      <vt:lpstr>Slide 31</vt:lpstr>
      <vt:lpstr>Slide 32</vt:lpstr>
      <vt:lpstr>Slide 33</vt:lpstr>
      <vt:lpstr>Slide 34</vt:lpstr>
      <vt:lpstr>Slide 35</vt:lpstr>
      <vt:lpstr>Resolution</vt:lpstr>
      <vt:lpstr>Ontological Engineering</vt:lpstr>
      <vt:lpstr>Ontological Engineering</vt:lpstr>
      <vt:lpstr>Ontological Engineering</vt:lpstr>
      <vt:lpstr>Ontological Engineering</vt:lpstr>
      <vt:lpstr>Ontological Engineering</vt:lpstr>
      <vt:lpstr>Ontological Engineering</vt:lpstr>
      <vt:lpstr>KB and Database </vt:lpstr>
      <vt:lpstr>Expert Systems </vt:lpstr>
      <vt:lpstr>General Functionality </vt:lpstr>
      <vt:lpstr>Example</vt:lpstr>
      <vt:lpstr>Semantic Networks </vt:lpstr>
      <vt:lpstr>Example - Definition Network</vt:lpstr>
      <vt:lpstr>Categories and Objects </vt:lpstr>
      <vt:lpstr>Partitioning </vt:lpstr>
      <vt:lpstr>Attributes </vt:lpstr>
      <vt:lpstr>Situations </vt:lpstr>
      <vt:lpstr>Actions </vt:lpstr>
      <vt:lpstr>Situation Calculus </vt:lpstr>
      <vt:lpstr>Time and Events </vt:lpstr>
      <vt:lpstr>Mental Processes </vt:lpstr>
      <vt:lpstr>Beliefs</vt:lpstr>
      <vt:lpstr>Knowledge and Belief </vt:lpstr>
      <vt:lpstr>Fuzzy Logic </vt:lpstr>
      <vt:lpstr>Slide 60</vt:lpstr>
      <vt:lpstr>Slide 61</vt:lpstr>
      <vt:lpstr>Slide 62</vt:lpstr>
      <vt:lpstr>Categories and Objects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Unit-5 Reasoning  </dc:title>
  <dc:creator>Administrator</dc:creator>
  <cp:lastModifiedBy>Administrator</cp:lastModifiedBy>
  <cp:revision>16</cp:revision>
  <dcterms:created xsi:type="dcterms:W3CDTF">2006-08-16T00:00:00Z</dcterms:created>
  <dcterms:modified xsi:type="dcterms:W3CDTF">2022-10-19T10:16:11Z</dcterms:modified>
</cp:coreProperties>
</file>