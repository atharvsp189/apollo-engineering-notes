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8" r:id="rId2"/>
    <p:sldId id="256" r:id="rId3"/>
    <p:sldId id="271" r:id="rId4"/>
    <p:sldId id="257" r:id="rId5"/>
    <p:sldId id="258" r:id="rId6"/>
    <p:sldId id="260" r:id="rId7"/>
    <p:sldId id="259" r:id="rId8"/>
    <p:sldId id="261" r:id="rId9"/>
    <p:sldId id="262" r:id="rId10"/>
    <p:sldId id="263" r:id="rId11"/>
    <p:sldId id="265" r:id="rId12"/>
    <p:sldId id="266" r:id="rId13"/>
    <p:sldId id="267" r:id="rId14"/>
    <p:sldId id="268" r:id="rId15"/>
    <p:sldId id="269" r:id="rId16"/>
    <p:sldId id="291" r:id="rId17"/>
    <p:sldId id="292" r:id="rId18"/>
    <p:sldId id="293" r:id="rId19"/>
    <p:sldId id="294" r:id="rId20"/>
    <p:sldId id="270" r:id="rId21"/>
    <p:sldId id="289" r:id="rId22"/>
    <p:sldId id="272" r:id="rId23"/>
    <p:sldId id="273" r:id="rId24"/>
    <p:sldId id="295" r:id="rId25"/>
    <p:sldId id="296" r:id="rId26"/>
    <p:sldId id="297" r:id="rId27"/>
    <p:sldId id="298" r:id="rId28"/>
    <p:sldId id="274" r:id="rId29"/>
    <p:sldId id="290" r:id="rId30"/>
    <p:sldId id="275" r:id="rId31"/>
    <p:sldId id="299" r:id="rId32"/>
    <p:sldId id="276" r:id="rId33"/>
    <p:sldId id="277" r:id="rId34"/>
    <p:sldId id="278" r:id="rId35"/>
    <p:sldId id="279" r:id="rId36"/>
    <p:sldId id="300" r:id="rId37"/>
    <p:sldId id="280" r:id="rId38"/>
    <p:sldId id="301" r:id="rId39"/>
    <p:sldId id="281" r:id="rId40"/>
    <p:sldId id="282" r:id="rId41"/>
    <p:sldId id="284" r:id="rId42"/>
    <p:sldId id="302" r:id="rId43"/>
    <p:sldId id="303" r:id="rId44"/>
    <p:sldId id="285" r:id="rId45"/>
    <p:sldId id="304" r:id="rId46"/>
    <p:sldId id="305" r:id="rId47"/>
    <p:sldId id="286" r:id="rId48"/>
    <p:sldId id="287"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2AA873-1BB3-4737-8F89-033C47FDC5DC}" v="12" dt="2024-07-16T04:36:08.8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4E9252D-E403-40A7-A761-816AAA18C87A}" type="datetimeFigureOut">
              <a:rPr lang="en-US" smtClean="0"/>
              <a:t>7/16/2024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AD2FD0-74CC-46E5-B13A-79DB6C019E6F}" type="slidenum">
              <a:rPr lang="en-US" smtClean="0"/>
              <a:t>‹#›</a:t>
            </a:fld>
            <a:endParaRPr lang="en-US"/>
          </a:p>
        </p:txBody>
      </p:sp>
    </p:spTree>
    <p:extLst>
      <p:ext uri="{BB962C8B-B14F-4D97-AF65-F5344CB8AC3E}">
        <p14:creationId xmlns:p14="http://schemas.microsoft.com/office/powerpoint/2010/main" val="2797436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4E9252D-E403-40A7-A761-816AAA18C87A}" type="datetimeFigureOut">
              <a:rPr lang="en-US" smtClean="0"/>
              <a:t>7/16/2024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AD2FD0-74CC-46E5-B13A-79DB6C019E6F}" type="slidenum">
              <a:rPr lang="en-US" smtClean="0"/>
              <a:t>‹#›</a:t>
            </a:fld>
            <a:endParaRPr lang="en-US"/>
          </a:p>
        </p:txBody>
      </p:sp>
    </p:spTree>
    <p:extLst>
      <p:ext uri="{BB962C8B-B14F-4D97-AF65-F5344CB8AC3E}">
        <p14:creationId xmlns:p14="http://schemas.microsoft.com/office/powerpoint/2010/main" val="522210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E9252D-E403-40A7-A761-816AAA18C87A}" type="datetimeFigureOut">
              <a:rPr lang="en-US" smtClean="0"/>
              <a:t>7/16/2024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AD2FD0-74CC-46E5-B13A-79DB6C019E6F}" type="slidenum">
              <a:rPr lang="en-US" smtClean="0"/>
              <a:t>‹#›</a:t>
            </a:fld>
            <a:endParaRPr lang="en-US"/>
          </a:p>
        </p:txBody>
      </p:sp>
    </p:spTree>
    <p:extLst>
      <p:ext uri="{BB962C8B-B14F-4D97-AF65-F5344CB8AC3E}">
        <p14:creationId xmlns:p14="http://schemas.microsoft.com/office/powerpoint/2010/main" val="12472919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4E9252D-E403-40A7-A761-816AAA18C87A}" type="datetimeFigureOut">
              <a:rPr lang="en-US" smtClean="0"/>
              <a:t>7/16/2024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AD2FD0-74CC-46E5-B13A-79DB6C019E6F}" type="slidenum">
              <a:rPr lang="en-US" smtClean="0"/>
              <a:t>‹#›</a:t>
            </a:fld>
            <a:endParaRPr lang="en-US"/>
          </a:p>
        </p:txBody>
      </p:sp>
    </p:spTree>
    <p:extLst>
      <p:ext uri="{BB962C8B-B14F-4D97-AF65-F5344CB8AC3E}">
        <p14:creationId xmlns:p14="http://schemas.microsoft.com/office/powerpoint/2010/main" val="2633966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4E9252D-E403-40A7-A761-816AAA18C87A}" type="datetimeFigureOut">
              <a:rPr lang="en-US" smtClean="0"/>
              <a:t>7/16/2024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EAD2FD0-74CC-46E5-B13A-79DB6C019E6F}" type="slidenum">
              <a:rPr lang="en-US" smtClean="0"/>
              <a:t>‹#›</a:t>
            </a:fld>
            <a:endParaRPr lang="en-US"/>
          </a:p>
        </p:txBody>
      </p:sp>
    </p:spTree>
    <p:extLst>
      <p:ext uri="{BB962C8B-B14F-4D97-AF65-F5344CB8AC3E}">
        <p14:creationId xmlns:p14="http://schemas.microsoft.com/office/powerpoint/2010/main" val="3428747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4E9252D-E403-40A7-A761-816AAA18C87A}" type="datetimeFigureOut">
              <a:rPr lang="en-US" smtClean="0"/>
              <a:t>7/16/2024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EAD2FD0-74CC-46E5-B13A-79DB6C019E6F}" type="slidenum">
              <a:rPr lang="en-US" smtClean="0"/>
              <a:t>‹#›</a:t>
            </a:fld>
            <a:endParaRPr lang="en-US"/>
          </a:p>
        </p:txBody>
      </p:sp>
    </p:spTree>
    <p:extLst>
      <p:ext uri="{BB962C8B-B14F-4D97-AF65-F5344CB8AC3E}">
        <p14:creationId xmlns:p14="http://schemas.microsoft.com/office/powerpoint/2010/main" val="392938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E9252D-E403-40A7-A761-816AAA18C87A}" type="datetimeFigureOut">
              <a:rPr lang="en-US" smtClean="0"/>
              <a:t>7/16/2024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EAD2FD0-74CC-46E5-B13A-79DB6C019E6F}" type="slidenum">
              <a:rPr lang="en-US" smtClean="0"/>
              <a:t>‹#›</a:t>
            </a:fld>
            <a:endParaRPr lang="en-US"/>
          </a:p>
        </p:txBody>
      </p:sp>
    </p:spTree>
    <p:extLst>
      <p:ext uri="{BB962C8B-B14F-4D97-AF65-F5344CB8AC3E}">
        <p14:creationId xmlns:p14="http://schemas.microsoft.com/office/powerpoint/2010/main" val="4204282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4E9252D-E403-40A7-A761-816AAA18C87A}" type="datetimeFigureOut">
              <a:rPr lang="en-US" smtClean="0"/>
              <a:t>7/16/2024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AD2FD0-74CC-46E5-B13A-79DB6C019E6F}" type="slidenum">
              <a:rPr lang="en-US" smtClean="0"/>
              <a:t>‹#›</a:t>
            </a:fld>
            <a:endParaRPr lang="en-US"/>
          </a:p>
        </p:txBody>
      </p:sp>
    </p:spTree>
    <p:extLst>
      <p:ext uri="{BB962C8B-B14F-4D97-AF65-F5344CB8AC3E}">
        <p14:creationId xmlns:p14="http://schemas.microsoft.com/office/powerpoint/2010/main" val="2785583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4E9252D-E403-40A7-A761-816AAA18C87A}" type="datetimeFigureOut">
              <a:rPr lang="en-US" smtClean="0"/>
              <a:t>7/16/2024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AD2FD0-74CC-46E5-B13A-79DB6C019E6F}" type="slidenum">
              <a:rPr lang="en-US" smtClean="0"/>
              <a:t>‹#›</a:t>
            </a:fld>
            <a:endParaRPr lang="en-US"/>
          </a:p>
        </p:txBody>
      </p:sp>
    </p:spTree>
    <p:extLst>
      <p:ext uri="{BB962C8B-B14F-4D97-AF65-F5344CB8AC3E}">
        <p14:creationId xmlns:p14="http://schemas.microsoft.com/office/powerpoint/2010/main" val="3495603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4E9252D-E403-40A7-A761-816AAA18C87A}" type="datetimeFigureOut">
              <a:rPr lang="en-US" smtClean="0"/>
              <a:t>7/16/2024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AD2FD0-74CC-46E5-B13A-79DB6C019E6F}" type="slidenum">
              <a:rPr lang="en-US" smtClean="0"/>
              <a:t>‹#›</a:t>
            </a:fld>
            <a:endParaRPr lang="en-US"/>
          </a:p>
        </p:txBody>
      </p:sp>
    </p:spTree>
    <p:extLst>
      <p:ext uri="{BB962C8B-B14F-4D97-AF65-F5344CB8AC3E}">
        <p14:creationId xmlns:p14="http://schemas.microsoft.com/office/powerpoint/2010/main" val="3797950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4E9252D-E403-40A7-A761-816AAA18C87A}" type="datetimeFigureOut">
              <a:rPr lang="en-US" smtClean="0"/>
              <a:t>7/16/2024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AD2FD0-74CC-46E5-B13A-79DB6C019E6F}" type="slidenum">
              <a:rPr lang="en-US" smtClean="0"/>
              <a:t>‹#›</a:t>
            </a:fld>
            <a:endParaRPr lang="en-US"/>
          </a:p>
        </p:txBody>
      </p:sp>
    </p:spTree>
    <p:extLst>
      <p:ext uri="{BB962C8B-B14F-4D97-AF65-F5344CB8AC3E}">
        <p14:creationId xmlns:p14="http://schemas.microsoft.com/office/powerpoint/2010/main" val="3845553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E9252D-E403-40A7-A761-816AAA18C87A}" type="datetimeFigureOut">
              <a:rPr lang="en-US" smtClean="0"/>
              <a:t>7/16/2024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AD2FD0-74CC-46E5-B13A-79DB6C019E6F}" type="slidenum">
              <a:rPr lang="en-US" smtClean="0"/>
              <a:t>‹#›</a:t>
            </a:fld>
            <a:endParaRPr lang="en-US"/>
          </a:p>
        </p:txBody>
      </p:sp>
    </p:spTree>
    <p:extLst>
      <p:ext uri="{BB962C8B-B14F-4D97-AF65-F5344CB8AC3E}">
        <p14:creationId xmlns:p14="http://schemas.microsoft.com/office/powerpoint/2010/main" val="34847356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7755" y="1049482"/>
            <a:ext cx="10616045" cy="3065317"/>
          </a:xfrm>
        </p:spPr>
        <p:txBody>
          <a:bodyPr>
            <a:normAutofit/>
          </a:bodyPr>
          <a:lstStyle/>
          <a:p>
            <a:pPr algn="ctr"/>
            <a:r>
              <a:rPr lang="en-US" b="1" dirty="0">
                <a:solidFill>
                  <a:srgbClr val="7030A0"/>
                </a:solidFill>
              </a:rPr>
              <a:t>Subject : Pattern Recognition</a:t>
            </a:r>
            <a:br>
              <a:rPr lang="en-US" b="1" dirty="0">
                <a:solidFill>
                  <a:srgbClr val="7030A0"/>
                </a:solidFill>
              </a:rPr>
            </a:br>
            <a:br>
              <a:rPr lang="en-US" b="1" dirty="0">
                <a:solidFill>
                  <a:srgbClr val="7030A0"/>
                </a:solidFill>
              </a:rPr>
            </a:br>
            <a:r>
              <a:rPr lang="en-US" b="1" dirty="0">
                <a:solidFill>
                  <a:srgbClr val="00B050"/>
                </a:solidFill>
              </a:rPr>
              <a:t>Unit-1</a:t>
            </a:r>
            <a:br>
              <a:rPr lang="en-US" b="1" dirty="0"/>
            </a:br>
            <a:r>
              <a:rPr lang="en-US" b="1" dirty="0">
                <a:solidFill>
                  <a:srgbClr val="C00000"/>
                </a:solidFill>
              </a:rPr>
              <a:t>Introduction of PR</a:t>
            </a:r>
          </a:p>
        </p:txBody>
      </p:sp>
      <p:sp>
        <p:nvSpPr>
          <p:cNvPr id="3" name="Content Placeholder 2"/>
          <p:cNvSpPr>
            <a:spLocks noGrp="1"/>
          </p:cNvSpPr>
          <p:nvPr>
            <p:ph idx="1"/>
          </p:nvPr>
        </p:nvSpPr>
        <p:spPr>
          <a:xfrm>
            <a:off x="6338454" y="4571999"/>
            <a:ext cx="5015345" cy="1604963"/>
          </a:xfrm>
        </p:spPr>
        <p:txBody>
          <a:bodyPr/>
          <a:lstStyle/>
          <a:p>
            <a:r>
              <a:rPr lang="en-US" dirty="0"/>
              <a:t>Prepared By- Mrs. P. S. </a:t>
            </a:r>
            <a:r>
              <a:rPr lang="en-US" dirty="0" err="1"/>
              <a:t>Bahalkar</a:t>
            </a:r>
            <a:endParaRPr lang="en-US" dirty="0"/>
          </a:p>
          <a:p>
            <a:pPr marL="0" indent="0">
              <a:buNone/>
            </a:pPr>
            <a:endParaRPr lang="en-US" dirty="0"/>
          </a:p>
        </p:txBody>
      </p:sp>
    </p:spTree>
    <p:extLst>
      <p:ext uri="{BB962C8B-B14F-4D97-AF65-F5344CB8AC3E}">
        <p14:creationId xmlns:p14="http://schemas.microsoft.com/office/powerpoint/2010/main" val="35083961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018164"/>
          </a:xfrm>
        </p:spPr>
        <p:txBody>
          <a:bodyPr>
            <a:normAutofit/>
          </a:bodyPr>
          <a:lstStyle/>
          <a:p>
            <a:r>
              <a:rPr lang="en-US" dirty="0"/>
              <a:t>Patterns and Features</a:t>
            </a:r>
          </a:p>
        </p:txBody>
      </p:sp>
      <p:sp>
        <p:nvSpPr>
          <p:cNvPr id="3" name="Subtitle 2"/>
          <p:cNvSpPr>
            <a:spLocks noGrp="1"/>
          </p:cNvSpPr>
          <p:nvPr>
            <p:ph type="subTitle" idx="1"/>
          </p:nvPr>
        </p:nvSpPr>
        <p:spPr>
          <a:xfrm>
            <a:off x="1524000" y="2140527"/>
            <a:ext cx="9144000" cy="3117273"/>
          </a:xfrm>
        </p:spPr>
        <p:txBody>
          <a:bodyPr/>
          <a:lstStyle/>
          <a:p>
            <a:r>
              <a:rPr lang="en-US" b="1" dirty="0"/>
              <a:t>What is Pattern Recognition?</a:t>
            </a:r>
            <a:r>
              <a:rPr lang="en-US" dirty="0"/>
              <a:t> </a:t>
            </a:r>
          </a:p>
          <a:p>
            <a:pPr algn="just"/>
            <a:br>
              <a:rPr lang="en-US" dirty="0"/>
            </a:br>
            <a:r>
              <a:rPr lang="en-US" b="1" dirty="0"/>
              <a:t>Pattern recognition</a:t>
            </a:r>
            <a:r>
              <a:rPr lang="en-US" dirty="0"/>
              <a:t> is the process of recognizing patterns by using a machine learning algorithm. Pattern recognition can be defined as the classification of data based on knowledge already gained or on statistical information extracted from patterns and/or their representation. One of the important aspects of pattern recognition is its application potential.</a:t>
            </a:r>
          </a:p>
        </p:txBody>
      </p:sp>
    </p:spTree>
    <p:extLst>
      <p:ext uri="{BB962C8B-B14F-4D97-AF65-F5344CB8AC3E}">
        <p14:creationId xmlns:p14="http://schemas.microsoft.com/office/powerpoint/2010/main" val="2696163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84357"/>
          </a:xfrm>
        </p:spPr>
        <p:txBody>
          <a:bodyPr>
            <a:normAutofit fontScale="90000"/>
          </a:bodyPr>
          <a:lstStyle/>
          <a:p>
            <a:r>
              <a:rPr lang="en-US" dirty="0"/>
              <a:t>What is pattern?</a:t>
            </a:r>
          </a:p>
        </p:txBody>
      </p:sp>
      <p:pic>
        <p:nvPicPr>
          <p:cNvPr id="4" name="Content Placeholder 3"/>
          <p:cNvPicPr>
            <a:picLocks noGrp="1" noChangeAspect="1"/>
          </p:cNvPicPr>
          <p:nvPr>
            <p:ph idx="1"/>
          </p:nvPr>
        </p:nvPicPr>
        <p:blipFill>
          <a:blip r:embed="rId2"/>
          <a:stretch>
            <a:fillRect/>
          </a:stretch>
        </p:blipFill>
        <p:spPr>
          <a:xfrm>
            <a:off x="1693718" y="1815234"/>
            <a:ext cx="9091095" cy="4351338"/>
          </a:xfrm>
          <a:prstGeom prst="rect">
            <a:avLst/>
          </a:prstGeom>
        </p:spPr>
      </p:pic>
    </p:spTree>
    <p:extLst>
      <p:ext uri="{BB962C8B-B14F-4D97-AF65-F5344CB8AC3E}">
        <p14:creationId xmlns:p14="http://schemas.microsoft.com/office/powerpoint/2010/main" val="1039513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Examples:</a:t>
            </a:r>
            <a:endParaRPr lang="en-US" dirty="0"/>
          </a:p>
        </p:txBody>
      </p:sp>
      <p:sp>
        <p:nvSpPr>
          <p:cNvPr id="3" name="Content Placeholder 2"/>
          <p:cNvSpPr>
            <a:spLocks noGrp="1"/>
          </p:cNvSpPr>
          <p:nvPr>
            <p:ph idx="1"/>
          </p:nvPr>
        </p:nvSpPr>
        <p:spPr/>
        <p:txBody>
          <a:bodyPr/>
          <a:lstStyle/>
          <a:p>
            <a:r>
              <a:rPr lang="en-US" dirty="0"/>
              <a:t> Speech recognition, speaker identification, multimedia document recognition (MDR), automatic medical diagnosis. </a:t>
            </a:r>
          </a:p>
          <a:p>
            <a:pPr marL="0" indent="0">
              <a:buNone/>
            </a:pPr>
            <a:br>
              <a:rPr lang="en-US" dirty="0"/>
            </a:br>
            <a:r>
              <a:rPr lang="en-US" dirty="0"/>
              <a:t>In a typical pattern recognition application, the raw data is processed and converted into a form that is amenable for a machine to use. Pattern recognition involves the classification and cluster of patterns. </a:t>
            </a:r>
          </a:p>
        </p:txBody>
      </p:sp>
    </p:spTree>
    <p:extLst>
      <p:ext uri="{BB962C8B-B14F-4D97-AF65-F5344CB8AC3E}">
        <p14:creationId xmlns:p14="http://schemas.microsoft.com/office/powerpoint/2010/main" val="2956897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a:t>
            </a:r>
          </a:p>
        </p:txBody>
      </p:sp>
      <p:sp>
        <p:nvSpPr>
          <p:cNvPr id="3" name="Content Placeholder 2"/>
          <p:cNvSpPr>
            <a:spLocks noGrp="1"/>
          </p:cNvSpPr>
          <p:nvPr>
            <p:ph idx="1"/>
          </p:nvPr>
        </p:nvSpPr>
        <p:spPr/>
        <p:txBody>
          <a:bodyPr/>
          <a:lstStyle/>
          <a:p>
            <a:pPr fontAlgn="base"/>
            <a:r>
              <a:rPr lang="en-US" dirty="0"/>
              <a:t>In classification, an appropriate class label is assigned to a pattern based on an abstraction that is generated using a set of training patterns or domain knowledge. Classification is used in supervised learning.</a:t>
            </a:r>
          </a:p>
          <a:p>
            <a:pPr fontAlgn="base"/>
            <a:r>
              <a:rPr lang="en-US" dirty="0"/>
              <a:t>Clustering generated a partition of the data which helps decision making, the specific decision-making activity of interest to us. Clustering is used in unsupervised learning.</a:t>
            </a:r>
          </a:p>
          <a:p>
            <a:endParaRPr lang="en-US" dirty="0"/>
          </a:p>
        </p:txBody>
      </p:sp>
    </p:spTree>
    <p:extLst>
      <p:ext uri="{BB962C8B-B14F-4D97-AF65-F5344CB8AC3E}">
        <p14:creationId xmlns:p14="http://schemas.microsoft.com/office/powerpoint/2010/main" val="1222402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Features</a:t>
            </a:r>
            <a:endParaRPr lang="en-US" dirty="0"/>
          </a:p>
        </p:txBody>
      </p:sp>
      <p:sp>
        <p:nvSpPr>
          <p:cNvPr id="3" name="Content Placeholder 2"/>
          <p:cNvSpPr>
            <a:spLocks noGrp="1"/>
          </p:cNvSpPr>
          <p:nvPr>
            <p:ph idx="1"/>
          </p:nvPr>
        </p:nvSpPr>
        <p:spPr>
          <a:xfrm>
            <a:off x="838200" y="1496291"/>
            <a:ext cx="10515600" cy="4680672"/>
          </a:xfrm>
        </p:spPr>
        <p:txBody>
          <a:bodyPr/>
          <a:lstStyle/>
          <a:p>
            <a:r>
              <a:rPr lang="en-US" b="1" dirty="0"/>
              <a:t>Features</a:t>
            </a:r>
            <a:r>
              <a:rPr lang="en-US" dirty="0"/>
              <a:t> may be represented as continuous, discrete, or discrete binary variables. A feature is a function of one or more measurements, computed so that it quantifies some significant characteristics of the object. </a:t>
            </a:r>
          </a:p>
          <a:p>
            <a:endParaRPr lang="en-US" dirty="0"/>
          </a:p>
          <a:p>
            <a:r>
              <a:rPr lang="en-US" b="1" dirty="0"/>
              <a:t>Example:</a:t>
            </a:r>
            <a:r>
              <a:rPr lang="en-US" dirty="0"/>
              <a:t> consider our face then eyes, ears, nose, </a:t>
            </a:r>
            <a:r>
              <a:rPr lang="en-US" dirty="0" err="1"/>
              <a:t>etc</a:t>
            </a:r>
            <a:r>
              <a:rPr lang="en-US" dirty="0"/>
              <a:t> are features of the face. </a:t>
            </a:r>
            <a:br>
              <a:rPr lang="en-US" dirty="0"/>
            </a:br>
            <a:r>
              <a:rPr lang="en-US" dirty="0"/>
              <a:t>A set of features that are taken together, forms the </a:t>
            </a:r>
            <a:r>
              <a:rPr lang="en-US" b="1" dirty="0"/>
              <a:t>features vector</a:t>
            </a:r>
            <a:r>
              <a:rPr lang="en-US" dirty="0"/>
              <a:t>. </a:t>
            </a:r>
          </a:p>
        </p:txBody>
      </p:sp>
    </p:spTree>
    <p:extLst>
      <p:ext uri="{BB962C8B-B14F-4D97-AF65-F5344CB8AC3E}">
        <p14:creationId xmlns:p14="http://schemas.microsoft.com/office/powerpoint/2010/main" val="2704814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endParaRPr lang="en-US" dirty="0"/>
          </a:p>
        </p:txBody>
      </p:sp>
      <p:sp>
        <p:nvSpPr>
          <p:cNvPr id="3" name="Content Placeholder 2"/>
          <p:cNvSpPr>
            <a:spLocks noGrp="1"/>
          </p:cNvSpPr>
          <p:nvPr>
            <p:ph idx="1"/>
          </p:nvPr>
        </p:nvSpPr>
        <p:spPr/>
        <p:txBody>
          <a:bodyPr/>
          <a:lstStyle/>
          <a:p>
            <a:r>
              <a:rPr lang="en-US" dirty="0"/>
              <a:t>In the above example of a face, if all the features (eyes, ears, nose, </a:t>
            </a:r>
            <a:r>
              <a:rPr lang="en-US" dirty="0" err="1"/>
              <a:t>etc</a:t>
            </a:r>
            <a:r>
              <a:rPr lang="en-US" dirty="0"/>
              <a:t>) are taken together then the sequence is a feature vector([eyes, ears, nose]). The feature vector is the sequence of a feature represented as a d-dimensional column vector. In the case of speech, MFCC (Mel-frequency Cepstral Coefficient) is the spectral feature of the speech. </a:t>
            </a:r>
          </a:p>
        </p:txBody>
      </p:sp>
    </p:spTree>
    <p:extLst>
      <p:ext uri="{BB962C8B-B14F-4D97-AF65-F5344CB8AC3E}">
        <p14:creationId xmlns:p14="http://schemas.microsoft.com/office/powerpoint/2010/main" val="37788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Pattern recognition possesses the following features:</a:t>
            </a:r>
            <a:r>
              <a:rPr lang="en-US" dirty="0"/>
              <a:t> </a:t>
            </a:r>
            <a:br>
              <a:rPr lang="en-US" dirty="0"/>
            </a:br>
            <a:endParaRPr lang="en-US" dirty="0"/>
          </a:p>
        </p:txBody>
      </p:sp>
      <p:sp>
        <p:nvSpPr>
          <p:cNvPr id="3" name="Content Placeholder 2"/>
          <p:cNvSpPr>
            <a:spLocks noGrp="1"/>
          </p:cNvSpPr>
          <p:nvPr>
            <p:ph idx="1"/>
          </p:nvPr>
        </p:nvSpPr>
        <p:spPr/>
        <p:txBody>
          <a:bodyPr/>
          <a:lstStyle/>
          <a:p>
            <a:pPr fontAlgn="base"/>
            <a:r>
              <a:rPr lang="en-US" dirty="0"/>
              <a:t>Pattern recognition system should recognize familiar patterns quickly and accurate</a:t>
            </a:r>
          </a:p>
          <a:p>
            <a:pPr fontAlgn="base"/>
            <a:r>
              <a:rPr lang="en-US" dirty="0"/>
              <a:t>Recognize and classify unfamiliar objects</a:t>
            </a:r>
          </a:p>
          <a:p>
            <a:pPr fontAlgn="base"/>
            <a:r>
              <a:rPr lang="en-US" dirty="0"/>
              <a:t>Accurately recognize shapes and objects from different angles</a:t>
            </a:r>
          </a:p>
          <a:p>
            <a:pPr fontAlgn="base"/>
            <a:r>
              <a:rPr lang="en-US" dirty="0"/>
              <a:t>Identify patterns and objects even when partly hidden</a:t>
            </a:r>
          </a:p>
          <a:p>
            <a:pPr fontAlgn="base"/>
            <a:r>
              <a:rPr lang="en-US" dirty="0"/>
              <a:t>Recognize patterns quickly with ease, and with automaticity.</a:t>
            </a:r>
          </a:p>
          <a:p>
            <a:endParaRPr lang="en-US" dirty="0"/>
          </a:p>
        </p:txBody>
      </p:sp>
    </p:spTree>
    <p:extLst>
      <p:ext uri="{BB962C8B-B14F-4D97-AF65-F5344CB8AC3E}">
        <p14:creationId xmlns:p14="http://schemas.microsoft.com/office/powerpoint/2010/main" val="2289933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Training and Learning in Pattern Recognition</a:t>
            </a:r>
            <a:r>
              <a:rPr lang="en-US" dirty="0"/>
              <a:t> </a:t>
            </a:r>
          </a:p>
        </p:txBody>
      </p:sp>
      <p:sp>
        <p:nvSpPr>
          <p:cNvPr id="3" name="Content Placeholder 2"/>
          <p:cNvSpPr>
            <a:spLocks noGrp="1"/>
          </p:cNvSpPr>
          <p:nvPr>
            <p:ph idx="1"/>
          </p:nvPr>
        </p:nvSpPr>
        <p:spPr/>
        <p:txBody>
          <a:bodyPr/>
          <a:lstStyle/>
          <a:p>
            <a:r>
              <a:rPr lang="en-US" b="1" dirty="0"/>
              <a:t>Learning</a:t>
            </a:r>
            <a:r>
              <a:rPr lang="en-US" dirty="0"/>
              <a:t> is a phenomenon through which a system gets trained and becomes adaptable to give results in an accurate manner. Learning is the most important phase as to how well the system performs on the data provided to the system depends on which algorithms are used on the data. </a:t>
            </a:r>
          </a:p>
          <a:p>
            <a:r>
              <a:rPr lang="en-US" dirty="0"/>
              <a:t>The entire dataset is divided into two categories, one which is used in training the model i.e. Training set, and the other that is used in testing the model after training, i.e. Testing set. </a:t>
            </a:r>
          </a:p>
        </p:txBody>
      </p:sp>
    </p:spTree>
    <p:extLst>
      <p:ext uri="{BB962C8B-B14F-4D97-AF65-F5344CB8AC3E}">
        <p14:creationId xmlns:p14="http://schemas.microsoft.com/office/powerpoint/2010/main" val="521048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a:t>
            </a:r>
          </a:p>
        </p:txBody>
      </p:sp>
      <p:sp>
        <p:nvSpPr>
          <p:cNvPr id="3" name="Content Placeholder 2"/>
          <p:cNvSpPr>
            <a:spLocks noGrp="1"/>
          </p:cNvSpPr>
          <p:nvPr>
            <p:ph idx="1"/>
          </p:nvPr>
        </p:nvSpPr>
        <p:spPr>
          <a:xfrm>
            <a:off x="838200" y="1452880"/>
            <a:ext cx="10515600" cy="4724083"/>
          </a:xfrm>
        </p:spPr>
        <p:txBody>
          <a:bodyPr/>
          <a:lstStyle/>
          <a:p>
            <a:r>
              <a:rPr lang="en-US" b="1" dirty="0"/>
              <a:t>Training set:</a:t>
            </a:r>
            <a:r>
              <a:rPr lang="en-US" dirty="0"/>
              <a:t> </a:t>
            </a:r>
          </a:p>
          <a:p>
            <a:pPr marL="0" indent="0" algn="just">
              <a:buNone/>
            </a:pPr>
            <a:br>
              <a:rPr lang="en-US" dirty="0"/>
            </a:br>
            <a:r>
              <a:rPr lang="en-US" dirty="0"/>
              <a:t>The training set is used to build a model. It consists of the set of images that are used to train the system.</a:t>
            </a:r>
          </a:p>
          <a:p>
            <a:pPr marL="0" indent="0" algn="just">
              <a:buNone/>
            </a:pPr>
            <a:r>
              <a:rPr lang="en-US" dirty="0"/>
              <a:t>Training rules and algorithms are used to give relevant information on how to associate input data with output decisions. </a:t>
            </a:r>
          </a:p>
          <a:p>
            <a:pPr marL="0" indent="0" algn="just">
              <a:buNone/>
            </a:pPr>
            <a:r>
              <a:rPr lang="en-US" dirty="0"/>
              <a:t>The system is trained by applying these algorithms to the dataset, all the relevant information is extracted from the data, and results are obtained. </a:t>
            </a:r>
          </a:p>
          <a:p>
            <a:pPr marL="0" indent="0" algn="just">
              <a:buNone/>
            </a:pPr>
            <a:r>
              <a:rPr lang="en-US" dirty="0"/>
              <a:t>Generally, 80% of the data of the dataset is taken for training data.</a:t>
            </a:r>
          </a:p>
          <a:p>
            <a:endParaRPr lang="en-US" dirty="0"/>
          </a:p>
        </p:txBody>
      </p:sp>
    </p:spTree>
    <p:extLst>
      <p:ext uri="{BB962C8B-B14F-4D97-AF65-F5344CB8AC3E}">
        <p14:creationId xmlns:p14="http://schemas.microsoft.com/office/powerpoint/2010/main" val="1560003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a:t>
            </a:r>
          </a:p>
        </p:txBody>
      </p:sp>
      <p:pic>
        <p:nvPicPr>
          <p:cNvPr id="4" name="Content Placeholder 3"/>
          <p:cNvPicPr>
            <a:picLocks noGrp="1" noChangeAspect="1"/>
          </p:cNvPicPr>
          <p:nvPr>
            <p:ph idx="1"/>
          </p:nvPr>
        </p:nvPicPr>
        <p:blipFill>
          <a:blip r:embed="rId2"/>
          <a:stretch>
            <a:fillRect/>
          </a:stretch>
        </p:blipFill>
        <p:spPr>
          <a:xfrm>
            <a:off x="1714501" y="1766455"/>
            <a:ext cx="8489372" cy="3688771"/>
          </a:xfrm>
          <a:prstGeom prst="rect">
            <a:avLst/>
          </a:prstGeom>
        </p:spPr>
      </p:pic>
    </p:spTree>
    <p:extLst>
      <p:ext uri="{BB962C8B-B14F-4D97-AF65-F5344CB8AC3E}">
        <p14:creationId xmlns:p14="http://schemas.microsoft.com/office/powerpoint/2010/main" val="2384286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&amp; Disadvantages:</a:t>
            </a:r>
            <a:r>
              <a:rPr lang="en-US" dirty="0"/>
              <a:t> </a:t>
            </a:r>
          </a:p>
        </p:txBody>
      </p:sp>
      <p:sp>
        <p:nvSpPr>
          <p:cNvPr id="3" name="Content Placeholder 2"/>
          <p:cNvSpPr>
            <a:spLocks noGrp="1"/>
          </p:cNvSpPr>
          <p:nvPr>
            <p:ph idx="1"/>
          </p:nvPr>
        </p:nvSpPr>
        <p:spPr/>
        <p:txBody>
          <a:bodyPr>
            <a:normAutofit fontScale="92500" lnSpcReduction="20000"/>
          </a:bodyPr>
          <a:lstStyle/>
          <a:p>
            <a:pPr fontAlgn="base"/>
            <a:r>
              <a:rPr lang="en-US" dirty="0"/>
              <a:t>Pattern recognition solves classification problems</a:t>
            </a:r>
          </a:p>
          <a:p>
            <a:pPr fontAlgn="base"/>
            <a:r>
              <a:rPr lang="en-US" dirty="0"/>
              <a:t>Pattern recognition solves the problem of fake biometric detection.</a:t>
            </a:r>
          </a:p>
          <a:p>
            <a:pPr fontAlgn="base"/>
            <a:r>
              <a:rPr lang="en-US" dirty="0"/>
              <a:t>It is useful for cloth pattern recognition for visually impaired blind people.</a:t>
            </a:r>
          </a:p>
          <a:p>
            <a:pPr fontAlgn="base"/>
            <a:r>
              <a:rPr lang="en-US" dirty="0"/>
              <a:t>It helps in speaker binarization.</a:t>
            </a:r>
          </a:p>
          <a:p>
            <a:pPr fontAlgn="base"/>
            <a:r>
              <a:rPr lang="en-US" dirty="0"/>
              <a:t>We can recognize particular objects from different angles.</a:t>
            </a:r>
          </a:p>
          <a:p>
            <a:pPr fontAlgn="base"/>
            <a:r>
              <a:rPr lang="en-US" dirty="0"/>
              <a:t>The syntactic pattern recognition approach is complex to implement and it is a very slow process.</a:t>
            </a:r>
          </a:p>
          <a:p>
            <a:pPr fontAlgn="base"/>
            <a:r>
              <a:rPr lang="en-US" dirty="0"/>
              <a:t>Sometimes to get better accuracy, a larger dataset is required.</a:t>
            </a:r>
          </a:p>
          <a:p>
            <a:pPr fontAlgn="base"/>
            <a:r>
              <a:rPr lang="en-US" dirty="0"/>
              <a:t>It cannot explain why a particular object is recognized. </a:t>
            </a:r>
            <a:br>
              <a:rPr lang="en-US" dirty="0"/>
            </a:br>
            <a:r>
              <a:rPr lang="en-US" dirty="0"/>
              <a:t>Example: my face vs my friend’s face.</a:t>
            </a:r>
          </a:p>
          <a:p>
            <a:pPr marL="0" indent="0" fontAlgn="base">
              <a:buNone/>
            </a:pPr>
            <a:r>
              <a:rPr lang="en-US" dirty="0"/>
              <a:t> </a:t>
            </a:r>
          </a:p>
          <a:p>
            <a:endParaRPr lang="en-US" dirty="0"/>
          </a:p>
        </p:txBody>
      </p:sp>
    </p:spTree>
    <p:extLst>
      <p:ext uri="{BB962C8B-B14F-4D97-AF65-F5344CB8AC3E}">
        <p14:creationId xmlns:p14="http://schemas.microsoft.com/office/powerpoint/2010/main" val="3731092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0264" y="365126"/>
            <a:ext cx="10283536" cy="767484"/>
          </a:xfrm>
        </p:spPr>
        <p:txBody>
          <a:bodyPr/>
          <a:lstStyle/>
          <a:p>
            <a:r>
              <a:rPr lang="en-US" sz="3200" b="1" dirty="0"/>
              <a:t>Applications:</a:t>
            </a:r>
            <a:r>
              <a:rPr lang="en-US" dirty="0"/>
              <a:t>  </a:t>
            </a:r>
          </a:p>
        </p:txBody>
      </p:sp>
      <p:sp>
        <p:nvSpPr>
          <p:cNvPr id="3" name="Content Placeholder 2"/>
          <p:cNvSpPr>
            <a:spLocks noGrp="1"/>
          </p:cNvSpPr>
          <p:nvPr>
            <p:ph idx="1"/>
          </p:nvPr>
        </p:nvSpPr>
        <p:spPr>
          <a:xfrm>
            <a:off x="872836" y="1132610"/>
            <a:ext cx="10480964" cy="5044353"/>
          </a:xfrm>
        </p:spPr>
        <p:txBody>
          <a:bodyPr>
            <a:normAutofit fontScale="62500" lnSpcReduction="20000"/>
          </a:bodyPr>
          <a:lstStyle/>
          <a:p>
            <a:pPr fontAlgn="base"/>
            <a:r>
              <a:rPr lang="en-US" b="1" dirty="0"/>
              <a:t>Image processing, segmentation, and analysis</a:t>
            </a:r>
            <a:r>
              <a:rPr lang="en-US" dirty="0"/>
              <a:t> </a:t>
            </a:r>
            <a:br>
              <a:rPr lang="en-US" dirty="0"/>
            </a:br>
            <a:r>
              <a:rPr lang="en-US" dirty="0"/>
              <a:t>Pattern recognition is used to give human recognition intelligence to machines that are required in image processing.</a:t>
            </a:r>
          </a:p>
          <a:p>
            <a:pPr fontAlgn="base"/>
            <a:r>
              <a:rPr lang="en-US" b="1" dirty="0"/>
              <a:t>Computer vision</a:t>
            </a:r>
            <a:r>
              <a:rPr lang="en-US" dirty="0"/>
              <a:t> </a:t>
            </a:r>
            <a:br>
              <a:rPr lang="en-US" dirty="0"/>
            </a:br>
            <a:r>
              <a:rPr lang="en-US" dirty="0"/>
              <a:t>Pattern recognition is used to extract meaningful features from given image/video samples and is used in computer vision for various applications like biological and biomedical imaging.</a:t>
            </a:r>
          </a:p>
          <a:p>
            <a:pPr fontAlgn="base"/>
            <a:r>
              <a:rPr lang="en-US" b="1" dirty="0"/>
              <a:t>Seismic analysis</a:t>
            </a:r>
            <a:r>
              <a:rPr lang="en-US" dirty="0"/>
              <a:t> </a:t>
            </a:r>
            <a:br>
              <a:rPr lang="en-US" dirty="0"/>
            </a:br>
            <a:r>
              <a:rPr lang="en-US" dirty="0"/>
              <a:t>The pattern recognition approach is used for the discovery, imaging, and interpretation of temporal patterns in seismic array recordings. Statistical pattern recognition is implemented and used in different types of seismic analysis models.</a:t>
            </a:r>
          </a:p>
          <a:p>
            <a:pPr fontAlgn="base"/>
            <a:r>
              <a:rPr lang="en-US" b="1" dirty="0"/>
              <a:t>Radar signal classification/analysis</a:t>
            </a:r>
            <a:r>
              <a:rPr lang="en-US" dirty="0"/>
              <a:t> </a:t>
            </a:r>
            <a:br>
              <a:rPr lang="en-US" dirty="0"/>
            </a:br>
            <a:r>
              <a:rPr lang="en-US" dirty="0"/>
              <a:t>Pattern recognition and signal processing methods are used in various applications of radar signal classifications like AP mine detection and identification.</a:t>
            </a:r>
          </a:p>
          <a:p>
            <a:pPr fontAlgn="base"/>
            <a:r>
              <a:rPr lang="en-US" b="1" dirty="0"/>
              <a:t>Speech recognition</a:t>
            </a:r>
            <a:r>
              <a:rPr lang="en-US" dirty="0"/>
              <a:t> </a:t>
            </a:r>
            <a:br>
              <a:rPr lang="en-US" dirty="0"/>
            </a:br>
            <a:r>
              <a:rPr lang="en-US" dirty="0"/>
              <a:t>The greatest success in speech recognition has been obtained using pattern recognition paradigms. It is used in various algorithms of speech recognition which tries to avoid the problems of using a phoneme level of description and treats larger units such as words as pattern</a:t>
            </a:r>
          </a:p>
          <a:p>
            <a:pPr fontAlgn="base"/>
            <a:r>
              <a:rPr lang="en-US" b="1" dirty="0"/>
              <a:t>Fingerprint identification</a:t>
            </a:r>
            <a:r>
              <a:rPr lang="en-US" dirty="0"/>
              <a:t> </a:t>
            </a:r>
            <a:br>
              <a:rPr lang="en-US" dirty="0"/>
            </a:br>
            <a:r>
              <a:rPr lang="en-US" dirty="0"/>
              <a:t>Fingerprint recognition technology is a dominant technology in the biometric market. A number of recognition methods have been used to perform fingerprint matching out of which pattern recognition approaches are widely used.</a:t>
            </a:r>
          </a:p>
          <a:p>
            <a:endParaRPr lang="en-US" dirty="0"/>
          </a:p>
        </p:txBody>
      </p:sp>
    </p:spTree>
    <p:extLst>
      <p:ext uri="{BB962C8B-B14F-4D97-AF65-F5344CB8AC3E}">
        <p14:creationId xmlns:p14="http://schemas.microsoft.com/office/powerpoint/2010/main" val="3288978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7136" y="365125"/>
            <a:ext cx="10366664" cy="1006475"/>
          </a:xfrm>
        </p:spPr>
        <p:txBody>
          <a:bodyPr/>
          <a:lstStyle/>
          <a:p>
            <a:r>
              <a:rPr lang="en-US" dirty="0"/>
              <a:t>Pattern Distortions-</a:t>
            </a:r>
          </a:p>
        </p:txBody>
      </p:sp>
      <p:pic>
        <p:nvPicPr>
          <p:cNvPr id="5" name="Content Placeholder 4"/>
          <p:cNvPicPr>
            <a:picLocks noGrp="1" noChangeAspect="1"/>
          </p:cNvPicPr>
          <p:nvPr>
            <p:ph idx="1"/>
          </p:nvPr>
        </p:nvPicPr>
        <p:blipFill>
          <a:blip r:embed="rId2"/>
          <a:stretch>
            <a:fillRect/>
          </a:stretch>
        </p:blipFill>
        <p:spPr>
          <a:xfrm>
            <a:off x="2979419" y="1500707"/>
            <a:ext cx="1456459" cy="1370785"/>
          </a:xfrm>
          <a:prstGeom prst="rect">
            <a:avLst/>
          </a:prstGeom>
        </p:spPr>
      </p:pic>
      <p:pic>
        <p:nvPicPr>
          <p:cNvPr id="6" name="Picture 5"/>
          <p:cNvPicPr>
            <a:picLocks noChangeAspect="1"/>
          </p:cNvPicPr>
          <p:nvPr/>
        </p:nvPicPr>
        <p:blipFill>
          <a:blip r:embed="rId3"/>
          <a:stretch>
            <a:fillRect/>
          </a:stretch>
        </p:blipFill>
        <p:spPr>
          <a:xfrm>
            <a:off x="6228780" y="1436249"/>
            <a:ext cx="1527344" cy="1435243"/>
          </a:xfrm>
          <a:prstGeom prst="rect">
            <a:avLst/>
          </a:prstGeom>
        </p:spPr>
      </p:pic>
      <p:sp>
        <p:nvSpPr>
          <p:cNvPr id="7" name="Rectangle 6"/>
          <p:cNvSpPr/>
          <p:nvPr/>
        </p:nvSpPr>
        <p:spPr>
          <a:xfrm rot="10800000" flipV="1">
            <a:off x="987136" y="3073075"/>
            <a:ext cx="9431482" cy="3416320"/>
          </a:xfrm>
          <a:prstGeom prst="rect">
            <a:avLst/>
          </a:prstGeom>
        </p:spPr>
        <p:txBody>
          <a:bodyPr wrap="square">
            <a:spAutoFit/>
          </a:bodyPr>
          <a:lstStyle/>
          <a:p>
            <a:r>
              <a:rPr lang="en-US" sz="2400" dirty="0"/>
              <a:t>Pattern-Distortion Technique: Using Liquid-Lens Magnification to Extract Volumes of Individual Droplets or Bubbles within Evaporating Two-Dimensional Arrays.</a:t>
            </a:r>
          </a:p>
          <a:p>
            <a:endParaRPr lang="en-US" sz="2400" dirty="0">
              <a:solidFill>
                <a:srgbClr val="474747"/>
              </a:solidFill>
              <a:latin typeface="Arial" panose="020B0604020202020204" pitchFamily="34" charset="0"/>
              <a:cs typeface="Arial" panose="020B0604020202020204" pitchFamily="34" charset="0"/>
            </a:endParaRPr>
          </a:p>
          <a:p>
            <a:r>
              <a:rPr lang="en-US" sz="2400" dirty="0"/>
              <a:t>Pattern distortions in the context of pattern recognition refer to alterations or deviations in the expected pattern, which can complicate the task of correctly identifying or classifying the pattern. These distortions can be caused by various factors, such as noise, geometric transformations, occlusions, or variations in the pattern itself.</a:t>
            </a:r>
            <a:endParaRPr lang="en-US" dirty="0"/>
          </a:p>
        </p:txBody>
      </p:sp>
    </p:spTree>
    <p:extLst>
      <p:ext uri="{BB962C8B-B14F-4D97-AF65-F5344CB8AC3E}">
        <p14:creationId xmlns:p14="http://schemas.microsoft.com/office/powerpoint/2010/main" val="3232471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1230"/>
          </a:xfrm>
        </p:spPr>
        <p:txBody>
          <a:bodyPr>
            <a:normAutofit fontScale="90000"/>
          </a:bodyPr>
          <a:lstStyle/>
          <a:p>
            <a:r>
              <a:rPr lang="en-US" dirty="0"/>
              <a:t>Conti..</a:t>
            </a:r>
          </a:p>
        </p:txBody>
      </p:sp>
      <p:sp>
        <p:nvSpPr>
          <p:cNvPr id="3" name="Content Placeholder 2"/>
          <p:cNvSpPr>
            <a:spLocks noGrp="1"/>
          </p:cNvSpPr>
          <p:nvPr>
            <p:ph idx="1"/>
          </p:nvPr>
        </p:nvSpPr>
        <p:spPr>
          <a:xfrm>
            <a:off x="838200" y="1205345"/>
            <a:ext cx="10515600" cy="4971618"/>
          </a:xfrm>
        </p:spPr>
        <p:txBody>
          <a:bodyPr>
            <a:normAutofit fontScale="85000" lnSpcReduction="20000"/>
          </a:bodyPr>
          <a:lstStyle/>
          <a:p>
            <a:r>
              <a:rPr lang="en-US" dirty="0"/>
              <a:t>The Pattern-Distortion Technique is a method used in therapy to help people change negative or unhelpful thought patterns. Here’s how it works in simple terms:</a:t>
            </a:r>
          </a:p>
          <a:p>
            <a:r>
              <a:rPr lang="en-US" b="1" dirty="0"/>
              <a:t>Identify Negative Thoughts</a:t>
            </a:r>
            <a:r>
              <a:rPr lang="en-US" dirty="0"/>
              <a:t>: First, you recognize thoughts that are causing distress or holding you back.</a:t>
            </a:r>
          </a:p>
          <a:p>
            <a:r>
              <a:rPr lang="en-US" b="1" dirty="0"/>
              <a:t>Challenge the Thoughts</a:t>
            </a:r>
            <a:r>
              <a:rPr lang="en-US" dirty="0"/>
              <a:t>: Next, you examine these thoughts to see if they're based on facts or assumptions. Often, negative thoughts can be exaggerated or not entirely true.</a:t>
            </a:r>
          </a:p>
          <a:p>
            <a:r>
              <a:rPr lang="en-US" b="1" dirty="0"/>
              <a:t>Change the Perspective</a:t>
            </a:r>
            <a:r>
              <a:rPr lang="en-US" dirty="0"/>
              <a:t>: You then try to see things from a different angle. This might involve questioning whether there’s evidence to support the negative thought or considering alternative viewpoints.</a:t>
            </a:r>
          </a:p>
          <a:p>
            <a:r>
              <a:rPr lang="en-US" b="1" dirty="0"/>
              <a:t>Replace with Balanced Thoughts</a:t>
            </a:r>
            <a:r>
              <a:rPr lang="en-US" dirty="0"/>
              <a:t>: Finally, you replace the negative thought with a more balanced or realistic one. This helps to reduce distress and improve your overall outlook.</a:t>
            </a:r>
          </a:p>
          <a:p>
            <a:pPr marL="0" indent="0">
              <a:buNone/>
            </a:pPr>
            <a:r>
              <a:rPr lang="en-US" dirty="0"/>
              <a:t>Overall, it's a way to reframe how you think about things, helping you feel better and think more positively.</a:t>
            </a:r>
          </a:p>
          <a:p>
            <a:endParaRPr lang="en-US" dirty="0"/>
          </a:p>
        </p:txBody>
      </p:sp>
    </p:spTree>
    <p:extLst>
      <p:ext uri="{BB962C8B-B14F-4D97-AF65-F5344CB8AC3E}">
        <p14:creationId xmlns:p14="http://schemas.microsoft.com/office/powerpoint/2010/main" val="1163387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8535B-32CC-5A4A-4260-907C06CB9AF3}"/>
              </a:ext>
            </a:extLst>
          </p:cNvPr>
          <p:cNvSpPr>
            <a:spLocks noGrp="1"/>
          </p:cNvSpPr>
          <p:nvPr>
            <p:ph type="title"/>
          </p:nvPr>
        </p:nvSpPr>
        <p:spPr>
          <a:xfrm>
            <a:off x="838200" y="365125"/>
            <a:ext cx="10515600" cy="803275"/>
          </a:xfrm>
        </p:spPr>
        <p:txBody>
          <a:bodyPr/>
          <a:lstStyle/>
          <a:p>
            <a:r>
              <a:rPr lang="en-IN" dirty="0"/>
              <a:t>Key Concepts</a:t>
            </a:r>
          </a:p>
        </p:txBody>
      </p:sp>
      <p:sp>
        <p:nvSpPr>
          <p:cNvPr id="4" name="Rectangle 1">
            <a:extLst>
              <a:ext uri="{FF2B5EF4-FFF2-40B4-BE49-F238E27FC236}">
                <a16:creationId xmlns:a16="http://schemas.microsoft.com/office/drawing/2014/main" id="{5938E485-D614-5A75-B7D3-FAFCEBD8E654}"/>
              </a:ext>
            </a:extLst>
          </p:cNvPr>
          <p:cNvSpPr>
            <a:spLocks noGrp="1" noChangeArrowheads="1"/>
          </p:cNvSpPr>
          <p:nvPr>
            <p:ph idx="1"/>
          </p:nvPr>
        </p:nvSpPr>
        <p:spPr bwMode="auto">
          <a:xfrm>
            <a:off x="838200" y="2093079"/>
            <a:ext cx="10402015"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en-US" altLang="en-US" sz="3200" dirty="0">
                <a:solidFill>
                  <a:srgbClr val="0070C0"/>
                </a:solidFill>
                <a:latin typeface="Times New Roman" panose="02020603050405020304" pitchFamily="18" charset="0"/>
                <a:cs typeface="Times New Roman" panose="02020603050405020304" pitchFamily="18" charset="0"/>
              </a:rPr>
              <a:t>Geometric Distortions:</a:t>
            </a:r>
          </a:p>
          <a:p>
            <a:pPr marL="0" marR="0" lvl="0" indent="0" algn="l" defTabSz="914400" rtl="0" eaLnBrk="0" fontAlgn="base" latinLnBrk="0" hangingPunct="0">
              <a:lnSpc>
                <a:spcPct val="100000"/>
              </a:lnSpc>
              <a:spcBef>
                <a:spcPct val="0"/>
              </a:spcBef>
              <a:spcAft>
                <a:spcPct val="0"/>
              </a:spcAft>
              <a:buClrTx/>
              <a:buSzTx/>
              <a:buNone/>
              <a:tabLst/>
            </a:pPr>
            <a:endParaRPr lang="en-US" altLang="en-US" sz="32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3200" dirty="0">
                <a:solidFill>
                  <a:srgbClr val="C00000"/>
                </a:solidFill>
                <a:latin typeface="Times New Roman" panose="02020603050405020304" pitchFamily="18" charset="0"/>
                <a:cs typeface="Times New Roman" panose="02020603050405020304" pitchFamily="18" charset="0"/>
              </a:rPr>
              <a:t>Translation</a:t>
            </a:r>
            <a:r>
              <a:rPr lang="en-US" altLang="en-US" sz="3200" dirty="0">
                <a:latin typeface="Times New Roman" panose="02020603050405020304" pitchFamily="18" charset="0"/>
                <a:cs typeface="Times New Roman" panose="02020603050405020304" pitchFamily="18" charset="0"/>
              </a:rPr>
              <a:t>: Moving the pattern from one location to another.</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3200" dirty="0">
                <a:solidFill>
                  <a:srgbClr val="C00000"/>
                </a:solidFill>
                <a:latin typeface="Times New Roman" panose="02020603050405020304" pitchFamily="18" charset="0"/>
                <a:cs typeface="Times New Roman" panose="02020603050405020304" pitchFamily="18" charset="0"/>
              </a:rPr>
              <a:t>Rotation</a:t>
            </a:r>
            <a:r>
              <a:rPr lang="en-US" altLang="en-US" sz="3200" dirty="0">
                <a:latin typeface="Times New Roman" panose="02020603050405020304" pitchFamily="18" charset="0"/>
                <a:cs typeface="Times New Roman" panose="02020603050405020304" pitchFamily="18" charset="0"/>
              </a:rPr>
              <a:t>: Rotating the pattern by some angle.</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3200" dirty="0">
                <a:solidFill>
                  <a:srgbClr val="C00000"/>
                </a:solidFill>
                <a:latin typeface="Times New Roman" panose="02020603050405020304" pitchFamily="18" charset="0"/>
                <a:cs typeface="Times New Roman" panose="02020603050405020304" pitchFamily="18" charset="0"/>
              </a:rPr>
              <a:t>Scaling</a:t>
            </a:r>
            <a:r>
              <a:rPr lang="en-US" altLang="en-US" sz="3200" dirty="0">
                <a:latin typeface="Times New Roman" panose="02020603050405020304" pitchFamily="18" charset="0"/>
                <a:cs typeface="Times New Roman" panose="02020603050405020304" pitchFamily="18" charset="0"/>
              </a:rPr>
              <a:t>: Changing the size of the pattern.</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3200" dirty="0">
                <a:solidFill>
                  <a:srgbClr val="C00000"/>
                </a:solidFill>
                <a:latin typeface="Times New Roman" panose="02020603050405020304" pitchFamily="18" charset="0"/>
                <a:cs typeface="Times New Roman" panose="02020603050405020304" pitchFamily="18" charset="0"/>
              </a:rPr>
              <a:t>Shearing</a:t>
            </a:r>
            <a:r>
              <a:rPr lang="en-US" altLang="en-US" sz="3200" dirty="0">
                <a:latin typeface="Times New Roman" panose="02020603050405020304" pitchFamily="18" charset="0"/>
                <a:cs typeface="Times New Roman" panose="02020603050405020304" pitchFamily="18" charset="0"/>
              </a:rPr>
              <a:t>: Skewing the pattern in one direction.</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3200" dirty="0">
                <a:solidFill>
                  <a:srgbClr val="C00000"/>
                </a:solidFill>
                <a:latin typeface="Times New Roman" panose="02020603050405020304" pitchFamily="18" charset="0"/>
                <a:cs typeface="Times New Roman" panose="02020603050405020304" pitchFamily="18" charset="0"/>
              </a:rPr>
              <a:t>Reflection: </a:t>
            </a:r>
            <a:r>
              <a:rPr lang="en-US" altLang="en-US" sz="3200" dirty="0">
                <a:latin typeface="Times New Roman" panose="02020603050405020304" pitchFamily="18" charset="0"/>
                <a:cs typeface="Times New Roman" panose="02020603050405020304" pitchFamily="18" charset="0"/>
              </a:rPr>
              <a:t>Flipping the pattern over a line.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45991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0B850-18F2-E0DF-74AD-EEFEE8947EE5}"/>
              </a:ext>
            </a:extLst>
          </p:cNvPr>
          <p:cNvSpPr>
            <a:spLocks noGrp="1"/>
          </p:cNvSpPr>
          <p:nvPr>
            <p:ph type="title"/>
          </p:nvPr>
        </p:nvSpPr>
        <p:spPr>
          <a:xfrm>
            <a:off x="838200" y="365125"/>
            <a:ext cx="10515600" cy="854075"/>
          </a:xfrm>
        </p:spPr>
        <p:txBody>
          <a:bodyPr/>
          <a:lstStyle/>
          <a:p>
            <a:r>
              <a:rPr lang="en-IN" dirty="0"/>
              <a:t>Conti..</a:t>
            </a:r>
          </a:p>
        </p:txBody>
      </p:sp>
      <p:sp>
        <p:nvSpPr>
          <p:cNvPr id="4" name="Rectangle 1">
            <a:extLst>
              <a:ext uri="{FF2B5EF4-FFF2-40B4-BE49-F238E27FC236}">
                <a16:creationId xmlns:a16="http://schemas.microsoft.com/office/drawing/2014/main" id="{B05720E7-902C-164C-3670-DF23E61C9BE9}"/>
              </a:ext>
            </a:extLst>
          </p:cNvPr>
          <p:cNvSpPr>
            <a:spLocks noGrp="1" noChangeArrowheads="1"/>
          </p:cNvSpPr>
          <p:nvPr>
            <p:ph idx="1"/>
          </p:nvPr>
        </p:nvSpPr>
        <p:spPr bwMode="auto">
          <a:xfrm>
            <a:off x="396240" y="1816081"/>
            <a:ext cx="11054079"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Noise: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Random variations in the pattern that can obscure or alter its appearance.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can be caused by sensor imperfections, environmental factors, or data corruption.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Occlusions: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latin typeface="Times New Roman" panose="02020603050405020304" pitchFamily="18" charset="0"/>
                <a:cs typeface="Times New Roman" panose="02020603050405020304" pitchFamily="18" charset="0"/>
              </a:rPr>
              <a:t>Parts of the pattern are hidden or covered, making it incomplete or partially visible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Variability:</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latin typeface="Times New Roman" panose="02020603050405020304" pitchFamily="18" charset="0"/>
                <a:cs typeface="Times New Roman" panose="02020603050405020304" pitchFamily="18" charset="0"/>
              </a:rPr>
              <a:t>Natural variations within the same class of patterns.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latin typeface="Times New Roman" panose="02020603050405020304" pitchFamily="18" charset="0"/>
                <a:cs typeface="Times New Roman" panose="02020603050405020304" pitchFamily="18" charset="0"/>
              </a:rPr>
              <a:t>For example, different handwriting styles for the same character.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026000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1B8B-4342-22D4-4F95-D27A439A69CC}"/>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37F23A0D-C06B-B81D-626D-537CA489BE05}"/>
              </a:ext>
            </a:extLst>
          </p:cNvPr>
          <p:cNvSpPr>
            <a:spLocks noGrp="1"/>
          </p:cNvSpPr>
          <p:nvPr>
            <p:ph idx="1"/>
          </p:nvPr>
        </p:nvSpPr>
        <p:spPr/>
        <p:txBody>
          <a:bodyPr/>
          <a:lstStyle/>
          <a:p>
            <a:r>
              <a:rPr lang="en-US" dirty="0"/>
              <a:t>Let's consider a simple example of a geometric distortion:</a:t>
            </a:r>
          </a:p>
          <a:p>
            <a:pPr>
              <a:buFont typeface="+mj-lt"/>
              <a:buAutoNum type="arabicPeriod"/>
            </a:pPr>
            <a:r>
              <a:rPr lang="en-US" b="1" dirty="0"/>
              <a:t>Original Pattern:</a:t>
            </a:r>
            <a:endParaRPr lang="en-US" dirty="0"/>
          </a:p>
          <a:p>
            <a:pPr marL="742950" lvl="1" indent="-285750">
              <a:buFont typeface="+mj-lt"/>
              <a:buAutoNum type="arabicPeriod"/>
            </a:pPr>
            <a:r>
              <a:rPr lang="en-US" dirty="0"/>
              <a:t>An image of a letter 'A’.</a:t>
            </a:r>
          </a:p>
          <a:p>
            <a:pPr marL="457200" lvl="1" indent="0">
              <a:buNone/>
            </a:pPr>
            <a:endParaRPr lang="en-US" dirty="0"/>
          </a:p>
          <a:p>
            <a:pPr>
              <a:buFont typeface="+mj-lt"/>
              <a:buAutoNum type="arabicPeriod"/>
            </a:pPr>
            <a:r>
              <a:rPr lang="en-US" b="1" dirty="0"/>
              <a:t>Distorted Patterns:</a:t>
            </a:r>
            <a:endParaRPr lang="en-US" dirty="0"/>
          </a:p>
          <a:p>
            <a:pPr marL="742950" lvl="1" indent="-285750">
              <a:buFont typeface="+mj-lt"/>
              <a:buAutoNum type="arabicPeriod"/>
            </a:pPr>
            <a:r>
              <a:rPr lang="en-US" b="1" dirty="0"/>
              <a:t>Translation:</a:t>
            </a:r>
            <a:r>
              <a:rPr lang="en-US" dirty="0"/>
              <a:t> The letter 'A' is moved to a different position within the image.</a:t>
            </a:r>
          </a:p>
          <a:p>
            <a:pPr marL="742950" lvl="1" indent="-285750">
              <a:buFont typeface="+mj-lt"/>
              <a:buAutoNum type="arabicPeriod"/>
            </a:pPr>
            <a:r>
              <a:rPr lang="en-US" b="1" dirty="0"/>
              <a:t>Rotation:</a:t>
            </a:r>
            <a:r>
              <a:rPr lang="en-US" dirty="0"/>
              <a:t> The letter 'A' is rotated by 30 degrees.</a:t>
            </a:r>
          </a:p>
          <a:p>
            <a:pPr marL="742950" lvl="1" indent="-285750">
              <a:buFont typeface="+mj-lt"/>
              <a:buAutoNum type="arabicPeriod"/>
            </a:pPr>
            <a:r>
              <a:rPr lang="en-US" b="1" dirty="0"/>
              <a:t>Scaling:</a:t>
            </a:r>
            <a:r>
              <a:rPr lang="en-US" dirty="0"/>
              <a:t> The letter 'A' is resized to be smaller or larger.</a:t>
            </a:r>
          </a:p>
          <a:p>
            <a:pPr marL="742950" lvl="1" indent="-285750">
              <a:buFont typeface="+mj-lt"/>
              <a:buAutoNum type="arabicPeriod"/>
            </a:pPr>
            <a:r>
              <a:rPr lang="en-US" b="1" dirty="0"/>
              <a:t>Shearing:</a:t>
            </a:r>
            <a:r>
              <a:rPr lang="en-US" dirty="0"/>
              <a:t> The letter 'A' is skewed, making it appear slanted.</a:t>
            </a:r>
          </a:p>
          <a:p>
            <a:endParaRPr lang="en-IN" dirty="0"/>
          </a:p>
        </p:txBody>
      </p:sp>
    </p:spTree>
    <p:extLst>
      <p:ext uri="{BB962C8B-B14F-4D97-AF65-F5344CB8AC3E}">
        <p14:creationId xmlns:p14="http://schemas.microsoft.com/office/powerpoint/2010/main" val="12959579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8612D-5D9E-B1F5-5EE5-01891D0D7A5E}"/>
              </a:ext>
            </a:extLst>
          </p:cNvPr>
          <p:cNvSpPr>
            <a:spLocks noGrp="1"/>
          </p:cNvSpPr>
          <p:nvPr>
            <p:ph type="title"/>
          </p:nvPr>
        </p:nvSpPr>
        <p:spPr>
          <a:xfrm>
            <a:off x="838200" y="365125"/>
            <a:ext cx="10515600" cy="640715"/>
          </a:xfrm>
        </p:spPr>
        <p:txBody>
          <a:bodyPr>
            <a:normAutofit fontScale="90000"/>
          </a:bodyPr>
          <a:lstStyle/>
          <a:p>
            <a:br>
              <a:rPr lang="en-IN" b="1" dirty="0"/>
            </a:br>
            <a:r>
              <a:rPr lang="en-IN" b="1" dirty="0"/>
              <a:t>Handling Distortions in Pattern Recognition</a:t>
            </a:r>
            <a:br>
              <a:rPr lang="en-IN" b="1" dirty="0"/>
            </a:br>
            <a:endParaRPr lang="en-IN" dirty="0"/>
          </a:p>
        </p:txBody>
      </p:sp>
      <p:sp>
        <p:nvSpPr>
          <p:cNvPr id="4" name="Rectangle 1">
            <a:extLst>
              <a:ext uri="{FF2B5EF4-FFF2-40B4-BE49-F238E27FC236}">
                <a16:creationId xmlns:a16="http://schemas.microsoft.com/office/drawing/2014/main" id="{F74815AF-4941-26DA-01E3-235ED135E470}"/>
              </a:ext>
            </a:extLst>
          </p:cNvPr>
          <p:cNvSpPr>
            <a:spLocks noGrp="1" noChangeArrowheads="1"/>
          </p:cNvSpPr>
          <p:nvPr>
            <p:ph idx="1"/>
          </p:nvPr>
        </p:nvSpPr>
        <p:spPr bwMode="auto">
          <a:xfrm>
            <a:off x="838200" y="1415288"/>
            <a:ext cx="1078484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Preprocessing: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Normalize the patterns to a standard form (e.g., resizing, aligning, or centering).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Apply noise reduction techniques to mitigate the impact of noise.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Feature Extraction: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Extract features that are invariant to the distortions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For example, using edge detection can help identify shapes regardless of their position or size.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Robust Algorithms: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 algorithms that can handle variations and distortions,</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such as convolutional neural networks (CNNs) in image recognition tasks.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Data Augmentation: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Generate distorted versions of the training data to improve the robustness of the pattern recognition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model.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486784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48039"/>
          </a:xfrm>
        </p:spPr>
        <p:txBody>
          <a:bodyPr>
            <a:normAutofit/>
          </a:bodyPr>
          <a:lstStyle/>
          <a:p>
            <a:r>
              <a:rPr lang="en-US" sz="3200" b="1" dirty="0">
                <a:solidFill>
                  <a:srgbClr val="C00000"/>
                </a:solidFill>
              </a:rPr>
              <a:t>Features Extraction Using Generalized Cylinders for 3-D object Description and Classification:</a:t>
            </a:r>
          </a:p>
        </p:txBody>
      </p:sp>
      <p:sp>
        <p:nvSpPr>
          <p:cNvPr id="3" name="Content Placeholder 2"/>
          <p:cNvSpPr>
            <a:spLocks noGrp="1"/>
          </p:cNvSpPr>
          <p:nvPr>
            <p:ph idx="1"/>
          </p:nvPr>
        </p:nvSpPr>
        <p:spPr>
          <a:xfrm>
            <a:off x="838200" y="1485900"/>
            <a:ext cx="10515600" cy="4691063"/>
          </a:xfrm>
        </p:spPr>
        <p:txBody>
          <a:bodyPr>
            <a:normAutofit/>
          </a:bodyPr>
          <a:lstStyle/>
          <a:p>
            <a:pPr marL="0" indent="0">
              <a:buNone/>
            </a:pPr>
            <a:r>
              <a:rPr lang="en-US" sz="1800" dirty="0"/>
              <a:t>Features Extraction Using Generalized Cylinders for 3-D Object Description and Classification" is a technique used in computer vision and pattern recognition to analyze and categorize three-dimensional objects.</a:t>
            </a:r>
          </a:p>
          <a:p>
            <a:pPr marL="0" indent="0">
              <a:buNone/>
            </a:pPr>
            <a:endParaRPr lang="en-US" sz="1800" dirty="0"/>
          </a:p>
          <a:p>
            <a:pPr marL="0" indent="0">
              <a:buNone/>
            </a:pPr>
            <a:r>
              <a:rPr lang="en-US" sz="1800" b="1" dirty="0"/>
              <a:t>1. </a:t>
            </a:r>
            <a:r>
              <a:rPr lang="en-US" b="1" dirty="0"/>
              <a:t>Generalized Cylinders</a:t>
            </a:r>
          </a:p>
          <a:p>
            <a:r>
              <a:rPr lang="en-US" b="1" dirty="0"/>
              <a:t>Concept</a:t>
            </a:r>
            <a:r>
              <a:rPr lang="en-US" dirty="0"/>
              <a:t>: Objects in the real world can often be approximated or described as being composed of cylindrical shapes. These cylinders can vary in size, orientation, and other properties.</a:t>
            </a:r>
          </a:p>
          <a:p>
            <a:r>
              <a:rPr lang="en-US" b="1" dirty="0"/>
              <a:t>Application</a:t>
            </a:r>
            <a:r>
              <a:rPr lang="en-US" dirty="0"/>
              <a:t>: In this technique, each part of a 3-D object is represented as a generalized cylinder. These cylinders can capture the overall shape and structure of the object.</a:t>
            </a:r>
          </a:p>
          <a:p>
            <a:endParaRPr lang="en-US" sz="1800" dirty="0"/>
          </a:p>
          <a:p>
            <a:endParaRPr lang="en-US" sz="1800" dirty="0"/>
          </a:p>
          <a:p>
            <a:pPr marL="0" indent="0">
              <a:buNone/>
            </a:pPr>
            <a:endParaRPr lang="en-US" sz="1800" dirty="0"/>
          </a:p>
        </p:txBody>
      </p:sp>
    </p:spTree>
    <p:extLst>
      <p:ext uri="{BB962C8B-B14F-4D97-AF65-F5344CB8AC3E}">
        <p14:creationId xmlns:p14="http://schemas.microsoft.com/office/powerpoint/2010/main" val="36265171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93690-7A76-8E5E-19C5-7CAA1C84978A}"/>
              </a:ext>
            </a:extLst>
          </p:cNvPr>
          <p:cNvSpPr>
            <a:spLocks noGrp="1"/>
          </p:cNvSpPr>
          <p:nvPr>
            <p:ph type="title"/>
          </p:nvPr>
        </p:nvSpPr>
        <p:spPr/>
        <p:txBody>
          <a:bodyPr/>
          <a:lstStyle/>
          <a:p>
            <a:r>
              <a:rPr lang="en-IN" dirty="0"/>
              <a:t>Conti..</a:t>
            </a:r>
          </a:p>
        </p:txBody>
      </p:sp>
      <p:sp>
        <p:nvSpPr>
          <p:cNvPr id="3" name="Content Placeholder 2">
            <a:extLst>
              <a:ext uri="{FF2B5EF4-FFF2-40B4-BE49-F238E27FC236}">
                <a16:creationId xmlns:a16="http://schemas.microsoft.com/office/drawing/2014/main" id="{E252E7DC-2BD9-9EE7-C184-15E96735F43D}"/>
              </a:ext>
            </a:extLst>
          </p:cNvPr>
          <p:cNvSpPr>
            <a:spLocks noGrp="1"/>
          </p:cNvSpPr>
          <p:nvPr>
            <p:ph idx="1"/>
          </p:nvPr>
        </p:nvSpPr>
        <p:spPr/>
        <p:txBody>
          <a:bodyPr/>
          <a:lstStyle/>
          <a:p>
            <a:pPr marL="0" indent="0">
              <a:buNone/>
            </a:pPr>
            <a:r>
              <a:rPr lang="en-US" sz="2800" b="1" dirty="0"/>
              <a:t>2. Features Extraction</a:t>
            </a:r>
          </a:p>
          <a:p>
            <a:r>
              <a:rPr lang="en-US" sz="2800" b="1" dirty="0"/>
              <a:t>Process</a:t>
            </a:r>
            <a:r>
              <a:rPr lang="en-US" sz="2800" dirty="0"/>
              <a:t>: The technique involves extracting specific features from these generalized cylinders. These features could include parameters such as the radius, length, orientation, and position of each cylinder within the 3-D space.</a:t>
            </a:r>
          </a:p>
          <a:p>
            <a:r>
              <a:rPr lang="en-US" sz="2800" b="1" dirty="0"/>
              <a:t>Purpose</a:t>
            </a:r>
            <a:r>
              <a:rPr lang="en-US" sz="2800" dirty="0"/>
              <a:t>: By extracting these features, the method creates a descriptive representation of the object based on its cylindrical components. This representation is more abstract and focused on the object's structural elements rather than detailed surface textures.</a:t>
            </a:r>
          </a:p>
          <a:p>
            <a:endParaRPr lang="en-IN" dirty="0"/>
          </a:p>
        </p:txBody>
      </p:sp>
    </p:spTree>
    <p:extLst>
      <p:ext uri="{BB962C8B-B14F-4D97-AF65-F5344CB8AC3E}">
        <p14:creationId xmlns:p14="http://schemas.microsoft.com/office/powerpoint/2010/main" val="34353330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75"/>
          </a:xfrm>
        </p:spPr>
        <p:txBody>
          <a:bodyPr/>
          <a:lstStyle/>
          <a:p>
            <a:r>
              <a:rPr lang="en-US" dirty="0"/>
              <a:t>Conti..</a:t>
            </a:r>
          </a:p>
        </p:txBody>
      </p:sp>
      <p:sp>
        <p:nvSpPr>
          <p:cNvPr id="3" name="Content Placeholder 2"/>
          <p:cNvSpPr>
            <a:spLocks noGrp="1"/>
          </p:cNvSpPr>
          <p:nvPr>
            <p:ph idx="1"/>
          </p:nvPr>
        </p:nvSpPr>
        <p:spPr>
          <a:xfrm>
            <a:off x="838200" y="1143000"/>
            <a:ext cx="10515600" cy="5033963"/>
          </a:xfrm>
        </p:spPr>
        <p:txBody>
          <a:bodyPr/>
          <a:lstStyle/>
          <a:p>
            <a:pPr marL="0" indent="0">
              <a:buNone/>
            </a:pPr>
            <a:r>
              <a:rPr lang="en-US" b="1" dirty="0"/>
              <a:t>3. Object Description</a:t>
            </a:r>
          </a:p>
          <a:p>
            <a:r>
              <a:rPr lang="en-US" b="1" dirty="0"/>
              <a:t>Representation</a:t>
            </a:r>
            <a:r>
              <a:rPr lang="en-US" dirty="0"/>
              <a:t>: Using the extracted features, the 3-D object is described in terms of these generalized cylinders. This description provides a simplified yet informative way to understand the object’s overall shape and geometry.</a:t>
            </a:r>
          </a:p>
          <a:p>
            <a:pPr marL="0" indent="0">
              <a:buNone/>
            </a:pPr>
            <a:endParaRPr lang="en-US" dirty="0"/>
          </a:p>
          <a:p>
            <a:pPr marL="0" indent="0">
              <a:buNone/>
            </a:pPr>
            <a:r>
              <a:rPr lang="en-US" b="1" dirty="0"/>
              <a:t>4. Classification</a:t>
            </a:r>
          </a:p>
          <a:p>
            <a:r>
              <a:rPr lang="en-US" b="1" dirty="0"/>
              <a:t>Utilization</a:t>
            </a:r>
            <a:r>
              <a:rPr lang="en-US" dirty="0"/>
              <a:t>: Once the object is described using the generalized cylinders and their features, classification algorithms can be applied. These algorithms analyze the extracted features to categorize or classify the object into predefined classes or types.</a:t>
            </a:r>
          </a:p>
          <a:p>
            <a:endParaRPr lang="en-US" dirty="0"/>
          </a:p>
        </p:txBody>
      </p:sp>
    </p:spTree>
    <p:extLst>
      <p:ext uri="{BB962C8B-B14F-4D97-AF65-F5344CB8AC3E}">
        <p14:creationId xmlns:p14="http://schemas.microsoft.com/office/powerpoint/2010/main" val="34104006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5529"/>
          </a:xfrm>
        </p:spPr>
        <p:txBody>
          <a:bodyPr>
            <a:normAutofit fontScale="90000"/>
          </a:bodyPr>
          <a:lstStyle/>
          <a:p>
            <a:br>
              <a:rPr lang="en-US" b="1" dirty="0"/>
            </a:br>
            <a:r>
              <a:rPr lang="en-US" b="1" dirty="0"/>
              <a:t>Advantages and Applications</a:t>
            </a:r>
            <a:br>
              <a:rPr lang="en-US" b="1" dirty="0"/>
            </a:br>
            <a:endParaRPr lang="en-US" dirty="0"/>
          </a:p>
        </p:txBody>
      </p:sp>
      <p:sp>
        <p:nvSpPr>
          <p:cNvPr id="3" name="Content Placeholder 2"/>
          <p:cNvSpPr>
            <a:spLocks noGrp="1"/>
          </p:cNvSpPr>
          <p:nvPr>
            <p:ph idx="1"/>
          </p:nvPr>
        </p:nvSpPr>
        <p:spPr>
          <a:xfrm>
            <a:off x="838200" y="1080655"/>
            <a:ext cx="10515600" cy="5096308"/>
          </a:xfrm>
        </p:spPr>
        <p:txBody>
          <a:bodyPr>
            <a:normAutofit fontScale="92500" lnSpcReduction="10000"/>
          </a:bodyPr>
          <a:lstStyle/>
          <a:p>
            <a:r>
              <a:rPr lang="en-US" b="1" dirty="0"/>
              <a:t>Advantages</a:t>
            </a:r>
            <a:r>
              <a:rPr lang="en-US" dirty="0"/>
              <a:t>: This approach is beneficial because it reduces the complexity of 3-D object analysis by focusing on fundamental geometric shapes (cylinders), which are easier to handle computationally.</a:t>
            </a:r>
          </a:p>
          <a:p>
            <a:r>
              <a:rPr lang="en-US" b="1" dirty="0"/>
              <a:t>Applications</a:t>
            </a:r>
            <a:r>
              <a:rPr lang="en-US" dirty="0"/>
              <a:t>: It finds applications in various fields such as robotics (object recognition and manipulation), computer-aided design (CAD), medical imaging (3-D organ recognition), and augmented reality (object interaction and manipulation).</a:t>
            </a:r>
          </a:p>
          <a:p>
            <a:endParaRPr lang="en-US" dirty="0"/>
          </a:p>
          <a:p>
            <a:pPr marL="0" indent="0">
              <a:buNone/>
            </a:pPr>
            <a:r>
              <a:rPr lang="en-US" i="1" dirty="0"/>
              <a:t>Features Extraction Using Generalized Cylinders for 3-D Object Description and Classification" technique leverages generalized cylinders to simplify the representation and classification of 3-D objects based on their geometric shapes and structural components. It’s a powerful tool in computer vision for understanding and interacting with complex real-world objects in a computationally efficient manner.</a:t>
            </a:r>
          </a:p>
        </p:txBody>
      </p:sp>
    </p:spTree>
    <p:extLst>
      <p:ext uri="{BB962C8B-B14F-4D97-AF65-F5344CB8AC3E}">
        <p14:creationId xmlns:p14="http://schemas.microsoft.com/office/powerpoint/2010/main" val="23552930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97BD0-90F6-A80F-694D-CDC7B7BA0500}"/>
              </a:ext>
            </a:extLst>
          </p:cNvPr>
          <p:cNvSpPr>
            <a:spLocks noGrp="1"/>
          </p:cNvSpPr>
          <p:nvPr>
            <p:ph type="title"/>
          </p:nvPr>
        </p:nvSpPr>
        <p:spPr/>
        <p:txBody>
          <a:bodyPr/>
          <a:lstStyle/>
          <a:p>
            <a:r>
              <a:rPr lang="en-IN" dirty="0"/>
              <a:t>Example:</a:t>
            </a:r>
          </a:p>
        </p:txBody>
      </p:sp>
      <p:sp>
        <p:nvSpPr>
          <p:cNvPr id="4" name="Rectangle 1">
            <a:extLst>
              <a:ext uri="{FF2B5EF4-FFF2-40B4-BE49-F238E27FC236}">
                <a16:creationId xmlns:a16="http://schemas.microsoft.com/office/drawing/2014/main" id="{0680F026-FBA2-92DB-6897-9DD7AF3AABBD}"/>
              </a:ext>
            </a:extLst>
          </p:cNvPr>
          <p:cNvSpPr>
            <a:spLocks noGrp="1" noChangeArrowheads="1"/>
          </p:cNvSpPr>
          <p:nvPr>
            <p:ph idx="1"/>
          </p:nvPr>
        </p:nvSpPr>
        <p:spPr bwMode="auto">
          <a:xfrm>
            <a:off x="838200" y="1231307"/>
            <a:ext cx="10407869" cy="5539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Input 3D Object: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   A 3D object, such as a human arm, can be represented using</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  generalized cylinders for different segments (upper arm,   </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latin typeface="Arial" panose="020B0604020202020204" pitchFamily="34" charset="0"/>
              </a:rPr>
              <a:t>  </a:t>
            </a:r>
            <a:r>
              <a:rPr kumimoji="0" lang="en-US" altLang="en-US" b="0" i="0" u="none" strike="noStrike" cap="none" normalizeH="0" baseline="0" dirty="0">
                <a:ln>
                  <a:noFill/>
                </a:ln>
                <a:solidFill>
                  <a:schemeClr val="tx1"/>
                </a:solidFill>
                <a:effectLst/>
                <a:latin typeface="Arial" panose="020B0604020202020204" pitchFamily="34" charset="0"/>
              </a:rPr>
              <a:t>forearm, hand).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Decomposition:</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Decompose the arm into three segments: upper arm, forearm, </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latin typeface="Arial" panose="020B0604020202020204" pitchFamily="34" charset="0"/>
              </a:rPr>
              <a:t> </a:t>
            </a:r>
            <a:r>
              <a:rPr kumimoji="0" lang="en-US" altLang="en-US" b="0" i="0" u="none" strike="noStrike" cap="none" normalizeH="0" baseline="0" dirty="0">
                <a:ln>
                  <a:noFill/>
                </a:ln>
                <a:solidFill>
                  <a:schemeClr val="tx1"/>
                </a:solidFill>
                <a:effectLst/>
                <a:latin typeface="Arial" panose="020B0604020202020204" pitchFamily="34" charset="0"/>
              </a:rPr>
              <a:t>and hand.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Spine Detection:</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Detect the central axis of each segment using skeletonization techniques.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501534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1AEC0-E3D3-4252-3DCF-661D965F5F2C}"/>
              </a:ext>
            </a:extLst>
          </p:cNvPr>
          <p:cNvSpPr>
            <a:spLocks noGrp="1"/>
          </p:cNvSpPr>
          <p:nvPr>
            <p:ph type="title"/>
          </p:nvPr>
        </p:nvSpPr>
        <p:spPr/>
        <p:txBody>
          <a:bodyPr/>
          <a:lstStyle/>
          <a:p>
            <a:r>
              <a:rPr lang="en-IN" dirty="0"/>
              <a:t>Conti..</a:t>
            </a:r>
          </a:p>
        </p:txBody>
      </p:sp>
      <p:sp>
        <p:nvSpPr>
          <p:cNvPr id="3" name="Content Placeholder 2">
            <a:extLst>
              <a:ext uri="{FF2B5EF4-FFF2-40B4-BE49-F238E27FC236}">
                <a16:creationId xmlns:a16="http://schemas.microsoft.com/office/drawing/2014/main" id="{92DB9387-9C1F-6D65-96F1-A6721078846C}"/>
              </a:ext>
            </a:extLst>
          </p:cNvPr>
          <p:cNvSpPr>
            <a:spLocks noGrp="1"/>
          </p:cNvSpPr>
          <p:nvPr>
            <p:ph idx="1"/>
          </p:nvPr>
        </p:nvSpPr>
        <p:spPr>
          <a:xfrm>
            <a:off x="838200" y="1376855"/>
            <a:ext cx="10515600" cy="4800108"/>
          </a:xfrm>
        </p:spPr>
        <p:txBody>
          <a:bodyPr>
            <a:normAutofit fontScale="85000" lnSpcReduction="20000"/>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Cross-Sectional Profile Extraction:</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0" i="0" u="none" strike="noStrike" cap="none" normalizeH="0" baseline="0" dirty="0">
                <a:ln>
                  <a:noFill/>
                </a:ln>
                <a:solidFill>
                  <a:schemeClr val="tx1"/>
                </a:solidFill>
                <a:effectLst/>
                <a:latin typeface="Arial" panose="020B0604020202020204" pitchFamily="34" charset="0"/>
              </a:rPr>
              <a:t>Extract the cross-sectional profile at different points along the spine. For simplicity, assume the profiles are circular.</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Parameterization:</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0" i="0" u="none" strike="noStrike" cap="none" normalizeH="0" baseline="0" dirty="0">
                <a:ln>
                  <a:noFill/>
                </a:ln>
                <a:solidFill>
                  <a:schemeClr val="tx1"/>
                </a:solidFill>
                <a:effectLst/>
                <a:latin typeface="Arial" panose="020B0604020202020204" pitchFamily="34" charset="0"/>
              </a:rPr>
              <a:t>Measure the radius of the cross-section at different points along the spine and the curvature of the spine.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Feature Vector Construction:</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0" i="0" u="none" strike="noStrike" cap="none" normalizeH="0" baseline="0" dirty="0">
                <a:ln>
                  <a:noFill/>
                </a:ln>
                <a:solidFill>
                  <a:schemeClr val="tx1"/>
                </a:solidFill>
                <a:effectLst/>
                <a:latin typeface="Arial" panose="020B0604020202020204" pitchFamily="34" charset="0"/>
              </a:rPr>
              <a:t>Construct a feature vector comprising the radius and curvature values for each segment.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Classification:</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0" i="0" u="none" strike="noStrike" cap="none" normalizeH="0" baseline="0" dirty="0">
                <a:ln>
                  <a:noFill/>
                </a:ln>
                <a:solidFill>
                  <a:schemeClr val="tx1"/>
                </a:solidFill>
                <a:effectLst/>
                <a:latin typeface="Arial" panose="020B0604020202020204" pitchFamily="34" charset="0"/>
              </a:rPr>
              <a:t>Use machine learning algorithms to classify the object based on the extracted feature vectors.</a:t>
            </a:r>
          </a:p>
          <a:p>
            <a:endParaRPr lang="en-IN" dirty="0"/>
          </a:p>
        </p:txBody>
      </p:sp>
    </p:spTree>
    <p:extLst>
      <p:ext uri="{BB962C8B-B14F-4D97-AF65-F5344CB8AC3E}">
        <p14:creationId xmlns:p14="http://schemas.microsoft.com/office/powerpoint/2010/main" val="10734000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5DFC2-4354-5E6C-8845-5145597B12AF}"/>
              </a:ext>
            </a:extLst>
          </p:cNvPr>
          <p:cNvSpPr>
            <a:spLocks noGrp="1"/>
          </p:cNvSpPr>
          <p:nvPr>
            <p:ph type="title"/>
          </p:nvPr>
        </p:nvSpPr>
        <p:spPr>
          <a:xfrm>
            <a:off x="838200" y="365125"/>
            <a:ext cx="10515600" cy="622847"/>
          </a:xfrm>
        </p:spPr>
        <p:txBody>
          <a:bodyPr>
            <a:normAutofit fontScale="90000"/>
          </a:bodyPr>
          <a:lstStyle/>
          <a:p>
            <a:r>
              <a:rPr lang="en-IN" b="1" dirty="0">
                <a:solidFill>
                  <a:srgbClr val="C00000"/>
                </a:solidFill>
              </a:rPr>
              <a:t>Application:</a:t>
            </a:r>
          </a:p>
        </p:txBody>
      </p:sp>
      <p:sp>
        <p:nvSpPr>
          <p:cNvPr id="4" name="Rectangle 1">
            <a:extLst>
              <a:ext uri="{FF2B5EF4-FFF2-40B4-BE49-F238E27FC236}">
                <a16:creationId xmlns:a16="http://schemas.microsoft.com/office/drawing/2014/main" id="{E7E7C24D-9DA4-EA8B-5321-E008F4F42143}"/>
              </a:ext>
            </a:extLst>
          </p:cNvPr>
          <p:cNvSpPr>
            <a:spLocks noGrp="1" noChangeArrowheads="1"/>
          </p:cNvSpPr>
          <p:nvPr>
            <p:ph idx="1"/>
          </p:nvPr>
        </p:nvSpPr>
        <p:spPr bwMode="auto">
          <a:xfrm>
            <a:off x="838200" y="1923804"/>
            <a:ext cx="101346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Medical Imaging:</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Used in medical imaging to describe and classify anatomical structures such as blood vessels and bones.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dirty="0">
                <a:latin typeface="Arial" panose="020B0604020202020204" pitchFamily="34" charset="0"/>
              </a:rPr>
              <a:t>Robotics:</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latin typeface="Arial" panose="020B0604020202020204" pitchFamily="34" charset="0"/>
              </a:rPr>
              <a:t>  Useful in robotic vision for object recognition and manipulation.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FontTx/>
              <a:buChar char="•"/>
            </a:pPr>
            <a:r>
              <a:rPr lang="en-US" altLang="en-US" b="1" dirty="0">
                <a:latin typeface="Arial" panose="020B0604020202020204" pitchFamily="34" charset="0"/>
              </a:rPr>
              <a:t>Industrial Inspection:</a:t>
            </a:r>
          </a:p>
          <a:p>
            <a:pPr marL="0" indent="0" eaLnBrk="0" fontAlgn="base" hangingPunct="0">
              <a:lnSpc>
                <a:spcPct val="100000"/>
              </a:lnSpc>
              <a:spcBef>
                <a:spcPct val="0"/>
              </a:spcBef>
              <a:spcAft>
                <a:spcPct val="0"/>
              </a:spcAft>
              <a:buNone/>
            </a:pPr>
            <a:r>
              <a:rPr lang="en-US" altLang="en-US" sz="1800" b="1" dirty="0">
                <a:latin typeface="Arial" panose="020B0604020202020204" pitchFamily="34" charset="0"/>
              </a:rPr>
              <a:t>   </a:t>
            </a:r>
            <a:r>
              <a:rPr lang="en-US" altLang="en-US" sz="2400" dirty="0">
                <a:latin typeface="Arial" panose="020B0604020202020204" pitchFamily="34" charset="0"/>
              </a:rPr>
              <a:t>Applied in industrial inspection to recognize and classify components and structures.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527849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F4AFD-C6A2-B599-10C7-3AA0B8A2B330}"/>
              </a:ext>
            </a:extLst>
          </p:cNvPr>
          <p:cNvSpPr>
            <a:spLocks noGrp="1"/>
          </p:cNvSpPr>
          <p:nvPr>
            <p:ph type="title"/>
          </p:nvPr>
        </p:nvSpPr>
        <p:spPr>
          <a:xfrm>
            <a:off x="838200" y="365126"/>
            <a:ext cx="10515600" cy="864924"/>
          </a:xfrm>
        </p:spPr>
        <p:txBody>
          <a:bodyPr/>
          <a:lstStyle/>
          <a:p>
            <a:r>
              <a:rPr lang="en-IN" dirty="0"/>
              <a:t>Advantages and Challenges-</a:t>
            </a:r>
          </a:p>
        </p:txBody>
      </p:sp>
      <p:sp>
        <p:nvSpPr>
          <p:cNvPr id="4" name="Rectangle 1">
            <a:extLst>
              <a:ext uri="{FF2B5EF4-FFF2-40B4-BE49-F238E27FC236}">
                <a16:creationId xmlns:a16="http://schemas.microsoft.com/office/drawing/2014/main" id="{78D1CDCD-55E2-BEEC-0E1F-10BAB37D2632}"/>
              </a:ext>
            </a:extLst>
          </p:cNvPr>
          <p:cNvSpPr>
            <a:spLocks noGrp="1" noChangeArrowheads="1"/>
          </p:cNvSpPr>
          <p:nvPr>
            <p:ph idx="1"/>
          </p:nvPr>
        </p:nvSpPr>
        <p:spPr bwMode="auto">
          <a:xfrm>
            <a:off x="838200" y="1230049"/>
            <a:ext cx="10236200" cy="5445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en-US" altLang="en-US" sz="1800" b="1" dirty="0">
                <a:solidFill>
                  <a:srgbClr val="C00000"/>
                </a:solidFill>
                <a:latin typeface="Arial" panose="020B0604020202020204" pitchFamily="34" charset="0"/>
              </a:rPr>
              <a:t>Advantages: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rgbClr val="C0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Compact Representation: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Generalized cylinders provide a compact and efficient way to represent complex 3D shapes.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Robustness to Noise: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representation is robust to noise and minor variations in the object shape.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Intuitive: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method aligns with human perception of tubular structures, making it intuitive for certain types of objects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b="1" dirty="0">
                <a:solidFill>
                  <a:srgbClr val="C00000"/>
                </a:solidFill>
                <a:latin typeface="Arial" panose="020B0604020202020204" pitchFamily="34" charset="0"/>
              </a:rPr>
              <a:t>Challenges: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b="1" dirty="0">
              <a:solidFill>
                <a:srgbClr val="C00000"/>
              </a:solidFill>
              <a:latin typeface="Arial" panose="020B0604020202020204" pitchFamily="34" charset="0"/>
            </a:endParaRPr>
          </a:p>
          <a:p>
            <a:pPr marL="0" indent="0" eaLnBrk="0" fontAlgn="base" hangingPunct="0">
              <a:lnSpc>
                <a:spcPct val="100000"/>
              </a:lnSpc>
              <a:spcBef>
                <a:spcPct val="0"/>
              </a:spcBef>
              <a:spcAft>
                <a:spcPct val="0"/>
              </a:spcAft>
              <a:buFontTx/>
              <a:buChar char="•"/>
            </a:pPr>
            <a:r>
              <a:rPr lang="en-US" sz="1800" b="1" dirty="0">
                <a:latin typeface="Arial" panose="020B0604020202020204" pitchFamily="34" charset="0"/>
              </a:rPr>
              <a:t>Complex Shapes:</a:t>
            </a:r>
          </a:p>
          <a:p>
            <a:pPr marL="0" indent="0" eaLnBrk="0" fontAlgn="base" hangingPunct="0">
              <a:lnSpc>
                <a:spcPct val="100000"/>
              </a:lnSpc>
              <a:spcBef>
                <a:spcPct val="0"/>
              </a:spcBef>
              <a:spcAft>
                <a:spcPct val="0"/>
              </a:spcAft>
              <a:buNone/>
            </a:pPr>
            <a:r>
              <a:rPr lang="en-US" sz="1800" dirty="0">
                <a:latin typeface="Arial" panose="020B0604020202020204" pitchFamily="34" charset="0"/>
              </a:rPr>
              <a:t>  Representing highly complex or non-tubular shapes using generalized cylinders can be   challenging.</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b="1" dirty="0">
              <a:solidFill>
                <a:srgbClr val="C00000"/>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C00000"/>
              </a:solidFill>
              <a:effectLst/>
              <a:latin typeface="Arial" panose="020B0604020202020204" pitchFamily="34" charset="0"/>
            </a:endParaRPr>
          </a:p>
        </p:txBody>
      </p:sp>
    </p:spTree>
    <p:extLst>
      <p:ext uri="{BB962C8B-B14F-4D97-AF65-F5344CB8AC3E}">
        <p14:creationId xmlns:p14="http://schemas.microsoft.com/office/powerpoint/2010/main" val="11066755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4499"/>
            <a:ext cx="10515600" cy="476538"/>
          </a:xfrm>
        </p:spPr>
        <p:txBody>
          <a:bodyPr>
            <a:normAutofit/>
          </a:bodyPr>
          <a:lstStyle/>
          <a:p>
            <a:r>
              <a:rPr lang="en-US" sz="2400" b="1" dirty="0">
                <a:solidFill>
                  <a:srgbClr val="0070C0"/>
                </a:solidFill>
              </a:rPr>
              <a:t>Generating RST Invariant Features and Application to 2-D Figure Recognition:</a:t>
            </a:r>
          </a:p>
        </p:txBody>
      </p:sp>
      <p:sp>
        <p:nvSpPr>
          <p:cNvPr id="3" name="Content Placeholder 2"/>
          <p:cNvSpPr>
            <a:spLocks noGrp="1"/>
          </p:cNvSpPr>
          <p:nvPr>
            <p:ph idx="1"/>
          </p:nvPr>
        </p:nvSpPr>
        <p:spPr>
          <a:xfrm>
            <a:off x="838200" y="841664"/>
            <a:ext cx="10515600" cy="5335299"/>
          </a:xfrm>
        </p:spPr>
        <p:txBody>
          <a:bodyPr>
            <a:normAutofit fontScale="85000" lnSpcReduction="10000"/>
          </a:bodyPr>
          <a:lstStyle/>
          <a:p>
            <a:pPr marL="0" indent="0">
              <a:buNone/>
            </a:pPr>
            <a:r>
              <a:rPr lang="en-US" sz="2000" dirty="0"/>
              <a:t>Generating RST (Rotation, Scale, Translation) invariant features is a technique used in pattern recognition and computer vision to enable accurate recognition of objects despite changes in their orientation, size, or position. </a:t>
            </a:r>
          </a:p>
          <a:p>
            <a:pPr marL="0" indent="0">
              <a:buNone/>
            </a:pPr>
            <a:r>
              <a:rPr lang="en-US" sz="2900" b="1" dirty="0">
                <a:solidFill>
                  <a:srgbClr val="C00000"/>
                </a:solidFill>
              </a:rPr>
              <a:t>1. Understanding RST Invariance</a:t>
            </a:r>
          </a:p>
          <a:p>
            <a:r>
              <a:rPr lang="en-US" sz="2600" b="1" dirty="0"/>
              <a:t>Definition</a:t>
            </a:r>
            <a:r>
              <a:rPr lang="en-US" sz="2600" dirty="0"/>
              <a:t>: RST refers to </a:t>
            </a:r>
            <a:r>
              <a:rPr lang="en-US" sz="2600" b="1" dirty="0">
                <a:solidFill>
                  <a:srgbClr val="7030A0"/>
                </a:solidFill>
              </a:rPr>
              <a:t>Rotation, Scale, and Translation</a:t>
            </a:r>
            <a:r>
              <a:rPr lang="en-US" sz="2600" dirty="0"/>
              <a:t>, which are common transformations that can change the appearance of an object in an image.</a:t>
            </a:r>
          </a:p>
          <a:p>
            <a:pPr marL="0" indent="0">
              <a:buNone/>
            </a:pPr>
            <a:endParaRPr lang="en-US" sz="2600" dirty="0"/>
          </a:p>
          <a:p>
            <a:pPr marL="0" indent="0">
              <a:buNone/>
            </a:pPr>
            <a:r>
              <a:rPr lang="en-US" sz="2000" b="1" dirty="0"/>
              <a:t>	</a:t>
            </a:r>
            <a:r>
              <a:rPr lang="en-US" sz="2600" b="1" dirty="0">
                <a:solidFill>
                  <a:schemeClr val="accent5">
                    <a:lumMod val="75000"/>
                  </a:schemeClr>
                </a:solidFill>
              </a:rPr>
              <a:t>1. Rotation</a:t>
            </a:r>
          </a:p>
          <a:p>
            <a:r>
              <a:rPr lang="en-US" sz="2600" b="1" dirty="0"/>
              <a:t>Definition</a:t>
            </a:r>
            <a:r>
              <a:rPr lang="en-US" sz="2600" dirty="0"/>
              <a:t>: Rotation refers to the angular displacement of an object around a specific point, often the center of the object or the origin of the coordinate system.</a:t>
            </a:r>
          </a:p>
          <a:p>
            <a:r>
              <a:rPr lang="en-US" sz="2600" b="1" dirty="0"/>
              <a:t>Effect on Appearance</a:t>
            </a:r>
            <a:r>
              <a:rPr lang="en-US" sz="2600" dirty="0"/>
              <a:t>: When an object undergoes rotation:</a:t>
            </a:r>
          </a:p>
          <a:p>
            <a:pPr lvl="1"/>
            <a:r>
              <a:rPr lang="en-US" sz="2600" b="1" dirty="0"/>
              <a:t>Shape</a:t>
            </a:r>
            <a:r>
              <a:rPr lang="en-US" sz="2600" dirty="0"/>
              <a:t>: The shape of the object remains the same, but its orientation changes.</a:t>
            </a:r>
          </a:p>
          <a:p>
            <a:pPr lvl="1"/>
            <a:r>
              <a:rPr lang="en-US" sz="2600" b="1" dirty="0"/>
              <a:t>Pixel Positions</a:t>
            </a:r>
            <a:r>
              <a:rPr lang="en-US" sz="2600" dirty="0"/>
              <a:t>: The positions of pixels defining the object's boundary or structure change relative to the coordinate system.</a:t>
            </a:r>
          </a:p>
          <a:p>
            <a:r>
              <a:rPr lang="en-US" sz="2600" b="1" dirty="0"/>
              <a:t>Example</a:t>
            </a:r>
            <a:r>
              <a:rPr lang="en-US" sz="2600" dirty="0"/>
              <a:t>: Imagine a square. Rotating it by 90 degrees clockwise transforms its original horizontal edges into vertical ones, altering how it appears in an image.</a:t>
            </a:r>
          </a:p>
        </p:txBody>
      </p:sp>
    </p:spTree>
    <p:extLst>
      <p:ext uri="{BB962C8B-B14F-4D97-AF65-F5344CB8AC3E}">
        <p14:creationId xmlns:p14="http://schemas.microsoft.com/office/powerpoint/2010/main" val="23677546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A3049-0650-0622-431F-50ADE5A2E16F}"/>
              </a:ext>
            </a:extLst>
          </p:cNvPr>
          <p:cNvSpPr>
            <a:spLocks noGrp="1"/>
          </p:cNvSpPr>
          <p:nvPr>
            <p:ph type="title"/>
          </p:nvPr>
        </p:nvSpPr>
        <p:spPr>
          <a:xfrm>
            <a:off x="838200" y="365125"/>
            <a:ext cx="10515600" cy="620395"/>
          </a:xfrm>
        </p:spPr>
        <p:txBody>
          <a:bodyPr>
            <a:normAutofit fontScale="90000"/>
          </a:bodyPr>
          <a:lstStyle/>
          <a:p>
            <a:r>
              <a:rPr lang="en-IN" dirty="0"/>
              <a:t>Conti..</a:t>
            </a:r>
          </a:p>
        </p:txBody>
      </p:sp>
      <p:sp>
        <p:nvSpPr>
          <p:cNvPr id="3" name="Content Placeholder 2">
            <a:extLst>
              <a:ext uri="{FF2B5EF4-FFF2-40B4-BE49-F238E27FC236}">
                <a16:creationId xmlns:a16="http://schemas.microsoft.com/office/drawing/2014/main" id="{4B2D5C13-015D-25C2-1FA6-A7403BC489A8}"/>
              </a:ext>
            </a:extLst>
          </p:cNvPr>
          <p:cNvSpPr>
            <a:spLocks noGrp="1"/>
          </p:cNvSpPr>
          <p:nvPr>
            <p:ph idx="1"/>
          </p:nvPr>
        </p:nvSpPr>
        <p:spPr>
          <a:xfrm>
            <a:off x="838200" y="985520"/>
            <a:ext cx="10515600" cy="5191443"/>
          </a:xfrm>
        </p:spPr>
        <p:txBody>
          <a:bodyPr>
            <a:normAutofit fontScale="92500" lnSpcReduction="10000"/>
          </a:bodyPr>
          <a:lstStyle/>
          <a:p>
            <a:pPr marL="0" indent="0">
              <a:buNone/>
            </a:pPr>
            <a:endParaRPr lang="en-US" sz="2200" dirty="0"/>
          </a:p>
          <a:p>
            <a:pPr marL="0" indent="0">
              <a:buNone/>
            </a:pPr>
            <a:r>
              <a:rPr lang="en-US" sz="2200" b="1" dirty="0"/>
              <a:t>	</a:t>
            </a:r>
            <a:r>
              <a:rPr lang="en-US" sz="3200" b="1" dirty="0">
                <a:solidFill>
                  <a:schemeClr val="accent5">
                    <a:lumMod val="75000"/>
                  </a:schemeClr>
                </a:solidFill>
              </a:rPr>
              <a:t>2. Scale</a:t>
            </a:r>
          </a:p>
          <a:p>
            <a:r>
              <a:rPr lang="en-US" sz="3200" b="1" dirty="0"/>
              <a:t>Definition</a:t>
            </a:r>
            <a:r>
              <a:rPr lang="en-US" sz="3200" dirty="0"/>
              <a:t>: Scale involves resizing an object uniformly in all directions, either making it larger (zoom in) or smaller (zoom out).</a:t>
            </a:r>
          </a:p>
          <a:p>
            <a:r>
              <a:rPr lang="en-US" sz="3200" b="1" dirty="0"/>
              <a:t>Effect on Appearance</a:t>
            </a:r>
            <a:r>
              <a:rPr lang="en-US" sz="3200" dirty="0"/>
              <a:t>: Scaling affects the:</a:t>
            </a:r>
          </a:p>
          <a:p>
            <a:pPr lvl="1"/>
            <a:r>
              <a:rPr lang="en-US" sz="3200" b="1" dirty="0"/>
              <a:t>Size</a:t>
            </a:r>
            <a:r>
              <a:rPr lang="en-US" sz="3200" dirty="0"/>
              <a:t>: The physical dimensions of the object change.</a:t>
            </a:r>
          </a:p>
          <a:p>
            <a:pPr lvl="1"/>
            <a:r>
              <a:rPr lang="en-US" sz="3200" b="1" dirty="0"/>
              <a:t>Detail</a:t>
            </a:r>
            <a:r>
              <a:rPr lang="en-US" sz="3200" dirty="0"/>
              <a:t>: Details within the object might be magnified or reduced, affecting its appearance in terms of resolution and clarity.</a:t>
            </a:r>
          </a:p>
          <a:p>
            <a:r>
              <a:rPr lang="en-US" sz="3200" b="1" dirty="0"/>
              <a:t>Example</a:t>
            </a:r>
            <a:r>
              <a:rPr lang="en-US" sz="3200" dirty="0"/>
              <a:t>: Scaling a circle down makes it smaller in size while maintaining its circular shape.</a:t>
            </a:r>
          </a:p>
          <a:p>
            <a:endParaRPr lang="en-IN" dirty="0"/>
          </a:p>
        </p:txBody>
      </p:sp>
    </p:spTree>
    <p:extLst>
      <p:ext uri="{BB962C8B-B14F-4D97-AF65-F5344CB8AC3E}">
        <p14:creationId xmlns:p14="http://schemas.microsoft.com/office/powerpoint/2010/main" val="26266383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62238"/>
          </a:xfrm>
        </p:spPr>
        <p:txBody>
          <a:bodyPr>
            <a:normAutofit fontScale="90000"/>
          </a:bodyPr>
          <a:lstStyle/>
          <a:p>
            <a:r>
              <a:rPr lang="en-US" dirty="0"/>
              <a:t>Conti…</a:t>
            </a:r>
          </a:p>
        </p:txBody>
      </p:sp>
      <p:sp>
        <p:nvSpPr>
          <p:cNvPr id="3" name="Content Placeholder 2"/>
          <p:cNvSpPr>
            <a:spLocks noGrp="1"/>
          </p:cNvSpPr>
          <p:nvPr>
            <p:ph idx="1"/>
          </p:nvPr>
        </p:nvSpPr>
        <p:spPr>
          <a:xfrm>
            <a:off x="838200" y="1215736"/>
            <a:ext cx="10820400" cy="4961227"/>
          </a:xfrm>
        </p:spPr>
        <p:txBody>
          <a:bodyPr>
            <a:normAutofit/>
          </a:bodyPr>
          <a:lstStyle/>
          <a:p>
            <a:pPr marL="0" indent="0">
              <a:buNone/>
            </a:pPr>
            <a:r>
              <a:rPr lang="en-US" b="1" dirty="0"/>
              <a:t>	</a:t>
            </a:r>
            <a:r>
              <a:rPr lang="en-US" sz="2500" b="1" dirty="0">
                <a:solidFill>
                  <a:schemeClr val="accent5">
                    <a:lumMod val="75000"/>
                  </a:schemeClr>
                </a:solidFill>
              </a:rPr>
              <a:t>3. Translation</a:t>
            </a:r>
          </a:p>
          <a:p>
            <a:r>
              <a:rPr lang="en-US" sz="2500" b="1" dirty="0"/>
              <a:t>Definition</a:t>
            </a:r>
            <a:r>
              <a:rPr lang="en-US" sz="2500" dirty="0"/>
              <a:t>: Translation refers to shifting an object's position horizontally and/or vertically within the image plane.</a:t>
            </a:r>
          </a:p>
          <a:p>
            <a:r>
              <a:rPr lang="en-US" sz="2500" b="1" dirty="0"/>
              <a:t>Effect on Appearance</a:t>
            </a:r>
            <a:r>
              <a:rPr lang="en-US" sz="2500" dirty="0"/>
              <a:t>: When an object is translated:</a:t>
            </a:r>
          </a:p>
          <a:p>
            <a:pPr lvl="1"/>
            <a:r>
              <a:rPr lang="en-US" sz="2500" b="1" dirty="0"/>
              <a:t>Position</a:t>
            </a:r>
            <a:r>
              <a:rPr lang="en-US" sz="2500" dirty="0"/>
              <a:t>: Its location relative to the image frame changes.</a:t>
            </a:r>
          </a:p>
          <a:p>
            <a:pPr lvl="1"/>
            <a:r>
              <a:rPr lang="en-US" sz="2500" b="1" dirty="0"/>
              <a:t>Pixel Coordinates</a:t>
            </a:r>
            <a:r>
              <a:rPr lang="en-US" sz="2500" dirty="0"/>
              <a:t>: Every pixel defining the object's boundary or structure is shifted by the specified amount.</a:t>
            </a:r>
          </a:p>
          <a:p>
            <a:r>
              <a:rPr lang="en-US" sz="2500" b="1" dirty="0"/>
              <a:t>Example</a:t>
            </a:r>
            <a:r>
              <a:rPr lang="en-US" sz="2500" dirty="0"/>
              <a:t>: Moving a triangle to the right by 10 pixels shifts its entire outline horizontally without altering its shape or size.</a:t>
            </a:r>
          </a:p>
          <a:p>
            <a:endParaRPr lang="en-US" sz="2500" dirty="0"/>
          </a:p>
          <a:p>
            <a:pPr marL="0" indent="0">
              <a:buNone/>
            </a:pPr>
            <a:r>
              <a:rPr lang="en-US" sz="2500" b="1" dirty="0">
                <a:solidFill>
                  <a:schemeClr val="accent5">
                    <a:lumMod val="75000"/>
                  </a:schemeClr>
                </a:solidFill>
              </a:rPr>
              <a:t>	</a:t>
            </a:r>
            <a:endParaRPr lang="en-US" sz="2500" dirty="0"/>
          </a:p>
          <a:p>
            <a:pPr marL="0" indent="0">
              <a:buNone/>
            </a:pPr>
            <a:endParaRPr lang="en-US" sz="2500" dirty="0"/>
          </a:p>
          <a:p>
            <a:endParaRPr lang="en-US" dirty="0"/>
          </a:p>
        </p:txBody>
      </p:sp>
    </p:spTree>
    <p:extLst>
      <p:ext uri="{BB962C8B-B14F-4D97-AF65-F5344CB8AC3E}">
        <p14:creationId xmlns:p14="http://schemas.microsoft.com/office/powerpoint/2010/main" val="26246934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ABCDB-EEA8-CAAB-6B5C-E7A9D11AF332}"/>
              </a:ext>
            </a:extLst>
          </p:cNvPr>
          <p:cNvSpPr>
            <a:spLocks noGrp="1"/>
          </p:cNvSpPr>
          <p:nvPr>
            <p:ph type="title"/>
          </p:nvPr>
        </p:nvSpPr>
        <p:spPr>
          <a:xfrm>
            <a:off x="838200" y="365125"/>
            <a:ext cx="10515600" cy="711835"/>
          </a:xfrm>
        </p:spPr>
        <p:txBody>
          <a:bodyPr/>
          <a:lstStyle/>
          <a:p>
            <a:r>
              <a:rPr lang="en-US"/>
              <a:t>CONTI..</a:t>
            </a:r>
            <a:endParaRPr lang="en-IN" dirty="0"/>
          </a:p>
        </p:txBody>
      </p:sp>
      <p:sp>
        <p:nvSpPr>
          <p:cNvPr id="3" name="Content Placeholder 2">
            <a:extLst>
              <a:ext uri="{FF2B5EF4-FFF2-40B4-BE49-F238E27FC236}">
                <a16:creationId xmlns:a16="http://schemas.microsoft.com/office/drawing/2014/main" id="{CBB5528A-F6BD-E1C7-5F97-410D5B8DFB35}"/>
              </a:ext>
            </a:extLst>
          </p:cNvPr>
          <p:cNvSpPr>
            <a:spLocks noGrp="1"/>
          </p:cNvSpPr>
          <p:nvPr>
            <p:ph idx="1"/>
          </p:nvPr>
        </p:nvSpPr>
        <p:spPr/>
        <p:txBody>
          <a:bodyPr>
            <a:normAutofit fontScale="92500" lnSpcReduction="20000"/>
          </a:bodyPr>
          <a:lstStyle/>
          <a:p>
            <a:pPr marL="0" indent="0">
              <a:buNone/>
            </a:pPr>
            <a:r>
              <a:rPr lang="en-US" sz="2500" b="1" dirty="0">
                <a:solidFill>
                  <a:schemeClr val="accent5">
                    <a:lumMod val="75000"/>
                  </a:schemeClr>
                </a:solidFill>
              </a:rPr>
              <a:t>4. Combined Effects</a:t>
            </a:r>
          </a:p>
          <a:p>
            <a:r>
              <a:rPr lang="en-US" sz="2500" b="1" dirty="0"/>
              <a:t>Simultaneous Transformations</a:t>
            </a:r>
            <a:r>
              <a:rPr lang="en-US" sz="2500" dirty="0"/>
              <a:t>: In real-world scenarios, objects often undergo combinations of these transformations simultaneously.</a:t>
            </a:r>
          </a:p>
          <a:p>
            <a:pPr lvl="1"/>
            <a:r>
              <a:rPr lang="en-US" sz="2500" b="1" dirty="0"/>
              <a:t>Example</a:t>
            </a:r>
            <a:r>
              <a:rPr lang="en-US" sz="2500" dirty="0"/>
              <a:t>: An image of a car might appear rotated, scaled smaller, and shifted slightly to the left relative to its original position in a reference image</a:t>
            </a:r>
          </a:p>
          <a:p>
            <a:pPr marL="457200" lvl="1" indent="0">
              <a:buNone/>
            </a:pPr>
            <a:r>
              <a:rPr lang="en-US" sz="2500" dirty="0"/>
              <a:t>.</a:t>
            </a:r>
          </a:p>
          <a:p>
            <a:pPr marL="0" lvl="1" indent="0">
              <a:spcBef>
                <a:spcPts val="1000"/>
              </a:spcBef>
              <a:buNone/>
            </a:pPr>
            <a:r>
              <a:rPr lang="en-US" sz="2500" b="1" dirty="0">
                <a:solidFill>
                  <a:schemeClr val="accent5">
                    <a:lumMod val="75000"/>
                  </a:schemeClr>
                </a:solidFill>
              </a:rPr>
              <a:t>	5. Importance in Image Processing</a:t>
            </a:r>
          </a:p>
          <a:p>
            <a:r>
              <a:rPr lang="en-US" sz="2500" b="1" dirty="0"/>
              <a:t>Challenges</a:t>
            </a:r>
            <a:r>
              <a:rPr lang="en-US" sz="2500" dirty="0"/>
              <a:t>: Recognizing and analyzing objects in images becomes challenging due to variations caused by RST transformations.</a:t>
            </a:r>
          </a:p>
          <a:p>
            <a:r>
              <a:rPr lang="en-US" sz="2500" b="1" dirty="0"/>
              <a:t>Solution</a:t>
            </a:r>
            <a:r>
              <a:rPr lang="en-US" sz="2500" dirty="0"/>
              <a:t>: To address these challenges, algorithms are designed to extract features from objects that remain invariant or unaffected by RST transformations. This ensures accurate object recognition regardless of changes in orientation, size, or position.</a:t>
            </a:r>
          </a:p>
          <a:p>
            <a:endParaRPr lang="en-IN" dirty="0"/>
          </a:p>
        </p:txBody>
      </p:sp>
    </p:spTree>
    <p:extLst>
      <p:ext uri="{BB962C8B-B14F-4D97-AF65-F5344CB8AC3E}">
        <p14:creationId xmlns:p14="http://schemas.microsoft.com/office/powerpoint/2010/main" val="42118004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1230"/>
          </a:xfrm>
        </p:spPr>
        <p:txBody>
          <a:bodyPr>
            <a:normAutofit fontScale="90000"/>
          </a:bodyPr>
          <a:lstStyle/>
          <a:p>
            <a:r>
              <a:rPr lang="en-US" dirty="0"/>
              <a:t>Conti..</a:t>
            </a:r>
          </a:p>
        </p:txBody>
      </p:sp>
      <p:sp>
        <p:nvSpPr>
          <p:cNvPr id="3" name="Content Placeholder 2"/>
          <p:cNvSpPr>
            <a:spLocks noGrp="1"/>
          </p:cNvSpPr>
          <p:nvPr>
            <p:ph idx="1"/>
          </p:nvPr>
        </p:nvSpPr>
        <p:spPr>
          <a:xfrm>
            <a:off x="838200" y="1236518"/>
            <a:ext cx="10515600" cy="4940445"/>
          </a:xfrm>
        </p:spPr>
        <p:txBody>
          <a:bodyPr>
            <a:normAutofit lnSpcReduction="10000"/>
          </a:bodyPr>
          <a:lstStyle/>
          <a:p>
            <a:pPr marL="0" indent="0">
              <a:buNone/>
            </a:pPr>
            <a:r>
              <a:rPr lang="en-US" b="1" dirty="0"/>
              <a:t>Generating RST Invariant Features</a:t>
            </a:r>
          </a:p>
          <a:p>
            <a:r>
              <a:rPr lang="en-US" b="1" dirty="0"/>
              <a:t>Feature Extraction</a:t>
            </a:r>
            <a:r>
              <a:rPr lang="en-US" dirty="0"/>
              <a:t>: The process involves identifying and extracting features from the object that are insensitive to rotations, </a:t>
            </a:r>
            <a:r>
              <a:rPr lang="en-US" dirty="0" err="1"/>
              <a:t>scalings</a:t>
            </a:r>
            <a:r>
              <a:rPr lang="en-US" dirty="0"/>
              <a:t>, and translations. Some common methods for generating RST invariant features include:</a:t>
            </a:r>
          </a:p>
          <a:p>
            <a:pPr lvl="1"/>
            <a:r>
              <a:rPr lang="en-US" b="1" dirty="0"/>
              <a:t>Moment Invariants</a:t>
            </a:r>
            <a:r>
              <a:rPr lang="en-US" dirty="0"/>
              <a:t>: These are statistical measures of the object's shape that remain constant under RST transformations. Moments capture information about the distribution of pixel intensities within the object.</a:t>
            </a:r>
          </a:p>
          <a:p>
            <a:pPr lvl="1"/>
            <a:r>
              <a:rPr lang="en-US" b="1" dirty="0"/>
              <a:t>Fourier Descriptors</a:t>
            </a:r>
            <a:r>
              <a:rPr lang="en-US" dirty="0"/>
              <a:t>: These represent the shape of the object in the frequency domain, making them invariant to translation, rotation, and scaling. They capture the object's boundary or outline information.</a:t>
            </a:r>
          </a:p>
          <a:p>
            <a:pPr lvl="1"/>
            <a:r>
              <a:rPr lang="en-US" b="1" dirty="0"/>
              <a:t>Invariant Histograms</a:t>
            </a:r>
            <a:r>
              <a:rPr lang="en-US" dirty="0"/>
              <a:t>: Histograms of gradient orientations or texture features that are insensitive to RST transformations can also be used as invariant features.</a:t>
            </a:r>
          </a:p>
          <a:p>
            <a:endParaRPr lang="en-US" dirty="0"/>
          </a:p>
        </p:txBody>
      </p:sp>
    </p:spTree>
    <p:extLst>
      <p:ext uri="{BB962C8B-B14F-4D97-AF65-F5344CB8AC3E}">
        <p14:creationId xmlns:p14="http://schemas.microsoft.com/office/powerpoint/2010/main" val="15308416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32402"/>
          </a:xfrm>
        </p:spPr>
        <p:txBody>
          <a:bodyPr>
            <a:normAutofit fontScale="90000"/>
          </a:bodyPr>
          <a:lstStyle/>
          <a:p>
            <a:r>
              <a:rPr lang="en-US" dirty="0"/>
              <a:t>Conti..</a:t>
            </a:r>
          </a:p>
        </p:txBody>
      </p:sp>
      <p:sp>
        <p:nvSpPr>
          <p:cNvPr id="3" name="Content Placeholder 2"/>
          <p:cNvSpPr>
            <a:spLocks noGrp="1"/>
          </p:cNvSpPr>
          <p:nvPr>
            <p:ph idx="1"/>
          </p:nvPr>
        </p:nvSpPr>
        <p:spPr>
          <a:xfrm>
            <a:off x="838200" y="1153391"/>
            <a:ext cx="10515600" cy="5023572"/>
          </a:xfrm>
        </p:spPr>
        <p:txBody>
          <a:bodyPr/>
          <a:lstStyle/>
          <a:p>
            <a:pPr marL="0" indent="0">
              <a:buNone/>
            </a:pPr>
            <a:r>
              <a:rPr lang="en-US" b="1" dirty="0"/>
              <a:t>Application to 2-D Figure Recognition</a:t>
            </a:r>
          </a:p>
          <a:p>
            <a:r>
              <a:rPr lang="en-US" b="1" dirty="0"/>
              <a:t>Process</a:t>
            </a:r>
            <a:r>
              <a:rPr lang="en-US" dirty="0"/>
              <a:t>: Once RST invariant features are extracted from a set of training images:</a:t>
            </a:r>
          </a:p>
          <a:p>
            <a:pPr lvl="1"/>
            <a:r>
              <a:rPr lang="en-US" b="1" dirty="0"/>
              <a:t>Training</a:t>
            </a:r>
            <a:r>
              <a:rPr lang="en-US" dirty="0"/>
              <a:t>: These features are used to train a recognition model (e.g., a classifier such as SVM or neural network).</a:t>
            </a:r>
          </a:p>
          <a:p>
            <a:pPr lvl="1"/>
            <a:r>
              <a:rPr lang="en-US" b="1" dirty="0"/>
              <a:t>Testing</a:t>
            </a:r>
            <a:r>
              <a:rPr lang="en-US" dirty="0"/>
              <a:t>: During testing or recognition phase, features are extracted from the input image containing the object to be recognized.</a:t>
            </a:r>
          </a:p>
          <a:p>
            <a:pPr lvl="1"/>
            <a:r>
              <a:rPr lang="en-US" b="1" dirty="0"/>
              <a:t>Matching</a:t>
            </a:r>
            <a:r>
              <a:rPr lang="en-US" dirty="0"/>
              <a:t>: The extracted features from the input image are compared with the features stored in the training set. Because the features are invariant to RST transformations, the system can accurately identify the object even if it appears in a different orientation, size, or position.</a:t>
            </a:r>
          </a:p>
          <a:p>
            <a:endParaRPr lang="en-US" dirty="0"/>
          </a:p>
        </p:txBody>
      </p:sp>
    </p:spTree>
    <p:extLst>
      <p:ext uri="{BB962C8B-B14F-4D97-AF65-F5344CB8AC3E}">
        <p14:creationId xmlns:p14="http://schemas.microsoft.com/office/powerpoint/2010/main" val="31145505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4748"/>
          </a:xfrm>
        </p:spPr>
        <p:txBody>
          <a:bodyPr>
            <a:normAutofit fontScale="90000"/>
          </a:bodyPr>
          <a:lstStyle/>
          <a:p>
            <a:br>
              <a:rPr lang="en-US" b="1" dirty="0"/>
            </a:br>
            <a:r>
              <a:rPr lang="en-US" b="1" dirty="0"/>
              <a:t>Challenges and Considerations</a:t>
            </a:r>
            <a:br>
              <a:rPr lang="en-US" b="1" dirty="0"/>
            </a:br>
            <a:endParaRPr lang="en-US" dirty="0"/>
          </a:p>
        </p:txBody>
      </p:sp>
      <p:sp>
        <p:nvSpPr>
          <p:cNvPr id="3" name="Content Placeholder 2"/>
          <p:cNvSpPr>
            <a:spLocks noGrp="1"/>
          </p:cNvSpPr>
          <p:nvPr>
            <p:ph idx="1"/>
          </p:nvPr>
        </p:nvSpPr>
        <p:spPr>
          <a:xfrm>
            <a:off x="838200" y="1236518"/>
            <a:ext cx="10515600" cy="4940445"/>
          </a:xfrm>
        </p:spPr>
        <p:txBody>
          <a:bodyPr/>
          <a:lstStyle/>
          <a:p>
            <a:r>
              <a:rPr lang="en-US" b="1" dirty="0"/>
              <a:t>Computational Complexity</a:t>
            </a:r>
            <a:r>
              <a:rPr lang="en-US" dirty="0"/>
              <a:t>: Generating and matching invariant features can be computationally intensive, especially for large datasets or real-time applications.</a:t>
            </a:r>
          </a:p>
          <a:p>
            <a:r>
              <a:rPr lang="en-US" b="1" dirty="0"/>
              <a:t>Feature Design</a:t>
            </a:r>
            <a:r>
              <a:rPr lang="en-US" dirty="0"/>
              <a:t>: Choosing appropriate invariant features that capture the essential characteristics of the object while remaining invariant to RST transformations is crucial for the success of the recognition system.</a:t>
            </a:r>
          </a:p>
          <a:p>
            <a:endParaRPr lang="en-US" dirty="0"/>
          </a:p>
        </p:txBody>
      </p:sp>
    </p:spTree>
    <p:extLst>
      <p:ext uri="{BB962C8B-B14F-4D97-AF65-F5344CB8AC3E}">
        <p14:creationId xmlns:p14="http://schemas.microsoft.com/office/powerpoint/2010/main" val="17466166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97319"/>
          </a:xfrm>
        </p:spPr>
        <p:txBody>
          <a:bodyPr>
            <a:normAutofit/>
          </a:bodyPr>
          <a:lstStyle/>
          <a:p>
            <a:r>
              <a:rPr lang="en-US" sz="2800" b="1" dirty="0"/>
              <a:t>The Feature Vector and Feature Space :</a:t>
            </a:r>
          </a:p>
        </p:txBody>
      </p:sp>
      <p:sp>
        <p:nvSpPr>
          <p:cNvPr id="3" name="Content Placeholder 2"/>
          <p:cNvSpPr>
            <a:spLocks noGrp="1"/>
          </p:cNvSpPr>
          <p:nvPr>
            <p:ph idx="1"/>
          </p:nvPr>
        </p:nvSpPr>
        <p:spPr>
          <a:xfrm>
            <a:off x="838200" y="862446"/>
            <a:ext cx="10515600" cy="5314518"/>
          </a:xfrm>
        </p:spPr>
        <p:txBody>
          <a:bodyPr>
            <a:normAutofit fontScale="92500" lnSpcReduction="10000"/>
          </a:bodyPr>
          <a:lstStyle/>
          <a:p>
            <a:pPr marL="0" indent="0">
              <a:buNone/>
            </a:pPr>
            <a:r>
              <a:rPr lang="en-US" sz="2000" b="1" dirty="0">
                <a:solidFill>
                  <a:srgbClr val="FF0000"/>
                </a:solidFill>
              </a:rPr>
              <a:t>Feature</a:t>
            </a:r>
            <a:r>
              <a:rPr lang="en-US" sz="2000" dirty="0"/>
              <a:t>: A feature is a numerical or symbolic property of an aspect of an object. A feature vector is a vector containing multiple elements about an object. Putting feature vectors for objects together can make up a feature space.</a:t>
            </a:r>
            <a:endParaRPr lang="en-US" sz="2000" b="1" dirty="0"/>
          </a:p>
          <a:p>
            <a:pPr marL="0" indent="0">
              <a:buNone/>
            </a:pPr>
            <a:r>
              <a:rPr lang="en-US" sz="2000" b="1" dirty="0">
                <a:solidFill>
                  <a:srgbClr val="FF0000"/>
                </a:solidFill>
              </a:rPr>
              <a:t>Feature Vector:</a:t>
            </a:r>
          </a:p>
          <a:p>
            <a:pPr algn="just"/>
            <a:r>
              <a:rPr lang="en-US" sz="2000" b="1" dirty="0"/>
              <a:t>Definition</a:t>
            </a:r>
            <a:r>
              <a:rPr lang="en-US" sz="2000" dirty="0"/>
              <a:t>: A feature vector is an n-dimensional vector of numerical features that represent some object or phenomenon being analyzed. In simpler terms, it's a structured representation of data that captures relevant characteristics or attributes.</a:t>
            </a:r>
          </a:p>
          <a:p>
            <a:pPr algn="just"/>
            <a:r>
              <a:rPr lang="en-US" sz="2000" dirty="0"/>
              <a:t>In machine learning, </a:t>
            </a:r>
            <a:r>
              <a:rPr lang="en-US" sz="2000" b="1" dirty="0"/>
              <a:t>feature vectors</a:t>
            </a:r>
            <a:r>
              <a:rPr lang="en-US" sz="2000" dirty="0"/>
              <a:t> are used to represent numeric or symbolic characteristics, called </a:t>
            </a:r>
            <a:r>
              <a:rPr lang="en-US" sz="2000" b="1" dirty="0"/>
              <a:t>features</a:t>
            </a:r>
            <a:r>
              <a:rPr lang="en-US" sz="2000" dirty="0"/>
              <a:t>, of an object in a mathematical, easily analyzable way. They are important for many different areas of machine learning and pattern processing. Machine learning algorithms typically require a numerical representation of objects in order for the algorithms to do processing and statistical analysis. Feature vectors are the equivalent of vectors of explanatory variables that are used in statistical procedures such as linear regression.</a:t>
            </a:r>
          </a:p>
          <a:p>
            <a:pPr algn="just"/>
            <a:r>
              <a:rPr lang="en-US" sz="2000" dirty="0"/>
              <a:t>An example of a feature vector you might be familiar with is RGB (red-green-blue) color descriptions. A color can be described by how much red, blue, and green there is in it. A feature vector for this would be color = [R, G, B].</a:t>
            </a:r>
          </a:p>
          <a:p>
            <a:pPr marL="0" indent="0">
              <a:buNone/>
            </a:pPr>
            <a:br>
              <a:rPr lang="en-US" sz="2000" dirty="0"/>
            </a:br>
            <a:endParaRPr lang="en-US" sz="2000" dirty="0"/>
          </a:p>
          <a:p>
            <a:endParaRPr lang="en-US" sz="2000" dirty="0"/>
          </a:p>
        </p:txBody>
      </p:sp>
      <p:sp>
        <p:nvSpPr>
          <p:cNvPr id="4" name="AutoShape 2" descr="https://ds055uzetaobb.cloudfront.net/brioche/uploads/Je0OLZGP9X-rgb_color_solid_cube.png?width=120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p:cNvPicPr>
            <a:picLocks noChangeAspect="1"/>
          </p:cNvPicPr>
          <p:nvPr/>
        </p:nvPicPr>
        <p:blipFill>
          <a:blip r:embed="rId2"/>
          <a:stretch>
            <a:fillRect/>
          </a:stretch>
        </p:blipFill>
        <p:spPr>
          <a:xfrm>
            <a:off x="5133109" y="4644737"/>
            <a:ext cx="2195946" cy="1646960"/>
          </a:xfrm>
          <a:prstGeom prst="rect">
            <a:avLst/>
          </a:prstGeom>
        </p:spPr>
      </p:pic>
    </p:spTree>
    <p:extLst>
      <p:ext uri="{BB962C8B-B14F-4D97-AF65-F5344CB8AC3E}">
        <p14:creationId xmlns:p14="http://schemas.microsoft.com/office/powerpoint/2010/main" val="23788585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D16FD-D932-A7DF-448C-85822D715E5D}"/>
              </a:ext>
            </a:extLst>
          </p:cNvPr>
          <p:cNvSpPr>
            <a:spLocks noGrp="1"/>
          </p:cNvSpPr>
          <p:nvPr>
            <p:ph type="title"/>
          </p:nvPr>
        </p:nvSpPr>
        <p:spPr/>
        <p:txBody>
          <a:bodyPr/>
          <a:lstStyle/>
          <a:p>
            <a:r>
              <a:rPr lang="en-US" b="1" dirty="0"/>
              <a:t>Feature Vector:</a:t>
            </a:r>
            <a:br>
              <a:rPr lang="en-US" dirty="0"/>
            </a:br>
            <a:endParaRPr lang="en-IN" dirty="0"/>
          </a:p>
        </p:txBody>
      </p:sp>
      <p:sp>
        <p:nvSpPr>
          <p:cNvPr id="3" name="Content Placeholder 2">
            <a:extLst>
              <a:ext uri="{FF2B5EF4-FFF2-40B4-BE49-F238E27FC236}">
                <a16:creationId xmlns:a16="http://schemas.microsoft.com/office/drawing/2014/main" id="{655AF5AA-CE9B-EF22-2DC1-3777306E7D48}"/>
              </a:ext>
            </a:extLst>
          </p:cNvPr>
          <p:cNvSpPr>
            <a:spLocks noGrp="1"/>
          </p:cNvSpPr>
          <p:nvPr>
            <p:ph idx="1"/>
          </p:nvPr>
        </p:nvSpPr>
        <p:spPr/>
        <p:txBody>
          <a:bodyPr/>
          <a:lstStyle/>
          <a:p>
            <a:pPr>
              <a:buFont typeface="Arial" panose="020B0604020202020204" pitchFamily="34" charset="0"/>
              <a:buChar char="•"/>
            </a:pPr>
            <a:r>
              <a:rPr lang="en-US" dirty="0"/>
              <a:t>A feature vector is a set of measurable characteristics or properties that describe an object or instance. Each element in the feature vector represents a specific attribute of the object.</a:t>
            </a:r>
          </a:p>
          <a:p>
            <a:pPr>
              <a:buFont typeface="Arial" panose="020B0604020202020204" pitchFamily="34" charset="0"/>
              <a:buChar char="•"/>
            </a:pPr>
            <a:r>
              <a:rPr lang="en-US" dirty="0"/>
              <a:t>For example, consider an image recognition system trying to identify flowers. A feature vector for a flower might include attributes like petal length, petal width, sepal length, and sepal width. If we have a flower with petals 5 cm long and 3 cm wide, and sepals 2 cm long and 1 cm wide, the feature vector could be represented as [5,3,2,1][5, 3, 2, 1][5,3,2,1].</a:t>
            </a:r>
          </a:p>
          <a:p>
            <a:endParaRPr lang="en-IN" dirty="0"/>
          </a:p>
        </p:txBody>
      </p:sp>
    </p:spTree>
    <p:extLst>
      <p:ext uri="{BB962C8B-B14F-4D97-AF65-F5344CB8AC3E}">
        <p14:creationId xmlns:p14="http://schemas.microsoft.com/office/powerpoint/2010/main" val="14954840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38884"/>
          </a:xfrm>
        </p:spPr>
        <p:txBody>
          <a:bodyPr>
            <a:normAutofit/>
          </a:bodyPr>
          <a:lstStyle/>
          <a:p>
            <a:r>
              <a:rPr lang="en-US" sz="3200" b="1" dirty="0"/>
              <a:t>Explanation:</a:t>
            </a:r>
          </a:p>
        </p:txBody>
      </p:sp>
      <p:sp>
        <p:nvSpPr>
          <p:cNvPr id="3" name="Content Placeholder 2"/>
          <p:cNvSpPr>
            <a:spLocks noGrp="1"/>
          </p:cNvSpPr>
          <p:nvPr>
            <p:ph idx="1"/>
          </p:nvPr>
        </p:nvSpPr>
        <p:spPr>
          <a:xfrm>
            <a:off x="838200" y="1132609"/>
            <a:ext cx="10515600" cy="5044354"/>
          </a:xfrm>
        </p:spPr>
        <p:txBody>
          <a:bodyPr>
            <a:normAutofit/>
          </a:bodyPr>
          <a:lstStyle/>
          <a:p>
            <a:r>
              <a:rPr lang="en-US" sz="2000" dirty="0"/>
              <a:t>A </a:t>
            </a:r>
            <a:r>
              <a:rPr lang="en-US" sz="2000" dirty="0">
                <a:solidFill>
                  <a:srgbClr val="FF0000"/>
                </a:solidFill>
              </a:rPr>
              <a:t>vector</a:t>
            </a:r>
            <a:r>
              <a:rPr lang="en-US" sz="2000" dirty="0"/>
              <a:t> is a series of numbers, like a</a:t>
            </a:r>
            <a:r>
              <a:rPr lang="en-US" sz="2000" dirty="0">
                <a:solidFill>
                  <a:srgbClr val="FF0000"/>
                </a:solidFill>
              </a:rPr>
              <a:t> matrix</a:t>
            </a:r>
            <a:r>
              <a:rPr lang="en-US" sz="2000" dirty="0"/>
              <a:t> with one column but multiple rows, that can often be represented spatially. A </a:t>
            </a:r>
            <a:r>
              <a:rPr lang="en-US" sz="2000" b="1" dirty="0"/>
              <a:t>feature</a:t>
            </a:r>
            <a:r>
              <a:rPr lang="en-US" sz="2000" dirty="0"/>
              <a:t> is a numerical or symbolic property of an aspect of an object. A </a:t>
            </a:r>
            <a:r>
              <a:rPr lang="en-US" sz="2000" b="1" dirty="0"/>
              <a:t>feature vector</a:t>
            </a:r>
            <a:r>
              <a:rPr lang="en-US" sz="2000" dirty="0"/>
              <a:t> is a vector containing multiple elements about an object. Putting feature vectors for objects together can make up a </a:t>
            </a:r>
            <a:r>
              <a:rPr lang="en-US" sz="2000" b="1" dirty="0"/>
              <a:t>feature space</a:t>
            </a:r>
            <a:r>
              <a:rPr lang="en-US" sz="2000" dirty="0"/>
              <a:t>.</a:t>
            </a:r>
          </a:p>
          <a:p>
            <a:r>
              <a:rPr lang="en-US" sz="2000" dirty="0"/>
              <a:t>The features may represent, as a whole, one mere pixel or an entire image. The granularity depends on what someone is trying to learn or represent about the object. You could describe a 3-dimensional shape with a feature vector indicating its height, width, depth, etc.</a:t>
            </a:r>
          </a:p>
          <a:p>
            <a:endParaRPr lang="en-US" sz="2000" dirty="0"/>
          </a:p>
        </p:txBody>
      </p:sp>
      <p:pic>
        <p:nvPicPr>
          <p:cNvPr id="4" name="Picture 3"/>
          <p:cNvPicPr>
            <a:picLocks noChangeAspect="1"/>
          </p:cNvPicPr>
          <p:nvPr/>
        </p:nvPicPr>
        <p:blipFill>
          <a:blip r:embed="rId2"/>
          <a:stretch>
            <a:fillRect/>
          </a:stretch>
        </p:blipFill>
        <p:spPr>
          <a:xfrm>
            <a:off x="1402080" y="3775329"/>
            <a:ext cx="9529156" cy="1922990"/>
          </a:xfrm>
          <a:prstGeom prst="rect">
            <a:avLst/>
          </a:prstGeom>
        </p:spPr>
      </p:pic>
    </p:spTree>
    <p:extLst>
      <p:ext uri="{BB962C8B-B14F-4D97-AF65-F5344CB8AC3E}">
        <p14:creationId xmlns:p14="http://schemas.microsoft.com/office/powerpoint/2010/main" val="36278744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19DDDC8-9F8F-752D-CA2B-2F7D565C6C55}"/>
              </a:ext>
            </a:extLst>
          </p:cNvPr>
          <p:cNvSpPr>
            <a:spLocks noGrp="1"/>
          </p:cNvSpPr>
          <p:nvPr>
            <p:ph type="title"/>
          </p:nvPr>
        </p:nvSpPr>
        <p:spPr>
          <a:xfrm>
            <a:off x="721360" y="365125"/>
            <a:ext cx="10632440" cy="681355"/>
          </a:xfrm>
        </p:spPr>
        <p:txBody>
          <a:bodyPr>
            <a:normAutofit fontScale="90000"/>
          </a:bodyPr>
          <a:lstStyle/>
          <a:p>
            <a:r>
              <a:rPr lang="en-IN" b="1" dirty="0">
                <a:solidFill>
                  <a:srgbClr val="FF0000"/>
                </a:solidFill>
              </a:rPr>
              <a:t>Feature Space:</a:t>
            </a:r>
          </a:p>
        </p:txBody>
      </p:sp>
      <p:sp>
        <p:nvSpPr>
          <p:cNvPr id="4" name="Rectangle 1">
            <a:extLst>
              <a:ext uri="{FF2B5EF4-FFF2-40B4-BE49-F238E27FC236}">
                <a16:creationId xmlns:a16="http://schemas.microsoft.com/office/drawing/2014/main" id="{852F66A7-4274-7907-F6F1-A7E96E34C7B8}"/>
              </a:ext>
            </a:extLst>
          </p:cNvPr>
          <p:cNvSpPr>
            <a:spLocks noGrp="1" noChangeArrowheads="1"/>
          </p:cNvSpPr>
          <p:nvPr>
            <p:ph idx="1"/>
          </p:nvPr>
        </p:nvSpPr>
        <p:spPr bwMode="auto">
          <a:xfrm>
            <a:off x="812800" y="1173871"/>
            <a:ext cx="10751413"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feature space is the multidimensional space where each</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dimension corresponds to one of the features in the feature vector.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Each point in this space represents a unique combination of feature values.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 we have four features, the feature space would be a four-dimensional space. </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flower can be plotted as a point within this space based on its feature vector. </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position of the flower in this space helps in distinguishing it from other flowers. </a:t>
            </a:r>
          </a:p>
        </p:txBody>
      </p:sp>
    </p:spTree>
    <p:extLst>
      <p:ext uri="{BB962C8B-B14F-4D97-AF65-F5344CB8AC3E}">
        <p14:creationId xmlns:p14="http://schemas.microsoft.com/office/powerpoint/2010/main" val="3147581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0057"/>
          </a:xfrm>
        </p:spPr>
        <p:txBody>
          <a:bodyPr>
            <a:normAutofit fontScale="90000"/>
          </a:bodyPr>
          <a:lstStyle/>
          <a:p>
            <a:br>
              <a:rPr lang="en-US" dirty="0"/>
            </a:br>
            <a:r>
              <a:rPr lang="en-US" dirty="0"/>
              <a:t>Uses of Feature Vectors</a:t>
            </a:r>
            <a:br>
              <a:rPr lang="en-US" dirty="0"/>
            </a:br>
            <a:endParaRPr lang="en-US" dirty="0"/>
          </a:p>
        </p:txBody>
      </p:sp>
      <p:sp>
        <p:nvSpPr>
          <p:cNvPr id="3" name="Content Placeholder 2"/>
          <p:cNvSpPr>
            <a:spLocks noGrp="1"/>
          </p:cNvSpPr>
          <p:nvPr>
            <p:ph idx="1"/>
          </p:nvPr>
        </p:nvSpPr>
        <p:spPr>
          <a:xfrm>
            <a:off x="838200" y="1111827"/>
            <a:ext cx="10515600" cy="5065136"/>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Feature vectors are used widely in machine learning because of the effectiveness and practicality of representing objects in a numerical way to help with many kinds of analyses. They are good for analysis because there are many techniques for comparing feature vectors. One simple way to compare the feature vectors of two objects is to take the Euclidean distance.</a:t>
            </a:r>
          </a:p>
          <a:p>
            <a:r>
              <a:rPr lang="en-US" dirty="0">
                <a:latin typeface="Times New Roman" panose="02020603050405020304" pitchFamily="18" charset="0"/>
                <a:cs typeface="Times New Roman" panose="02020603050405020304" pitchFamily="18" charset="0"/>
              </a:rPr>
              <a:t>In </a:t>
            </a:r>
            <a:r>
              <a:rPr lang="en-US" b="1" dirty="0">
                <a:latin typeface="Times New Roman" panose="02020603050405020304" pitchFamily="18" charset="0"/>
                <a:cs typeface="Times New Roman" panose="02020603050405020304" pitchFamily="18" charset="0"/>
              </a:rPr>
              <a:t>image processing</a:t>
            </a:r>
            <a:r>
              <a:rPr lang="en-US" dirty="0">
                <a:latin typeface="Times New Roman" panose="02020603050405020304" pitchFamily="18" charset="0"/>
                <a:cs typeface="Times New Roman" panose="02020603050405020304" pitchFamily="18" charset="0"/>
              </a:rPr>
              <a:t>, features can be gradient magnitude, color, grayscale intensity, edges, areas, and more. Feature vectors are particularly popular for analyses in image processing because of the convenient way attributes about an image, like the examples listed, can be compared numerically once put into feature vectors.</a:t>
            </a:r>
          </a:p>
          <a:p>
            <a:r>
              <a:rPr lang="en-US" dirty="0">
                <a:latin typeface="Times New Roman" panose="02020603050405020304" pitchFamily="18" charset="0"/>
                <a:cs typeface="Times New Roman" panose="02020603050405020304" pitchFamily="18" charset="0"/>
              </a:rPr>
              <a:t>In </a:t>
            </a:r>
            <a:r>
              <a:rPr lang="en-US" b="1" dirty="0">
                <a:latin typeface="Times New Roman" panose="02020603050405020304" pitchFamily="18" charset="0"/>
                <a:cs typeface="Times New Roman" panose="02020603050405020304" pitchFamily="18" charset="0"/>
              </a:rPr>
              <a:t>speech recognition</a:t>
            </a:r>
            <a:r>
              <a:rPr lang="en-US" dirty="0">
                <a:latin typeface="Times New Roman" panose="02020603050405020304" pitchFamily="18" charset="0"/>
                <a:cs typeface="Times New Roman" panose="02020603050405020304" pitchFamily="18" charset="0"/>
              </a:rPr>
              <a:t>, features can be sound lengths, noise level, noise ratios, and more.</a:t>
            </a:r>
          </a:p>
          <a:p>
            <a:r>
              <a:rPr lang="en-US" dirty="0">
                <a:latin typeface="Times New Roman" panose="02020603050405020304" pitchFamily="18" charset="0"/>
                <a:cs typeface="Times New Roman" panose="02020603050405020304" pitchFamily="18" charset="0"/>
              </a:rPr>
              <a:t>In </a:t>
            </a:r>
            <a:r>
              <a:rPr lang="en-US" b="1" dirty="0">
                <a:latin typeface="Times New Roman" panose="02020603050405020304" pitchFamily="18" charset="0"/>
                <a:cs typeface="Times New Roman" panose="02020603050405020304" pitchFamily="18" charset="0"/>
              </a:rPr>
              <a:t>spam-fighting initiatives</a:t>
            </a:r>
            <a:r>
              <a:rPr lang="en-US" dirty="0">
                <a:latin typeface="Times New Roman" panose="02020603050405020304" pitchFamily="18" charset="0"/>
                <a:cs typeface="Times New Roman" panose="02020603050405020304" pitchFamily="18" charset="0"/>
              </a:rPr>
              <a:t>, features are abundant. They can be IP location, text structure, frequency of certain words, or certain email headers.</a:t>
            </a:r>
          </a:p>
          <a:p>
            <a:endParaRPr lang="en-US" dirty="0"/>
          </a:p>
        </p:txBody>
      </p:sp>
    </p:spTree>
    <p:extLst>
      <p:ext uri="{BB962C8B-B14F-4D97-AF65-F5344CB8AC3E}">
        <p14:creationId xmlns:p14="http://schemas.microsoft.com/office/powerpoint/2010/main" val="11836171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t>In pattern recognition processes, feature vectors are the tools used between gathering data, and making sense of the data:</a:t>
            </a:r>
            <a:br>
              <a:rPr lang="en-US" sz="2400" b="1" dirty="0"/>
            </a:br>
            <a:endParaRPr lang="en-US" sz="2400" b="1" dirty="0"/>
          </a:p>
        </p:txBody>
      </p:sp>
      <p:pic>
        <p:nvPicPr>
          <p:cNvPr id="5" name="Content Placeholder 4"/>
          <p:cNvPicPr>
            <a:picLocks noGrp="1" noChangeAspect="1"/>
          </p:cNvPicPr>
          <p:nvPr>
            <p:ph idx="1"/>
          </p:nvPr>
        </p:nvPicPr>
        <p:blipFill>
          <a:blip r:embed="rId2"/>
          <a:stretch>
            <a:fillRect/>
          </a:stretch>
        </p:blipFill>
        <p:spPr>
          <a:xfrm>
            <a:off x="838200" y="2349468"/>
            <a:ext cx="10515600" cy="3303651"/>
          </a:xfrm>
          <a:prstGeom prst="rect">
            <a:avLst/>
          </a:prstGeom>
        </p:spPr>
      </p:pic>
    </p:spTree>
    <p:extLst>
      <p:ext uri="{BB962C8B-B14F-4D97-AF65-F5344CB8AC3E}">
        <p14:creationId xmlns:p14="http://schemas.microsoft.com/office/powerpoint/2010/main" val="37522522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85693"/>
          </a:xfrm>
        </p:spPr>
        <p:txBody>
          <a:bodyPr>
            <a:normAutofit/>
          </a:bodyPr>
          <a:lstStyle/>
          <a:p>
            <a:r>
              <a:rPr lang="en-US" sz="2800" b="1" dirty="0">
                <a:solidFill>
                  <a:srgbClr val="FF0000"/>
                </a:solidFill>
              </a:rPr>
              <a:t>Classifiers, Decision Regions and Boundaries and Discriminant Functions:</a:t>
            </a: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buNone/>
            </a:pPr>
            <a:r>
              <a:rPr lang="en-US" b="1" dirty="0"/>
              <a:t>Classifiers-</a:t>
            </a:r>
          </a:p>
          <a:p>
            <a:r>
              <a:rPr lang="en-US" sz="2200" b="1" dirty="0"/>
              <a:t>Definition</a:t>
            </a:r>
            <a:r>
              <a:rPr lang="en-US" sz="2200" dirty="0"/>
              <a:t>: A classifier is a function or model that assigns a class label to input data based on learned patterns from training examples. It distinguishes between different categories or classes by mapping input features to a predicted class label.</a:t>
            </a:r>
          </a:p>
          <a:p>
            <a:endParaRPr lang="en-US" sz="2200" dirty="0"/>
          </a:p>
          <a:p>
            <a:r>
              <a:rPr lang="en-US" sz="2200" b="1" dirty="0"/>
              <a:t>Types</a:t>
            </a:r>
            <a:r>
              <a:rPr lang="en-US" sz="2200" dirty="0"/>
              <a:t>: Common types of classifiers include:</a:t>
            </a:r>
          </a:p>
          <a:p>
            <a:pPr lvl="1"/>
            <a:r>
              <a:rPr lang="en-US" sz="2200" b="1" dirty="0"/>
              <a:t>Binary Classifiers</a:t>
            </a:r>
            <a:r>
              <a:rPr lang="en-US" sz="2200" dirty="0"/>
              <a:t>: Distinguish between two classes (e.g., yes/no, spam/not spam).</a:t>
            </a:r>
          </a:p>
          <a:p>
            <a:pPr lvl="1"/>
            <a:r>
              <a:rPr lang="en-US" sz="2200" b="1" dirty="0"/>
              <a:t>Multi-class Classifiers</a:t>
            </a:r>
            <a:r>
              <a:rPr lang="en-US" sz="2200" dirty="0"/>
              <a:t>: Assign one of multiple classes to input data (e.g., identifying different types of animals).</a:t>
            </a:r>
          </a:p>
          <a:p>
            <a:pPr marL="457200" lvl="1" indent="0">
              <a:buNone/>
            </a:pPr>
            <a:endParaRPr lang="en-US" sz="2200" dirty="0"/>
          </a:p>
          <a:p>
            <a:r>
              <a:rPr lang="en-US" sz="2200" b="1" dirty="0"/>
              <a:t>Example</a:t>
            </a:r>
            <a:r>
              <a:rPr lang="en-US" sz="2200" dirty="0"/>
              <a:t>: In email spam detection, a classifier might analyze email content and header information to classify emails as either spam or not spam based on learned patterns from previously labeled examples.</a:t>
            </a:r>
          </a:p>
          <a:p>
            <a:endParaRPr lang="en-US" dirty="0"/>
          </a:p>
        </p:txBody>
      </p:sp>
    </p:spTree>
    <p:extLst>
      <p:ext uri="{BB962C8B-B14F-4D97-AF65-F5344CB8AC3E}">
        <p14:creationId xmlns:p14="http://schemas.microsoft.com/office/powerpoint/2010/main" val="31840010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BDF8F-9633-FFAF-6C16-E31A781C3991}"/>
              </a:ext>
            </a:extLst>
          </p:cNvPr>
          <p:cNvSpPr>
            <a:spLocks noGrp="1"/>
          </p:cNvSpPr>
          <p:nvPr>
            <p:ph type="title"/>
          </p:nvPr>
        </p:nvSpPr>
        <p:spPr/>
        <p:txBody>
          <a:bodyPr/>
          <a:lstStyle/>
          <a:p>
            <a:r>
              <a:rPr lang="en-IN" dirty="0"/>
              <a:t>Definition: Classifier</a:t>
            </a:r>
          </a:p>
        </p:txBody>
      </p:sp>
      <p:sp>
        <p:nvSpPr>
          <p:cNvPr id="4" name="Rectangle 1">
            <a:extLst>
              <a:ext uri="{FF2B5EF4-FFF2-40B4-BE49-F238E27FC236}">
                <a16:creationId xmlns:a16="http://schemas.microsoft.com/office/drawing/2014/main" id="{D46256FE-CF62-234D-F6F5-7B5FA61C83DF}"/>
              </a:ext>
            </a:extLst>
          </p:cNvPr>
          <p:cNvSpPr>
            <a:spLocks noGrp="1" noChangeArrowheads="1"/>
          </p:cNvSpPr>
          <p:nvPr>
            <p:ph idx="1"/>
          </p:nvPr>
        </p:nvSpPr>
        <p:spPr bwMode="auto">
          <a:xfrm>
            <a:off x="1188720" y="1599490"/>
            <a:ext cx="1016508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classifier is an algorithm or model that categorizes or labels data </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points based on their feature vectors.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takes the feature vector as input and outputs a class label   </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indicating the category to which the object belongs.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example, </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latin typeface="Times New Roman" panose="02020603050405020304" pitchFamily="18" charset="0"/>
                <a:cs typeface="Times New Roman" panose="02020603050405020304" pitchFamily="18" charset="0"/>
              </a:rPr>
              <a:t>   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 a flower classification system,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classifier might use the feature vector [5,3,2,1][5, 3, 2, 1][5,3,2,1] </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decide whether the flower is a rose, tulip, or daisy. </a:t>
            </a:r>
          </a:p>
        </p:txBody>
      </p:sp>
    </p:spTree>
    <p:extLst>
      <p:ext uri="{BB962C8B-B14F-4D97-AF65-F5344CB8AC3E}">
        <p14:creationId xmlns:p14="http://schemas.microsoft.com/office/powerpoint/2010/main" val="16505980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66FEC-98E1-343D-43D4-1DBAD6251892}"/>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41DE7857-E5F5-F59A-CEFC-D75EFEEE9E04}"/>
              </a:ext>
            </a:extLst>
          </p:cNvPr>
          <p:cNvSpPr>
            <a:spLocks noGrp="1"/>
          </p:cNvSpPr>
          <p:nvPr>
            <p:ph idx="1"/>
          </p:nvPr>
        </p:nvSpPr>
        <p:spPr/>
        <p:txBody>
          <a:bodyPr/>
          <a:lstStyle/>
          <a:p>
            <a:r>
              <a:rPr lang="en-US" dirty="0"/>
              <a:t>Suppose we have a simple classifier that uses the height and width of a flower to determine its type. If we have a dataset of labeled flowers, the classifier can learn from this data and make predictions about new flowers based on their measurements.</a:t>
            </a:r>
            <a:endParaRPr lang="en-IN" dirty="0"/>
          </a:p>
        </p:txBody>
      </p:sp>
    </p:spTree>
    <p:extLst>
      <p:ext uri="{BB962C8B-B14F-4D97-AF65-F5344CB8AC3E}">
        <p14:creationId xmlns:p14="http://schemas.microsoft.com/office/powerpoint/2010/main" val="18701559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4748"/>
          </a:xfrm>
        </p:spPr>
        <p:txBody>
          <a:bodyPr>
            <a:normAutofit fontScale="90000"/>
          </a:bodyPr>
          <a:lstStyle/>
          <a:p>
            <a:r>
              <a:rPr lang="en-US" sz="4000" b="1" dirty="0">
                <a:solidFill>
                  <a:srgbClr val="FF0000"/>
                </a:solidFill>
              </a:rPr>
              <a:t>Decision Regions and Boundaries</a:t>
            </a:r>
            <a:r>
              <a:rPr lang="en-US" dirty="0"/>
              <a:t>:</a:t>
            </a:r>
          </a:p>
        </p:txBody>
      </p:sp>
      <p:sp>
        <p:nvSpPr>
          <p:cNvPr id="3" name="Content Placeholder 2"/>
          <p:cNvSpPr>
            <a:spLocks noGrp="1"/>
          </p:cNvSpPr>
          <p:nvPr>
            <p:ph idx="1"/>
          </p:nvPr>
        </p:nvSpPr>
        <p:spPr>
          <a:xfrm>
            <a:off x="838200" y="1473200"/>
            <a:ext cx="10515600" cy="4703763"/>
          </a:xfrm>
        </p:spPr>
        <p:txBody>
          <a:bodyPr>
            <a:normAutofit/>
          </a:bodyPr>
          <a:lstStyle/>
          <a:p>
            <a:pPr algn="just"/>
            <a:r>
              <a:rPr lang="en-US" b="1" dirty="0"/>
              <a:t>Decision Region</a:t>
            </a:r>
            <a:r>
              <a:rPr lang="en-US" dirty="0"/>
              <a:t>: In a classifier, the decision region is the area of the feature space where all points are assigned to the same class label. It is determined by the classifier’s decision rule or discriminant function.</a:t>
            </a:r>
          </a:p>
          <a:p>
            <a:pPr algn="just"/>
            <a:r>
              <a:rPr lang="en-US" dirty="0"/>
              <a:t>Decision regions are specific areas within the feature space where the classifier assigns the same label to all data points within that region.</a:t>
            </a:r>
          </a:p>
          <a:p>
            <a:pPr algn="just"/>
            <a:r>
              <a:rPr lang="en-US" dirty="0"/>
              <a:t> For instance, in a 2D feature space with features like petal length and width, the decision regions might separate areas where the classifier labels flowers as either roses, tulips, or daisies.</a:t>
            </a:r>
          </a:p>
        </p:txBody>
      </p:sp>
    </p:spTree>
    <p:extLst>
      <p:ext uri="{BB962C8B-B14F-4D97-AF65-F5344CB8AC3E}">
        <p14:creationId xmlns:p14="http://schemas.microsoft.com/office/powerpoint/2010/main" val="23638496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ADB23-90B1-5425-9BC9-42B9A99C0526}"/>
              </a:ext>
            </a:extLst>
          </p:cNvPr>
          <p:cNvSpPr>
            <a:spLocks noGrp="1"/>
          </p:cNvSpPr>
          <p:nvPr>
            <p:ph type="title"/>
          </p:nvPr>
        </p:nvSpPr>
        <p:spPr/>
        <p:txBody>
          <a:bodyPr/>
          <a:lstStyle/>
          <a:p>
            <a:r>
              <a:rPr lang="en-US" b="1" dirty="0"/>
              <a:t>Decision Boundary</a:t>
            </a:r>
            <a:endParaRPr lang="en-IN" dirty="0"/>
          </a:p>
        </p:txBody>
      </p:sp>
      <p:sp>
        <p:nvSpPr>
          <p:cNvPr id="3" name="Content Placeholder 2">
            <a:extLst>
              <a:ext uri="{FF2B5EF4-FFF2-40B4-BE49-F238E27FC236}">
                <a16:creationId xmlns:a16="http://schemas.microsoft.com/office/drawing/2014/main" id="{9449FC8C-1E7C-48A6-904B-FD084588F2DA}"/>
              </a:ext>
            </a:extLst>
          </p:cNvPr>
          <p:cNvSpPr>
            <a:spLocks noGrp="1"/>
          </p:cNvSpPr>
          <p:nvPr>
            <p:ph idx="1"/>
          </p:nvPr>
        </p:nvSpPr>
        <p:spPr/>
        <p:txBody>
          <a:bodyPr/>
          <a:lstStyle/>
          <a:p>
            <a:pPr algn="just"/>
            <a:r>
              <a:rPr lang="en-US" dirty="0"/>
              <a:t>The decision boundary is the boundary or surface that separates different decision regions in the feature space. It defines the transition between assigning one class label versus another.</a:t>
            </a:r>
          </a:p>
          <a:p>
            <a:pPr algn="just"/>
            <a:r>
              <a:rPr lang="en-US" b="1" dirty="0"/>
              <a:t>Example</a:t>
            </a:r>
            <a:r>
              <a:rPr lang="en-US" dirty="0"/>
              <a:t>: Consider a binary classifier separating two classes (e.g., cats and dogs) based on features like height and weight. The decision boundary might be a line or curve in the feature space where points on one side are classified as cats and points on the other side as dogs.</a:t>
            </a:r>
          </a:p>
          <a:p>
            <a:pPr algn="just"/>
            <a:endParaRPr lang="en-IN" dirty="0"/>
          </a:p>
        </p:txBody>
      </p:sp>
    </p:spTree>
    <p:extLst>
      <p:ext uri="{BB962C8B-B14F-4D97-AF65-F5344CB8AC3E}">
        <p14:creationId xmlns:p14="http://schemas.microsoft.com/office/powerpoint/2010/main" val="35455781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C7AAF-34ED-6A0A-DB52-6EF86229C5A2}"/>
              </a:ext>
            </a:extLst>
          </p:cNvPr>
          <p:cNvSpPr>
            <a:spLocks noGrp="1"/>
          </p:cNvSpPr>
          <p:nvPr>
            <p:ph type="title"/>
          </p:nvPr>
        </p:nvSpPr>
        <p:spPr/>
        <p:txBody>
          <a:bodyPr/>
          <a:lstStyle/>
          <a:p>
            <a:r>
              <a:rPr lang="en-IN" dirty="0"/>
              <a:t>Conti..</a:t>
            </a:r>
          </a:p>
        </p:txBody>
      </p:sp>
      <p:sp>
        <p:nvSpPr>
          <p:cNvPr id="4" name="Rectangle 1">
            <a:extLst>
              <a:ext uri="{FF2B5EF4-FFF2-40B4-BE49-F238E27FC236}">
                <a16:creationId xmlns:a16="http://schemas.microsoft.com/office/drawing/2014/main" id="{990926D3-07B3-6B99-496B-D4711CE9C153}"/>
              </a:ext>
            </a:extLst>
          </p:cNvPr>
          <p:cNvSpPr>
            <a:spLocks noGrp="1" noChangeArrowheads="1"/>
          </p:cNvSpPr>
          <p:nvPr>
            <p:ph idx="1"/>
          </p:nvPr>
        </p:nvSpPr>
        <p:spPr bwMode="auto">
          <a:xfrm>
            <a:off x="838200" y="1492915"/>
            <a:ext cx="10397359"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Decision boundaries are the borders that separate different decision regions.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boundaries define where the classifier changes from predicting one class to another.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our flower example,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decision boundary might be a line that separates roses from tulips based on petal length and width. If a flower's feature vector falls on one side of the boundary, it is classified as a rose; if it falls on the other side, it is classified as a tulip </a:t>
            </a:r>
          </a:p>
        </p:txBody>
      </p:sp>
    </p:spTree>
    <p:extLst>
      <p:ext uri="{BB962C8B-B14F-4D97-AF65-F5344CB8AC3E}">
        <p14:creationId xmlns:p14="http://schemas.microsoft.com/office/powerpoint/2010/main" val="31273275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3184"/>
          </a:xfrm>
        </p:spPr>
        <p:txBody>
          <a:bodyPr>
            <a:normAutofit fontScale="90000"/>
          </a:bodyPr>
          <a:lstStyle/>
          <a:p>
            <a:r>
              <a:rPr lang="en-US" b="1" dirty="0">
                <a:solidFill>
                  <a:srgbClr val="FF0000"/>
                </a:solidFill>
              </a:rPr>
              <a:t>Discriminant Functions</a:t>
            </a:r>
            <a:r>
              <a:rPr lang="en-US" dirty="0"/>
              <a:t>:</a:t>
            </a:r>
          </a:p>
        </p:txBody>
      </p:sp>
      <p:sp>
        <p:nvSpPr>
          <p:cNvPr id="3" name="Content Placeholder 2"/>
          <p:cNvSpPr>
            <a:spLocks noGrp="1"/>
          </p:cNvSpPr>
          <p:nvPr>
            <p:ph idx="1"/>
          </p:nvPr>
        </p:nvSpPr>
        <p:spPr>
          <a:xfrm>
            <a:off x="838200" y="1174173"/>
            <a:ext cx="10515600" cy="5002790"/>
          </a:xfrm>
        </p:spPr>
        <p:txBody>
          <a:bodyPr>
            <a:noAutofit/>
          </a:bodyPr>
          <a:lstStyle/>
          <a:p>
            <a:r>
              <a:rPr lang="en-US" sz="2400" b="1" dirty="0"/>
              <a:t>Definition</a:t>
            </a:r>
            <a:r>
              <a:rPr lang="en-US" sz="2400" dirty="0"/>
              <a:t>: A discriminant function is a function that maps input features to a class label or a score that indicates the likelihood of belonging to a particular class. It quantifies the relationship between input data and class labels based on learned parameters.</a:t>
            </a:r>
          </a:p>
          <a:p>
            <a:r>
              <a:rPr lang="en-US" sz="2400" b="1" dirty="0"/>
              <a:t>Formulation</a:t>
            </a:r>
            <a:r>
              <a:rPr lang="en-US" sz="2400" dirty="0"/>
              <a:t>: Discriminant functions can take various forms depending on the classifier used:</a:t>
            </a:r>
          </a:p>
          <a:p>
            <a:pPr lvl="1"/>
            <a:r>
              <a:rPr lang="en-US" b="1" dirty="0"/>
              <a:t>Linear Discriminant Functions</a:t>
            </a:r>
            <a:r>
              <a:rPr lang="en-US" dirty="0"/>
              <a:t>: Classify data using linear combinations of input features (e.g., linear SVM, linear discriminant analysis).</a:t>
            </a:r>
          </a:p>
          <a:p>
            <a:pPr lvl="1"/>
            <a:r>
              <a:rPr lang="en-US" b="1" dirty="0"/>
              <a:t>Non-linear Discriminant Functions</a:t>
            </a:r>
            <a:r>
              <a:rPr lang="en-US" dirty="0"/>
              <a:t>: Capture complex relationships between features and classes using non-linear transformations (e.g., kernel SVM, neural networks).</a:t>
            </a:r>
          </a:p>
          <a:p>
            <a:pPr lvl="1"/>
            <a:r>
              <a:rPr lang="en-US" b="1" dirty="0"/>
              <a:t>Usage</a:t>
            </a:r>
            <a:r>
              <a:rPr lang="en-US" dirty="0"/>
              <a:t>: During classification, the discriminant function evaluates input features and outputs a decision that maximizes the classifier’s accuracy in assigning class labels.</a:t>
            </a:r>
          </a:p>
          <a:p>
            <a:endParaRPr lang="en-US" sz="2400" dirty="0"/>
          </a:p>
        </p:txBody>
      </p:sp>
    </p:spTree>
    <p:extLst>
      <p:ext uri="{BB962C8B-B14F-4D97-AF65-F5344CB8AC3E}">
        <p14:creationId xmlns:p14="http://schemas.microsoft.com/office/powerpoint/2010/main" val="31261694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6480" y="762000"/>
            <a:ext cx="10307320" cy="650240"/>
          </a:xfrm>
        </p:spPr>
        <p:txBody>
          <a:bodyPr>
            <a:normAutofit fontScale="90000"/>
          </a:bodyPr>
          <a:lstStyle/>
          <a:p>
            <a:r>
              <a:rPr lang="en-US" b="1" dirty="0"/>
              <a:t>Definition:</a:t>
            </a:r>
            <a:br>
              <a:rPr lang="en-US" dirty="0"/>
            </a:br>
            <a:endParaRPr lang="en-US" dirty="0"/>
          </a:p>
        </p:txBody>
      </p:sp>
      <p:sp>
        <p:nvSpPr>
          <p:cNvPr id="3" name="Content Placeholder 2"/>
          <p:cNvSpPr>
            <a:spLocks noGrp="1"/>
          </p:cNvSpPr>
          <p:nvPr>
            <p:ph idx="1"/>
          </p:nvPr>
        </p:nvSpPr>
        <p:spPr>
          <a:xfrm>
            <a:off x="670560" y="1239520"/>
            <a:ext cx="10683240" cy="4937443"/>
          </a:xfrm>
        </p:spPr>
        <p:txBody>
          <a:bodyPr>
            <a:normAutofit fontScale="92500"/>
          </a:bodyPr>
          <a:lstStyle/>
          <a:p>
            <a:pPr>
              <a:buFont typeface="Arial" panose="020B0604020202020204" pitchFamily="34" charset="0"/>
              <a:buChar char="•"/>
            </a:pPr>
            <a:r>
              <a:rPr lang="en-US" dirty="0"/>
              <a:t>A discriminant function is a mathematical function used by classifiers to assign a class label to a given feature vector. It evaluates the input feature vector and outputs a value that indicates the class of the data point.</a:t>
            </a:r>
          </a:p>
          <a:p>
            <a:pPr>
              <a:buFont typeface="Arial" panose="020B0604020202020204" pitchFamily="34" charset="0"/>
              <a:buChar char="•"/>
            </a:pPr>
            <a:endParaRPr lang="en-US" dirty="0"/>
          </a:p>
          <a:p>
            <a:pPr>
              <a:buFont typeface="Arial" panose="020B0604020202020204" pitchFamily="34" charset="0"/>
              <a:buChar char="•"/>
            </a:pPr>
            <a:endParaRPr lang="en-US" dirty="0"/>
          </a:p>
          <a:p>
            <a:endParaRPr lang="en-US" b="1" dirty="0"/>
          </a:p>
          <a:p>
            <a:pPr marL="0" indent="0">
              <a:buNone/>
            </a:pPr>
            <a:r>
              <a:rPr lang="en-US" b="1" dirty="0"/>
              <a:t>Example:</a:t>
            </a:r>
            <a:endParaRPr lang="en-US" dirty="0"/>
          </a:p>
          <a:p>
            <a:pPr>
              <a:buFont typeface="Arial" panose="020B0604020202020204" pitchFamily="34" charset="0"/>
              <a:buChar char="•"/>
            </a:pPr>
            <a:r>
              <a:rPr lang="en-US" dirty="0"/>
              <a:t>In the context of our flower classification, the discriminant function might be used to determine whether a flower is a rose or tulip based on its petal and sepal measurements. The function will produce a score, and based on this score, the classifier will assign the appropriate class label.</a:t>
            </a:r>
          </a:p>
          <a:p>
            <a:endParaRPr lang="en-US" dirty="0"/>
          </a:p>
        </p:txBody>
      </p:sp>
      <p:pic>
        <p:nvPicPr>
          <p:cNvPr id="5" name="Picture 4">
            <a:extLst>
              <a:ext uri="{FF2B5EF4-FFF2-40B4-BE49-F238E27FC236}">
                <a16:creationId xmlns:a16="http://schemas.microsoft.com/office/drawing/2014/main" id="{594B7F6F-87EF-7421-F7B9-35FEB1A80B6B}"/>
              </a:ext>
            </a:extLst>
          </p:cNvPr>
          <p:cNvPicPr>
            <a:picLocks noChangeAspect="1"/>
          </p:cNvPicPr>
          <p:nvPr/>
        </p:nvPicPr>
        <p:blipFill>
          <a:blip r:embed="rId2"/>
          <a:stretch>
            <a:fillRect/>
          </a:stretch>
        </p:blipFill>
        <p:spPr>
          <a:xfrm>
            <a:off x="1046480" y="2673645"/>
            <a:ext cx="9926320" cy="1103010"/>
          </a:xfrm>
          <a:prstGeom prst="rect">
            <a:avLst/>
          </a:prstGeom>
        </p:spPr>
      </p:pic>
    </p:spTree>
    <p:extLst>
      <p:ext uri="{BB962C8B-B14F-4D97-AF65-F5344CB8AC3E}">
        <p14:creationId xmlns:p14="http://schemas.microsoft.com/office/powerpoint/2010/main" val="33227517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255</TotalTime>
  <Words>4508</Words>
  <Application>Microsoft Office PowerPoint</Application>
  <PresentationFormat>Widescreen</PresentationFormat>
  <Paragraphs>305</Paragraphs>
  <Slides>48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Calibri</vt:lpstr>
      <vt:lpstr>Calibri Light</vt:lpstr>
      <vt:lpstr>Times New Roman</vt:lpstr>
      <vt:lpstr>Office Theme</vt:lpstr>
      <vt:lpstr>Subject : Pattern Recognition  Unit-1 Introduction of PR</vt:lpstr>
      <vt:lpstr>Patterns and Features</vt:lpstr>
      <vt:lpstr>What is pattern?</vt:lpstr>
      <vt:lpstr>Examples:</vt:lpstr>
      <vt:lpstr>Conti..</vt:lpstr>
      <vt:lpstr>Features</vt:lpstr>
      <vt:lpstr>Example</vt:lpstr>
      <vt:lpstr> Pattern recognition possesses the following features:  </vt:lpstr>
      <vt:lpstr>Training and Learning in Pattern Recognition </vt:lpstr>
      <vt:lpstr>Conti..</vt:lpstr>
      <vt:lpstr>Conti..</vt:lpstr>
      <vt:lpstr>Advantages &amp; Disadvantages: </vt:lpstr>
      <vt:lpstr>Applications:  </vt:lpstr>
      <vt:lpstr>Pattern Distortions-</vt:lpstr>
      <vt:lpstr>Conti..</vt:lpstr>
      <vt:lpstr>Key Concepts</vt:lpstr>
      <vt:lpstr>Conti..</vt:lpstr>
      <vt:lpstr>Example:</vt:lpstr>
      <vt:lpstr> Handling Distortions in Pattern Recognition </vt:lpstr>
      <vt:lpstr>Features Extraction Using Generalized Cylinders for 3-D object Description and Classification:</vt:lpstr>
      <vt:lpstr>Conti..</vt:lpstr>
      <vt:lpstr>Conti..</vt:lpstr>
      <vt:lpstr> Advantages and Applications </vt:lpstr>
      <vt:lpstr>Example:</vt:lpstr>
      <vt:lpstr>Conti..</vt:lpstr>
      <vt:lpstr>Application:</vt:lpstr>
      <vt:lpstr>Advantages and Challenges-</vt:lpstr>
      <vt:lpstr>Generating RST Invariant Features and Application to 2-D Figure Recognition:</vt:lpstr>
      <vt:lpstr>Conti..</vt:lpstr>
      <vt:lpstr>Conti…</vt:lpstr>
      <vt:lpstr>CONTI..</vt:lpstr>
      <vt:lpstr>Conti..</vt:lpstr>
      <vt:lpstr>Conti..</vt:lpstr>
      <vt:lpstr> Challenges and Considerations </vt:lpstr>
      <vt:lpstr>The Feature Vector and Feature Space :</vt:lpstr>
      <vt:lpstr>Feature Vector: </vt:lpstr>
      <vt:lpstr>Explanation:</vt:lpstr>
      <vt:lpstr>Feature Space:</vt:lpstr>
      <vt:lpstr> Uses of Feature Vectors </vt:lpstr>
      <vt:lpstr>In pattern recognition processes, feature vectors are the tools used between gathering data, and making sense of the data: </vt:lpstr>
      <vt:lpstr>Classifiers, Decision Regions and Boundaries and Discriminant Functions:</vt:lpstr>
      <vt:lpstr>Definition: Classifier</vt:lpstr>
      <vt:lpstr>Example</vt:lpstr>
      <vt:lpstr>Decision Regions and Boundaries:</vt:lpstr>
      <vt:lpstr>Decision Boundary</vt:lpstr>
      <vt:lpstr>Conti..</vt:lpstr>
      <vt:lpstr>Discriminant Functions:</vt:lpstr>
      <vt:lpstr>Definition: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Patterns and Features</dc:title>
  <dc:creator>dpu</dc:creator>
  <cp:lastModifiedBy>Pranjali Bahalkar</cp:lastModifiedBy>
  <cp:revision>26</cp:revision>
  <dcterms:created xsi:type="dcterms:W3CDTF">2024-07-03T16:09:13Z</dcterms:created>
  <dcterms:modified xsi:type="dcterms:W3CDTF">2024-07-16T04:40:42Z</dcterms:modified>
</cp:coreProperties>
</file>