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1"/>
    <p:sldMasterId id="2147483705" r:id="rId2"/>
  </p:sldMasterIdLst>
  <p:notesMasterIdLst>
    <p:notesMasterId r:id="rId14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80" r:id="rId109"/>
    <p:sldId id="381" r:id="rId110"/>
    <p:sldId id="382"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93" r:id="rId129"/>
    <p:sldId id="379" r:id="rId130"/>
    <p:sldId id="383" r:id="rId131"/>
    <p:sldId id="384" r:id="rId132"/>
    <p:sldId id="385" r:id="rId133"/>
    <p:sldId id="386" r:id="rId134"/>
    <p:sldId id="388" r:id="rId135"/>
    <p:sldId id="387" r:id="rId136"/>
    <p:sldId id="389" r:id="rId137"/>
    <p:sldId id="390" r:id="rId138"/>
    <p:sldId id="391" r:id="rId139"/>
    <p:sldId id="392" r:id="rId1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p:cViewPr varScale="1">
        <p:scale>
          <a:sx n="96" d="100"/>
          <a:sy n="96" d="100"/>
        </p:scale>
        <p:origin x="1066"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6"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IN" sz="4400" b="0" strike="noStrike" spc="-1">
                <a:latin typeface="Arial"/>
              </a:rPr>
              <a:t>Click to move the slide</a:t>
            </a:r>
          </a:p>
        </p:txBody>
      </p:sp>
      <p:sp>
        <p:nvSpPr>
          <p:cNvPr id="77" name="PlaceHolder 2"/>
          <p:cNvSpPr>
            <a:spLocks noGrp="1"/>
          </p:cNvSpPr>
          <p:nvPr>
            <p:ph type="body"/>
          </p:nvPr>
        </p:nvSpPr>
        <p:spPr>
          <a:xfrm>
            <a:off x="756000" y="5078520"/>
            <a:ext cx="6047640" cy="4811040"/>
          </a:xfrm>
          <a:prstGeom prst="rect">
            <a:avLst/>
          </a:prstGeom>
        </p:spPr>
        <p:txBody>
          <a:bodyPr lIns="0" tIns="0" rIns="0" bIns="0">
            <a:noAutofit/>
          </a:bodyPr>
          <a:lstStyle/>
          <a:p>
            <a:r>
              <a:rPr lang="en-IN" sz="2000" b="0" strike="noStrike" spc="-1">
                <a:latin typeface="Arial"/>
              </a:rPr>
              <a:t>Click to edit the notes format</a:t>
            </a:r>
          </a:p>
        </p:txBody>
      </p:sp>
      <p:sp>
        <p:nvSpPr>
          <p:cNvPr id="78" name="PlaceHolder 3"/>
          <p:cNvSpPr>
            <a:spLocks noGrp="1"/>
          </p:cNvSpPr>
          <p:nvPr>
            <p:ph type="hdr"/>
          </p:nvPr>
        </p:nvSpPr>
        <p:spPr>
          <a:xfrm>
            <a:off x="0" y="0"/>
            <a:ext cx="3280680" cy="534240"/>
          </a:xfrm>
          <a:prstGeom prst="rect">
            <a:avLst/>
          </a:prstGeom>
        </p:spPr>
        <p:txBody>
          <a:bodyPr lIns="0" tIns="0" rIns="0" bIns="0">
            <a:noAutofit/>
          </a:bodyPr>
          <a:lstStyle/>
          <a:p>
            <a:r>
              <a:rPr lang="en-IN" sz="1400" b="0" strike="noStrike" spc="-1">
                <a:latin typeface="Times New Roman"/>
              </a:rPr>
              <a:t>&lt;header&gt;</a:t>
            </a:r>
          </a:p>
        </p:txBody>
      </p:sp>
      <p:sp>
        <p:nvSpPr>
          <p:cNvPr id="79"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IN" sz="1400" b="0" strike="noStrike" spc="-1">
                <a:latin typeface="Times New Roman"/>
              </a:rPr>
              <a:t>&lt;date/time&gt;</a:t>
            </a:r>
          </a:p>
        </p:txBody>
      </p:sp>
      <p:sp>
        <p:nvSpPr>
          <p:cNvPr id="80"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IN" sz="1400" b="0" strike="noStrike" spc="-1">
                <a:latin typeface="Times New Roman"/>
              </a:rPr>
              <a:t>&lt;footer&gt;</a:t>
            </a:r>
          </a:p>
        </p:txBody>
      </p:sp>
      <p:sp>
        <p:nvSpPr>
          <p:cNvPr id="81"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D403457D-4800-4D73-8823-EAA20C641996}" type="slidenum">
              <a:rPr lang="en-IN" sz="1400" b="0" strike="noStrike" spc="-1">
                <a:latin typeface="Times New Roman"/>
              </a:rPr>
              <a:pPr algn="r"/>
              <a:t>‹#›</a:t>
            </a:fld>
            <a:endParaRPr lang="en-IN"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noRot="1" noChangeAspect="1"/>
          </p:cNvSpPr>
          <p:nvPr>
            <p:ph type="sldImg"/>
          </p:nvPr>
        </p:nvSpPr>
        <p:spPr>
          <a:xfrm>
            <a:off x="1143000" y="685800"/>
            <a:ext cx="4572000" cy="3429000"/>
          </a:xfrm>
          <a:prstGeom prst="rect">
            <a:avLst/>
          </a:prstGeom>
        </p:spPr>
      </p:sp>
      <p:sp>
        <p:nvSpPr>
          <p:cNvPr id="330" name="PlaceHolder 2"/>
          <p:cNvSpPr>
            <a:spLocks noGrp="1"/>
          </p:cNvSpPr>
          <p:nvPr>
            <p:ph type="body"/>
          </p:nvPr>
        </p:nvSpPr>
        <p:spPr>
          <a:xfrm>
            <a:off x="685800" y="4343400"/>
            <a:ext cx="5485680" cy="4114080"/>
          </a:xfrm>
          <a:prstGeom prst="rect">
            <a:avLst/>
          </a:prstGeom>
        </p:spPr>
        <p:txBody>
          <a:bodyPr lIns="0" tIns="0" rIns="0" bIns="0">
            <a:normAutofit/>
          </a:bodyPr>
          <a:lstStyle/>
          <a:p>
            <a:endParaRPr lang="en-IN" sz="2000" b="0" strike="noStrike" spc="-1">
              <a:latin typeface="Arial"/>
            </a:endParaRPr>
          </a:p>
        </p:txBody>
      </p:sp>
      <p:sp>
        <p:nvSpPr>
          <p:cNvPr id="331" name="CustomShape 3"/>
          <p:cNvSpPr/>
          <p:nvPr/>
        </p:nvSpPr>
        <p:spPr>
          <a:xfrm>
            <a:off x="3884760" y="8685360"/>
            <a:ext cx="297108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89FA2E1A-8466-4031-BC92-867F01290054}" type="slidenum">
              <a:rPr lang="en-US" sz="1200" b="0" strike="noStrike" spc="-1">
                <a:solidFill>
                  <a:srgbClr val="000000"/>
                </a:solidFill>
                <a:latin typeface="+mn-lt"/>
                <a:ea typeface="+mn-ea"/>
              </a:rPr>
              <a:pPr algn="r">
                <a:lnSpc>
                  <a:spcPct val="100000"/>
                </a:lnSpc>
              </a:pPr>
              <a:t>3</a:t>
            </a:fld>
            <a:endParaRPr lang="en-IN"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noRot="1" noChangeAspect="1"/>
          </p:cNvSpPr>
          <p:nvPr>
            <p:ph type="sldImg"/>
          </p:nvPr>
        </p:nvSpPr>
        <p:spPr>
          <a:xfrm>
            <a:off x="1143000" y="685800"/>
            <a:ext cx="4572000" cy="3429000"/>
          </a:xfrm>
          <a:prstGeom prst="rect">
            <a:avLst/>
          </a:prstGeom>
        </p:spPr>
      </p:sp>
      <p:sp>
        <p:nvSpPr>
          <p:cNvPr id="333" name="PlaceHolder 2"/>
          <p:cNvSpPr>
            <a:spLocks noGrp="1"/>
          </p:cNvSpPr>
          <p:nvPr>
            <p:ph type="body"/>
          </p:nvPr>
        </p:nvSpPr>
        <p:spPr>
          <a:xfrm>
            <a:off x="685800" y="4343400"/>
            <a:ext cx="5485680" cy="4114080"/>
          </a:xfrm>
          <a:prstGeom prst="rect">
            <a:avLst/>
          </a:prstGeom>
        </p:spPr>
        <p:txBody>
          <a:bodyPr lIns="0" tIns="0" rIns="0" bIns="0">
            <a:normAutofit/>
          </a:bodyPr>
          <a:lstStyle/>
          <a:p>
            <a:endParaRPr lang="en-IN" sz="2000" b="0" strike="noStrike" spc="-1">
              <a:latin typeface="Arial"/>
            </a:endParaRPr>
          </a:p>
        </p:txBody>
      </p:sp>
      <p:sp>
        <p:nvSpPr>
          <p:cNvPr id="334" name="CustomShape 3"/>
          <p:cNvSpPr/>
          <p:nvPr/>
        </p:nvSpPr>
        <p:spPr>
          <a:xfrm>
            <a:off x="3884760" y="8685360"/>
            <a:ext cx="297108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5DF46EDF-4AEA-4D81-BEF6-CC7E0BB8831F}" type="slidenum">
              <a:rPr lang="en-US" sz="1200" b="0" strike="noStrike" spc="-1">
                <a:solidFill>
                  <a:srgbClr val="000000"/>
                </a:solidFill>
                <a:latin typeface="+mn-lt"/>
                <a:ea typeface="+mn-ea"/>
              </a:rPr>
              <a:pPr algn="r">
                <a:lnSpc>
                  <a:spcPct val="100000"/>
                </a:lnSpc>
              </a:pPr>
              <a:t>5</a:t>
            </a:fld>
            <a:endParaRPr lang="en-IN"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20C3970-78B8-4E0D-9213-70DB0461DBCD}"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0C3970-78B8-4E0D-9213-70DB0461DBCD}"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0C3970-78B8-4E0D-9213-70DB0461DBCD}"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0C3970-78B8-4E0D-9213-70DB0461DBCD}" type="datetimeFigureOut">
              <a:rPr lang="en-US" smtClean="0"/>
              <a:pPr/>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0C3970-78B8-4E0D-9213-70DB0461DBCD}" type="datetimeFigureOut">
              <a:rPr lang="en-US" smtClean="0"/>
              <a:pPr/>
              <a:t>9/3/2024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0C3970-78B8-4E0D-9213-70DB0461DBCD}" type="datetimeFigureOut">
              <a:rPr lang="en-US" smtClean="0"/>
              <a:pPr/>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0C3970-78B8-4E0D-9213-70DB0461DBCD}" type="datetimeFigureOut">
              <a:rPr lang="en-US" smtClean="0"/>
              <a:pPr/>
              <a:t>9/3/2024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0C3970-78B8-4E0D-9213-70DB0461DBCD}" type="datetimeFigureOut">
              <a:rPr lang="en-US" smtClean="0"/>
              <a:pPr/>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0C3970-78B8-4E0D-9213-70DB0461DBCD}" type="datetimeFigureOut">
              <a:rPr lang="en-US" smtClean="0"/>
              <a:pPr/>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0C3970-78B8-4E0D-9213-70DB0461DBCD}"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0C3970-78B8-4E0D-9213-70DB0461DBCD}" type="datetimeFigureOut">
              <a:rPr lang="en-US" smtClean="0"/>
              <a:pPr/>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EDF83-F3BD-48C6-A88D-C86756ACDC32}"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803506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064812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03839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5309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960408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518625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100955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0310350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396560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45661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20752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292956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112821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9/3/2024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367659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9/3/2024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0576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5551432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542489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IN" sz="4400" b="0" strike="noStrike" spc="-1">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IN" sz="3200" b="0" strike="noStrike" spc="-1">
              <a:latin typeface="Arial"/>
            </a:endParaRPr>
          </a:p>
        </p:txBody>
      </p:sp>
    </p:spTree>
    <p:extLst>
      <p:ext uri="{BB962C8B-B14F-4D97-AF65-F5344CB8AC3E}">
        <p14:creationId xmlns:p14="http://schemas.microsoft.com/office/powerpoint/2010/main" val="3594495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C3970-78B8-4E0D-9213-70DB0461DBCD}" type="datetimeFigureOut">
              <a:rPr lang="en-US" smtClean="0"/>
              <a:pPr/>
              <a:t>9/3/2024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EDF83-F3BD-48C6-A88D-C86756ACDC3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20C3970-78B8-4E0D-9213-70DB0461DBCD}" type="datetimeFigureOut">
              <a:rPr lang="en-US" smtClean="0"/>
              <a:pPr/>
              <a:t>9/3/2024</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E4EDF83-F3BD-48C6-A88D-C86756ACDC32}" type="slidenum">
              <a:rPr lang="en-US" smtClean="0"/>
              <a:pPr/>
              <a:t>‹#›</a:t>
            </a:fld>
            <a:endParaRPr lang="en-US"/>
          </a:p>
        </p:txBody>
      </p:sp>
    </p:spTree>
    <p:extLst>
      <p:ext uri="{BB962C8B-B14F-4D97-AF65-F5344CB8AC3E}">
        <p14:creationId xmlns:p14="http://schemas.microsoft.com/office/powerpoint/2010/main" val="368692359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www.w3schools.com/js/tryit.asp?filename=tryjs_math_pow"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https://www.geeksforgeeks.org/javascript-string-substring-method/" TargetMode="External"/><Relationship Id="rId2" Type="http://schemas.openxmlformats.org/officeDocument/2006/relationships/hyperlink" Target="https://www.geeksforgeeks.org/javascript-string-substr-method/"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https://www.geeksforgeeks.org/xml-basics/" TargetMode="External"/><Relationship Id="rId2" Type="http://schemas.openxmlformats.org/officeDocument/2006/relationships/hyperlink" Target="https://www.geeksforgeeks.org/html-introduction/" TargetMode="External"/><Relationship Id="rId1" Type="http://schemas.openxmlformats.org/officeDocument/2006/relationships/slideLayout" Target="../slideLayouts/slideLayout7.xml"/><Relationship Id="rId4" Type="http://schemas.openxmlformats.org/officeDocument/2006/relationships/hyperlink" Target="https://www.geeksforgeeks.org/w3c-full-form/" TargetMode="External"/></Relationships>
</file>

<file path=ppt/slides/_rels/slide78.xml.rels><?xml version="1.0" encoding="UTF-8" standalone="yes"?>
<Relationships xmlns="http://schemas.openxmlformats.org/package/2006/relationships"><Relationship Id="rId2" Type="http://schemas.openxmlformats.org/officeDocument/2006/relationships/hyperlink" Target="https://www.geeksforgeeks.org/introduction-to-javascript/" TargetMode="Externa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hyperlink" Target="https://www.geeksforgeeks.org/ajax-introduction/" TargetMode="External"/><Relationship Id="rId2" Type="http://schemas.openxmlformats.org/officeDocument/2006/relationships/hyperlink" Target="https://www.geeksforgeeks.org/dom-document-object-model/" TargetMode="Externa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hyperlink" Target="https://ajax.googleapis.com/ajax/libs/jquery/3.7.1/" TargetMode="Externa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685800" y="2130480"/>
            <a:ext cx="7771680" cy="146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rPr>
              <a:t>Web Technology Unit II- Client Side Technologies</a:t>
            </a:r>
            <a:endParaRPr lang="en-IN" sz="4400" b="0" strike="noStrike" spc="-1">
              <a:latin typeface="Arial"/>
            </a:endParaRPr>
          </a:p>
        </p:txBody>
      </p:sp>
      <p:sp>
        <p:nvSpPr>
          <p:cNvPr id="83" name="CustomShape 2"/>
          <p:cNvSpPr/>
          <p:nvPr/>
        </p:nvSpPr>
        <p:spPr>
          <a:xfrm>
            <a:off x="1371600" y="3886200"/>
            <a:ext cx="6400080" cy="1751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spcBef>
                <a:spcPts val="641"/>
              </a:spcBef>
              <a:tabLst>
                <a:tab pos="0" algn="l"/>
              </a:tabLst>
            </a:pPr>
            <a:r>
              <a:rPr lang="en-IN" sz="3200" b="0" strike="noStrike" spc="-1">
                <a:solidFill>
                  <a:srgbClr val="8B8B8B"/>
                </a:solidFill>
                <a:latin typeface="Calibri"/>
              </a:rPr>
              <a:t>By Pradnya Lodha</a:t>
            </a:r>
            <a:endParaRPr lang="en-IN" sz="32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85" name="Content Placeholder 3" descr="Screenshot 2024-06-28 104324.png"/>
          <p:cNvPicPr/>
          <p:nvPr/>
        </p:nvPicPr>
        <p:blipFill>
          <a:blip r:embed="rId2" cstate="print"/>
          <a:stretch/>
        </p:blipFill>
        <p:spPr>
          <a:xfrm>
            <a:off x="838260" y="284984"/>
            <a:ext cx="7466760" cy="5058720"/>
          </a:xfrm>
          <a:prstGeom prst="rect">
            <a:avLst/>
          </a:prstGeom>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87" name="Content Placeholder 3" descr="Screenshot 2024-06-28 104428.png"/>
          <p:cNvPicPr/>
          <p:nvPr/>
        </p:nvPicPr>
        <p:blipFill>
          <a:blip r:embed="rId3" cstate="print"/>
          <a:stretch/>
        </p:blipFill>
        <p:spPr>
          <a:xfrm>
            <a:off x="1066680" y="1600200"/>
            <a:ext cx="6540480" cy="452520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rPr>
              <a:t>Overview of JavaScript</a:t>
            </a:r>
            <a:endParaRPr lang="en-IN" sz="4400" b="0" strike="noStrike" spc="-1">
              <a:latin typeface="Arial"/>
            </a:endParaRPr>
          </a:p>
        </p:txBody>
      </p:sp>
      <p:sp>
        <p:nvSpPr>
          <p:cNvPr id="8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JavaScript is one of the 3 languages all web developers must learn: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1 HTML to define the content of web pages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2 CSS to specify the layout of web pages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3 JavaScript to program the behavior of web pages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JavaScript is a very powerful client-side scripting language.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Javascript is a dynamic computer programming language</a:t>
            </a:r>
            <a:endParaRPr lang="en-IN" sz="32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rPr>
              <a:t>JavaScript</a:t>
            </a:r>
            <a:endParaRPr lang="en-IN" sz="4400" b="0" strike="noStrike" spc="-1">
              <a:latin typeface="Arial"/>
            </a:endParaRPr>
          </a:p>
        </p:txBody>
      </p:sp>
      <p:sp>
        <p:nvSpPr>
          <p:cNvPr id="9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45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JavaScript is a front-end scripting language developed by Netscape for dynamic content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Lightweight, but with limited capabilities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Can be used as object-oriented language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Client-side technology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Embedded in your HTML page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Interpreted by the Web browser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Simple and flexible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Powerful to manipulate the DOM</a:t>
            </a:r>
            <a:endParaRPr lang="en-IN" sz="32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Difference between Java and Javascript</a:t>
            </a:r>
            <a:endParaRPr lang="en-IN" sz="4400" b="0" strike="noStrike" spc="-1">
              <a:latin typeface="Arial"/>
            </a:endParaRPr>
          </a:p>
        </p:txBody>
      </p:sp>
      <p:pic>
        <p:nvPicPr>
          <p:cNvPr id="93" name="Content Placeholder 3" descr="Screenshot 2024-07-01 121526.png"/>
          <p:cNvPicPr/>
          <p:nvPr/>
        </p:nvPicPr>
        <p:blipFill>
          <a:blip r:embed="rId2" cstate="print"/>
          <a:stretch/>
        </p:blipFill>
        <p:spPr>
          <a:xfrm>
            <a:off x="1143000" y="1523880"/>
            <a:ext cx="6323760" cy="460152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rPr>
              <a:t>Javascript in perspective</a:t>
            </a:r>
            <a:endParaRPr lang="en-IN" sz="4400" b="0" strike="noStrike" spc="-1">
              <a:latin typeface="Arial"/>
            </a:endParaRPr>
          </a:p>
        </p:txBody>
      </p:sp>
      <p:sp>
        <p:nvSpPr>
          <p:cNvPr id="9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62500" lnSpcReduction="2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1) Browser support – for running the javascript in the browser there is no need to use some plug-in. Almost all the popular browsers support JavaScripting.</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Structure programming syntax – the java script supports much commonly the structured language type syntax ex – c style programming language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It automatically inserts the semicolon at the end of the statement, hence there is no need to write semicolon at the end of the statement.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Dynamic typing – it supports dynamic typing, that means the data type is bound to the value and not to the variable.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Run time evaluation – using the eval function the expression can be evaluated at run time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Support for object – it support object oriented scripting language.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Function programming – in javascript function are used. One function can accept another as a parameter </a:t>
            </a:r>
            <a:endParaRPr lang="en-IN" sz="32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9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JavaScript can be implemented using HTML tags in a web page.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Place the &lt;script&gt; tag, within the &lt;head&gt; tag</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Example: </a:t>
            </a:r>
            <a:endParaRPr lang="en-IN" sz="32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99" name="Content Placeholder 3" descr="Screenshot 2024-07-02 141945.png"/>
          <p:cNvPicPr/>
          <p:nvPr/>
        </p:nvPicPr>
        <p:blipFill>
          <a:blip r:embed="rId2" cstate="print"/>
          <a:stretch/>
        </p:blipFill>
        <p:spPr>
          <a:xfrm>
            <a:off x="1205280" y="1600200"/>
            <a:ext cx="6732720" cy="452520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Indirectly embedding JavaScript</a:t>
            </a:r>
            <a:endParaRPr lang="en-IN" sz="4400" b="0" strike="noStrike" spc="-1">
              <a:latin typeface="Arial"/>
            </a:endParaRPr>
          </a:p>
        </p:txBody>
      </p:sp>
      <p:sp>
        <p:nvSpPr>
          <p:cNvPr id="10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If script is written in some another file and we want to embed that script in the HTML document then we must write the script : </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&lt; script type = “text/javascript” src = “MyPage.js”&gt;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 &lt;/script&gt;</a:t>
            </a:r>
            <a:endParaRPr lang="en-IN" sz="32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IN" sz="4400" b="0" strike="noStrike" spc="-1">
                <a:solidFill>
                  <a:srgbClr val="000000"/>
                </a:solidFill>
                <a:latin typeface="Calibri"/>
              </a:rPr>
              <a:t>Advantage and disadvantage  of indirectly embedding of javascript</a:t>
            </a:r>
            <a:endParaRPr lang="en-IN" sz="4400" b="0" strike="noStrike" spc="-1">
              <a:latin typeface="Arial"/>
            </a:endParaRPr>
          </a:p>
        </p:txBody>
      </p:sp>
      <p:sp>
        <p:nvSpPr>
          <p:cNvPr id="10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6500" lnSpcReduction="2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Script can be hidden from the browser user.</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layout and presentation of web document can be separated out from the user interaction through the javascript.</a:t>
            </a:r>
            <a:endParaRPr lang="en-IN" sz="3200" b="0" strike="noStrike" spc="-1">
              <a:latin typeface="Arial"/>
            </a:endParaRPr>
          </a:p>
          <a:p>
            <a:pPr marL="343080" indent="-342360">
              <a:lnSpc>
                <a:spcPct val="100000"/>
              </a:lnSpc>
              <a:spcBef>
                <a:spcPts val="641"/>
              </a:spcBef>
              <a:tabLst>
                <a:tab pos="0" algn="l"/>
              </a:tabLst>
            </a:pPr>
            <a:r>
              <a:rPr lang="en-IN" sz="3200" b="1" strike="noStrike" spc="-1">
                <a:solidFill>
                  <a:srgbClr val="000000"/>
                </a:solidFill>
                <a:latin typeface="Calibri"/>
              </a:rPr>
              <a:t>Disadvantage</a:t>
            </a:r>
            <a:r>
              <a:rPr lang="en-IN" sz="3200" b="0" strike="noStrike" spc="-1">
                <a:solidFill>
                  <a:srgbClr val="000000"/>
                </a:solidFill>
                <a:latin typeface="Calibri"/>
              </a:rPr>
              <a:t> - </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IN" sz="3200" b="0" strike="noStrike" spc="-1">
                <a:solidFill>
                  <a:srgbClr val="000000"/>
                </a:solidFill>
                <a:latin typeface="Calibri"/>
              </a:rPr>
              <a:t>If small amount of javascript code has to be embeddeed in XHTML document then making a separate janaScript file is meaningless.</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IN" sz="3200" b="0" strike="noStrike" spc="-1">
                <a:solidFill>
                  <a:srgbClr val="000000"/>
                </a:solidFill>
                <a:latin typeface="Calibri"/>
              </a:rPr>
              <a:t>If the javascript code has to be embedded ar several places in XHTML document then it is complicated to make separate javaScript file and each time invoking the code for it from XHTML document..</a:t>
            </a:r>
            <a:endParaRPr lang="en-IN" sz="32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r>
              <a:rPr lang="en-IN" sz="4400" b="0" strike="noStrike" spc="-1" dirty="0" err="1">
                <a:solidFill>
                  <a:srgbClr val="000000"/>
                </a:solidFill>
                <a:latin typeface="Calibri"/>
              </a:rPr>
              <a:t>Identifier,keywords</a:t>
            </a:r>
            <a:r>
              <a:rPr lang="en-IN" sz="4400" b="0" strike="noStrike" spc="-1" dirty="0">
                <a:solidFill>
                  <a:srgbClr val="000000"/>
                </a:solidFill>
                <a:latin typeface="Calibri"/>
              </a:rPr>
              <a:t> and comments</a:t>
            </a:r>
            <a:endParaRPr lang="en-IN" sz="4400" b="0" strike="noStrike" spc="-1" dirty="0">
              <a:latin typeface="Arial"/>
            </a:endParaRPr>
          </a:p>
        </p:txBody>
      </p:sp>
      <p:sp>
        <p:nvSpPr>
          <p:cNvPr id="10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Identifier must begin with either letter or underscore or dollar sign. It is then followed by any number of letter, underscore,dollar or digits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There is no limit on the length of identifiers.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letters in the identifiers are case sensitive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Programmer defined variable names must no have upper case letters</a:t>
            </a:r>
            <a:endParaRPr lang="en-IN" sz="32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09480" y="1522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r>
              <a:rPr lang="en-US" sz="2000" b="0" strike="noStrike" spc="-1">
                <a:solidFill>
                  <a:srgbClr val="000000"/>
                </a:solidFill>
                <a:latin typeface="Calibri"/>
              </a:rPr>
              <a:t>In JavaScript you cannot use these reserved words as variables, labels, or function names</a:t>
            </a:r>
            <a:endParaRPr lang="en-IN" sz="2000" b="0" strike="noStrike" spc="-1">
              <a:latin typeface="Arial"/>
            </a:endParaRPr>
          </a:p>
        </p:txBody>
      </p:sp>
      <p:pic>
        <p:nvPicPr>
          <p:cNvPr id="107" name="Content Placeholder 3" descr="Screenshot 2024-07-04 091523.png"/>
          <p:cNvPicPr/>
          <p:nvPr/>
        </p:nvPicPr>
        <p:blipFill>
          <a:blip r:embed="rId2" cstate="print"/>
          <a:stretch/>
        </p:blipFill>
        <p:spPr>
          <a:xfrm>
            <a:off x="609480" y="1600200"/>
            <a:ext cx="7694640" cy="4525200"/>
          </a:xfrm>
          <a:prstGeom prst="rect">
            <a:avLst/>
          </a:prstGeom>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comments</a:t>
            </a:r>
            <a:endParaRPr lang="en-IN" sz="4400" b="0" strike="noStrike" spc="-1">
              <a:latin typeface="Arial"/>
            </a:endParaRPr>
          </a:p>
        </p:txBody>
      </p:sp>
      <p:sp>
        <p:nvSpPr>
          <p:cNvPr id="10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5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Single Line Comments - Any text between // and the end of the line will be ignored by JavaScript (will not be executed).</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Multi-line Comments - Multi-line comments start with /* and end with */. Any text between /* and */ will be ignored by JavaScript.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While writing the javascript the web programmer must give semicolon at the end of statement</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Data Types</a:t>
            </a:r>
            <a:endParaRPr lang="en-IN" sz="4400" b="0" strike="noStrike" spc="-1">
              <a:latin typeface="Arial"/>
            </a:endParaRPr>
          </a:p>
        </p:txBody>
      </p:sp>
      <p:sp>
        <p:nvSpPr>
          <p:cNvPr id="11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625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Primitive types are the most basic data types in JavaScript. They are immutable, meaning their value cannot be changed once created.</a:t>
            </a:r>
            <a:endParaRPr lang="en-IN" sz="3200" b="0" strike="noStrike" spc="-1">
              <a:latin typeface="Arial"/>
            </a:endParaRPr>
          </a:p>
          <a:p>
            <a:pPr marL="514440" indent="-513720">
              <a:lnSpc>
                <a:spcPct val="100000"/>
              </a:lnSpc>
              <a:spcBef>
                <a:spcPts val="641"/>
              </a:spcBef>
              <a:tabLst>
                <a:tab pos="0" algn="l"/>
              </a:tabLst>
            </a:pPr>
            <a:r>
              <a:rPr lang="en-US" sz="3200" b="1" strike="noStrike" spc="-1">
                <a:solidFill>
                  <a:srgbClr val="000000"/>
                </a:solidFill>
                <a:latin typeface="Calibri"/>
              </a:rPr>
              <a:t>1.   String</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Represents textual data.</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Example: "Hello, world!“</a:t>
            </a:r>
            <a:endParaRPr lang="en-IN" sz="3200" b="0" strike="noStrike" spc="-1">
              <a:latin typeface="Arial"/>
            </a:endParaRPr>
          </a:p>
          <a:p>
            <a:pPr marL="343080" indent="-342360">
              <a:lnSpc>
                <a:spcPct val="100000"/>
              </a:lnSpc>
              <a:spcBef>
                <a:spcPts val="641"/>
              </a:spcBef>
              <a:tabLst>
                <a:tab pos="0" algn="l"/>
              </a:tabLst>
            </a:pPr>
            <a:r>
              <a:rPr lang="en-US" sz="3200" b="1" strike="noStrike" spc="-1">
                <a:solidFill>
                  <a:srgbClr val="000000"/>
                </a:solidFill>
                <a:latin typeface="Calibri"/>
              </a:rPr>
              <a:t>2.    Number</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Represents both integer and floating-point numbers.</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Example: 42, 3.14</a:t>
            </a:r>
            <a:endParaRPr lang="en-IN" sz="3200" b="0" strike="noStrike" spc="-1">
              <a:latin typeface="Arial"/>
            </a:endParaRPr>
          </a:p>
          <a:p>
            <a:pPr marL="343080" indent="-342360">
              <a:lnSpc>
                <a:spcPct val="100000"/>
              </a:lnSpc>
              <a:spcBef>
                <a:spcPts val="641"/>
              </a:spcBef>
              <a:tabLst>
                <a:tab pos="0" algn="l"/>
              </a:tabLst>
            </a:pPr>
            <a:r>
              <a:rPr lang="en-US" sz="3200" b="1" strike="noStrike" spc="-1">
                <a:solidFill>
                  <a:srgbClr val="000000"/>
                </a:solidFill>
                <a:latin typeface="Calibri"/>
              </a:rPr>
              <a:t>3.   BigInt</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Represents whole numbers larger than the Number type can hold.</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Example: 1234567890123456789012345678901234567890n</a:t>
            </a:r>
            <a:endParaRPr lang="en-IN" sz="3200" b="0" strike="noStrike" spc="-1">
              <a:latin typeface="Arial"/>
            </a:endParaRPr>
          </a:p>
          <a:p>
            <a:pPr marL="343080" indent="-342360">
              <a:lnSpc>
                <a:spcPct val="100000"/>
              </a:lnSpc>
              <a:spcBef>
                <a:spcPts val="641"/>
              </a:spcBef>
              <a:tabLst>
                <a:tab pos="0" algn="l"/>
              </a:tabLst>
            </a:pPr>
            <a:r>
              <a:rPr lang="en-US" sz="3200" b="1" strike="noStrike" spc="-1">
                <a:solidFill>
                  <a:srgbClr val="000000"/>
                </a:solidFill>
                <a:latin typeface="Calibri"/>
              </a:rPr>
              <a:t>4.   Boolean</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Represents logical entities and can have two values: true or false.</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Example: true, false</a:t>
            </a:r>
            <a:endParaRPr lang="en-IN" sz="3200" b="0" strike="noStrike" spc="-1">
              <a:latin typeface="Arial"/>
            </a:endParaRPr>
          </a:p>
          <a:p>
            <a:pPr>
              <a:lnSpc>
                <a:spcPct val="100000"/>
              </a:lnSpc>
              <a:spcBef>
                <a:spcPts val="641"/>
              </a:spcBef>
              <a:tabLst>
                <a:tab pos="0" algn="l"/>
              </a:tabLst>
            </a:pPr>
            <a:endParaRPr lang="en-IN" sz="32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11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5000" lnSpcReduction="20000"/>
          </a:bodyPr>
          <a:lstStyle/>
          <a:p>
            <a:pPr marL="343080" indent="-342360">
              <a:lnSpc>
                <a:spcPct val="100000"/>
              </a:lnSpc>
              <a:spcBef>
                <a:spcPts val="641"/>
              </a:spcBef>
              <a:tabLst>
                <a:tab pos="0" algn="l"/>
              </a:tabLst>
            </a:pPr>
            <a:r>
              <a:rPr lang="en-US" sz="3200" b="1" strike="noStrike" spc="-1">
                <a:solidFill>
                  <a:srgbClr val="000000"/>
                </a:solidFill>
                <a:latin typeface="Calibri"/>
              </a:rPr>
              <a:t>5.  Undefined</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A variable that has been declared but has not been assigned a value.</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Example: let x; // x is undefined</a:t>
            </a:r>
            <a:endParaRPr lang="en-IN" sz="3200" b="0" strike="noStrike" spc="-1">
              <a:latin typeface="Arial"/>
            </a:endParaRPr>
          </a:p>
          <a:p>
            <a:pPr marL="343080" indent="-342360">
              <a:lnSpc>
                <a:spcPct val="100000"/>
              </a:lnSpc>
              <a:spcBef>
                <a:spcPts val="641"/>
              </a:spcBef>
              <a:tabLst>
                <a:tab pos="0" algn="l"/>
              </a:tabLst>
            </a:pPr>
            <a:r>
              <a:rPr lang="en-US" sz="3200" b="1" strike="noStrike" spc="-1">
                <a:solidFill>
                  <a:srgbClr val="000000"/>
                </a:solidFill>
                <a:latin typeface="Calibri"/>
              </a:rPr>
              <a:t>6.  Null</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Represents the intentional absence of any object value.</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a:solidFill>
                  <a:srgbClr val="000000"/>
                </a:solidFill>
                <a:latin typeface="Calibri"/>
              </a:rPr>
              <a:t>Example: let x = null;</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7.  </a:t>
            </a:r>
            <a:r>
              <a:rPr lang="en-US" sz="3200" b="1" strike="noStrike" spc="-1">
                <a:solidFill>
                  <a:srgbClr val="000000"/>
                </a:solidFill>
                <a:latin typeface="Calibri"/>
              </a:rPr>
              <a:t>The Object </a:t>
            </a:r>
            <a:r>
              <a:rPr lang="en-US" sz="3200" b="0" strike="noStrike" spc="-1">
                <a:solidFill>
                  <a:srgbClr val="000000"/>
                </a:solidFill>
                <a:latin typeface="Calibri"/>
              </a:rPr>
              <a:t>Datatype – object is for an entity that represents some value. For Ex. – window object is a value using which the window is created. Form is an object upon which some compents such as butto,checkbox, radio buttons can be placed and used.</a:t>
            </a:r>
            <a:endParaRPr lang="en-IN" sz="3200" b="0" strike="noStrike" spc="-1">
              <a:latin typeface="Arial"/>
            </a:endParaRPr>
          </a:p>
          <a:p>
            <a:pPr marL="343080" indent="-342360">
              <a:lnSpc>
                <a:spcPct val="100000"/>
              </a:lnSpc>
              <a:spcBef>
                <a:spcPts val="641"/>
              </a:spcBef>
              <a:tabLst>
                <a:tab pos="0" algn="l"/>
              </a:tabLst>
            </a:pPr>
            <a:endParaRPr lang="en-IN" sz="32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literal</a:t>
            </a:r>
            <a:endParaRPr lang="en-IN" sz="4400" b="0" strike="noStrike" spc="-1">
              <a:latin typeface="Arial"/>
            </a:endParaRPr>
          </a:p>
        </p:txBody>
      </p:sp>
      <p:sp>
        <p:nvSpPr>
          <p:cNvPr id="11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55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There are two types of literal used in javascript and those are numeric literals and string literal. </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numeric literals are called numbers.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These number can include integer vaues,floating point or double precision values.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string literals are the sequence of characters. It can be written in double quotes or in single quotes.</a:t>
            </a:r>
            <a:endParaRPr lang="en-IN" sz="32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variables</a:t>
            </a:r>
            <a:endParaRPr lang="en-IN" sz="4400" b="0" strike="noStrike" spc="-1">
              <a:latin typeface="Arial"/>
            </a:endParaRPr>
          </a:p>
        </p:txBody>
      </p:sp>
      <p:sp>
        <p:nvSpPr>
          <p:cNvPr id="11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6000" lnSpcReduction="20000"/>
          </a:bodyPr>
          <a:lstStyle/>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Variables are Containers for Storing Data JavaScript Variables can be declared in 4 ways:</a:t>
            </a:r>
            <a:endParaRPr lang="en-IN" sz="3200" b="0" strike="noStrike" spc="-1" dirty="0">
              <a:latin typeface="Arial"/>
            </a:endParaRPr>
          </a:p>
          <a:p>
            <a:pPr marL="343080" indent="-342360">
              <a:lnSpc>
                <a:spcPct val="100000"/>
              </a:lnSpc>
              <a:spcBef>
                <a:spcPts val="641"/>
              </a:spcBef>
              <a:tabLst>
                <a:tab pos="0" algn="l"/>
              </a:tabLst>
            </a:pPr>
            <a:r>
              <a:rPr lang="en-US" sz="3200" b="0" strike="noStrike" spc="-1" dirty="0">
                <a:solidFill>
                  <a:srgbClr val="000000"/>
                </a:solidFill>
                <a:latin typeface="Calibri"/>
              </a:rPr>
              <a:t>1.  Automatically</a:t>
            </a:r>
            <a:endParaRPr lang="en-IN" sz="3200" b="0" strike="noStrike" spc="-1" dirty="0">
              <a:latin typeface="Arial"/>
            </a:endParaRPr>
          </a:p>
          <a:p>
            <a:pPr marL="343080" indent="-342360">
              <a:lnSpc>
                <a:spcPct val="100000"/>
              </a:lnSpc>
              <a:spcBef>
                <a:spcPts val="641"/>
              </a:spcBef>
              <a:tabLst>
                <a:tab pos="0" algn="l"/>
              </a:tabLst>
            </a:pPr>
            <a:r>
              <a:rPr lang="en-US" sz="3200" b="0" strike="noStrike" spc="-1" dirty="0">
                <a:solidFill>
                  <a:srgbClr val="000000"/>
                </a:solidFill>
                <a:latin typeface="Calibri"/>
              </a:rPr>
              <a:t>2.  Using var</a:t>
            </a:r>
            <a:endParaRPr lang="en-IN" sz="3200" b="0" strike="noStrike" spc="-1" dirty="0">
              <a:latin typeface="Arial"/>
            </a:endParaRPr>
          </a:p>
          <a:p>
            <a:pPr marL="343080" indent="-342360">
              <a:lnSpc>
                <a:spcPct val="100000"/>
              </a:lnSpc>
              <a:spcBef>
                <a:spcPts val="641"/>
              </a:spcBef>
              <a:tabLst>
                <a:tab pos="0" algn="l"/>
              </a:tabLst>
            </a:pPr>
            <a:r>
              <a:rPr lang="en-US" sz="3200" b="0" strike="noStrike" spc="-1" dirty="0">
                <a:solidFill>
                  <a:srgbClr val="000000"/>
                </a:solidFill>
                <a:latin typeface="Calibri"/>
              </a:rPr>
              <a:t>3.  Using let</a:t>
            </a:r>
            <a:endParaRPr lang="en-IN" sz="3200" b="0" strike="noStrike" spc="-1" dirty="0">
              <a:latin typeface="Arial"/>
            </a:endParaRPr>
          </a:p>
          <a:p>
            <a:pPr marL="343080" indent="-342360">
              <a:lnSpc>
                <a:spcPct val="100000"/>
              </a:lnSpc>
              <a:spcBef>
                <a:spcPts val="641"/>
              </a:spcBef>
              <a:tabLst>
                <a:tab pos="0" algn="l"/>
              </a:tabLst>
            </a:pPr>
            <a:r>
              <a:rPr lang="en-US" sz="3200" b="0" strike="noStrike" spc="-1" dirty="0">
                <a:solidFill>
                  <a:srgbClr val="000000"/>
                </a:solidFill>
                <a:latin typeface="Calibri"/>
              </a:rPr>
              <a:t>4.  Using </a:t>
            </a:r>
            <a:r>
              <a:rPr lang="en-US" sz="3200" b="0" i="1" strike="noStrike" spc="-1" dirty="0">
                <a:solidFill>
                  <a:srgbClr val="000000"/>
                </a:solidFill>
                <a:latin typeface="Calibri"/>
              </a:rPr>
              <a:t>const</a:t>
            </a:r>
            <a:endParaRPr lang="en-IN" sz="3200" b="0" i="1" strike="noStrike" spc="-1" dirty="0">
              <a:latin typeface="Arial"/>
            </a:endParaRPr>
          </a:p>
          <a:p>
            <a:pPr marL="343080" indent="-342360">
              <a:lnSpc>
                <a:spcPct val="100000"/>
              </a:lnSpc>
              <a:spcBef>
                <a:spcPts val="641"/>
              </a:spcBef>
              <a:buClr>
                <a:srgbClr val="000000"/>
              </a:buClr>
              <a:buFont typeface="Arial"/>
              <a:buChar char="•"/>
              <a:tabLst>
                <a:tab pos="0" algn="l"/>
              </a:tabLst>
            </a:pPr>
            <a:r>
              <a:rPr lang="en-US" sz="3200" b="0" strike="noStrike" spc="-1" dirty="0">
                <a:solidFill>
                  <a:srgbClr val="000000"/>
                </a:solidFill>
                <a:latin typeface="Calibri"/>
              </a:rPr>
              <a:t>Note</a:t>
            </a:r>
            <a:endParaRPr lang="en-IN" sz="3200" b="0" strike="noStrike" spc="-1" dirty="0">
              <a:latin typeface="Arial"/>
            </a:endParaRPr>
          </a:p>
          <a:p>
            <a:pPr marL="343080" indent="-342360">
              <a:lnSpc>
                <a:spcPct val="100000"/>
              </a:lnSpc>
              <a:spcBef>
                <a:spcPts val="641"/>
              </a:spcBef>
              <a:buClr>
                <a:srgbClr val="000000"/>
              </a:buClr>
              <a:buFont typeface="Wingdings" charset="2"/>
              <a:buChar char=""/>
              <a:tabLst>
                <a:tab pos="0" algn="l"/>
              </a:tabLst>
            </a:pPr>
            <a:r>
              <a:rPr lang="en-US" sz="3200" b="0" strike="noStrike" spc="-1" dirty="0">
                <a:solidFill>
                  <a:srgbClr val="000000"/>
                </a:solidFill>
                <a:latin typeface="Calibri"/>
              </a:rPr>
              <a:t>The var keyword was used in all JavaScript code from 1995 to 2015.</a:t>
            </a:r>
            <a:endParaRPr lang="en-IN" sz="3200" b="0" strike="noStrike" spc="-1" dirty="0">
              <a:latin typeface="Arial"/>
            </a:endParaRPr>
          </a:p>
          <a:p>
            <a:pPr marL="343080" indent="-342360">
              <a:lnSpc>
                <a:spcPct val="100000"/>
              </a:lnSpc>
              <a:spcBef>
                <a:spcPts val="641"/>
              </a:spcBef>
              <a:buClr>
                <a:srgbClr val="000000"/>
              </a:buClr>
              <a:buFont typeface="Wingdings" charset="2"/>
              <a:buChar char=""/>
              <a:tabLst>
                <a:tab pos="0" algn="l"/>
              </a:tabLst>
            </a:pPr>
            <a:r>
              <a:rPr lang="en-US" sz="3200" b="0" strike="noStrike" spc="-1" dirty="0">
                <a:solidFill>
                  <a:srgbClr val="000000"/>
                </a:solidFill>
                <a:latin typeface="Calibri"/>
              </a:rPr>
              <a:t>The let and const keywords were added to JavaScript in 2015.</a:t>
            </a:r>
            <a:endParaRPr lang="en-IN" sz="3200" b="0" strike="noStrike" spc="-1" dirty="0">
              <a:latin typeface="Arial"/>
            </a:endParaRPr>
          </a:p>
          <a:p>
            <a:pPr marL="343080" indent="-342360">
              <a:lnSpc>
                <a:spcPct val="100000"/>
              </a:lnSpc>
              <a:spcBef>
                <a:spcPts val="641"/>
              </a:spcBef>
              <a:buClr>
                <a:srgbClr val="000000"/>
              </a:buClr>
              <a:buFont typeface="Wingdings" charset="2"/>
              <a:buChar char=""/>
              <a:tabLst>
                <a:tab pos="0" algn="l"/>
              </a:tabLst>
            </a:pPr>
            <a:r>
              <a:rPr lang="en-US" sz="3200" b="0" strike="noStrike" spc="-1" dirty="0">
                <a:solidFill>
                  <a:srgbClr val="000000"/>
                </a:solidFill>
                <a:latin typeface="Calibri"/>
              </a:rPr>
              <a:t>The var keyword should only be used in code written for older browsers.</a:t>
            </a:r>
            <a:endParaRPr lang="en-IN" sz="3200" b="0" strike="noStrike" spc="-1" dirty="0">
              <a:latin typeface="Arial"/>
            </a:endParaRPr>
          </a:p>
          <a:p>
            <a:pPr>
              <a:lnSpc>
                <a:spcPct val="100000"/>
              </a:lnSpc>
              <a:spcBef>
                <a:spcPts val="641"/>
              </a:spcBef>
              <a:tabLst>
                <a:tab pos="0" algn="l"/>
              </a:tabLst>
            </a:pPr>
            <a:endParaRPr lang="en-IN" sz="3200" b="0" strike="noStrike" spc="-1" dirty="0">
              <a:latin typeface="Arial"/>
            </a:endParaRPr>
          </a:p>
          <a:p>
            <a:pPr>
              <a:lnSpc>
                <a:spcPct val="100000"/>
              </a:lnSpc>
              <a:spcBef>
                <a:spcPts val="641"/>
              </a:spcBef>
              <a:tabLst>
                <a:tab pos="0" algn="l"/>
              </a:tabLst>
            </a:pPr>
            <a:endParaRPr lang="en-IN" sz="3200" b="0" strike="noStrike" spc="-1" dirty="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119" name="CustomShape 2"/>
          <p:cNvSpPr/>
          <p:nvPr/>
        </p:nvSpPr>
        <p:spPr>
          <a:xfrm>
            <a:off x="457200" y="685800"/>
            <a:ext cx="8228880" cy="5439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32500" lnSpcReduction="20000"/>
          </a:bodyPr>
          <a:lstStyle/>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&lt;!DOCTYPE html&gt;</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&lt;html&gt;</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&lt;body&gt;</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&lt;h1&gt;JavaScript Variables&lt;/h1&gt;</a:t>
            </a:r>
            <a:endParaRPr lang="en-IN" sz="3400" b="0" strike="noStrike" spc="-1">
              <a:latin typeface="Arial"/>
            </a:endParaRPr>
          </a:p>
          <a:p>
            <a:pPr>
              <a:lnSpc>
                <a:spcPct val="100000"/>
              </a:lnSpc>
              <a:spcBef>
                <a:spcPts val="680"/>
              </a:spcBef>
            </a:pP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&lt;p&gt;In this example, x, y, and z are variables.&lt;/p&gt;</a:t>
            </a:r>
            <a:endParaRPr lang="en-IN" sz="3400" b="0" strike="noStrike" spc="-1">
              <a:latin typeface="Arial"/>
            </a:endParaRPr>
          </a:p>
          <a:p>
            <a:pPr>
              <a:lnSpc>
                <a:spcPct val="100000"/>
              </a:lnSpc>
              <a:spcBef>
                <a:spcPts val="680"/>
              </a:spcBef>
            </a:pP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&lt;p id="demo"&gt;&lt;/p&gt;</a:t>
            </a:r>
            <a:endParaRPr lang="en-IN" sz="3400" b="0" strike="noStrike" spc="-1">
              <a:latin typeface="Arial"/>
            </a:endParaRPr>
          </a:p>
          <a:p>
            <a:pPr>
              <a:lnSpc>
                <a:spcPct val="100000"/>
              </a:lnSpc>
              <a:spcBef>
                <a:spcPts val="680"/>
              </a:spcBef>
            </a:pP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&lt;script&gt;</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const x = 5;</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const y = 6;</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const z = x + y;</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document.getElementById("demo").innerHTML =</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"The value of z is: " + z;</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&lt;/script&gt;</a:t>
            </a:r>
            <a:endParaRPr lang="en-IN" sz="3400" b="0" strike="noStrike" spc="-1">
              <a:latin typeface="Arial"/>
            </a:endParaRPr>
          </a:p>
          <a:p>
            <a:pPr>
              <a:lnSpc>
                <a:spcPct val="100000"/>
              </a:lnSpc>
              <a:spcBef>
                <a:spcPts val="680"/>
              </a:spcBef>
            </a:pP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&lt;/body&gt;</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&lt;/html&gt;</a:t>
            </a:r>
            <a:endParaRPr lang="en-IN" sz="3400" b="0" strike="noStrike" spc="-1">
              <a:latin typeface="Arial"/>
            </a:endParaRPr>
          </a:p>
          <a:p>
            <a:pPr marL="343080" indent="-342360">
              <a:lnSpc>
                <a:spcPct val="100000"/>
              </a:lnSpc>
              <a:spcBef>
                <a:spcPts val="680"/>
              </a:spcBef>
              <a:buClr>
                <a:srgbClr val="000000"/>
              </a:buClr>
              <a:buFont typeface="Arial"/>
              <a:buChar char="•"/>
            </a:pPr>
            <a:r>
              <a:rPr lang="en-IN" sz="3400" b="1" strike="noStrike" spc="-1">
                <a:solidFill>
                  <a:srgbClr val="000000"/>
                </a:solidFill>
                <a:latin typeface="Calibri"/>
              </a:rPr>
              <a:t>Output –</a:t>
            </a:r>
            <a:endParaRPr lang="en-IN" sz="3400" b="0" strike="noStrike" spc="-1">
              <a:latin typeface="Arial"/>
            </a:endParaRPr>
          </a:p>
          <a:p>
            <a:pPr marL="343080" indent="-342360">
              <a:lnSpc>
                <a:spcPct val="100000"/>
              </a:lnSpc>
              <a:spcBef>
                <a:spcPts val="680"/>
              </a:spcBef>
              <a:buClr>
                <a:srgbClr val="000000"/>
              </a:buClr>
              <a:buFont typeface="Arial"/>
              <a:buChar char="•"/>
            </a:pPr>
            <a:r>
              <a:rPr lang="en-IN" sz="3400" b="1" strike="noStrike" spc="-1">
                <a:solidFill>
                  <a:srgbClr val="000000"/>
                </a:solidFill>
                <a:latin typeface="Calibri"/>
              </a:rPr>
              <a:t> </a:t>
            </a:r>
            <a:r>
              <a:rPr lang="en-US" sz="3400" b="1" strike="noStrike" spc="-1">
                <a:solidFill>
                  <a:srgbClr val="000000"/>
                </a:solidFill>
                <a:latin typeface="Calibri"/>
              </a:rPr>
              <a:t>JavaScript Variables</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In this example, x, y, and z are variables.</a:t>
            </a:r>
            <a:endParaRPr lang="en-IN" sz="3400" b="0" strike="noStrike" spc="-1">
              <a:latin typeface="Arial"/>
            </a:endParaRPr>
          </a:p>
          <a:p>
            <a:pPr marL="343080" indent="-342360">
              <a:lnSpc>
                <a:spcPct val="100000"/>
              </a:lnSpc>
              <a:spcBef>
                <a:spcPts val="680"/>
              </a:spcBef>
              <a:buClr>
                <a:srgbClr val="000000"/>
              </a:buClr>
              <a:buFont typeface="Arial"/>
              <a:buChar char="•"/>
            </a:pPr>
            <a:r>
              <a:rPr lang="en-US" sz="3400" b="1" strike="noStrike" spc="-1">
                <a:solidFill>
                  <a:srgbClr val="000000"/>
                </a:solidFill>
                <a:latin typeface="Calibri"/>
              </a:rPr>
              <a:t>The value of z is: 11</a:t>
            </a:r>
            <a:endParaRPr lang="en-IN" sz="3400" b="0" strike="noStrike" spc="-1">
              <a:latin typeface="Arial"/>
            </a:endParaRPr>
          </a:p>
          <a:p>
            <a:pPr>
              <a:lnSpc>
                <a:spcPct val="100000"/>
              </a:lnSpc>
              <a:spcBef>
                <a:spcPts val="680"/>
              </a:spcBef>
            </a:pPr>
            <a:endParaRPr lang="en-IN" sz="3400" b="0" strike="noStrike" spc="-1">
              <a:latin typeface="Arial"/>
            </a:endParaRPr>
          </a:p>
          <a:p>
            <a:pPr>
              <a:lnSpc>
                <a:spcPct val="100000"/>
              </a:lnSpc>
              <a:spcBef>
                <a:spcPts val="680"/>
              </a:spcBef>
            </a:pPr>
            <a:endParaRPr lang="en-IN" sz="3400" b="0" strike="noStrike" spc="-1">
              <a:latin typeface="Arial"/>
            </a:endParaRPr>
          </a:p>
          <a:p>
            <a:pPr>
              <a:lnSpc>
                <a:spcPct val="100000"/>
              </a:lnSpc>
              <a:spcBef>
                <a:spcPts val="641"/>
              </a:spcBef>
            </a:pPr>
            <a:endParaRPr lang="en-IN" sz="34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US" sz="4400" b="0" strike="noStrike" spc="-1">
                <a:solidFill>
                  <a:srgbClr val="000000"/>
                </a:solidFill>
                <a:latin typeface="Calibri"/>
              </a:rPr>
              <a:t>When to Use var, let, or const?</a:t>
            </a:r>
            <a:br/>
            <a:endParaRPr lang="en-IN" sz="4400" b="0" strike="noStrike" spc="-1">
              <a:latin typeface="Arial"/>
            </a:endParaRPr>
          </a:p>
        </p:txBody>
      </p:sp>
      <p:sp>
        <p:nvSpPr>
          <p:cNvPr id="12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3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When to Use var, let, or const?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1. Always declare variables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2. Always use const if the value should not be changed</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3. Always use const if the type should not be changed (Arrays and Objects)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4. Only use let if you can't use const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5. Only use var if you MUST support old browsers.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JavaScript Operators</a:t>
            </a:r>
            <a:br/>
            <a:endParaRPr lang="en-IN" sz="4400" b="0" strike="noStrike" spc="-1">
              <a:latin typeface="Arial"/>
            </a:endParaRPr>
          </a:p>
        </p:txBody>
      </p:sp>
      <p:sp>
        <p:nvSpPr>
          <p:cNvPr id="12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Examples: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a:t>
            </a:r>
            <a:r>
              <a:rPr lang="en-US" sz="3200" b="1" strike="noStrike" spc="-1">
                <a:solidFill>
                  <a:srgbClr val="000000"/>
                </a:solidFill>
                <a:latin typeface="Calibri"/>
              </a:rPr>
              <a:t>Assignment Operator</a:t>
            </a:r>
            <a:r>
              <a:rPr lang="en-US" sz="3200" b="0" strike="noStrike" spc="-1">
                <a:solidFill>
                  <a:srgbClr val="000000"/>
                </a:solidFill>
                <a:latin typeface="Calibri"/>
              </a:rPr>
              <a:t> </a:t>
            </a:r>
            <a:r>
              <a:rPr lang="en-US" sz="3200" b="1" strike="noStrike" spc="-1">
                <a:solidFill>
                  <a:srgbClr val="000000"/>
                </a:solidFill>
                <a:latin typeface="Calibri"/>
              </a:rPr>
              <a:t>=</a:t>
            </a:r>
            <a:r>
              <a:rPr lang="en-US" sz="3200" b="0" strike="noStrike" spc="-1">
                <a:solidFill>
                  <a:srgbClr val="000000"/>
                </a:solidFill>
                <a:latin typeface="Calibri"/>
              </a:rPr>
              <a:t> assigns values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a:t>
            </a:r>
            <a:r>
              <a:rPr lang="en-US" sz="3200" b="1" strike="noStrike" spc="-1">
                <a:solidFill>
                  <a:srgbClr val="000000"/>
                </a:solidFill>
                <a:latin typeface="Calibri"/>
              </a:rPr>
              <a:t>Addition Operator</a:t>
            </a:r>
            <a:r>
              <a:rPr lang="en-US" sz="3200" b="0" strike="noStrike" spc="-1">
                <a:solidFill>
                  <a:srgbClr val="000000"/>
                </a:solidFill>
                <a:latin typeface="Calibri"/>
              </a:rPr>
              <a:t> </a:t>
            </a:r>
            <a:r>
              <a:rPr lang="en-US" sz="3200" b="1" strike="noStrike" spc="-1">
                <a:solidFill>
                  <a:srgbClr val="000000"/>
                </a:solidFill>
                <a:latin typeface="Calibri"/>
              </a:rPr>
              <a:t>+</a:t>
            </a:r>
            <a:r>
              <a:rPr lang="en-US" sz="3200" b="0" strike="noStrike" spc="-1">
                <a:solidFill>
                  <a:srgbClr val="000000"/>
                </a:solidFill>
                <a:latin typeface="Calibri"/>
              </a:rPr>
              <a:t> adds values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a:t>
            </a:r>
            <a:r>
              <a:rPr lang="en-US" sz="3200" b="1" strike="noStrike" spc="-1">
                <a:solidFill>
                  <a:srgbClr val="000000"/>
                </a:solidFill>
                <a:latin typeface="Calibri"/>
              </a:rPr>
              <a:t>Multiplication Operator</a:t>
            </a:r>
            <a:r>
              <a:rPr lang="en-US" sz="3200" b="0" strike="noStrike" spc="-1">
                <a:solidFill>
                  <a:srgbClr val="000000"/>
                </a:solidFill>
                <a:latin typeface="Calibri"/>
              </a:rPr>
              <a:t> </a:t>
            </a:r>
            <a:r>
              <a:rPr lang="en-US" sz="3200" b="1" strike="noStrike" spc="-1">
                <a:solidFill>
                  <a:srgbClr val="000000"/>
                </a:solidFill>
                <a:latin typeface="Calibri"/>
              </a:rPr>
              <a:t>*</a:t>
            </a:r>
            <a:r>
              <a:rPr lang="en-US" sz="3200" b="0" strike="noStrike" spc="-1">
                <a:solidFill>
                  <a:srgbClr val="000000"/>
                </a:solidFill>
                <a:latin typeface="Calibri"/>
              </a:rPr>
              <a:t> multiplies values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a:t>
            </a:r>
            <a:r>
              <a:rPr lang="en-US" sz="3200" b="1" strike="noStrike" spc="-1">
                <a:solidFill>
                  <a:srgbClr val="000000"/>
                </a:solidFill>
                <a:latin typeface="Calibri"/>
              </a:rPr>
              <a:t>Comparison Operator</a:t>
            </a:r>
            <a:r>
              <a:rPr lang="en-US" sz="3200" b="0" strike="noStrike" spc="-1">
                <a:solidFill>
                  <a:srgbClr val="000000"/>
                </a:solidFill>
                <a:latin typeface="Calibri"/>
              </a:rPr>
              <a:t> </a:t>
            </a:r>
            <a:r>
              <a:rPr lang="en-US" sz="3200" b="1" strike="noStrike" spc="-1">
                <a:solidFill>
                  <a:srgbClr val="000000"/>
                </a:solidFill>
                <a:latin typeface="Calibri"/>
              </a:rPr>
              <a:t>&gt;</a:t>
            </a:r>
            <a:r>
              <a:rPr lang="en-US" sz="3200" b="0" strike="noStrike" spc="-1">
                <a:solidFill>
                  <a:srgbClr val="000000"/>
                </a:solidFill>
                <a:latin typeface="Calibri"/>
              </a:rPr>
              <a:t> compares values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25" name="Content Placeholder 3" descr="Screenshot 2024-07-22 120249.png"/>
          <p:cNvPicPr/>
          <p:nvPr/>
        </p:nvPicPr>
        <p:blipFill>
          <a:blip r:embed="rId2" cstate="print"/>
          <a:stretch/>
        </p:blipFill>
        <p:spPr>
          <a:xfrm>
            <a:off x="1219320" y="1143000"/>
            <a:ext cx="6486120" cy="4496040"/>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US" sz="4400" b="0" strike="noStrike" spc="-1">
                <a:solidFill>
                  <a:srgbClr val="000000"/>
                </a:solidFill>
                <a:latin typeface="Calibri"/>
              </a:rPr>
              <a:t>JavaScript Assignment Operators</a:t>
            </a:r>
            <a:br/>
            <a:endParaRPr lang="en-IN" sz="4400" b="0" strike="noStrike" spc="-1">
              <a:latin typeface="Arial"/>
            </a:endParaRPr>
          </a:p>
        </p:txBody>
      </p:sp>
      <p:pic>
        <p:nvPicPr>
          <p:cNvPr id="127" name="Content Placeholder 3" descr="Screenshot 2024-07-22 120327.png"/>
          <p:cNvPicPr/>
          <p:nvPr/>
        </p:nvPicPr>
        <p:blipFill>
          <a:blip r:embed="rId2" cstate="print"/>
          <a:stretch/>
        </p:blipFill>
        <p:spPr>
          <a:xfrm>
            <a:off x="457200" y="1981080"/>
            <a:ext cx="8228880" cy="3387600"/>
          </a:xfrm>
          <a:prstGeom prst="rect">
            <a:avLst/>
          </a:prstGeom>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US" sz="4400" b="0" strike="noStrike" spc="-1">
                <a:solidFill>
                  <a:srgbClr val="000000"/>
                </a:solidFill>
                <a:latin typeface="Calibri"/>
              </a:rPr>
              <a:t>JavaScript Comparison Operators</a:t>
            </a:r>
            <a:br/>
            <a:endParaRPr lang="en-IN" sz="4400" b="0" strike="noStrike" spc="-1">
              <a:latin typeface="Arial"/>
            </a:endParaRPr>
          </a:p>
        </p:txBody>
      </p:sp>
      <p:pic>
        <p:nvPicPr>
          <p:cNvPr id="129" name="Content Placeholder 3" descr="Screenshot 2024-07-22 120517.png"/>
          <p:cNvPicPr/>
          <p:nvPr/>
        </p:nvPicPr>
        <p:blipFill>
          <a:blip r:embed="rId2" cstate="print"/>
          <a:stretch/>
        </p:blipFill>
        <p:spPr>
          <a:xfrm>
            <a:off x="766080" y="1838880"/>
            <a:ext cx="7610760" cy="4047840"/>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57000" lnSpcReduction="20000"/>
          </a:bodyPr>
          <a:lstStyle/>
          <a:p>
            <a:pPr algn="ctr">
              <a:lnSpc>
                <a:spcPct val="100000"/>
              </a:lnSpc>
            </a:pPr>
            <a:br/>
            <a:br/>
            <a:r>
              <a:rPr lang="en-US" sz="4400" b="0" strike="noStrike" spc="-1">
                <a:solidFill>
                  <a:srgbClr val="000000"/>
                </a:solidFill>
                <a:latin typeface="Calibri"/>
              </a:rPr>
              <a:t>JavaScript Logical Operators</a:t>
            </a:r>
            <a:br/>
            <a:br/>
            <a:endParaRPr lang="en-IN" sz="4400" b="0" strike="noStrike" spc="-1">
              <a:latin typeface="Arial"/>
            </a:endParaRPr>
          </a:p>
        </p:txBody>
      </p:sp>
      <p:pic>
        <p:nvPicPr>
          <p:cNvPr id="131" name="Content Placeholder 3" descr="Screenshot 2024-07-22 120608.png"/>
          <p:cNvPicPr/>
          <p:nvPr/>
        </p:nvPicPr>
        <p:blipFill>
          <a:blip r:embed="rId2" cstate="print"/>
          <a:stretch/>
        </p:blipFill>
        <p:spPr>
          <a:xfrm>
            <a:off x="2323800" y="3010680"/>
            <a:ext cx="4495680" cy="1704600"/>
          </a:xfrm>
          <a:prstGeom prst="rect">
            <a:avLst/>
          </a:prstGeom>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JavaScript Type Operators</a:t>
            </a:r>
            <a:br/>
            <a:endParaRPr lang="en-IN" sz="4400" b="0" strike="noStrike" spc="-1">
              <a:latin typeface="Arial"/>
            </a:endParaRPr>
          </a:p>
        </p:txBody>
      </p:sp>
      <p:pic>
        <p:nvPicPr>
          <p:cNvPr id="133" name="Content Placeholder 3" descr="Screenshot 2024-07-22 120643.png"/>
          <p:cNvPicPr/>
          <p:nvPr/>
        </p:nvPicPr>
        <p:blipFill>
          <a:blip r:embed="rId2" cstate="print"/>
          <a:stretch/>
        </p:blipFill>
        <p:spPr>
          <a:xfrm>
            <a:off x="457200" y="3195000"/>
            <a:ext cx="8228880" cy="1335240"/>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13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https://www.w3schools.com/js/js_operators.asp</a:t>
            </a:r>
            <a:endParaRPr lang="en-IN" sz="3200" b="0" strike="noStrike" spc="-1">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Input and output</a:t>
            </a:r>
            <a:endParaRPr lang="en-IN" sz="4400" b="0" strike="noStrike" spc="-1">
              <a:latin typeface="Arial"/>
            </a:endParaRPr>
          </a:p>
        </p:txBody>
      </p:sp>
      <p:sp>
        <p:nvSpPr>
          <p:cNvPr id="13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lnSpcReduction="1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For displaying the message on the web browser the basic method being used is docuent.write(). To print desired message on web browser. We write message in double quotes inside the document.write method</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document.write(“Great India”)</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We can pass the variable instead of a stringas a paramenter to the document.write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Ex- var my_msg – “great India”;</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document.write(my_msg);</a:t>
            </a:r>
            <a:endParaRPr lang="en-IN" sz="32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statement</a:t>
            </a:r>
            <a:endParaRPr lang="en-IN" sz="4400" b="0" strike="noStrike" spc="-1">
              <a:latin typeface="Arial"/>
            </a:endParaRPr>
          </a:p>
        </p:txBody>
      </p:sp>
      <p:pic>
        <p:nvPicPr>
          <p:cNvPr id="139" name="Content Placeholder 3" descr="Screenshot 2024-07-04 101825.png"/>
          <p:cNvPicPr/>
          <p:nvPr/>
        </p:nvPicPr>
        <p:blipFill>
          <a:blip r:embed="rId2" cstate="print"/>
          <a:stretch/>
        </p:blipFill>
        <p:spPr>
          <a:xfrm>
            <a:off x="457200" y="1893960"/>
            <a:ext cx="8228880" cy="3937320"/>
          </a:xfrm>
          <a:prstGeom prst="rect">
            <a:avLst/>
          </a:prstGeom>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55000" lnSpcReduction="20000"/>
          </a:bodyPr>
          <a:lstStyle/>
          <a:p>
            <a:pPr algn="ctr">
              <a:lnSpc>
                <a:spcPct val="100000"/>
              </a:lnSpc>
            </a:pPr>
            <a:br/>
            <a:r>
              <a:rPr lang="en-US" sz="4400" b="0" strike="noStrike" spc="-1">
                <a:solidFill>
                  <a:srgbClr val="000000"/>
                </a:solidFill>
                <a:latin typeface="Calibri"/>
              </a:rPr>
              <a:t>JavaScript if, else, and else if</a:t>
            </a:r>
            <a:br/>
            <a:r>
              <a:rPr lang="en-US" sz="4400" b="0" strike="noStrike" spc="-1">
                <a:solidFill>
                  <a:srgbClr val="000000"/>
                </a:solidFill>
                <a:latin typeface="Calibri"/>
              </a:rPr>
              <a:t> Conditional Statements</a:t>
            </a:r>
            <a:br/>
            <a:endParaRPr lang="en-IN" sz="4400" b="0" strike="noStrike" spc="-1">
              <a:latin typeface="Arial"/>
            </a:endParaRPr>
          </a:p>
        </p:txBody>
      </p:sp>
      <p:sp>
        <p:nvSpPr>
          <p:cNvPr id="14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Use if to specify a block of code to be executed, if a specified condition is true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Use else to specify a block of code to be executed, if the same condition is false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Use else if to specify a new condition to test, if the first condition is false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Use switch to specify many alternative blocks of code to be executed</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The else if Statement</a:t>
            </a:r>
            <a:br/>
            <a:endParaRPr lang="en-IN" sz="4400" b="0" strike="noStrike" spc="-1">
              <a:latin typeface="Arial"/>
            </a:endParaRPr>
          </a:p>
        </p:txBody>
      </p:sp>
      <p:sp>
        <p:nvSpPr>
          <p:cNvPr id="14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20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if (</a:t>
            </a:r>
            <a:r>
              <a:rPr lang="en-US" sz="3200" b="0" i="1" strike="noStrike" spc="-1">
                <a:solidFill>
                  <a:srgbClr val="000000"/>
                </a:solidFill>
                <a:latin typeface="Calibri"/>
              </a:rPr>
              <a:t>condition1</a:t>
            </a:r>
            <a:r>
              <a:rPr lang="en-US" sz="3200" b="0" strike="noStrike" spc="-1">
                <a:solidFill>
                  <a:srgbClr val="000000"/>
                </a:solidFill>
                <a:latin typeface="Calibri"/>
              </a:rPr>
              <a:t>) {</a:t>
            </a:r>
            <a:br/>
            <a:r>
              <a:rPr lang="en-US" sz="3200" b="0" strike="noStrike" spc="-1">
                <a:solidFill>
                  <a:srgbClr val="000000"/>
                </a:solidFill>
                <a:latin typeface="Calibri"/>
              </a:rPr>
              <a:t>  //</a:t>
            </a:r>
            <a:r>
              <a:rPr lang="en-US" sz="3200" b="0" i="1" strike="noStrike" spc="-1">
                <a:solidFill>
                  <a:srgbClr val="000000"/>
                </a:solidFill>
                <a:latin typeface="Calibri"/>
              </a:rPr>
              <a:t>  block of code to be executed if condition1 is true</a:t>
            </a:r>
            <a:br/>
            <a:r>
              <a:rPr lang="en-US" sz="3200" b="0" strike="noStrike" spc="-1">
                <a:solidFill>
                  <a:srgbClr val="000000"/>
                </a:solidFill>
                <a:latin typeface="Calibri"/>
              </a:rPr>
              <a:t>} else if (</a:t>
            </a:r>
            <a:r>
              <a:rPr lang="en-US" sz="3200" b="0" i="1" strike="noStrike" spc="-1">
                <a:solidFill>
                  <a:srgbClr val="000000"/>
                </a:solidFill>
                <a:latin typeface="Calibri"/>
              </a:rPr>
              <a:t>condition2</a:t>
            </a:r>
            <a:r>
              <a:rPr lang="en-US" sz="3200" b="0" strike="noStrike" spc="-1">
                <a:solidFill>
                  <a:srgbClr val="000000"/>
                </a:solidFill>
                <a:latin typeface="Calibri"/>
              </a:rPr>
              <a:t>) {</a:t>
            </a:r>
            <a:br/>
            <a:r>
              <a:rPr lang="en-US" sz="3200" b="0" strike="noStrike" spc="-1">
                <a:solidFill>
                  <a:srgbClr val="000000"/>
                </a:solidFill>
                <a:latin typeface="Calibri"/>
              </a:rPr>
              <a:t>  //</a:t>
            </a:r>
            <a:r>
              <a:rPr lang="en-US" sz="3200" b="0" i="1" strike="noStrike" spc="-1">
                <a:solidFill>
                  <a:srgbClr val="000000"/>
                </a:solidFill>
                <a:latin typeface="Calibri"/>
              </a:rPr>
              <a:t>  block of code to be executed if the condition1 is false and condition2 is true</a:t>
            </a:r>
            <a:br/>
            <a:r>
              <a:rPr lang="en-US" sz="3200" b="0" strike="noStrike" spc="-1">
                <a:solidFill>
                  <a:srgbClr val="000000"/>
                </a:solidFill>
                <a:latin typeface="Calibri"/>
              </a:rPr>
              <a:t>} else {</a:t>
            </a:r>
            <a:br/>
            <a:r>
              <a:rPr lang="en-US" sz="3200" b="0" strike="noStrike" spc="-1">
                <a:solidFill>
                  <a:srgbClr val="000000"/>
                </a:solidFill>
                <a:latin typeface="Calibri"/>
              </a:rPr>
              <a:t>  //</a:t>
            </a:r>
            <a:r>
              <a:rPr lang="en-US" sz="3200" b="0" i="1" strike="noStrike" spc="-1">
                <a:solidFill>
                  <a:srgbClr val="000000"/>
                </a:solidFill>
                <a:latin typeface="Calibri"/>
              </a:rPr>
              <a:t>  block of code to be executed if the condition1 is false and condition2 is false</a:t>
            </a:r>
            <a:b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Try - https://www.w3schools.com/js/js_if_else.asp</a:t>
            </a:r>
            <a:endParaRPr lang="en-IN" sz="3200" b="0" strike="noStrike" spc="-1">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switch</a:t>
            </a:r>
            <a:endParaRPr lang="en-IN" sz="4400" b="0" strike="noStrike" spc="-1">
              <a:latin typeface="Arial"/>
            </a:endParaRPr>
          </a:p>
        </p:txBody>
      </p:sp>
      <p:pic>
        <p:nvPicPr>
          <p:cNvPr id="145" name="Content Placeholder 3" descr="Screenshot 2024-07-22 122908.png"/>
          <p:cNvPicPr/>
          <p:nvPr/>
        </p:nvPicPr>
        <p:blipFill>
          <a:blip r:embed="rId2" cstate="print"/>
          <a:stretch/>
        </p:blipFill>
        <p:spPr>
          <a:xfrm>
            <a:off x="609480" y="1600200"/>
            <a:ext cx="8076600" cy="4525200"/>
          </a:xfrm>
          <a:prstGeom prst="rect">
            <a:avLst/>
          </a:prstGeom>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47" name="Content Placeholder 3" descr="Screenshot 2024-07-22 123046.png"/>
          <p:cNvPicPr/>
          <p:nvPr/>
        </p:nvPicPr>
        <p:blipFill>
          <a:blip r:embed="rId2" cstate="print"/>
          <a:stretch/>
        </p:blipFill>
        <p:spPr>
          <a:xfrm>
            <a:off x="838080" y="533520"/>
            <a:ext cx="7619400" cy="5591880"/>
          </a:xfrm>
          <a:prstGeom prst="rect">
            <a:avLst/>
          </a:prstGeom>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The break Keyword</a:t>
            </a:r>
            <a:br/>
            <a:endParaRPr lang="en-IN" sz="4400" b="0" strike="noStrike" spc="-1">
              <a:latin typeface="Arial"/>
            </a:endParaRPr>
          </a:p>
        </p:txBody>
      </p:sp>
      <p:sp>
        <p:nvSpPr>
          <p:cNvPr id="14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55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When JavaScript reaches a break keyword, it breaks out of the switch block.</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This will stop the execution inside the switch block.</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The default Keyword </a:t>
            </a:r>
            <a:r>
              <a:rPr lang="en-US" sz="3200" b="0" strike="noStrike" spc="-1">
                <a:solidFill>
                  <a:srgbClr val="000000"/>
                </a:solidFill>
                <a:latin typeface="Calibri"/>
              </a:rPr>
              <a:t>- The default keyword specifies the code to run if there is no case match:</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Try - https://www.w3schools.com/js/js_switch.asp</a:t>
            </a:r>
            <a:endParaRPr lang="en-IN" sz="3200" b="0" strike="noStrike" spc="-1">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51" name="Content Placeholder 3" descr="Screenshot 2024-07-22 123346.png"/>
          <p:cNvPicPr/>
          <p:nvPr/>
        </p:nvPicPr>
        <p:blipFill>
          <a:blip r:embed="rId2" cstate="print"/>
          <a:stretch/>
        </p:blipFill>
        <p:spPr>
          <a:xfrm>
            <a:off x="1199520" y="1624320"/>
            <a:ext cx="6743880" cy="4476600"/>
          </a:xfrm>
          <a:prstGeom prst="rect">
            <a:avLst/>
          </a:prstGeom>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Loop statement</a:t>
            </a:r>
            <a:endParaRPr lang="en-IN" sz="4400" b="0" strike="noStrike" spc="-1">
              <a:latin typeface="Arial"/>
            </a:endParaRPr>
          </a:p>
        </p:txBody>
      </p:sp>
      <p:sp>
        <p:nvSpPr>
          <p:cNvPr id="15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45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for statement creates a loop with 3 optional expressions: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for (</a:t>
            </a:r>
            <a:r>
              <a:rPr lang="en-US" sz="3200" b="0" i="1" strike="noStrike" spc="-1">
                <a:solidFill>
                  <a:srgbClr val="000000"/>
                </a:solidFill>
                <a:latin typeface="Calibri"/>
              </a:rPr>
              <a:t>expression 1</a:t>
            </a:r>
            <a:r>
              <a:rPr lang="en-US" sz="3200" b="0" strike="noStrike" spc="-1">
                <a:solidFill>
                  <a:srgbClr val="000000"/>
                </a:solidFill>
                <a:latin typeface="Calibri"/>
              </a:rPr>
              <a:t>;</a:t>
            </a:r>
            <a:r>
              <a:rPr lang="en-US" sz="3200" b="0" i="1" strike="noStrike" spc="-1">
                <a:solidFill>
                  <a:srgbClr val="000000"/>
                </a:solidFill>
                <a:latin typeface="Calibri"/>
              </a:rPr>
              <a:t> expression 2</a:t>
            </a:r>
            <a:r>
              <a:rPr lang="en-US" sz="3200" b="0" strike="noStrike" spc="-1">
                <a:solidFill>
                  <a:srgbClr val="000000"/>
                </a:solidFill>
                <a:latin typeface="Calibri"/>
              </a:rPr>
              <a:t>;</a:t>
            </a:r>
            <a:r>
              <a:rPr lang="en-US" sz="3200" b="0" i="1" strike="noStrike" spc="-1">
                <a:solidFill>
                  <a:srgbClr val="000000"/>
                </a:solidFill>
                <a:latin typeface="Calibri"/>
              </a:rPr>
              <a:t> expression 3</a:t>
            </a:r>
            <a:r>
              <a:rPr lang="en-US" sz="3200" b="0" strike="noStrike" spc="-1">
                <a:solidFill>
                  <a:srgbClr val="000000"/>
                </a:solidFill>
                <a:latin typeface="Calibri"/>
              </a:rPr>
              <a:t>) {</a:t>
            </a:r>
            <a:br/>
            <a:r>
              <a:rPr lang="en-US" sz="3200" b="0" strike="noStrike" spc="-1">
                <a:solidFill>
                  <a:srgbClr val="000000"/>
                </a:solidFill>
                <a:latin typeface="Calibri"/>
              </a:rPr>
              <a:t>  // </a:t>
            </a:r>
            <a:r>
              <a:rPr lang="en-US" sz="3200" b="0" i="1" strike="noStrike" spc="-1">
                <a:solidFill>
                  <a:srgbClr val="000000"/>
                </a:solidFill>
                <a:latin typeface="Calibri"/>
              </a:rPr>
              <a:t>code block to be executed</a:t>
            </a:r>
            <a:b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Expression 1</a:t>
            </a:r>
            <a:r>
              <a:rPr lang="en-US" sz="3200" b="0" strike="noStrike" spc="-1">
                <a:solidFill>
                  <a:srgbClr val="000000"/>
                </a:solidFill>
                <a:latin typeface="Calibri"/>
              </a:rPr>
              <a:t> is executed (one time) before the execution of the code block.</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Expression 2</a:t>
            </a:r>
            <a:r>
              <a:rPr lang="en-US" sz="3200" b="0" strike="noStrike" spc="-1">
                <a:solidFill>
                  <a:srgbClr val="000000"/>
                </a:solidFill>
                <a:latin typeface="Calibri"/>
              </a:rPr>
              <a:t> defines the condition for executing the code block.</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Expression 3</a:t>
            </a:r>
            <a:r>
              <a:rPr lang="en-US" sz="3200" b="0" strike="noStrike" spc="-1">
                <a:solidFill>
                  <a:srgbClr val="000000"/>
                </a:solidFill>
                <a:latin typeface="Calibri"/>
              </a:rPr>
              <a:t> is executed (every time) after the code block has been executed.</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for (let i = 0; i &lt; 5; i++) {</a:t>
            </a:r>
            <a:br/>
            <a:r>
              <a:rPr lang="en-US" sz="3200" b="0" strike="noStrike" spc="-1">
                <a:solidFill>
                  <a:srgbClr val="000000"/>
                </a:solidFill>
                <a:latin typeface="Calibri"/>
              </a:rPr>
              <a:t>  documrnt.write(+i)</a:t>
            </a:r>
            <a:br/>
            <a:r>
              <a:rPr lang="en-US" sz="3200" b="0" strike="noStrike" spc="-1">
                <a:solidFill>
                  <a:srgbClr val="000000"/>
                </a:solidFill>
                <a:latin typeface="Calibri"/>
              </a:rPr>
              <a:t>}</a:t>
            </a:r>
            <a:endParaRPr lang="en-IN" sz="3200" b="0" strike="noStrike" spc="-1">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55" name="Content Placeholder 3" descr="Screenshot 2024-07-04 144057.png"/>
          <p:cNvPicPr/>
          <p:nvPr/>
        </p:nvPicPr>
        <p:blipFill>
          <a:blip r:embed="rId2" cstate="print"/>
          <a:stretch/>
        </p:blipFill>
        <p:spPr>
          <a:xfrm>
            <a:off x="1066680" y="1371600"/>
            <a:ext cx="7619400" cy="4753800"/>
          </a:xfrm>
          <a:prstGeom prst="rect">
            <a:avLst/>
          </a:prstGeom>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US" sz="4400" b="0" strike="noStrike" spc="-1">
                <a:solidFill>
                  <a:srgbClr val="000000"/>
                </a:solidFill>
                <a:latin typeface="Calibri"/>
              </a:rPr>
              <a:t>JavaScript Break and Continue</a:t>
            </a:r>
            <a:br/>
            <a:endParaRPr lang="en-IN" sz="4400" b="0" strike="noStrike" spc="-1">
              <a:latin typeface="Arial"/>
            </a:endParaRPr>
          </a:p>
        </p:txBody>
      </p:sp>
      <p:sp>
        <p:nvSpPr>
          <p:cNvPr id="15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break statement "jumps out" of a loop.</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continue statement "jumps over" one iteration in the loop.</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Try - https://www.w3schools.com/js/js_break.asp</a:t>
            </a:r>
            <a:endParaRPr lang="en-IN" sz="3200" b="0" strike="noStrike" spc="-1">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CustomShape 1"/>
          <p:cNvSpPr/>
          <p:nvPr/>
        </p:nvSpPr>
        <p:spPr>
          <a:xfrm>
            <a:off x="457200" y="274680"/>
            <a:ext cx="8228880" cy="562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83500" lnSpcReduction="20000"/>
          </a:bodyPr>
          <a:lstStyle/>
          <a:p>
            <a:pPr algn="ctr">
              <a:lnSpc>
                <a:spcPct val="100000"/>
              </a:lnSpc>
            </a:pPr>
            <a:r>
              <a:rPr lang="en-IN" sz="4400" b="0" strike="noStrike" spc="-1">
                <a:solidFill>
                  <a:srgbClr val="000000"/>
                </a:solidFill>
                <a:latin typeface="Calibri"/>
              </a:rPr>
              <a:t>function</a:t>
            </a:r>
            <a:endParaRPr lang="en-IN" sz="4400" b="0" strike="noStrike" spc="-1">
              <a:latin typeface="Arial"/>
            </a:endParaRPr>
          </a:p>
        </p:txBody>
      </p:sp>
      <p:sp>
        <p:nvSpPr>
          <p:cNvPr id="159" name="CustomShape 2"/>
          <p:cNvSpPr/>
          <p:nvPr/>
        </p:nvSpPr>
        <p:spPr>
          <a:xfrm>
            <a:off x="457200" y="838080"/>
            <a:ext cx="8228880" cy="579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With functions you can reuse code</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You can write code that can be used many times.</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You can use the same code with different arguments, to produce different results.</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&lt;!DOCTYPE html&gt;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&lt;html&gt;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&lt;body&gt;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&lt;h1&gt;JavaScript Functions&lt;/h1&gt;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&lt;p&gt;Call a function which performs a calculation and returns the result:&lt;/p&gt;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&lt;p id="demo"&gt;&lt;/p&gt;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&lt;script&gt;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function myFunction(p1, p2) {</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  return p1 * p2;</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let result = myFunction(4, 3);</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document.getElementById("demo").innerHTML = result;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&lt;/script&gt;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&lt;/body&gt;</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&lt;/html&gt; </a:t>
            </a:r>
            <a:endParaRPr lang="en-IN" sz="1400" b="0" strike="noStrike" spc="-1">
              <a:latin typeface="Arial"/>
            </a:endParaRPr>
          </a:p>
          <a:p>
            <a:pPr marL="343080" indent="-342360">
              <a:lnSpc>
                <a:spcPct val="100000"/>
              </a:lnSpc>
              <a:spcBef>
                <a:spcPts val="281"/>
              </a:spcBef>
              <a:tabLst>
                <a:tab pos="0" algn="l"/>
              </a:tabLst>
            </a:pPr>
            <a:r>
              <a:rPr lang="en-IN" sz="1400" b="1" strike="noStrike" spc="-1">
                <a:solidFill>
                  <a:srgbClr val="000000"/>
                </a:solidFill>
                <a:latin typeface="Calibri"/>
              </a:rPr>
              <a:t>o/p</a:t>
            </a:r>
            <a:endParaRPr lang="en-IN" sz="1400" b="0" strike="noStrike" spc="-1">
              <a:latin typeface="Arial"/>
            </a:endParaRPr>
          </a:p>
          <a:p>
            <a:pPr marL="343080" indent="-342360">
              <a:lnSpc>
                <a:spcPct val="100000"/>
              </a:lnSpc>
              <a:spcBef>
                <a:spcPts val="281"/>
              </a:spcBef>
              <a:buClr>
                <a:srgbClr val="000000"/>
              </a:buClr>
              <a:buFont typeface="Arial"/>
              <a:buChar char="•"/>
              <a:tabLst>
                <a:tab pos="0" algn="l"/>
              </a:tabLst>
            </a:pPr>
            <a:r>
              <a:rPr lang="en-US" sz="1400" b="1" strike="noStrike" spc="-1">
                <a:solidFill>
                  <a:srgbClr val="000000"/>
                </a:solidFill>
                <a:latin typeface="Calibri"/>
              </a:rPr>
              <a:t>JavaScript Functions</a:t>
            </a:r>
            <a:endParaRPr lang="en-IN" sz="1400" b="0" strike="noStrike" spc="-1">
              <a:latin typeface="Arial"/>
            </a:endParaRPr>
          </a:p>
          <a:p>
            <a:pPr marL="343080" indent="-342360">
              <a:lnSpc>
                <a:spcPct val="100000"/>
              </a:lnSpc>
              <a:spcBef>
                <a:spcPts val="281"/>
              </a:spcBef>
              <a:buClr>
                <a:srgbClr val="000000"/>
              </a:buClr>
              <a:buFont typeface="Arial"/>
              <a:buChar char="•"/>
              <a:tabLst>
                <a:tab pos="0" algn="l"/>
              </a:tabLst>
            </a:pPr>
            <a:r>
              <a:rPr lang="en-US" sz="1400" b="1" strike="noStrike" spc="-1">
                <a:solidFill>
                  <a:srgbClr val="000000"/>
                </a:solidFill>
                <a:latin typeface="Calibri"/>
              </a:rPr>
              <a:t>Call a function which performs a calculation and returns the result:</a:t>
            </a:r>
            <a:endParaRPr lang="en-IN" sz="1400" b="0" strike="noStrike" spc="-1">
              <a:latin typeface="Arial"/>
            </a:endParaRPr>
          </a:p>
          <a:p>
            <a:pPr marL="343080" indent="-342360">
              <a:lnSpc>
                <a:spcPct val="100000"/>
              </a:lnSpc>
              <a:spcBef>
                <a:spcPts val="281"/>
              </a:spcBef>
              <a:buClr>
                <a:srgbClr val="000000"/>
              </a:buClr>
              <a:buFont typeface="Arial"/>
              <a:buChar char="•"/>
              <a:tabLst>
                <a:tab pos="0" algn="l"/>
              </a:tabLst>
            </a:pPr>
            <a:r>
              <a:rPr lang="en-US" sz="1400" b="1" strike="noStrike" spc="-1">
                <a:solidFill>
                  <a:srgbClr val="000000"/>
                </a:solidFill>
                <a:latin typeface="Calibri"/>
              </a:rPr>
              <a:t>12</a:t>
            </a:r>
            <a:endParaRPr lang="en-IN" sz="1400" b="0" strike="noStrike" spc="-1">
              <a:latin typeface="Arial"/>
            </a:endParaRPr>
          </a:p>
          <a:p>
            <a:pPr marL="343080" indent="-342360">
              <a:lnSpc>
                <a:spcPct val="100000"/>
              </a:lnSpc>
              <a:spcBef>
                <a:spcPts val="320"/>
              </a:spcBef>
              <a:tabLst>
                <a:tab pos="0" algn="l"/>
              </a:tabLst>
            </a:pPr>
            <a:endParaRPr lang="en-IN" sz="1400" b="0" strike="noStrike" spc="-1">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JavaScript Function Syntax</a:t>
            </a:r>
            <a:br/>
            <a:endParaRPr lang="en-IN" sz="4400" b="0" strike="noStrike" spc="-1">
              <a:latin typeface="Arial"/>
            </a:endParaRPr>
          </a:p>
        </p:txBody>
      </p:sp>
      <p:sp>
        <p:nvSpPr>
          <p:cNvPr id="16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60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function </a:t>
            </a:r>
            <a:r>
              <a:rPr lang="en-US" sz="3200" b="0" i="1" strike="noStrike" spc="-1">
                <a:solidFill>
                  <a:srgbClr val="000000"/>
                </a:solidFill>
                <a:latin typeface="Calibri"/>
              </a:rPr>
              <a:t>name</a:t>
            </a:r>
            <a:r>
              <a:rPr lang="en-US" sz="3200" b="0" strike="noStrike" spc="-1">
                <a:solidFill>
                  <a:srgbClr val="000000"/>
                </a:solidFill>
                <a:latin typeface="Calibri"/>
              </a:rPr>
              <a:t>(</a:t>
            </a:r>
            <a:r>
              <a:rPr lang="en-US" sz="3200" b="0" i="1" strike="noStrike" spc="-1">
                <a:solidFill>
                  <a:srgbClr val="000000"/>
                </a:solidFill>
                <a:latin typeface="Calibri"/>
              </a:rPr>
              <a:t>parameter1, parameter2, parameter3</a:t>
            </a:r>
            <a:r>
              <a:rPr lang="en-US" sz="3200" b="0" strike="noStrike" spc="-1">
                <a:solidFill>
                  <a:srgbClr val="000000"/>
                </a:solidFill>
                <a:latin typeface="Calibri"/>
              </a:rPr>
              <a:t>) {</a:t>
            </a:r>
            <a:br/>
            <a:r>
              <a:rPr lang="en-US" sz="3200" b="0" strike="noStrike" spc="-1">
                <a:solidFill>
                  <a:srgbClr val="000000"/>
                </a:solidFill>
                <a:latin typeface="Calibri"/>
              </a:rPr>
              <a:t>  // </a:t>
            </a:r>
            <a:r>
              <a:rPr lang="en-US" sz="3200" b="0" i="1" strike="noStrike" spc="-1">
                <a:solidFill>
                  <a:srgbClr val="000000"/>
                </a:solidFill>
                <a:latin typeface="Calibri"/>
              </a:rPr>
              <a:t>code to be executed</a:t>
            </a:r>
            <a:b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Function </a:t>
            </a:r>
            <a:r>
              <a:rPr lang="en-US" sz="3200" b="1" strike="noStrike" spc="-1">
                <a:solidFill>
                  <a:srgbClr val="000000"/>
                </a:solidFill>
                <a:latin typeface="Calibri"/>
              </a:rPr>
              <a:t>parameters</a:t>
            </a:r>
            <a:r>
              <a:rPr lang="en-US" sz="3200" b="0" strike="noStrike" spc="-1">
                <a:solidFill>
                  <a:srgbClr val="000000"/>
                </a:solidFill>
                <a:latin typeface="Calibri"/>
              </a:rPr>
              <a:t> are listed inside the parentheses () in the function definition.</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Function </a:t>
            </a:r>
            <a:r>
              <a:rPr lang="en-US" sz="3200" b="1" strike="noStrike" spc="-1">
                <a:solidFill>
                  <a:srgbClr val="000000"/>
                </a:solidFill>
                <a:latin typeface="Calibri"/>
              </a:rPr>
              <a:t>arguments</a:t>
            </a:r>
            <a:r>
              <a:rPr lang="en-US" sz="3200" b="0" strike="noStrike" spc="-1">
                <a:solidFill>
                  <a:srgbClr val="000000"/>
                </a:solidFill>
                <a:latin typeface="Calibri"/>
              </a:rPr>
              <a:t> are the </a:t>
            </a:r>
            <a:r>
              <a:rPr lang="en-US" sz="3200" b="1" strike="noStrike" spc="-1">
                <a:solidFill>
                  <a:srgbClr val="000000"/>
                </a:solidFill>
                <a:latin typeface="Calibri"/>
              </a:rPr>
              <a:t>values</a:t>
            </a:r>
            <a:r>
              <a:rPr lang="en-US" sz="3200" b="0" strike="noStrike" spc="-1">
                <a:solidFill>
                  <a:srgbClr val="000000"/>
                </a:solidFill>
                <a:latin typeface="Calibri"/>
              </a:rPr>
              <a:t> received by the function when it is invoked.</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Inside the function, the arguments (the parameters) behave as local variables.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Function Return</a:t>
            </a:r>
            <a:br/>
            <a:endParaRPr lang="en-IN" sz="4400" b="0" strike="noStrike" spc="-1">
              <a:latin typeface="Arial"/>
            </a:endParaRPr>
          </a:p>
        </p:txBody>
      </p:sp>
      <p:sp>
        <p:nvSpPr>
          <p:cNvPr id="16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90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Function is called, the return value will end up in x</a:t>
            </a:r>
            <a:br/>
            <a:r>
              <a:rPr lang="en-US" sz="3200" b="0" strike="noStrike" spc="-1">
                <a:solidFill>
                  <a:srgbClr val="000000"/>
                </a:solidFill>
                <a:latin typeface="Calibri"/>
              </a:rPr>
              <a:t>let x = myFunction(4, 3);</a:t>
            </a:r>
            <a:br/>
            <a:br/>
            <a:r>
              <a:rPr lang="en-US" sz="3200" b="0" strike="noStrike" spc="-1">
                <a:solidFill>
                  <a:srgbClr val="000000"/>
                </a:solidFill>
                <a:latin typeface="Calibri"/>
              </a:rPr>
              <a:t>function myFunction(a, b) {</a:t>
            </a:r>
            <a:br/>
            <a:r>
              <a:rPr lang="en-US" sz="3200" b="0" strike="noStrike" spc="-1">
                <a:solidFill>
                  <a:srgbClr val="000000"/>
                </a:solidFill>
                <a:latin typeface="Calibri"/>
              </a:rPr>
              <a:t>// Function returns the product of a and b</a:t>
            </a:r>
            <a:br/>
            <a:r>
              <a:rPr lang="en-US" sz="3200" b="0" strike="noStrike" spc="-1">
                <a:solidFill>
                  <a:srgbClr val="000000"/>
                </a:solidFill>
                <a:latin typeface="Calibri"/>
              </a:rPr>
              <a:t>  return a * b;</a:t>
            </a:r>
            <a:b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hen JavaScript reaches a return statement, the function will stop executing.</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If the function was invoked from a statement, JavaScript will "return" to execute the code after the invoking statement.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Functions often compute a </a:t>
            </a:r>
            <a:r>
              <a:rPr lang="en-US" sz="3200" b="1" strike="noStrike" spc="-1">
                <a:solidFill>
                  <a:srgbClr val="000000"/>
                </a:solidFill>
                <a:latin typeface="Calibri"/>
              </a:rPr>
              <a:t>return value</a:t>
            </a:r>
            <a:r>
              <a:rPr lang="en-US" sz="3200" b="0" strike="noStrike" spc="-1">
                <a:solidFill>
                  <a:srgbClr val="000000"/>
                </a:solidFill>
                <a:latin typeface="Calibri"/>
              </a:rPr>
              <a:t>. The return value is "returned" back to the "caller":</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Built in object</a:t>
            </a:r>
            <a:endParaRPr lang="en-IN" sz="4400" b="0" strike="noStrike" spc="-1">
              <a:latin typeface="Arial"/>
            </a:endParaRPr>
          </a:p>
        </p:txBody>
      </p:sp>
      <p:sp>
        <p:nvSpPr>
          <p:cNvPr id="16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95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Math.pow() - Math.pow(x, y) returns the value of x to the power of y: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Math.pow(8, 2);</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Ex - </a:t>
            </a:r>
            <a:r>
              <a:rPr lang="en-IN" sz="3200" b="0" u="sng" strike="noStrike" spc="-1">
                <a:solidFill>
                  <a:srgbClr val="0000FF"/>
                </a:solidFill>
                <a:uFillTx/>
                <a:latin typeface="Calibri"/>
                <a:hlinkClick r:id="rId2"/>
              </a:rPr>
              <a:t>https://www.w3schools.com/js/tryit.asp?filename=tryjs_math_pow</a:t>
            </a:r>
            <a:endParaRPr lang="en-IN" sz="3200" b="0" strike="noStrike" spc="-1">
              <a:latin typeface="Arial"/>
            </a:endParaRPr>
          </a:p>
          <a:p>
            <a:pPr marL="343080" indent="-342360">
              <a:lnSpc>
                <a:spcPct val="100000"/>
              </a:lnSpc>
              <a:spcBef>
                <a:spcPts val="641"/>
              </a:spcBef>
              <a:tabLst>
                <a:tab pos="0" algn="l"/>
              </a:tabLst>
            </a:pP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Math.sqrt() - Math.sqrt(x) returns the square root of x:</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Example - Math.sqrt(64);</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https://www.w3schools.com/js/js_math.asp</a:t>
            </a:r>
            <a:endParaRPr lang="en-IN" sz="3200" b="0" strike="noStrike" spc="-1">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16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55000" lnSpcReduction="20000"/>
          </a:bodyPr>
          <a:lstStyle/>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Properties Of JavaScript Number:</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Number.MAX_VALUE: </a:t>
            </a:r>
            <a:r>
              <a:rPr lang="en-US" sz="3200" b="0" strike="noStrike" spc="-1">
                <a:solidFill>
                  <a:srgbClr val="000000"/>
                </a:solidFill>
                <a:latin typeface="Calibri"/>
              </a:rPr>
              <a:t>largest possible number get displayed.</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Number.MIN_VALUE: </a:t>
            </a:r>
            <a:r>
              <a:rPr lang="en-US" sz="3200" b="0" strike="noStrike" spc="-1">
                <a:solidFill>
                  <a:srgbClr val="000000"/>
                </a:solidFill>
                <a:latin typeface="Calibri"/>
              </a:rPr>
              <a:t>smallest possible number gets displayed. Number.NAN:when not a number then NAN is displayed</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Number.NEGATIVE_INFINITY: </a:t>
            </a:r>
            <a:r>
              <a:rPr lang="en-US" sz="3200" b="0" strike="noStrike" spc="-1">
                <a:solidFill>
                  <a:srgbClr val="000000"/>
                </a:solidFill>
                <a:latin typeface="Calibri"/>
              </a:rPr>
              <a:t>It’s a particular value that represents negative infinity. it has a lower value than MIN_VALUE.</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Number.POSITIVE_INFINITY: </a:t>
            </a:r>
            <a:r>
              <a:rPr lang="en-US" sz="3200" b="0" strike="noStrike" spc="-1">
                <a:solidFill>
                  <a:srgbClr val="000000"/>
                </a:solidFill>
                <a:latin typeface="Calibri"/>
              </a:rPr>
              <a:t>It’s a particular value that represents positive infinity.  it has a greater value than MAX_VALUE.</a:t>
            </a:r>
            <a:endParaRPr lang="en-IN" sz="3200" b="0" strike="noStrike" spc="-1">
              <a:latin typeface="Arial"/>
            </a:endParaRPr>
          </a:p>
          <a:p>
            <a:pPr marL="343080" indent="-342360">
              <a:lnSpc>
                <a:spcPct val="170000"/>
              </a:lnSpc>
              <a:spcBef>
                <a:spcPts val="641"/>
              </a:spcBef>
              <a:tabLst>
                <a:tab pos="0" algn="l"/>
              </a:tabLst>
            </a:pPr>
            <a:r>
              <a:rPr lang="en-US" sz="3200" b="0" strike="noStrike" spc="-1">
                <a:solidFill>
                  <a:srgbClr val="000000"/>
                </a:solidFill>
                <a:latin typeface="Calibri"/>
              </a:rPr>
              <a:t>Try - https://www.w3schools.com/js/js_number_properties.asp</a:t>
            </a:r>
            <a:endParaRPr lang="en-IN" sz="3200" b="0" strike="noStrike" spc="-1">
              <a:latin typeface="Arial"/>
            </a:endParaRPr>
          </a:p>
          <a:p>
            <a:pPr marL="343080" indent="-342360">
              <a:lnSpc>
                <a:spcPct val="100000"/>
              </a:lnSpc>
              <a:spcBef>
                <a:spcPts val="641"/>
              </a:spcBef>
              <a:tabLst>
                <a:tab pos="0" algn="l"/>
              </a:tabLst>
            </a:pPr>
            <a:endParaRPr lang="en-IN" sz="3200" b="0" strike="noStrike" spc="-1">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
          <p:cNvSpPr/>
          <p:nvPr/>
        </p:nvSpPr>
        <p:spPr>
          <a:xfrm>
            <a:off x="457200" y="274680"/>
            <a:ext cx="8228880" cy="33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40000" lnSpcReduction="20000"/>
          </a:bodyPr>
          <a:lstStyle/>
          <a:p>
            <a:pPr algn="ctr">
              <a:lnSpc>
                <a:spcPct val="100000"/>
              </a:lnSpc>
            </a:pPr>
            <a:r>
              <a:rPr lang="en-US" sz="4400" b="1" strike="noStrike" spc="-1">
                <a:solidFill>
                  <a:srgbClr val="000000"/>
                </a:solidFill>
                <a:latin typeface="Calibri"/>
              </a:rPr>
              <a:t>Number.MAX_VALUE</a:t>
            </a:r>
            <a:endParaRPr lang="en-IN" sz="4400" b="0" strike="noStrike" spc="-1">
              <a:latin typeface="Arial"/>
            </a:endParaRPr>
          </a:p>
        </p:txBody>
      </p:sp>
      <p:sp>
        <p:nvSpPr>
          <p:cNvPr id="169" name="CustomShape 2"/>
          <p:cNvSpPr/>
          <p:nvPr/>
        </p:nvSpPr>
        <p:spPr>
          <a:xfrm>
            <a:off x="457200" y="762120"/>
            <a:ext cx="8228880" cy="6400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25000" lnSpcReduction="20000"/>
          </a:bodyPr>
          <a:lstStyle/>
          <a:p>
            <a:pPr marL="343080" indent="-342360">
              <a:lnSpc>
                <a:spcPct val="170000"/>
              </a:lnSpc>
              <a:spcBef>
                <a:spcPts val="1100"/>
              </a:spcBef>
              <a:buClr>
                <a:srgbClr val="000000"/>
              </a:buClr>
              <a:buFont typeface="Arial"/>
              <a:buChar char="•"/>
            </a:pPr>
            <a:r>
              <a:rPr lang="en-US" sz="5500" b="1" strike="noStrike" spc="-1">
                <a:solidFill>
                  <a:srgbClr val="000000"/>
                </a:solidFill>
                <a:latin typeface="Calibri"/>
              </a:rPr>
              <a:t>!DOCTYPE html&gt;</a:t>
            </a:r>
            <a:endParaRPr lang="en-IN" sz="5500" b="0" strike="noStrike" spc="-1">
              <a:latin typeface="Arial"/>
            </a:endParaRPr>
          </a:p>
          <a:p>
            <a:pPr marL="343080" indent="-342360">
              <a:lnSpc>
                <a:spcPct val="170000"/>
              </a:lnSpc>
              <a:spcBef>
                <a:spcPts val="1100"/>
              </a:spcBef>
              <a:buClr>
                <a:srgbClr val="000000"/>
              </a:buClr>
              <a:buFont typeface="Arial"/>
              <a:buChar char="•"/>
            </a:pPr>
            <a:r>
              <a:rPr lang="en-US" sz="5500" b="1" strike="noStrike" spc="-1">
                <a:solidFill>
                  <a:srgbClr val="000000"/>
                </a:solidFill>
                <a:latin typeface="Calibri"/>
              </a:rPr>
              <a:t>&lt;html&gt;</a:t>
            </a:r>
            <a:endParaRPr lang="en-IN" sz="5500" b="0" strike="noStrike" spc="-1">
              <a:latin typeface="Arial"/>
            </a:endParaRPr>
          </a:p>
          <a:p>
            <a:pPr marL="343080" indent="-342360">
              <a:lnSpc>
                <a:spcPct val="170000"/>
              </a:lnSpc>
              <a:spcBef>
                <a:spcPts val="1100"/>
              </a:spcBef>
              <a:buClr>
                <a:srgbClr val="000000"/>
              </a:buClr>
              <a:buFont typeface="Arial"/>
              <a:buChar char="•"/>
            </a:pPr>
            <a:r>
              <a:rPr lang="en-US" sz="5500" b="1" strike="noStrike" spc="-1">
                <a:solidFill>
                  <a:srgbClr val="000000"/>
                </a:solidFill>
                <a:latin typeface="Calibri"/>
              </a:rPr>
              <a:t>&lt;body&gt;</a:t>
            </a:r>
            <a:endParaRPr lang="en-IN" sz="5500" b="0" strike="noStrike" spc="-1">
              <a:latin typeface="Arial"/>
            </a:endParaRPr>
          </a:p>
          <a:p>
            <a:pPr marL="343080" indent="-342360">
              <a:lnSpc>
                <a:spcPct val="170000"/>
              </a:lnSpc>
              <a:spcBef>
                <a:spcPts val="1100"/>
              </a:spcBef>
              <a:buClr>
                <a:srgbClr val="000000"/>
              </a:buClr>
              <a:buFont typeface="Arial"/>
              <a:buChar char="•"/>
            </a:pPr>
            <a:r>
              <a:rPr lang="en-US" sz="5500" b="1" strike="noStrike" spc="-1">
                <a:solidFill>
                  <a:srgbClr val="000000"/>
                </a:solidFill>
                <a:latin typeface="Calibri"/>
              </a:rPr>
              <a:t>&lt;h1&gt;JavaScript Numbers&lt;/h1&gt;</a:t>
            </a:r>
            <a:endParaRPr lang="en-IN" sz="5500" b="0" strike="noStrike" spc="-1">
              <a:latin typeface="Arial"/>
            </a:endParaRPr>
          </a:p>
          <a:p>
            <a:pPr marL="343080" indent="-342360">
              <a:lnSpc>
                <a:spcPct val="170000"/>
              </a:lnSpc>
              <a:spcBef>
                <a:spcPts val="1100"/>
              </a:spcBef>
              <a:buClr>
                <a:srgbClr val="000000"/>
              </a:buClr>
              <a:buFont typeface="Arial"/>
              <a:buChar char="•"/>
            </a:pPr>
            <a:r>
              <a:rPr lang="en-US" sz="5500" b="1" strike="noStrike" spc="-1">
                <a:solidFill>
                  <a:srgbClr val="000000"/>
                </a:solidFill>
                <a:latin typeface="Calibri"/>
              </a:rPr>
              <a:t>&lt;h2&gt;The MAX_VALUE Property&lt;/h2&gt;</a:t>
            </a:r>
            <a:endParaRPr lang="en-IN" sz="5500" b="0" strike="noStrike" spc="-1">
              <a:latin typeface="Arial"/>
            </a:endParaRPr>
          </a:p>
          <a:p>
            <a:pPr marL="343080" indent="-342360">
              <a:lnSpc>
                <a:spcPct val="170000"/>
              </a:lnSpc>
              <a:spcBef>
                <a:spcPts val="1100"/>
              </a:spcBef>
              <a:tabLst>
                <a:tab pos="0" algn="l"/>
              </a:tabLst>
            </a:pPr>
            <a:r>
              <a:rPr lang="en-US" sz="5500" b="1" strike="noStrike" spc="-1">
                <a:solidFill>
                  <a:srgbClr val="000000"/>
                </a:solidFill>
                <a:latin typeface="Calibri"/>
              </a:rPr>
              <a:t>           &lt;p&gt;The largest possible number in JavaScript is:&lt;/p&gt;</a:t>
            </a:r>
            <a:endParaRPr lang="en-IN" sz="5500" b="0" strike="noStrike" spc="-1">
              <a:latin typeface="Arial"/>
            </a:endParaRPr>
          </a:p>
          <a:p>
            <a:pPr marL="343080" indent="-342360">
              <a:lnSpc>
                <a:spcPct val="170000"/>
              </a:lnSpc>
              <a:spcBef>
                <a:spcPts val="1100"/>
              </a:spcBef>
              <a:buClr>
                <a:srgbClr val="000000"/>
              </a:buClr>
              <a:buFont typeface="Arial"/>
              <a:buChar char="•"/>
              <a:tabLst>
                <a:tab pos="0" algn="l"/>
              </a:tabLst>
            </a:pPr>
            <a:r>
              <a:rPr lang="en-US" sz="5500" b="1" strike="noStrike" spc="-1">
                <a:solidFill>
                  <a:srgbClr val="000000"/>
                </a:solidFill>
                <a:latin typeface="Calibri"/>
              </a:rPr>
              <a:t>&lt;p id="demo"&gt;&lt;/p&gt;</a:t>
            </a:r>
            <a:endParaRPr lang="en-IN" sz="5500" b="0" strike="noStrike" spc="-1">
              <a:latin typeface="Arial"/>
            </a:endParaRPr>
          </a:p>
          <a:p>
            <a:pPr marL="343080" indent="-342360">
              <a:lnSpc>
                <a:spcPct val="170000"/>
              </a:lnSpc>
              <a:spcBef>
                <a:spcPts val="1100"/>
              </a:spcBef>
              <a:tabLst>
                <a:tab pos="0" algn="l"/>
              </a:tabLst>
            </a:pPr>
            <a:r>
              <a:rPr lang="en-US" sz="5500" b="1" strike="noStrike" spc="-1">
                <a:solidFill>
                  <a:srgbClr val="000000"/>
                </a:solidFill>
                <a:latin typeface="Calibri"/>
              </a:rPr>
              <a:t>           &lt;script&gt;</a:t>
            </a:r>
            <a:endParaRPr lang="en-IN" sz="5500" b="0" strike="noStrike" spc="-1">
              <a:latin typeface="Arial"/>
            </a:endParaRPr>
          </a:p>
          <a:p>
            <a:pPr marL="343080" indent="-342360">
              <a:lnSpc>
                <a:spcPct val="170000"/>
              </a:lnSpc>
              <a:spcBef>
                <a:spcPts val="1100"/>
              </a:spcBef>
              <a:buClr>
                <a:srgbClr val="000000"/>
              </a:buClr>
              <a:buFont typeface="Arial"/>
              <a:buChar char="•"/>
              <a:tabLst>
                <a:tab pos="0" algn="l"/>
              </a:tabLst>
            </a:pPr>
            <a:r>
              <a:rPr lang="en-US" sz="5500" b="1" strike="noStrike" spc="-1">
                <a:solidFill>
                  <a:srgbClr val="000000"/>
                </a:solidFill>
                <a:latin typeface="Calibri"/>
              </a:rPr>
              <a:t>let x = Number.MAX_VALUE;</a:t>
            </a:r>
            <a:endParaRPr lang="en-IN" sz="5500" b="0" strike="noStrike" spc="-1">
              <a:latin typeface="Arial"/>
            </a:endParaRPr>
          </a:p>
          <a:p>
            <a:pPr marL="343080" indent="-342360">
              <a:lnSpc>
                <a:spcPct val="170000"/>
              </a:lnSpc>
              <a:spcBef>
                <a:spcPts val="1100"/>
              </a:spcBef>
              <a:buClr>
                <a:srgbClr val="000000"/>
              </a:buClr>
              <a:buFont typeface="Arial"/>
              <a:buChar char="•"/>
              <a:tabLst>
                <a:tab pos="0" algn="l"/>
              </a:tabLst>
            </a:pPr>
            <a:r>
              <a:rPr lang="en-US" sz="5500" b="1" strike="noStrike" spc="-1">
                <a:solidFill>
                  <a:srgbClr val="000000"/>
                </a:solidFill>
                <a:latin typeface="Calibri"/>
              </a:rPr>
              <a:t>document.getElementById("demo").innerHTML = x;</a:t>
            </a:r>
            <a:endParaRPr lang="en-IN" sz="5500" b="0" strike="noStrike" spc="-1">
              <a:latin typeface="Arial"/>
            </a:endParaRPr>
          </a:p>
          <a:p>
            <a:pPr marL="343080" indent="-342360">
              <a:lnSpc>
                <a:spcPct val="170000"/>
              </a:lnSpc>
              <a:spcBef>
                <a:spcPts val="1100"/>
              </a:spcBef>
              <a:buClr>
                <a:srgbClr val="000000"/>
              </a:buClr>
              <a:buFont typeface="Arial"/>
              <a:buChar char="•"/>
              <a:tabLst>
                <a:tab pos="0" algn="l"/>
              </a:tabLst>
            </a:pPr>
            <a:r>
              <a:rPr lang="en-US" sz="5500" b="1" strike="noStrike" spc="-1">
                <a:solidFill>
                  <a:srgbClr val="000000"/>
                </a:solidFill>
                <a:latin typeface="Calibri"/>
              </a:rPr>
              <a:t>&lt;/script&gt;</a:t>
            </a:r>
            <a:endParaRPr lang="en-IN" sz="5500" b="0" strike="noStrike" spc="-1">
              <a:latin typeface="Arial"/>
            </a:endParaRPr>
          </a:p>
          <a:p>
            <a:pPr marL="343080" indent="-342360">
              <a:lnSpc>
                <a:spcPct val="170000"/>
              </a:lnSpc>
              <a:spcBef>
                <a:spcPts val="1100"/>
              </a:spcBef>
              <a:tabLst>
                <a:tab pos="0" algn="l"/>
              </a:tabLst>
            </a:pPr>
            <a:r>
              <a:rPr lang="en-US" sz="5500" b="1" strike="noStrike" spc="-1">
                <a:solidFill>
                  <a:srgbClr val="000000"/>
                </a:solidFill>
                <a:latin typeface="Calibri"/>
              </a:rPr>
              <a:t>         &lt;/body&gt;</a:t>
            </a:r>
            <a:endParaRPr lang="en-IN" sz="5500" b="0" strike="noStrike" spc="-1">
              <a:latin typeface="Arial"/>
            </a:endParaRPr>
          </a:p>
          <a:p>
            <a:pPr marL="343080" indent="-342360">
              <a:lnSpc>
                <a:spcPct val="170000"/>
              </a:lnSpc>
              <a:spcBef>
                <a:spcPts val="1100"/>
              </a:spcBef>
              <a:buClr>
                <a:srgbClr val="000000"/>
              </a:buClr>
              <a:buFont typeface="Arial"/>
              <a:buChar char="•"/>
              <a:tabLst>
                <a:tab pos="0" algn="l"/>
              </a:tabLst>
            </a:pPr>
            <a:r>
              <a:rPr lang="en-US" sz="5500" b="1" strike="noStrike" spc="-1">
                <a:solidFill>
                  <a:srgbClr val="000000"/>
                </a:solidFill>
                <a:latin typeface="Calibri"/>
              </a:rPr>
              <a:t>&lt;/html&gt;</a:t>
            </a:r>
            <a:endParaRPr lang="en-IN" sz="5500" b="0" strike="noStrike" spc="-1">
              <a:latin typeface="Arial"/>
            </a:endParaRPr>
          </a:p>
          <a:p>
            <a:pPr marL="343080" indent="-342360">
              <a:lnSpc>
                <a:spcPct val="170000"/>
              </a:lnSpc>
              <a:spcBef>
                <a:spcPts val="1100"/>
              </a:spcBef>
              <a:tabLst>
                <a:tab pos="0" algn="l"/>
              </a:tabLst>
            </a:pPr>
            <a:r>
              <a:rPr lang="en-IN" sz="5500" b="1" strike="noStrike" spc="-1">
                <a:solidFill>
                  <a:srgbClr val="000000"/>
                </a:solidFill>
                <a:latin typeface="Calibri"/>
              </a:rPr>
              <a:t>      Output - </a:t>
            </a:r>
            <a:r>
              <a:rPr lang="en-US" sz="5500" b="1" strike="noStrike" spc="-1">
                <a:solidFill>
                  <a:srgbClr val="000000"/>
                </a:solidFill>
                <a:latin typeface="Calibri"/>
              </a:rPr>
              <a:t>JavaScript Numbers</a:t>
            </a:r>
            <a:endParaRPr lang="en-IN" sz="5500" b="0" strike="noStrike" spc="-1">
              <a:latin typeface="Arial"/>
            </a:endParaRPr>
          </a:p>
          <a:p>
            <a:pPr marL="343080" indent="-342360">
              <a:lnSpc>
                <a:spcPct val="170000"/>
              </a:lnSpc>
              <a:spcBef>
                <a:spcPts val="1100"/>
              </a:spcBef>
              <a:tabLst>
                <a:tab pos="0" algn="l"/>
              </a:tabLst>
            </a:pPr>
            <a:r>
              <a:rPr lang="en-US" sz="5500" b="1" strike="noStrike" spc="-1">
                <a:solidFill>
                  <a:srgbClr val="000000"/>
                </a:solidFill>
                <a:latin typeface="Calibri"/>
              </a:rPr>
              <a:t>     The MAX_VALUE Property</a:t>
            </a:r>
            <a:endParaRPr lang="en-IN" sz="5500" b="0" strike="noStrike" spc="-1">
              <a:latin typeface="Arial"/>
            </a:endParaRPr>
          </a:p>
          <a:p>
            <a:pPr marL="343080" indent="-342360">
              <a:lnSpc>
                <a:spcPct val="170000"/>
              </a:lnSpc>
              <a:spcBef>
                <a:spcPts val="1100"/>
              </a:spcBef>
              <a:tabLst>
                <a:tab pos="0" algn="l"/>
              </a:tabLst>
            </a:pPr>
            <a:r>
              <a:rPr lang="en-US" sz="5500" b="1" strike="noStrike" spc="-1">
                <a:solidFill>
                  <a:srgbClr val="000000"/>
                </a:solidFill>
                <a:latin typeface="Calibri"/>
              </a:rPr>
              <a:t>     The largest possible number in JavaScript is:</a:t>
            </a:r>
            <a:endParaRPr lang="en-IN" sz="5500" b="0" strike="noStrike" spc="-1">
              <a:latin typeface="Arial"/>
            </a:endParaRPr>
          </a:p>
          <a:p>
            <a:pPr marL="343080" indent="-342360">
              <a:lnSpc>
                <a:spcPct val="170000"/>
              </a:lnSpc>
              <a:spcBef>
                <a:spcPts val="1100"/>
              </a:spcBef>
              <a:tabLst>
                <a:tab pos="0" algn="l"/>
              </a:tabLst>
            </a:pPr>
            <a:r>
              <a:rPr lang="en-US" sz="5500" b="1" strike="noStrike" spc="-1">
                <a:solidFill>
                  <a:srgbClr val="000000"/>
                </a:solidFill>
                <a:latin typeface="Calibri"/>
              </a:rPr>
              <a:t>     1.79769313486231578</a:t>
            </a:r>
            <a:endParaRPr lang="en-IN" sz="5500" b="0" strike="noStrike" spc="-1">
              <a:latin typeface="Arial"/>
            </a:endParaRPr>
          </a:p>
          <a:p>
            <a:pPr marL="343080" indent="-342360">
              <a:lnSpc>
                <a:spcPct val="170000"/>
              </a:lnSpc>
              <a:spcBef>
                <a:spcPts val="641"/>
              </a:spcBef>
              <a:tabLst>
                <a:tab pos="0" algn="l"/>
              </a:tabLst>
            </a:pPr>
            <a:endParaRPr lang="en-IN" sz="5500" b="0" strike="noStrike" spc="-1">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US" sz="4400" b="0" strike="noStrike" spc="-1">
                <a:solidFill>
                  <a:srgbClr val="000000"/>
                </a:solidFill>
                <a:latin typeface="Calibri"/>
              </a:rPr>
              <a:t>JavaScript POSITIVE_INFINITY</a:t>
            </a:r>
            <a:br/>
            <a:endParaRPr lang="en-IN" sz="4400" b="0" strike="noStrike" spc="-1">
              <a:latin typeface="Arial"/>
            </a:endParaRPr>
          </a:p>
        </p:txBody>
      </p:sp>
      <p:sp>
        <p:nvSpPr>
          <p:cNvPr id="17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325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&lt;!DOCTYPE html&gt;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&lt;html&gt;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&lt;body&gt;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&lt;h1&gt;JavaScript Numbers&lt;/h1&gt;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&lt;h2&gt;The POSITIVE_INFINITY Property&lt;/h2&gt;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&lt;p&gt;POSITIVE_INFINITY is returned on overflow:&lt;/p&gt;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&lt;p id="demo"&gt;&lt;/p&gt;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let x = 1 / 0;</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document.getElementById("demo").innerHTML = x;</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&lt;/body&gt;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&lt;/html&gt;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Output ; </a:t>
            </a:r>
            <a:r>
              <a:rPr lang="en-US" sz="3200" b="1" strike="noStrike" spc="-1">
                <a:solidFill>
                  <a:srgbClr val="000000"/>
                </a:solidFill>
                <a:latin typeface="Calibri"/>
              </a:rPr>
              <a:t>avaScript Numbers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The POSITIVE_INFINITY Property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POSITIVE_INFINITY is returned on overflow:</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Infinity</a:t>
            </a:r>
            <a:endParaRPr lang="en-IN" sz="3200" b="0" strike="noStrike" spc="-1">
              <a:latin typeface="Arial"/>
            </a:endParaRPr>
          </a:p>
          <a:p>
            <a:pPr>
              <a:lnSpc>
                <a:spcPct val="100000"/>
              </a:lnSpc>
              <a:spcBef>
                <a:spcPts val="641"/>
              </a:spcBef>
            </a:pP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0500" lnSpcReduction="20000"/>
          </a:bodyPr>
          <a:lstStyle/>
          <a:p>
            <a:pPr algn="ctr">
              <a:lnSpc>
                <a:spcPct val="100000"/>
              </a:lnSpc>
            </a:pPr>
            <a:r>
              <a:rPr lang="en-US" sz="4400" b="0" strike="noStrike" spc="-1">
                <a:solidFill>
                  <a:srgbClr val="000000"/>
                </a:solidFill>
                <a:latin typeface="Calibri"/>
              </a:rPr>
              <a:t>JavaScript NEGATIVE_INFINITY</a:t>
            </a:r>
            <a:br/>
            <a:endParaRPr lang="en-IN" sz="4400" b="0" strike="noStrike" spc="-1">
              <a:latin typeface="Arial"/>
            </a:endParaRPr>
          </a:p>
        </p:txBody>
      </p:sp>
      <p:sp>
        <p:nvSpPr>
          <p:cNvPr id="173" name="CustomShape 2"/>
          <p:cNvSpPr/>
          <p:nvPr/>
        </p:nvSpPr>
        <p:spPr>
          <a:xfrm>
            <a:off x="457200" y="99072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&lt;!DOCTYPE html&gt;</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&lt;html&gt;</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&lt;body&gt;</a:t>
            </a:r>
            <a:endParaRPr lang="en-IN" sz="1400" b="0" strike="noStrike" spc="-1">
              <a:latin typeface="Arial"/>
            </a:endParaRPr>
          </a:p>
          <a:p>
            <a:pPr>
              <a:lnSpc>
                <a:spcPct val="100000"/>
              </a:lnSpc>
              <a:spcBef>
                <a:spcPts val="281"/>
              </a:spcBef>
            </a:pP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&lt;h1&gt;JavaScript Numbers&lt;/h1&gt;</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&lt;h2&gt;The NEGATIVE_INFINITY Property&lt;/h2&gt;</a:t>
            </a:r>
            <a:endParaRPr lang="en-IN" sz="1400" b="0" strike="noStrike" spc="-1">
              <a:latin typeface="Arial"/>
            </a:endParaRPr>
          </a:p>
          <a:p>
            <a:pPr>
              <a:lnSpc>
                <a:spcPct val="100000"/>
              </a:lnSpc>
              <a:spcBef>
                <a:spcPts val="281"/>
              </a:spcBef>
            </a:pP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&lt;p&gt;NEGATIVE_INFINITY is returned on overflow:&lt;/p&gt;</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&lt;p id="demo"&gt;&lt;/p&gt;</a:t>
            </a:r>
            <a:endParaRPr lang="en-IN" sz="1400" b="0" strike="noStrike" spc="-1">
              <a:latin typeface="Arial"/>
            </a:endParaRPr>
          </a:p>
          <a:p>
            <a:pPr>
              <a:lnSpc>
                <a:spcPct val="100000"/>
              </a:lnSpc>
              <a:spcBef>
                <a:spcPts val="281"/>
              </a:spcBef>
            </a:pP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&lt;script&gt;</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let x = -1 / 0;</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document.getElementById("demo").innerHTML = x;</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&lt;/script&gt;</a:t>
            </a:r>
            <a:endParaRPr lang="en-IN" sz="1400" b="0" strike="noStrike" spc="-1">
              <a:latin typeface="Arial"/>
            </a:endParaRPr>
          </a:p>
          <a:p>
            <a:pPr>
              <a:lnSpc>
                <a:spcPct val="100000"/>
              </a:lnSpc>
              <a:spcBef>
                <a:spcPts val="281"/>
              </a:spcBef>
            </a:pP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&lt;/body&gt;</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&lt;/html&gt;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Output - </a:t>
            </a:r>
            <a:r>
              <a:rPr lang="en-US" sz="1400" b="1" strike="noStrike" spc="-1">
                <a:solidFill>
                  <a:srgbClr val="000000"/>
                </a:solidFill>
                <a:latin typeface="Calibri"/>
              </a:rPr>
              <a:t>JavaScript Numbers</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The NEGATIVE_INFINITY Property</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NEGATIVE_INFINITY is returned on overflow:</a:t>
            </a:r>
            <a:endParaRPr lang="en-IN" sz="1400" b="0" strike="noStrike" spc="-1">
              <a:latin typeface="Arial"/>
            </a:endParaRPr>
          </a:p>
          <a:p>
            <a:pPr marL="343080" indent="-342360">
              <a:lnSpc>
                <a:spcPct val="100000"/>
              </a:lnSpc>
              <a:spcBef>
                <a:spcPts val="281"/>
              </a:spcBef>
              <a:buClr>
                <a:srgbClr val="000000"/>
              </a:buClr>
              <a:buFont typeface="Arial"/>
              <a:buChar char="•"/>
            </a:pPr>
            <a:r>
              <a:rPr lang="en-US" sz="1400" b="1" strike="noStrike" spc="-1">
                <a:solidFill>
                  <a:srgbClr val="000000"/>
                </a:solidFill>
                <a:latin typeface="Calibri"/>
              </a:rPr>
              <a:t>-Infinity</a:t>
            </a:r>
            <a:endParaRPr lang="en-IN" sz="1400" b="0" strike="noStrike" spc="-1">
              <a:latin typeface="Arial"/>
            </a:endParaRPr>
          </a:p>
          <a:p>
            <a:pPr marL="343080" indent="-342360">
              <a:lnSpc>
                <a:spcPct val="100000"/>
              </a:lnSpc>
              <a:spcBef>
                <a:spcPts val="281"/>
              </a:spcBef>
              <a:tabLst>
                <a:tab pos="0" algn="l"/>
              </a:tabLst>
            </a:pPr>
            <a:endParaRPr lang="en-IN" sz="14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89500" lnSpcReduction="10000"/>
          </a:bodyPr>
          <a:lstStyle/>
          <a:p>
            <a:pPr algn="ctr">
              <a:lnSpc>
                <a:spcPct val="100000"/>
              </a:lnSpc>
            </a:pPr>
            <a:r>
              <a:rPr lang="en-US" sz="2700" b="0" strike="noStrike" spc="-1">
                <a:solidFill>
                  <a:srgbClr val="000000"/>
                </a:solidFill>
                <a:latin typeface="Calibri"/>
              </a:rPr>
              <a:t>Date Get Methods –</a:t>
            </a:r>
            <a:br/>
            <a:r>
              <a:rPr lang="en-US" sz="2700" b="0" strike="noStrike" spc="-1">
                <a:solidFill>
                  <a:srgbClr val="000000"/>
                </a:solidFill>
                <a:latin typeface="Calibri"/>
              </a:rPr>
              <a:t>try - https://www.w3schools.com/js/js_date_methods.asp </a:t>
            </a:r>
            <a:br/>
            <a:endParaRPr lang="en-IN" sz="2700" b="0" strike="noStrike" spc="-1">
              <a:latin typeface="Arial"/>
            </a:endParaRPr>
          </a:p>
        </p:txBody>
      </p:sp>
      <p:pic>
        <p:nvPicPr>
          <p:cNvPr id="175" name="Content Placeholder 3" descr="Screenshot 2024-07-04 153007.png"/>
          <p:cNvPicPr/>
          <p:nvPr/>
        </p:nvPicPr>
        <p:blipFill>
          <a:blip r:embed="rId2" cstate="print"/>
          <a:stretch/>
        </p:blipFill>
        <p:spPr>
          <a:xfrm>
            <a:off x="1123560" y="1700640"/>
            <a:ext cx="6896520" cy="4324320"/>
          </a:xfrm>
          <a:prstGeom prst="rect">
            <a:avLst/>
          </a:prstGeom>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4500"/>
          </a:bodyPr>
          <a:lstStyle/>
          <a:p>
            <a:pPr algn="ctr">
              <a:lnSpc>
                <a:spcPct val="100000"/>
              </a:lnSpc>
            </a:pPr>
            <a:r>
              <a:rPr lang="en-US" sz="2200" b="0" strike="noStrike" spc="-1">
                <a:solidFill>
                  <a:srgbClr val="000000"/>
                </a:solidFill>
                <a:latin typeface="Calibri"/>
              </a:rPr>
              <a:t>Set Date Methods</a:t>
            </a:r>
            <a:br/>
            <a:r>
              <a:rPr lang="en-US" sz="2200" b="0" strike="noStrike" spc="-1">
                <a:solidFill>
                  <a:srgbClr val="000000"/>
                </a:solidFill>
                <a:latin typeface="Calibri"/>
              </a:rPr>
              <a:t>try - https://www.w3schools.com/js/js_date_methods_set.asp </a:t>
            </a:r>
            <a:br/>
            <a:endParaRPr lang="en-IN" sz="2200" b="0" strike="noStrike" spc="-1">
              <a:latin typeface="Arial"/>
            </a:endParaRPr>
          </a:p>
        </p:txBody>
      </p:sp>
      <p:pic>
        <p:nvPicPr>
          <p:cNvPr id="177" name="Content Placeholder 3" descr="Screenshot 2024-07-04 153122.png"/>
          <p:cNvPicPr/>
          <p:nvPr/>
        </p:nvPicPr>
        <p:blipFill>
          <a:blip r:embed="rId2" cstate="print"/>
          <a:stretch/>
        </p:blipFill>
        <p:spPr>
          <a:xfrm>
            <a:off x="938880" y="1600200"/>
            <a:ext cx="7265520" cy="4525200"/>
          </a:xfrm>
          <a:prstGeom prst="rect">
            <a:avLst/>
          </a:prstGeom>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Boolean object</a:t>
            </a:r>
            <a:endParaRPr lang="en-IN" sz="4400" b="0" strike="noStrike" spc="-1">
              <a:latin typeface="Arial"/>
            </a:endParaRPr>
          </a:p>
        </p:txBody>
      </p:sp>
      <p:sp>
        <p:nvSpPr>
          <p:cNvPr id="17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https://www.w3schools.com/js/js_booleans.asp</a:t>
            </a:r>
            <a:endParaRPr lang="en-IN" sz="32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String object</a:t>
            </a:r>
            <a:endParaRPr lang="en-IN" sz="4400" b="0" strike="noStrike" spc="-1">
              <a:latin typeface="Arial"/>
            </a:endParaRPr>
          </a:p>
        </p:txBody>
      </p:sp>
      <p:pic>
        <p:nvPicPr>
          <p:cNvPr id="181" name="Content Placeholder 3" descr="WhatsApp Image 2024-07-04 at 3.50.59 PM.jpeg"/>
          <p:cNvPicPr/>
          <p:nvPr/>
        </p:nvPicPr>
        <p:blipFill>
          <a:blip r:embed="rId2" cstate="print"/>
          <a:stretch/>
        </p:blipFill>
        <p:spPr>
          <a:xfrm>
            <a:off x="457200" y="2212920"/>
            <a:ext cx="8228880" cy="3299400"/>
          </a:xfrm>
          <a:prstGeom prst="rect">
            <a:avLst/>
          </a:prstGeom>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83" name="Content Placeholder 5" descr="WhatsApp Image 2024-07-23 at 2.03.09 PM.jpeg"/>
          <p:cNvPicPr/>
          <p:nvPr/>
        </p:nvPicPr>
        <p:blipFill>
          <a:blip r:embed="rId2" cstate="print"/>
          <a:stretch/>
        </p:blipFill>
        <p:spPr>
          <a:xfrm>
            <a:off x="762120" y="380880"/>
            <a:ext cx="6705000" cy="5744520"/>
          </a:xfrm>
          <a:prstGeom prst="rect">
            <a:avLst/>
          </a:prstGeom>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Creation of object</a:t>
            </a:r>
            <a:endParaRPr lang="en-IN" sz="4400" b="0" strike="noStrike" spc="-1">
              <a:latin typeface="Arial"/>
            </a:endParaRPr>
          </a:p>
        </p:txBody>
      </p:sp>
      <p:sp>
        <p:nvSpPr>
          <p:cNvPr id="18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web designer can create an object and set its properties as per his requirements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object can be created using new expression.</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Initially the object with no properties can be set using following statements</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Myobj = new Object (</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IN" sz="3200" b="0" strike="noStrike" spc="-1">
                <a:solidFill>
                  <a:srgbClr val="000000"/>
                </a:solidFill>
                <a:latin typeface="Calibri"/>
              </a:rPr>
              <a:t>Using dot operator we can set the properties for that object.</a:t>
            </a:r>
            <a:endParaRPr lang="en-IN" sz="32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87" name="Content Placeholder 5" descr="WhatsApp Image 2024-07-23 at 2.09.13 PM.jpeg"/>
          <p:cNvPicPr/>
          <p:nvPr/>
        </p:nvPicPr>
        <p:blipFill>
          <a:blip r:embed="rId2" cstate="print"/>
          <a:stretch/>
        </p:blipFill>
        <p:spPr>
          <a:xfrm>
            <a:off x="1371600" y="380880"/>
            <a:ext cx="5790600" cy="5744520"/>
          </a:xfrm>
          <a:prstGeom prst="rect">
            <a:avLst/>
          </a:prstGeom>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Arrays</a:t>
            </a:r>
            <a:endParaRPr lang="en-IN" sz="4400" b="0" strike="noStrike" spc="-1">
              <a:latin typeface="Arial"/>
            </a:endParaRPr>
          </a:p>
        </p:txBody>
      </p:sp>
      <p:sp>
        <p:nvSpPr>
          <p:cNvPr id="18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49500" lnSpcReduction="20000"/>
          </a:bodyPr>
          <a:lstStyle/>
          <a:p>
            <a:pPr marL="343080" indent="-342360">
              <a:lnSpc>
                <a:spcPct val="100000"/>
              </a:lnSpc>
              <a:spcBef>
                <a:spcPts val="760"/>
              </a:spcBef>
              <a:buClr>
                <a:srgbClr val="000000"/>
              </a:buClr>
              <a:buFont typeface="Arial"/>
              <a:buChar char="•"/>
            </a:pPr>
            <a:r>
              <a:rPr lang="en-IN" sz="3800" b="0" strike="noStrike" spc="-1">
                <a:solidFill>
                  <a:srgbClr val="000000"/>
                </a:solidFill>
                <a:latin typeface="Times New Roman"/>
              </a:rPr>
              <a:t>Array is a collection of similar type of elements which can be referred any a common name.</a:t>
            </a:r>
            <a:endParaRPr lang="en-IN" sz="3800" b="0" strike="noStrike" spc="-1">
              <a:latin typeface="Arial"/>
            </a:endParaRPr>
          </a:p>
          <a:p>
            <a:pPr marL="343080" indent="-342360">
              <a:lnSpc>
                <a:spcPct val="100000"/>
              </a:lnSpc>
              <a:spcBef>
                <a:spcPts val="760"/>
              </a:spcBef>
              <a:buClr>
                <a:srgbClr val="000000"/>
              </a:buClr>
              <a:buFont typeface="Arial"/>
              <a:buChar char="•"/>
            </a:pPr>
            <a:r>
              <a:rPr lang="en-IN" sz="3800" b="0" strike="noStrike" spc="-1">
                <a:solidFill>
                  <a:srgbClr val="000000"/>
                </a:solidFill>
                <a:latin typeface="Times New Roman"/>
              </a:rPr>
              <a:t>The particular position of element in an array is called array index or subscript.</a:t>
            </a:r>
            <a:endParaRPr lang="en-IN" sz="3800" b="0" strike="noStrike" spc="-1">
              <a:latin typeface="Arial"/>
            </a:endParaRPr>
          </a:p>
          <a:p>
            <a:pPr marL="343080" indent="-342360">
              <a:lnSpc>
                <a:spcPct val="100000"/>
              </a:lnSpc>
              <a:spcBef>
                <a:spcPts val="760"/>
              </a:spcBef>
              <a:buClr>
                <a:srgbClr val="000000"/>
              </a:buClr>
              <a:buFont typeface="Arial"/>
              <a:buChar char="•"/>
            </a:pPr>
            <a:r>
              <a:rPr lang="en-IN" sz="3800" b="0" strike="noStrike" spc="-1">
                <a:solidFill>
                  <a:srgbClr val="000000"/>
                </a:solidFill>
                <a:latin typeface="Times New Roman"/>
              </a:rPr>
              <a:t>Declaring an Array – </a:t>
            </a:r>
            <a:endParaRPr lang="en-IN" sz="3800" b="0" strike="noStrike" spc="-1">
              <a:latin typeface="Arial"/>
            </a:endParaRPr>
          </a:p>
          <a:p>
            <a:pPr marL="343080" indent="-342360">
              <a:lnSpc>
                <a:spcPct val="100000"/>
              </a:lnSpc>
              <a:spcBef>
                <a:spcPts val="760"/>
              </a:spcBef>
              <a:buClr>
                <a:srgbClr val="000000"/>
              </a:buClr>
              <a:buFont typeface="Arial"/>
              <a:buChar char="•"/>
            </a:pPr>
            <a:r>
              <a:rPr lang="en-IN" sz="3800" b="0" strike="noStrike" spc="-1">
                <a:solidFill>
                  <a:srgbClr val="000000"/>
                </a:solidFill>
                <a:latin typeface="Times New Roman"/>
              </a:rPr>
              <a:t>In javascript the array can be created using </a:t>
            </a:r>
            <a:r>
              <a:rPr lang="en-IN" sz="3800" b="1" strike="noStrike" spc="-1">
                <a:solidFill>
                  <a:srgbClr val="000000"/>
                </a:solidFill>
                <a:latin typeface="Times New Roman"/>
              </a:rPr>
              <a:t>Array</a:t>
            </a:r>
            <a:r>
              <a:rPr lang="en-IN" sz="3800" b="0" strike="noStrike" spc="-1">
                <a:solidFill>
                  <a:srgbClr val="000000"/>
                </a:solidFill>
                <a:latin typeface="Times New Roman"/>
              </a:rPr>
              <a:t> object</a:t>
            </a:r>
            <a:endParaRPr lang="en-IN" sz="3800" b="0" strike="noStrike" spc="-1">
              <a:latin typeface="Arial"/>
            </a:endParaRPr>
          </a:p>
          <a:p>
            <a:pPr marL="343080" indent="-342360">
              <a:lnSpc>
                <a:spcPct val="100000"/>
              </a:lnSpc>
              <a:spcBef>
                <a:spcPts val="760"/>
              </a:spcBef>
              <a:buClr>
                <a:srgbClr val="000000"/>
              </a:buClr>
              <a:buFont typeface="Arial"/>
              <a:buChar char="•"/>
            </a:pPr>
            <a:r>
              <a:rPr lang="en-IN" sz="3800" b="0" strike="noStrike" spc="-1">
                <a:solidFill>
                  <a:srgbClr val="000000"/>
                </a:solidFill>
                <a:latin typeface="Times New Roman"/>
              </a:rPr>
              <a:t>Suppose, we want to create an array of 10 elements then we can write,</a:t>
            </a:r>
            <a:endParaRPr lang="en-IN" sz="3800" b="0" strike="noStrike" spc="-1">
              <a:latin typeface="Arial"/>
            </a:endParaRPr>
          </a:p>
          <a:p>
            <a:pPr marL="343080" indent="-342360">
              <a:lnSpc>
                <a:spcPct val="100000"/>
              </a:lnSpc>
              <a:spcBef>
                <a:spcPts val="760"/>
              </a:spcBef>
              <a:tabLst>
                <a:tab pos="0" algn="l"/>
              </a:tabLst>
            </a:pPr>
            <a:r>
              <a:rPr lang="en-IN" sz="3800" b="0" strike="noStrike" spc="-1">
                <a:solidFill>
                  <a:srgbClr val="000000"/>
                </a:solidFill>
                <a:latin typeface="Times New Roman"/>
              </a:rPr>
              <a:t>     var ar = new Array(10);</a:t>
            </a:r>
            <a:endParaRPr lang="en-IN" sz="3800" b="0" strike="noStrike" spc="-1">
              <a:latin typeface="Arial"/>
            </a:endParaRPr>
          </a:p>
          <a:p>
            <a:pPr marL="343080" indent="-342360">
              <a:lnSpc>
                <a:spcPct val="100000"/>
              </a:lnSpc>
              <a:spcBef>
                <a:spcPts val="760"/>
              </a:spcBef>
              <a:buClr>
                <a:srgbClr val="000000"/>
              </a:buClr>
              <a:buFont typeface="Arial"/>
              <a:buChar char="•"/>
              <a:tabLst>
                <a:tab pos="0" algn="l"/>
              </a:tabLst>
            </a:pPr>
            <a:r>
              <a:rPr lang="en-IN" sz="3800" b="0" strike="noStrike" spc="-1">
                <a:solidFill>
                  <a:srgbClr val="000000"/>
                </a:solidFill>
                <a:latin typeface="Times New Roman"/>
              </a:rPr>
              <a:t>Using new operator we can allocate the memory dynamically for the arrays.</a:t>
            </a:r>
            <a:endParaRPr lang="en-IN" sz="3800" b="0" strike="noStrike" spc="-1">
              <a:latin typeface="Arial"/>
            </a:endParaRPr>
          </a:p>
          <a:p>
            <a:pPr marL="343080" indent="-342360">
              <a:lnSpc>
                <a:spcPct val="100000"/>
              </a:lnSpc>
              <a:spcBef>
                <a:spcPts val="760"/>
              </a:spcBef>
              <a:buClr>
                <a:srgbClr val="000000"/>
              </a:buClr>
              <a:buFont typeface="Arial"/>
              <a:buChar char="•"/>
              <a:tabLst>
                <a:tab pos="0" algn="l"/>
              </a:tabLst>
            </a:pPr>
            <a:r>
              <a:rPr lang="en-IN" sz="3800" b="0" strike="noStrike" spc="-1">
                <a:solidFill>
                  <a:srgbClr val="000000"/>
                </a:solidFill>
                <a:latin typeface="Times New Roman"/>
              </a:rPr>
              <a:t>In the brackets the size of array is mentioned and the var ar denotes the name of the array.</a:t>
            </a:r>
            <a:endParaRPr lang="en-IN" sz="3800" b="0" strike="noStrike" spc="-1">
              <a:latin typeface="Arial"/>
            </a:endParaRPr>
          </a:p>
          <a:p>
            <a:pPr marL="343080" indent="-342360">
              <a:lnSpc>
                <a:spcPct val="100000"/>
              </a:lnSpc>
              <a:spcBef>
                <a:spcPts val="760"/>
              </a:spcBef>
              <a:buClr>
                <a:srgbClr val="000000"/>
              </a:buClr>
              <a:buFont typeface="Arial"/>
              <a:buChar char="•"/>
              <a:tabLst>
                <a:tab pos="0" algn="l"/>
              </a:tabLst>
            </a:pPr>
            <a:r>
              <a:rPr lang="en-IN" sz="3800" b="0" strike="noStrike" spc="-1">
                <a:solidFill>
                  <a:srgbClr val="000000"/>
                </a:solidFill>
                <a:latin typeface="Times New Roman"/>
              </a:rPr>
              <a:t>Thus arrary ar will be created in which we can store 10 elements at the most</a:t>
            </a:r>
            <a:r>
              <a:rPr lang="en-IN" sz="3200" b="0" strike="noStrike" spc="-1">
                <a:solidFill>
                  <a:srgbClr val="000000"/>
                </a:solidFill>
                <a:latin typeface="Calibri"/>
              </a:rPr>
              <a:t>.</a:t>
            </a:r>
            <a:endParaRPr lang="en-IN" sz="3200" b="0" strike="noStrike" spc="-1">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Defining an Array Elements</a:t>
            </a:r>
            <a:endParaRPr lang="en-IN" sz="4400" b="0" strike="noStrike" spc="-1">
              <a:latin typeface="Arial"/>
            </a:endParaRPr>
          </a:p>
        </p:txBody>
      </p:sp>
      <p:sp>
        <p:nvSpPr>
          <p:cNvPr id="19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Var mylist = new Array(10,20,30,40,50)</a:t>
            </a:r>
            <a:endParaRPr lang="en-IN" sz="3200" b="0" strike="noStrike" spc="-1">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193" name="Content Placeholder 3" descr="WhatsApp Image 2024-07-11 at 11.54.20 AM.jpeg"/>
          <p:cNvPicPr/>
          <p:nvPr/>
        </p:nvPicPr>
        <p:blipFill>
          <a:blip r:embed="rId2" cstate="print"/>
          <a:stretch/>
        </p:blipFill>
        <p:spPr>
          <a:xfrm>
            <a:off x="990720" y="304920"/>
            <a:ext cx="7466760" cy="5820480"/>
          </a:xfrm>
          <a:prstGeom prst="rect">
            <a:avLst/>
          </a:prstGeom>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Looping an Array</a:t>
            </a:r>
            <a:endParaRPr lang="en-IN" sz="4400" b="0" strike="noStrike" spc="-1">
              <a:latin typeface="Arial"/>
            </a:endParaRPr>
          </a:p>
        </p:txBody>
      </p:sp>
      <p:pic>
        <p:nvPicPr>
          <p:cNvPr id="195" name="Content Placeholder 3" descr="WhatsApp Image 2024-07-11 at 12.03.53 PM.jpeg"/>
          <p:cNvPicPr/>
          <p:nvPr/>
        </p:nvPicPr>
        <p:blipFill>
          <a:blip r:embed="rId2" cstate="print"/>
          <a:stretch/>
        </p:blipFill>
        <p:spPr>
          <a:xfrm>
            <a:off x="1752480" y="1523880"/>
            <a:ext cx="6095160" cy="5058720"/>
          </a:xfrm>
          <a:prstGeom prst="rect">
            <a:avLst/>
          </a:prstGeom>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Adding an Array element</a:t>
            </a:r>
            <a:endParaRPr lang="en-IN" sz="4400" b="0" strike="noStrike" spc="-1">
              <a:latin typeface="Arial"/>
            </a:endParaRPr>
          </a:p>
        </p:txBody>
      </p:sp>
      <p:sp>
        <p:nvSpPr>
          <p:cNvPr id="19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52500" lnSpcReduction="2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We can add the element in the array at the end.</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This increase the size of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Ex    a=new Array()</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a[0] = 10;</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A[1] = 20;</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Document.write(“the elements in array are: ”);</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For(i=0;i&lt;a.length;i++)</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document.write(a[i]+” ”);       //10 20</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a[a.length] = 30;</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For(i=0;i&lt;a.length;i++)</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document.write(a[i]+” ”);        // 10 20 30</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tabLst>
                <a:tab pos="0" algn="l"/>
              </a:tabLst>
            </a:pPr>
            <a:endParaRPr lang="en-IN" sz="3200" b="0" strike="noStrike" spc="-1">
              <a:latin typeface="Arial"/>
            </a:endParaRPr>
          </a:p>
          <a:p>
            <a:pPr marL="343080" indent="-342360">
              <a:lnSpc>
                <a:spcPct val="100000"/>
              </a:lnSpc>
              <a:spcBef>
                <a:spcPts val="641"/>
              </a:spcBef>
              <a:tabLst>
                <a:tab pos="0" algn="l"/>
              </a:tabLst>
            </a:pPr>
            <a:endParaRPr lang="en-IN" sz="32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Sorting an Array Element</a:t>
            </a:r>
            <a:endParaRPr lang="en-IN" sz="4400" b="0" strike="noStrike" spc="-1">
              <a:latin typeface="Arial"/>
            </a:endParaRPr>
          </a:p>
        </p:txBody>
      </p:sp>
      <p:sp>
        <p:nvSpPr>
          <p:cNvPr id="19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elements can be sorted using the built in function </a:t>
            </a:r>
            <a:r>
              <a:rPr lang="en-IN" sz="3200" b="1" strike="noStrike" spc="-1">
                <a:solidFill>
                  <a:srgbClr val="000000"/>
                </a:solidFill>
                <a:latin typeface="Calibri"/>
              </a:rPr>
              <a:t>sort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Sorting is basically a process of arranging the elements in ascending order or increasing order.</a:t>
            </a:r>
            <a:endParaRPr lang="en-IN" sz="32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01" name="Content Placeholder 3" descr="WhatsApp Image 2024-07-11 at 12.35.20 PM.jpeg"/>
          <p:cNvPicPr/>
          <p:nvPr/>
        </p:nvPicPr>
        <p:blipFill>
          <a:blip r:embed="rId2" cstate="print"/>
          <a:stretch/>
        </p:blipFill>
        <p:spPr>
          <a:xfrm>
            <a:off x="1676520" y="914400"/>
            <a:ext cx="5942880" cy="5211000"/>
          </a:xfrm>
          <a:prstGeom prst="rect">
            <a:avLst/>
          </a:prstGeom>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a:bodyPr>
          <a:lstStyle/>
          <a:p>
            <a:pPr algn="ctr">
              <a:lnSpc>
                <a:spcPct val="100000"/>
              </a:lnSpc>
            </a:pPr>
            <a:r>
              <a:rPr lang="en-IN" sz="4400" b="0" strike="noStrike" spc="-1">
                <a:solidFill>
                  <a:srgbClr val="000000"/>
                </a:solidFill>
                <a:latin typeface="Calibri"/>
              </a:rPr>
              <a:t>Combining Array Elements into String</a:t>
            </a:r>
            <a:endParaRPr lang="en-IN" sz="4400" b="0" strike="noStrike" spc="-1">
              <a:latin typeface="Arial"/>
            </a:endParaRPr>
          </a:p>
        </p:txBody>
      </p:sp>
      <p:sp>
        <p:nvSpPr>
          <p:cNvPr id="20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75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In JavaScript it is possible to combine the array elements into string.</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We need to use functions for combining array elements into string and those are – join() and concat()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There is difference between join() and concat() funtion. The concat() method separates each value with a comma. The join() method also uses a comma to separate values, but you can specify a character other than a comma to separate values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05" name="Content Placeholder 5" descr="WhatsApp Image 2024-07-11 at 3.01.18 PM.jpeg"/>
          <p:cNvPicPr/>
          <p:nvPr/>
        </p:nvPicPr>
        <p:blipFill>
          <a:blip r:embed="rId2" cstate="print"/>
          <a:stretch/>
        </p:blipFill>
        <p:spPr>
          <a:xfrm>
            <a:off x="1447920" y="304920"/>
            <a:ext cx="6171480" cy="5668200"/>
          </a:xfrm>
          <a:prstGeom prst="rect">
            <a:avLst/>
          </a:prstGeom>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0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Output – The join() method</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Red orange yellow green blue indigo violet</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The concat() method</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Red,orange,yellow,green,indigo,violet</a:t>
            </a:r>
            <a:endParaRPr lang="en-IN" sz="32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Changing Elements of an Array</a:t>
            </a:r>
            <a:endParaRPr lang="en-IN" sz="4400" b="0" strike="noStrike" spc="-1">
              <a:latin typeface="Arial"/>
            </a:endParaRPr>
          </a:p>
        </p:txBody>
      </p:sp>
      <p:sp>
        <p:nvSpPr>
          <p:cNvPr id="20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75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shift() method removes </a:t>
            </a:r>
            <a:r>
              <a:rPr lang="en-US" sz="3200" b="1" strike="noStrike" spc="-1">
                <a:solidFill>
                  <a:srgbClr val="000000"/>
                </a:solidFill>
                <a:latin typeface="Calibri"/>
              </a:rPr>
              <a:t>the first item</a:t>
            </a:r>
            <a:r>
              <a:rPr lang="en-US" sz="3200" b="0" strike="noStrike" spc="-1">
                <a:solidFill>
                  <a:srgbClr val="000000"/>
                </a:solidFill>
                <a:latin typeface="Calibri"/>
              </a:rPr>
              <a:t> of an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unshift() method adds new elements to </a:t>
            </a:r>
            <a:r>
              <a:rPr lang="en-US" sz="3200" b="1" strike="noStrike" spc="-1">
                <a:solidFill>
                  <a:srgbClr val="000000"/>
                </a:solidFill>
                <a:latin typeface="Calibri"/>
              </a:rPr>
              <a:t>the beginning</a:t>
            </a:r>
            <a:r>
              <a:rPr lang="en-US" sz="3200" b="0" strike="noStrike" spc="-1">
                <a:solidFill>
                  <a:srgbClr val="000000"/>
                </a:solidFill>
                <a:latin typeface="Calibri"/>
              </a:rPr>
              <a:t> of an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unshift() method overwrites the original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push() method adds new items </a:t>
            </a:r>
            <a:r>
              <a:rPr lang="en-US" sz="3200" b="1" strike="noStrike" spc="-1">
                <a:solidFill>
                  <a:srgbClr val="000000"/>
                </a:solidFill>
                <a:latin typeface="Calibri"/>
              </a:rPr>
              <a:t>to the end</a:t>
            </a:r>
            <a:r>
              <a:rPr lang="en-US" sz="3200" b="0" strike="noStrike" spc="-1">
                <a:solidFill>
                  <a:srgbClr val="000000"/>
                </a:solidFill>
                <a:latin typeface="Calibri"/>
              </a:rPr>
              <a:t> of an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push() method changes the length of the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push() method returns the new length.</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pop() method removes (pops) </a:t>
            </a:r>
            <a:r>
              <a:rPr lang="en-US" sz="3200" b="1" strike="noStrike" spc="-1">
                <a:solidFill>
                  <a:srgbClr val="000000"/>
                </a:solidFill>
                <a:latin typeface="Calibri"/>
              </a:rPr>
              <a:t>the last element</a:t>
            </a:r>
            <a:r>
              <a:rPr lang="en-US" sz="3200" b="0" strike="noStrike" spc="-1">
                <a:solidFill>
                  <a:srgbClr val="000000"/>
                </a:solidFill>
                <a:latin typeface="Calibri"/>
              </a:rPr>
              <a:t> of an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pop() method changes the original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pop() method returns the removed element.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Try - https://www.w3schools.com/jsref/jsref_shift.asp</a:t>
            </a:r>
            <a:endParaRPr lang="en-IN" sz="32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JavaScript Array reverse()</a:t>
            </a:r>
            <a:br/>
            <a:endParaRPr lang="en-IN" sz="4400" b="0" strike="noStrike" spc="-1">
              <a:latin typeface="Arial"/>
            </a:endParaRPr>
          </a:p>
        </p:txBody>
      </p:sp>
      <p:sp>
        <p:nvSpPr>
          <p:cNvPr id="21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10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reverse() method reverses the order of the elements in an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reverse() method overwrites the original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Create an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const fruits = ["Banana", "Orange", "Apple", "Mango"];</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Reverse the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const fruits2 = fruits.reverse();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document.getElementById("demo").innerHTML = fruits2;</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Manipulating a string</a:t>
            </a:r>
            <a:endParaRPr lang="en-IN" sz="4400" b="0" strike="noStrike" spc="-1">
              <a:latin typeface="Arial"/>
            </a:endParaRPr>
          </a:p>
        </p:txBody>
      </p:sp>
      <p:sp>
        <p:nvSpPr>
          <p:cNvPr id="21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Joining a string – we can join two strings using + operator .</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Ex. – var firstname = “AAA”</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var lastname = “BBB”</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var name = firstname + lastname</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output – AAA BBB</a:t>
            </a:r>
            <a:endParaRPr lang="en-IN" sz="3200" b="0" strike="noStrike" spc="-1">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IN" sz="4400" b="0" strike="noStrike" spc="-1">
                <a:solidFill>
                  <a:srgbClr val="000000"/>
                </a:solidFill>
                <a:latin typeface="Calibri"/>
              </a:rPr>
              <a:t>Receiving a character from given position</a:t>
            </a:r>
            <a:endParaRPr lang="en-IN" sz="4400" b="0" strike="noStrike" spc="-1">
              <a:latin typeface="Arial"/>
            </a:endParaRPr>
          </a:p>
        </p:txBody>
      </p:sp>
      <p:sp>
        <p:nvSpPr>
          <p:cNvPr id="21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charAt() method returns the character at a specified index (position) in a string.</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index of the first character is 0, the second 1, ...</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Try - https://www.w3schools.com/jsref/jsref_charat.asp</a:t>
            </a:r>
            <a:endParaRPr lang="en-IN" sz="3200" b="0" strike="noStrike" spc="-1">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Dividing text</a:t>
            </a:r>
            <a:endParaRPr lang="en-IN" sz="4400" b="0" strike="noStrike" spc="-1">
              <a:latin typeface="Arial"/>
            </a:endParaRPr>
          </a:p>
        </p:txBody>
      </p:sp>
      <p:sp>
        <p:nvSpPr>
          <p:cNvPr id="21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split() method splits a string into an array of substrings.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split() method returns the new array.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split() method does not change the original string.</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split() method creates a new array and then copies portions of the string called substring, into its array element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If (" ") is used as separator, the string is split between words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19" name="Content Placeholder 3" descr="WhatsApp Image 2024-07-12 at 10.57.38 AM.jpeg"/>
          <p:cNvPicPr/>
          <p:nvPr/>
        </p:nvPicPr>
        <p:blipFill>
          <a:blip r:embed="rId2" cstate="print"/>
          <a:stretch/>
        </p:blipFill>
        <p:spPr>
          <a:xfrm>
            <a:off x="457200" y="1066680"/>
            <a:ext cx="8228880" cy="4723560"/>
          </a:xfrm>
          <a:prstGeom prst="rect">
            <a:avLst/>
          </a:prstGeom>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21" name="Content Placeholder 3" descr="WhatsApp Image 2024-07-12 at 10.57.24 AM.jpeg"/>
          <p:cNvPicPr/>
          <p:nvPr/>
        </p:nvPicPr>
        <p:blipFill>
          <a:blip r:embed="rId2" cstate="print"/>
          <a:stretch/>
        </p:blipFill>
        <p:spPr>
          <a:xfrm>
            <a:off x="1295280" y="914400"/>
            <a:ext cx="6412320" cy="5211000"/>
          </a:xfrm>
          <a:prstGeom prst="rect">
            <a:avLst/>
          </a:prstGeom>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Copying a substring</a:t>
            </a:r>
            <a:endParaRPr lang="en-IN" sz="4400" b="0" strike="noStrike" spc="-1">
              <a:latin typeface="Arial"/>
            </a:endParaRPr>
          </a:p>
        </p:txBody>
      </p:sp>
      <p:sp>
        <p:nvSpPr>
          <p:cNvPr id="22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syntax of substring is :</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substring (start, end)</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IN" sz="3200" b="0" strike="noStrike" spc="-1">
                <a:solidFill>
                  <a:srgbClr val="000000"/>
                </a:solidFill>
                <a:latin typeface="Calibri"/>
              </a:rPr>
              <a:t> where start indicates the starting index and end indicates the ending index for extracting substring. </a:t>
            </a:r>
            <a:endParaRPr lang="en-IN" sz="3200" b="0" strike="noStrike" spc="-1">
              <a:latin typeface="Arial"/>
            </a:endParaRPr>
          </a:p>
          <a:p>
            <a:pPr marL="343080" indent="-342360">
              <a:lnSpc>
                <a:spcPct val="100000"/>
              </a:lnSpc>
              <a:spcBef>
                <a:spcPts val="641"/>
              </a:spcBef>
              <a:buClr>
                <a:srgbClr val="000000"/>
              </a:buClr>
              <a:buFont typeface="Arial"/>
              <a:buChar char="•"/>
              <a:tabLst>
                <a:tab pos="0" algn="l"/>
              </a:tabLst>
            </a:pPr>
            <a:r>
              <a:rPr lang="en-US" sz="3200" b="0" u="sng" strike="noStrike" spc="-1">
                <a:solidFill>
                  <a:srgbClr val="0000FF"/>
                </a:solidFill>
                <a:uFillTx/>
                <a:latin typeface="Calibri"/>
                <a:hlinkClick r:id="rId2"/>
              </a:rPr>
              <a:t>substr()</a:t>
            </a:r>
            <a:r>
              <a:rPr lang="en-US" sz="3200" b="0" strike="noStrike" spc="-1">
                <a:solidFill>
                  <a:srgbClr val="000000"/>
                </a:solidFill>
                <a:latin typeface="Calibri"/>
              </a:rPr>
              <a:t> and </a:t>
            </a:r>
            <a:r>
              <a:rPr lang="en-US" sz="3200" b="0" u="sng" strike="noStrike" spc="-1">
                <a:solidFill>
                  <a:srgbClr val="0000FF"/>
                </a:solidFill>
                <a:uFillTx/>
                <a:latin typeface="Calibri"/>
                <a:hlinkClick r:id="rId3"/>
              </a:rPr>
              <a:t>substring() </a:t>
            </a:r>
            <a:r>
              <a:rPr lang="en-US" sz="3200" b="0" strike="noStrike" spc="-1">
                <a:solidFill>
                  <a:srgbClr val="000000"/>
                </a:solidFill>
                <a:latin typeface="Calibri"/>
              </a:rPr>
              <a:t>are string methods used to extract parts of a string. The main difference is that substr() accepts a length parameter, while substring() accepts start and end indices.</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sunstr (start, length) </a:t>
            </a:r>
            <a:endParaRPr lang="en-IN" sz="3200" b="0" strike="noStrike" spc="-1">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IN" sz="4400" b="0" strike="noStrike" spc="-1">
                <a:solidFill>
                  <a:srgbClr val="000000"/>
                </a:solidFill>
                <a:latin typeface="Calibri"/>
              </a:rPr>
              <a:t>Converting string to number and number to string</a:t>
            </a:r>
            <a:endParaRPr lang="en-IN" sz="4400" b="0" strike="noStrike" spc="-1">
              <a:latin typeface="Arial"/>
            </a:endParaRPr>
          </a:p>
        </p:txBody>
      </p:sp>
      <p:sp>
        <p:nvSpPr>
          <p:cNvPr id="22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paeseInt() -  it is used </a:t>
            </a:r>
            <a:r>
              <a:rPr lang="en-US" sz="3200" b="0" strike="noStrike" spc="-1">
                <a:solidFill>
                  <a:srgbClr val="000000"/>
                </a:solidFill>
                <a:latin typeface="Calibri"/>
              </a:rPr>
              <a:t> to convert a string into an integer.</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parseFloat() – it is used to convert string into float</a:t>
            </a:r>
            <a:endParaRPr lang="en-IN" sz="3200" b="0" strike="noStrike" spc="-1">
              <a:latin typeface="Arial"/>
            </a:endParaRPr>
          </a:p>
          <a:p>
            <a:pPr marL="343080" indent="-342360">
              <a:lnSpc>
                <a:spcPct val="100000"/>
              </a:lnSpc>
              <a:spcBef>
                <a:spcPts val="641"/>
              </a:spcBef>
              <a:tabLst>
                <a:tab pos="0" algn="l"/>
              </a:tabLst>
            </a:pPr>
            <a:r>
              <a:rPr lang="en-US" sz="3200" b="1" strike="noStrike" spc="-1">
                <a:solidFill>
                  <a:srgbClr val="000000"/>
                </a:solidFill>
                <a:latin typeface="Calibri"/>
              </a:rPr>
              <a:t>    let</a:t>
            </a:r>
            <a:r>
              <a:rPr lang="en-US" sz="3200" b="0" strike="noStrike" spc="-1">
                <a:solidFill>
                  <a:srgbClr val="000000"/>
                </a:solidFill>
                <a:latin typeface="Calibri"/>
              </a:rPr>
              <a:t> a = "100";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console.log("Type of a before conversion: " + </a:t>
            </a:r>
            <a:r>
              <a:rPr lang="en-US" sz="3200" b="1" strike="noStrike" spc="-1">
                <a:solidFill>
                  <a:srgbClr val="000000"/>
                </a:solidFill>
                <a:latin typeface="Calibri"/>
              </a:rPr>
              <a:t>typeof</a:t>
            </a:r>
            <a:r>
              <a:rPr lang="en-US" sz="3200" b="0" strike="noStrike" spc="-1">
                <a:solidFill>
                  <a:srgbClr val="000000"/>
                </a:solidFill>
                <a:latin typeface="Calibri"/>
              </a:rPr>
              <a:t> a);  //o/p - string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console.log("Type of a after conversion: " + </a:t>
            </a:r>
            <a:r>
              <a:rPr lang="en-US" sz="3200" b="1" strike="noStrike" spc="-1">
                <a:solidFill>
                  <a:srgbClr val="000000"/>
                </a:solidFill>
                <a:latin typeface="Calibri"/>
              </a:rPr>
              <a:t>typeof</a:t>
            </a:r>
            <a:r>
              <a:rPr lang="en-US" sz="3200" b="0" strike="noStrike" spc="-1">
                <a:solidFill>
                  <a:srgbClr val="000000"/>
                </a:solidFill>
                <a:latin typeface="Calibri"/>
              </a:rPr>
              <a:t> parseInt(a)); // o/p number</a:t>
            </a:r>
            <a:endParaRPr lang="en-IN" sz="3200" b="0" strike="noStrike" spc="-1">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Changing case of string</a:t>
            </a:r>
            <a:endParaRPr lang="en-IN" sz="4400" b="0" strike="noStrike" spc="-1">
              <a:latin typeface="Arial"/>
            </a:endParaRPr>
          </a:p>
        </p:txBody>
      </p:sp>
      <p:sp>
        <p:nvSpPr>
          <p:cNvPr id="22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Using toLowerCase() we can convert the capital letters in the string to small letter</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Using toUpperCase() method we can convert the small letters to capital letters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EX – var str = “WELCOME FRIENDS”</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var newstr = str.toLowerCase()</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var str1= “welcome friends”</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var newstr1 = str.toUpperCase()</a:t>
            </a:r>
            <a:endParaRPr lang="en-IN" sz="3200" b="0" strike="noStrike" spc="-1">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Code Debugging</a:t>
            </a:r>
            <a:br/>
            <a:endParaRPr lang="en-IN" sz="4400" b="0" strike="noStrike" spc="-1">
              <a:latin typeface="Arial"/>
            </a:endParaRPr>
          </a:p>
        </p:txBody>
      </p:sp>
      <p:sp>
        <p:nvSpPr>
          <p:cNvPr id="22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3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Programming code might contain syntax errors, or logical errors.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Many of these errors are difficult to diagnose.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Often, when programming code contains errors, nothing will happen. There are no error messages, and you will get no indications where to search for errors.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Searching for (and fixing) errors in programming code is called code debugging.</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JavaScript Debuggers</a:t>
            </a:r>
            <a:br/>
            <a:endParaRPr lang="en-IN" sz="4400" b="0" strike="noStrike" spc="-1">
              <a:latin typeface="Arial"/>
            </a:endParaRPr>
          </a:p>
        </p:txBody>
      </p:sp>
      <p:sp>
        <p:nvSpPr>
          <p:cNvPr id="23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85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With a debugger, you can also set breakpoints (places where code execution can be stopped), and examine variables while the code is executing.</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Normally (otherwise follow the steps at the bottom of this page), you activate debugging in your browser with the F12 key, and select "Console" in the debugger menu.</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If your browser supports debugging, you can use console.log() to display JavaScript values in the debugger window:</a:t>
            </a:r>
            <a:endParaRPr lang="en-IN" sz="3200" b="0" strike="noStrike" spc="-1">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DOM (Document Object Model)</a:t>
            </a:r>
            <a:endParaRPr lang="en-IN" sz="4400" b="0" strike="noStrike" spc="-1">
              <a:latin typeface="Arial"/>
            </a:endParaRPr>
          </a:p>
        </p:txBody>
      </p:sp>
      <p:sp>
        <p:nvSpPr>
          <p:cNvPr id="23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7000" lnSpcReduction="2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With the help of DOM we can add dynamic content to your web page.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i="1" strike="noStrike" spc="-1">
                <a:solidFill>
                  <a:srgbClr val="000000"/>
                </a:solidFill>
                <a:latin typeface="Calibri"/>
              </a:rPr>
              <a:t>Document Object Model is an </a:t>
            </a:r>
            <a:r>
              <a:rPr lang="en-US" sz="3200" b="1" i="1" strike="noStrike" spc="-1">
                <a:solidFill>
                  <a:srgbClr val="000000"/>
                </a:solidFill>
                <a:latin typeface="Calibri"/>
              </a:rPr>
              <a:t>API (Application Programming Interface)</a:t>
            </a:r>
            <a:r>
              <a:rPr lang="en-US" sz="3200" b="0" i="1" strike="noStrike" spc="-1">
                <a:solidFill>
                  <a:srgbClr val="000000"/>
                </a:solidFill>
                <a:latin typeface="Calibri"/>
              </a:rPr>
              <a:t>that represents and interacts with HTML or XML documents.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 DOM (Document Object Model)</a:t>
            </a:r>
            <a:r>
              <a:rPr lang="en-US" sz="3200" b="0" strike="noStrike" spc="-1">
                <a:solidFill>
                  <a:srgbClr val="000000"/>
                </a:solidFill>
                <a:latin typeface="Calibri"/>
              </a:rPr>
              <a:t> is a hierarchical representation of HTML documents.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It defines the structure and properties of elements on a webpage, enabling JavaScript to dynamically access, manipulate, and update content, enhancing interactivity and functionality.</a:t>
            </a:r>
            <a:endParaRPr lang="en-IN" sz="3200" b="0" strike="noStrike" spc="-1">
              <a:latin typeface="Arial"/>
            </a:endParaRPr>
          </a:p>
          <a:p>
            <a:pPr marL="343080" indent="-342360">
              <a:lnSpc>
                <a:spcPct val="100000"/>
              </a:lnSpc>
              <a:spcBef>
                <a:spcPts val="641"/>
              </a:spcBef>
              <a:tabLst>
                <a:tab pos="0" algn="l"/>
              </a:tabLst>
            </a:pPr>
            <a:endParaRPr lang="en-IN" sz="3200" b="0" strike="noStrike" spc="-1">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1" strike="noStrike" spc="-1">
                <a:solidFill>
                  <a:srgbClr val="000000"/>
                </a:solidFill>
                <a:latin typeface="Calibri"/>
              </a:rPr>
              <a:t>What is DOM?</a:t>
            </a:r>
            <a:br/>
            <a:endParaRPr lang="en-IN" sz="4400" b="0" strike="noStrike" spc="-1">
              <a:latin typeface="Arial"/>
            </a:endParaRPr>
          </a:p>
        </p:txBody>
      </p:sp>
      <p:sp>
        <p:nvSpPr>
          <p:cNvPr id="23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3000" lnSpcReduction="20000"/>
          </a:bodyPr>
          <a:lstStyle/>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DOM</a:t>
            </a:r>
            <a:r>
              <a:rPr lang="en-US" sz="3200" b="0" strike="noStrike" spc="-1">
                <a:solidFill>
                  <a:srgbClr val="000000"/>
                </a:solidFill>
                <a:latin typeface="Calibri"/>
              </a:rPr>
              <a:t>, or </a:t>
            </a:r>
            <a:r>
              <a:rPr lang="en-US" sz="3200" b="1" strike="noStrike" spc="-1">
                <a:solidFill>
                  <a:srgbClr val="000000"/>
                </a:solidFill>
                <a:latin typeface="Calibri"/>
              </a:rPr>
              <a:t>Document Object Model</a:t>
            </a:r>
            <a:r>
              <a:rPr lang="en-US" sz="3200" b="0" strike="noStrike" spc="-1">
                <a:solidFill>
                  <a:srgbClr val="000000"/>
                </a:solidFill>
                <a:latin typeface="Calibri"/>
              </a:rPr>
              <a:t>, is a programming interface that represents structured documents like </a:t>
            </a:r>
            <a:r>
              <a:rPr lang="en-US" sz="3200" b="0" u="sng" strike="noStrike" spc="-1">
                <a:solidFill>
                  <a:srgbClr val="0000FF"/>
                </a:solidFill>
                <a:uFillTx/>
                <a:latin typeface="Calibri"/>
                <a:hlinkClick r:id="rId2"/>
              </a:rPr>
              <a:t>HTML </a:t>
            </a:r>
            <a:r>
              <a:rPr lang="en-US" sz="3200" b="0" strike="noStrike" spc="-1">
                <a:solidFill>
                  <a:srgbClr val="000000"/>
                </a:solidFill>
                <a:latin typeface="Calibri"/>
              </a:rPr>
              <a:t>and </a:t>
            </a:r>
            <a:r>
              <a:rPr lang="en-US" sz="3200" b="0" u="sng" strike="noStrike" spc="-1">
                <a:solidFill>
                  <a:srgbClr val="0000FF"/>
                </a:solidFill>
                <a:uFillTx/>
                <a:latin typeface="Calibri"/>
                <a:hlinkClick r:id="rId3"/>
              </a:rPr>
              <a:t>XML </a:t>
            </a:r>
            <a:r>
              <a:rPr lang="en-US" sz="3200" b="0" strike="noStrike" spc="-1">
                <a:solidFill>
                  <a:srgbClr val="000000"/>
                </a:solidFill>
                <a:latin typeface="Calibri"/>
              </a:rPr>
              <a:t>as a tree of objects.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It defines how to access, manipulate, and modify document elements using scripting languages like JavaScript.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DOM is a</a:t>
            </a:r>
            <a:r>
              <a:rPr lang="en-US" sz="3200" b="1" strike="noStrike" spc="-1">
                <a:solidFill>
                  <a:srgbClr val="000000"/>
                </a:solidFill>
                <a:latin typeface="Calibri"/>
              </a:rPr>
              <a:t> </a:t>
            </a:r>
            <a:r>
              <a:rPr lang="en-US" sz="3200" b="1" u="sng" strike="noStrike" spc="-1">
                <a:solidFill>
                  <a:srgbClr val="0000FF"/>
                </a:solidFill>
                <a:uFillTx/>
                <a:latin typeface="Calibri"/>
                <a:hlinkClick r:id="rId4"/>
              </a:rPr>
              <a:t>W3C</a:t>
            </a:r>
            <a:r>
              <a:rPr lang="en-US" sz="3200" b="0" u="sng" strike="noStrike" spc="-1">
                <a:solidFill>
                  <a:srgbClr val="0000FF"/>
                </a:solidFill>
                <a:uFillTx/>
                <a:latin typeface="Calibri"/>
                <a:hlinkClick r:id="rId4"/>
              </a:rPr>
              <a:t> </a:t>
            </a:r>
            <a:r>
              <a:rPr lang="en-US" sz="3200" b="0" strike="noStrike" spc="-1">
                <a:solidFill>
                  <a:srgbClr val="000000"/>
                </a:solidFill>
                <a:latin typeface="Calibri"/>
              </a:rPr>
              <a:t>(World Wide Web Consortium) </a:t>
            </a:r>
            <a:r>
              <a:rPr lang="en-US" sz="3200" b="1" strike="noStrike" spc="-1">
                <a:solidFill>
                  <a:srgbClr val="000000"/>
                </a:solidFill>
                <a:latin typeface="Calibri"/>
              </a:rPr>
              <a:t>standard </a:t>
            </a:r>
            <a:r>
              <a:rPr lang="en-US" sz="3200" b="0" strike="noStrike" spc="-1">
                <a:solidFill>
                  <a:srgbClr val="000000"/>
                </a:solidFill>
                <a:latin typeface="Calibri"/>
              </a:rPr>
              <a:t>and it defines a standard for accessing documents.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W3C Dom standard is divided into three different parts: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Core DOM</a:t>
            </a:r>
            <a:r>
              <a:rPr lang="en-US" sz="3200" b="0" strike="noStrike" spc="-1">
                <a:solidFill>
                  <a:srgbClr val="000000"/>
                </a:solidFill>
                <a:latin typeface="Calibri"/>
              </a:rPr>
              <a:t> – standard model for all document types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XML DOM</a:t>
            </a:r>
            <a:r>
              <a:rPr lang="en-US" sz="3200" b="0" strike="noStrike" spc="-1">
                <a:solidFill>
                  <a:srgbClr val="000000"/>
                </a:solidFill>
                <a:latin typeface="Calibri"/>
              </a:rPr>
              <a:t> – standard model for XML documents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HTML DOM</a:t>
            </a:r>
            <a:r>
              <a:rPr lang="en-US" sz="3200" b="0" strike="noStrike" spc="-1">
                <a:solidFill>
                  <a:srgbClr val="000000"/>
                </a:solidFill>
                <a:latin typeface="Calibri"/>
              </a:rPr>
              <a:t> – standard model for HTML documents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1" strike="noStrike" spc="-1">
                <a:solidFill>
                  <a:srgbClr val="000000"/>
                </a:solidFill>
                <a:latin typeface="Calibri"/>
              </a:rPr>
              <a:t>Why is DOM Required?</a:t>
            </a:r>
            <a:br/>
            <a:endParaRPr lang="en-IN" sz="4400" b="0" strike="noStrike" spc="-1">
              <a:latin typeface="Arial"/>
            </a:endParaRPr>
          </a:p>
        </p:txBody>
      </p:sp>
      <p:sp>
        <p:nvSpPr>
          <p:cNvPr id="23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760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HTML is used to </a:t>
            </a:r>
            <a:r>
              <a:rPr lang="en-US" sz="3200" b="1" strike="noStrike" spc="-1">
                <a:solidFill>
                  <a:srgbClr val="000000"/>
                </a:solidFill>
                <a:latin typeface="Calibri"/>
              </a:rPr>
              <a:t>structure </a:t>
            </a:r>
            <a:r>
              <a:rPr lang="en-US" sz="3200" b="0" strike="noStrike" spc="-1">
                <a:solidFill>
                  <a:srgbClr val="000000"/>
                </a:solidFill>
                <a:latin typeface="Calibri"/>
              </a:rPr>
              <a:t>the web pages and </a:t>
            </a:r>
            <a:r>
              <a:rPr lang="en-US" sz="3200" b="1" u="sng" strike="noStrike" spc="-1">
                <a:solidFill>
                  <a:srgbClr val="0000FF"/>
                </a:solidFill>
                <a:uFillTx/>
                <a:latin typeface="Calibri"/>
                <a:hlinkClick r:id="rId2"/>
              </a:rPr>
              <a:t>Javascript </a:t>
            </a:r>
            <a:r>
              <a:rPr lang="en-US" sz="3200" b="0" strike="noStrike" spc="-1">
                <a:solidFill>
                  <a:srgbClr val="000000"/>
                </a:solidFill>
                <a:latin typeface="Calibri"/>
              </a:rPr>
              <a:t>is used to add </a:t>
            </a:r>
            <a:r>
              <a:rPr lang="en-US" sz="3200" b="1" strike="noStrike" spc="-1">
                <a:solidFill>
                  <a:srgbClr val="000000"/>
                </a:solidFill>
                <a:latin typeface="Calibri"/>
              </a:rPr>
              <a:t>behavior </a:t>
            </a:r>
            <a:r>
              <a:rPr lang="en-US" sz="3200" b="0" strike="noStrike" spc="-1">
                <a:solidFill>
                  <a:srgbClr val="000000"/>
                </a:solidFill>
                <a:latin typeface="Calibri"/>
              </a:rPr>
              <a:t>to our web pages.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When an HTML file is loaded into the browser, the JavaScript can not understand the HTML document directly.</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So it interprets and interacts with the Document Object Model (DOM), which is created by the browser based on the HTML document.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DOM is basically the representation of the same HTML document but in a tree-like structure composed of objects.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 </a:t>
            </a:r>
            <a:r>
              <a:rPr lang="en-US" sz="3200" b="0" strike="noStrike" spc="-1">
                <a:solidFill>
                  <a:srgbClr val="000000"/>
                </a:solidFill>
                <a:latin typeface="Calibri"/>
              </a:rPr>
              <a:t>JavaScript can not understand the tags(&lt;h1&gt;H&lt;/h1&gt;) in HTML document but can understand object h1 in DOM.</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IN" sz="4400" b="0" strike="noStrike" spc="-1">
                <a:solidFill>
                  <a:srgbClr val="000000"/>
                </a:solidFill>
                <a:latin typeface="Calibri"/>
              </a:rPr>
              <a:t>Dom structure for simple web document</a:t>
            </a:r>
            <a:endParaRPr lang="en-IN" sz="4400" b="0" strike="noStrike" spc="-1">
              <a:latin typeface="Arial"/>
            </a:endParaRPr>
          </a:p>
        </p:txBody>
      </p:sp>
      <p:pic>
        <p:nvPicPr>
          <p:cNvPr id="239" name="Content Placeholder 5" descr="pic_htmltree.gif"/>
          <p:cNvPicPr/>
          <p:nvPr/>
        </p:nvPicPr>
        <p:blipFill>
          <a:blip r:embed="rId2" cstate="print"/>
          <a:stretch/>
        </p:blipFill>
        <p:spPr>
          <a:xfrm>
            <a:off x="1447920" y="1447920"/>
            <a:ext cx="5819040" cy="4214880"/>
          </a:xfrm>
          <a:prstGeom prst="rect">
            <a:avLst/>
          </a:prstGeom>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41"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Every element in the DOM tree is called node.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topmost single node in the DOM tree is called the root</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Every child node must have a parent node.</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bottom most nodes that have no children are called leaf nodes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nodes that have the common parent are called siblings.</a:t>
            </a:r>
            <a:endParaRPr lang="en-IN" sz="3200" b="0" strike="noStrike" spc="-1">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3200" b="0" strike="noStrike" spc="-1">
                <a:solidFill>
                  <a:srgbClr val="000000"/>
                </a:solidFill>
                <a:latin typeface="Calibri"/>
              </a:rPr>
              <a:t>Modifying Element Style – we can access or change the contents of document by using various methods</a:t>
            </a:r>
            <a:endParaRPr lang="en-IN" sz="3200" b="0" strike="noStrike" spc="-1">
              <a:latin typeface="Arial"/>
            </a:endParaRPr>
          </a:p>
        </p:txBody>
      </p:sp>
      <p:pic>
        <p:nvPicPr>
          <p:cNvPr id="243" name="Content Placeholder 3" descr="WhatsApp Image 2024-07-18 at 11.40.14 AM.jpeg"/>
          <p:cNvPicPr/>
          <p:nvPr/>
        </p:nvPicPr>
        <p:blipFill>
          <a:blip r:embed="rId2" cstate="print"/>
          <a:stretch/>
        </p:blipFill>
        <p:spPr>
          <a:xfrm>
            <a:off x="533520" y="1828800"/>
            <a:ext cx="8228880" cy="4436640"/>
          </a:xfrm>
          <a:prstGeom prst="rect">
            <a:avLst/>
          </a:prstGeom>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45" name="Content Placeholder 3" descr="WhatsApp Image 2024-07-18 at 11.39.49 AM.jpeg"/>
          <p:cNvPicPr/>
          <p:nvPr/>
        </p:nvPicPr>
        <p:blipFill>
          <a:blip r:embed="rId2" cstate="print"/>
          <a:stretch/>
        </p:blipFill>
        <p:spPr>
          <a:xfrm>
            <a:off x="457200" y="1600200"/>
            <a:ext cx="8228880" cy="4190400"/>
          </a:xfrm>
          <a:prstGeom prst="rect">
            <a:avLst/>
          </a:prstGeom>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Accessing Element using DOM</a:t>
            </a:r>
            <a:endParaRPr lang="en-IN" sz="4400" b="0" strike="noStrike" spc="-1">
              <a:latin typeface="Arial"/>
            </a:endParaRPr>
          </a:p>
        </p:txBody>
      </p:sp>
      <p:pic>
        <p:nvPicPr>
          <p:cNvPr id="247" name="Content Placeholder 3" descr="Screenshot 2024-07-18 113156.png"/>
          <p:cNvPicPr/>
          <p:nvPr/>
        </p:nvPicPr>
        <p:blipFill>
          <a:blip r:embed="rId2" cstate="print"/>
          <a:stretch/>
        </p:blipFill>
        <p:spPr>
          <a:xfrm>
            <a:off x="850680" y="1676520"/>
            <a:ext cx="7441920" cy="4448880"/>
          </a:xfrm>
          <a:prstGeom prst="rect">
            <a:avLst/>
          </a:prstGeom>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Appending element using DOM</a:t>
            </a:r>
            <a:endParaRPr lang="en-IN" sz="4400" b="0" strike="noStrike" spc="-1">
              <a:latin typeface="Arial"/>
            </a:endParaRPr>
          </a:p>
        </p:txBody>
      </p:sp>
      <p:sp>
        <p:nvSpPr>
          <p:cNvPr id="24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50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Append an item to a list: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const node = document.createElement(“p");</a:t>
            </a:r>
            <a:br/>
            <a:r>
              <a:rPr lang="en-US" sz="3200" b="0" strike="noStrike" spc="-1">
                <a:solidFill>
                  <a:srgbClr val="000000"/>
                </a:solidFill>
                <a:latin typeface="Calibri"/>
              </a:rPr>
              <a:t>const textnode = document.createTextNode("Water");</a:t>
            </a:r>
            <a:br/>
            <a:r>
              <a:rPr lang="en-US" sz="3200" b="0" strike="noStrike" spc="-1">
                <a:solidFill>
                  <a:srgbClr val="000000"/>
                </a:solidFill>
                <a:latin typeface="Calibri"/>
              </a:rPr>
              <a:t>node.appendChild(textnode);</a:t>
            </a:r>
            <a:br/>
            <a:r>
              <a:rPr lang="en-US" sz="3200" b="0" strike="noStrike" spc="-1">
                <a:solidFill>
                  <a:srgbClr val="000000"/>
                </a:solidFill>
                <a:latin typeface="Calibri"/>
              </a:rPr>
              <a:t>document.getElementById("myList").appendChild(node);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Try https://www.w3schools.com/jsref/tryit.asp?filename=tryjsref_node_appendchild</a:t>
            </a:r>
            <a:endParaRPr lang="en-IN" sz="3200" b="0" strike="noStrike" spc="-1">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51" name="CustomShape 2"/>
          <p:cNvSpPr/>
          <p:nvPr/>
        </p:nvSpPr>
        <p:spPr>
          <a:xfrm>
            <a:off x="457200" y="457200"/>
            <a:ext cx="8228880" cy="566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32500" lnSpcReduction="10000"/>
          </a:bodyPr>
          <a:lstStyle/>
          <a:p>
            <a:pPr marL="343080" indent="-342360">
              <a:lnSpc>
                <a:spcPct val="100000"/>
              </a:lnSpc>
              <a:spcBef>
                <a:spcPts val="1919"/>
              </a:spcBef>
              <a:buClr>
                <a:srgbClr val="000000"/>
              </a:buClr>
              <a:buFont typeface="Arial"/>
              <a:buChar char="•"/>
            </a:pPr>
            <a:r>
              <a:rPr lang="en-IN" sz="9600" b="0" strike="noStrike" spc="-1">
                <a:solidFill>
                  <a:srgbClr val="000000"/>
                </a:solidFill>
                <a:latin typeface="Calibri"/>
              </a:rPr>
              <a:t>Inserting an element using DOM</a:t>
            </a:r>
            <a:endParaRPr lang="en-IN" sz="9600" b="0" strike="noStrike" spc="-1">
              <a:latin typeface="Arial"/>
            </a:endParaRPr>
          </a:p>
          <a:p>
            <a:pPr>
              <a:lnSpc>
                <a:spcPct val="100000"/>
              </a:lnSpc>
              <a:spcBef>
                <a:spcPts val="641"/>
              </a:spcBef>
            </a:pPr>
            <a:endParaRPr lang="en-IN" sz="96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&lt;h2&gt;JavaScript HTML DOM&lt;/h2&gt;</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&lt;p&gt;Add a new HTML Element.&lt;/p&gt;</a:t>
            </a:r>
            <a:endParaRPr lang="en-IN" sz="7200" b="0" strike="noStrike" spc="-1">
              <a:latin typeface="Arial"/>
            </a:endParaRPr>
          </a:p>
          <a:p>
            <a:pPr>
              <a:lnSpc>
                <a:spcPct val="100000"/>
              </a:lnSpc>
              <a:spcBef>
                <a:spcPts val="1440"/>
              </a:spcBef>
            </a:pP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&lt;div id="div1"&gt;</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&lt;p id="p1"&gt;This is a paragraph.&lt;/p&gt;</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&lt;p id="p2"&gt;This is another paragraph.&lt;/p&gt;</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&lt;/div&gt;</a:t>
            </a:r>
            <a:endParaRPr lang="en-IN" sz="7200" b="0" strike="noStrike" spc="-1">
              <a:latin typeface="Arial"/>
            </a:endParaRPr>
          </a:p>
          <a:p>
            <a:pPr>
              <a:lnSpc>
                <a:spcPct val="100000"/>
              </a:lnSpc>
              <a:spcBef>
                <a:spcPts val="1440"/>
              </a:spcBef>
            </a:pP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&lt;script&gt;</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const para = document.createElement("p");</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const node = document.createTextNode("This is new.");</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para.appendChild(node);</a:t>
            </a:r>
            <a:endParaRPr lang="en-IN" sz="7200" b="0" strike="noStrike" spc="-1">
              <a:latin typeface="Arial"/>
            </a:endParaRPr>
          </a:p>
          <a:p>
            <a:pPr>
              <a:lnSpc>
                <a:spcPct val="100000"/>
              </a:lnSpc>
              <a:spcBef>
                <a:spcPts val="1440"/>
              </a:spcBef>
            </a:pP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const element = document.getElementById("div1");</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const child = document.getElementById("p1");</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element.insertBefore(para,child);</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&lt;/script&gt;</a:t>
            </a:r>
            <a:endParaRPr lang="en-IN" sz="7200" b="0" strike="noStrike" spc="-1">
              <a:latin typeface="Arial"/>
            </a:endParaRPr>
          </a:p>
          <a:p>
            <a:pPr>
              <a:lnSpc>
                <a:spcPct val="100000"/>
              </a:lnSpc>
              <a:spcBef>
                <a:spcPts val="1440"/>
              </a:spcBef>
            </a:pP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&lt;/body&gt;</a:t>
            </a:r>
            <a:endParaRPr lang="en-IN" sz="7200" b="0" strike="noStrike" spc="-1">
              <a:latin typeface="Arial"/>
            </a:endParaRPr>
          </a:p>
          <a:p>
            <a:pPr marL="343080" indent="-342360">
              <a:lnSpc>
                <a:spcPct val="100000"/>
              </a:lnSpc>
              <a:spcBef>
                <a:spcPts val="1440"/>
              </a:spcBef>
              <a:buClr>
                <a:srgbClr val="000000"/>
              </a:buClr>
              <a:buFont typeface="Arial"/>
              <a:buChar char="•"/>
            </a:pPr>
            <a:r>
              <a:rPr lang="en-IN" sz="7200" b="1" strike="noStrike" spc="-1">
                <a:solidFill>
                  <a:srgbClr val="000000"/>
                </a:solidFill>
                <a:latin typeface="Times New Roman"/>
              </a:rPr>
              <a:t>&lt;/html&gt;</a:t>
            </a:r>
            <a:endParaRPr lang="en-IN" sz="7200" b="0" strike="noStrike" spc="-1">
              <a:latin typeface="Arial"/>
            </a:endParaRPr>
          </a:p>
          <a:p>
            <a:pPr>
              <a:lnSpc>
                <a:spcPct val="100000"/>
              </a:lnSpc>
              <a:spcBef>
                <a:spcPts val="1440"/>
              </a:spcBef>
            </a:pPr>
            <a:endParaRPr lang="en-IN" sz="7200" b="0" strike="noStrike" spc="-1">
              <a:latin typeface="Arial"/>
            </a:endParaRPr>
          </a:p>
          <a:p>
            <a:pPr>
              <a:lnSpc>
                <a:spcPct val="100000"/>
              </a:lnSpc>
              <a:spcBef>
                <a:spcPts val="1440"/>
              </a:spcBef>
            </a:pPr>
            <a:endParaRPr lang="en-IN" sz="7200" b="0" strike="noStrike" spc="-1">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83000" lnSpcReduction="10000"/>
          </a:bodyPr>
          <a:lstStyle/>
          <a:p>
            <a:pPr algn="ctr">
              <a:lnSpc>
                <a:spcPct val="100000"/>
              </a:lnSpc>
            </a:pPr>
            <a:r>
              <a:rPr lang="en-IN" sz="4400" b="0" strike="noStrike" spc="-1">
                <a:solidFill>
                  <a:srgbClr val="000000"/>
                </a:solidFill>
                <a:latin typeface="Calibri"/>
              </a:rPr>
              <a:t>Removing an element using DOM</a:t>
            </a:r>
            <a:br/>
            <a:endParaRPr lang="en-IN" sz="4400" b="0" strike="noStrike" spc="-1">
              <a:latin typeface="Arial"/>
            </a:endParaRPr>
          </a:p>
        </p:txBody>
      </p:sp>
      <p:sp>
        <p:nvSpPr>
          <p:cNvPr id="25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400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&lt;h2&gt;JavaScript HTML DOM&lt;/h2&gt;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&lt;h3&gt;Remove an HTML Element.&lt;/h3&gt;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&lt;div&gt;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&lt;p id="p1"&gt;This is a paragraph.&lt;/p&gt;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&lt;p id="p2"&gt;This is another paragraph.&lt;/p&gt;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&lt;/div&gt;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&lt;button onclick="myFunction()"&gt;Remove Element&lt;/button&gt;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function myFunction()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document.getElementById("p1").remove();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&lt;/body&gt;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&lt;/html&gt;</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What is an Event</a:t>
            </a:r>
            <a:endParaRPr lang="en-IN" sz="4400" b="0" strike="noStrike" spc="-1">
              <a:latin typeface="Arial"/>
            </a:endParaRPr>
          </a:p>
        </p:txBody>
      </p:sp>
      <p:pic>
        <p:nvPicPr>
          <p:cNvPr id="255" name="Content Placeholder 3" descr="Screenshot 2024-07-26 094005.jpg"/>
          <p:cNvPicPr/>
          <p:nvPr/>
        </p:nvPicPr>
        <p:blipFill>
          <a:blip r:embed="rId2" cstate="print"/>
          <a:stretch/>
        </p:blipFill>
        <p:spPr>
          <a:xfrm>
            <a:off x="457200" y="1711080"/>
            <a:ext cx="8228880" cy="4303440"/>
          </a:xfrm>
          <a:prstGeom prst="rect">
            <a:avLst/>
          </a:prstGeom>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DOM event handling</a:t>
            </a:r>
            <a:endParaRPr lang="en-IN" sz="4400" b="0" strike="noStrike" spc="-1">
              <a:latin typeface="Arial"/>
            </a:endParaRPr>
          </a:p>
        </p:txBody>
      </p:sp>
      <p:sp>
        <p:nvSpPr>
          <p:cNvPr id="257"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85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Event is an activity that represents a change in the environment. For example mouse clicks, pressing a particular key of keyboard represent the events. Such event are called intrinsic events.</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Event handler is a script that gets executed in response to these events. Thus event handler enables the web document to respond the user activities through the browser window.</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Events are specified in lowercase letters and these are case sensitive.</a:t>
            </a:r>
            <a:endParaRPr lang="en-IN" sz="3200" b="0" strike="noStrike" spc="-1">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onblur Event</a:t>
            </a:r>
            <a:br/>
            <a:endParaRPr lang="en-IN" sz="4400" b="0" strike="noStrike" spc="-1">
              <a:latin typeface="Arial"/>
            </a:endParaRPr>
          </a:p>
        </p:txBody>
      </p:sp>
      <p:sp>
        <p:nvSpPr>
          <p:cNvPr id="25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onblur event occurs when an </a:t>
            </a:r>
            <a:r>
              <a:rPr lang="en-US" sz="3200" b="1" strike="noStrike" spc="-1">
                <a:solidFill>
                  <a:srgbClr val="000000"/>
                </a:solidFill>
                <a:latin typeface="Calibri"/>
              </a:rPr>
              <a:t>HTML element loses focus</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onblur event is often used on input fields.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&lt;input type="text" onblur="myFunction()"&gt;</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61" name="Content Placeholder 5" descr="Screenshot 2024-07-26 102057.png"/>
          <p:cNvPicPr/>
          <p:nvPr/>
        </p:nvPicPr>
        <p:blipFill>
          <a:blip r:embed="rId2" cstate="print"/>
          <a:stretch/>
        </p:blipFill>
        <p:spPr>
          <a:xfrm>
            <a:off x="457200" y="1752480"/>
            <a:ext cx="8228880" cy="3272760"/>
          </a:xfrm>
          <a:prstGeom prst="rect">
            <a:avLst/>
          </a:prstGeom>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US" sz="4400" b="0" strike="noStrike" spc="-1">
                <a:solidFill>
                  <a:srgbClr val="000000"/>
                </a:solidFill>
                <a:latin typeface="Calibri"/>
              </a:rPr>
              <a:t>onfocus Event</a:t>
            </a:r>
            <a:br/>
            <a:endParaRPr lang="en-IN" sz="4400" b="0" strike="noStrike" spc="-1">
              <a:latin typeface="Arial"/>
            </a:endParaRPr>
          </a:p>
        </p:txBody>
      </p:sp>
      <p:sp>
        <p:nvSpPr>
          <p:cNvPr id="263"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onfocus event occurs when an element gets focus.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onfocus event is often used on input fields.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&lt;input type="text" onfocus="myFunction()"&gt;</a:t>
            </a:r>
            <a:endParaRPr lang="en-IN" sz="3200" b="0" strike="noStrike" spc="-1">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78500" lnSpcReduction="20000"/>
          </a:bodyPr>
          <a:lstStyle/>
          <a:p>
            <a:pPr algn="ctr">
              <a:lnSpc>
                <a:spcPct val="100000"/>
              </a:lnSpc>
            </a:pPr>
            <a:br/>
            <a:r>
              <a:rPr lang="en-US" sz="2200" b="1" strike="noStrike" spc="-1">
                <a:solidFill>
                  <a:srgbClr val="000000"/>
                </a:solidFill>
                <a:latin typeface="Calibri"/>
              </a:rPr>
              <a:t>//this</a:t>
            </a:r>
            <a:r>
              <a:rPr lang="en-US" sz="2200" b="0" strike="noStrike" spc="-1">
                <a:solidFill>
                  <a:srgbClr val="000000"/>
                </a:solidFill>
                <a:latin typeface="Calibri"/>
              </a:rPr>
              <a:t> in a Function (Default)</a:t>
            </a:r>
            <a:br/>
            <a:r>
              <a:rPr lang="en-US" sz="2200" b="0" strike="noStrike" spc="-1">
                <a:solidFill>
                  <a:srgbClr val="000000"/>
                </a:solidFill>
                <a:latin typeface="Calibri"/>
              </a:rPr>
              <a:t>In a function, the </a:t>
            </a:r>
            <a:r>
              <a:rPr lang="en-US" sz="2200" b="1" strike="noStrike" spc="-1">
                <a:solidFill>
                  <a:srgbClr val="000000"/>
                </a:solidFill>
                <a:latin typeface="Calibri"/>
              </a:rPr>
              <a:t>global object</a:t>
            </a:r>
            <a:r>
              <a:rPr lang="en-US" sz="2200" b="0" strike="noStrike" spc="-1">
                <a:solidFill>
                  <a:srgbClr val="000000"/>
                </a:solidFill>
                <a:latin typeface="Calibri"/>
              </a:rPr>
              <a:t> is the default binding for this.</a:t>
            </a:r>
            <a:br/>
            <a:r>
              <a:rPr lang="en-US" sz="2200" b="0" strike="noStrike" spc="-1">
                <a:solidFill>
                  <a:srgbClr val="000000"/>
                </a:solidFill>
                <a:latin typeface="Calibri"/>
              </a:rPr>
              <a:t>In a browser window the global object is [object Window]</a:t>
            </a:r>
            <a:br/>
            <a:endParaRPr lang="en-IN" sz="2200" b="0" strike="noStrike" spc="-1">
              <a:latin typeface="Arial"/>
            </a:endParaRPr>
          </a:p>
        </p:txBody>
      </p:sp>
      <p:sp>
        <p:nvSpPr>
          <p:cNvPr id="265"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400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&lt;!DOCTYPE html&gt;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&lt;html&gt;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&lt;body&gt;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&lt;h1&gt;HTML DOM Events&lt;/h1&gt;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&lt;h2&gt;The focus Event&lt;/h2&gt;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Enter your name: &lt;input type="text" onfocus="myFunction(this)"&gt;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&lt;p&gt;When the input field gets focus, a function changes the background-color.&lt;/p&gt;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function myFunction(x) {</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  x.style.background = "yellow";</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&lt;/script&gt;</a:t>
            </a:r>
            <a:endParaRPr lang="en-IN" sz="3200" b="0" strike="noStrike" spc="-1">
              <a:latin typeface="Arial"/>
            </a:endParaRPr>
          </a:p>
          <a:p>
            <a:pPr>
              <a:lnSpc>
                <a:spcPct val="100000"/>
              </a:lnSpc>
              <a:spcBef>
                <a:spcPts val="641"/>
              </a:spcBef>
            </a:pP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&lt;/body&gt;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&lt;/html&gt;</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67" name="Content Placeholder 3" descr="Screenshot 2024-07-26 103815.png"/>
          <p:cNvPicPr/>
          <p:nvPr/>
        </p:nvPicPr>
        <p:blipFill>
          <a:blip r:embed="rId2" cstate="print"/>
          <a:stretch/>
        </p:blipFill>
        <p:spPr>
          <a:xfrm>
            <a:off x="1447920" y="1828800"/>
            <a:ext cx="5533560" cy="2957760"/>
          </a:xfrm>
          <a:prstGeom prst="rect">
            <a:avLst/>
          </a:prstGeom>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r>
              <a:rPr lang="en-IN" sz="4400" b="0" strike="noStrike" spc="-1">
                <a:solidFill>
                  <a:srgbClr val="000000"/>
                </a:solidFill>
                <a:latin typeface="Calibri"/>
              </a:rPr>
              <a:t>events</a:t>
            </a:r>
            <a:endParaRPr lang="en-IN" sz="4400" b="0" strike="noStrike" spc="-1">
              <a:latin typeface="Arial"/>
            </a:endParaRPr>
          </a:p>
        </p:txBody>
      </p:sp>
      <p:sp>
        <p:nvSpPr>
          <p:cNvPr id="269"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Change </a:t>
            </a:r>
            <a:endParaRPr lang="en-IN" sz="3200" b="0" strike="noStrike" spc="-1">
              <a:latin typeface="Arial"/>
            </a:endParaRPr>
          </a:p>
        </p:txBody>
      </p:sp>
      <p:graphicFrame>
        <p:nvGraphicFramePr>
          <p:cNvPr id="270" name="Table 3"/>
          <p:cNvGraphicFramePr/>
          <p:nvPr/>
        </p:nvGraphicFramePr>
        <p:xfrm>
          <a:off x="1447920" y="1523880"/>
          <a:ext cx="6095520" cy="4266720"/>
        </p:xfrm>
        <a:graphic>
          <a:graphicData uri="http://schemas.openxmlformats.org/drawingml/2006/table">
            <a:tbl>
              <a:tblPr/>
              <a:tblGrid>
                <a:gridCol w="3047760">
                  <a:extLst>
                    <a:ext uri="{9D8B030D-6E8A-4147-A177-3AD203B41FA5}">
                      <a16:colId xmlns:a16="http://schemas.microsoft.com/office/drawing/2014/main" val="20000"/>
                    </a:ext>
                  </a:extLst>
                </a:gridCol>
                <a:gridCol w="3047760">
                  <a:extLst>
                    <a:ext uri="{9D8B030D-6E8A-4147-A177-3AD203B41FA5}">
                      <a16:colId xmlns:a16="http://schemas.microsoft.com/office/drawing/2014/main" val="20001"/>
                    </a:ext>
                  </a:extLst>
                </a:gridCol>
              </a:tblGrid>
              <a:tr h="533160">
                <a:tc>
                  <a:txBody>
                    <a:bodyPr/>
                    <a:lstStyle/>
                    <a:p>
                      <a:pPr>
                        <a:lnSpc>
                          <a:spcPct val="100000"/>
                        </a:lnSpc>
                      </a:pPr>
                      <a:r>
                        <a:rPr lang="en-IN" sz="1800" b="1" strike="noStrike" spc="-1">
                          <a:solidFill>
                            <a:srgbClr val="FFFFFF"/>
                          </a:solidFill>
                          <a:latin typeface="Calibri"/>
                        </a:rPr>
                        <a:t>Events</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pPr>
                      <a:r>
                        <a:rPr lang="en-IN" sz="1800" b="1" strike="noStrike" spc="-1">
                          <a:solidFill>
                            <a:srgbClr val="FFFFFF"/>
                          </a:solidFill>
                          <a:latin typeface="Calibri"/>
                        </a:rPr>
                        <a:t>Event Attribute</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533160">
                <a:tc>
                  <a:txBody>
                    <a:bodyPr/>
                    <a:lstStyle/>
                    <a:p>
                      <a:pPr>
                        <a:lnSpc>
                          <a:spcPct val="100000"/>
                        </a:lnSpc>
                      </a:pPr>
                      <a:r>
                        <a:rPr lang="en-IN" sz="1800" b="0" strike="noStrike" spc="-1">
                          <a:solidFill>
                            <a:srgbClr val="000000"/>
                          </a:solidFill>
                          <a:latin typeface="Calibri"/>
                        </a:rPr>
                        <a:t>change</a:t>
                      </a:r>
                      <a:endParaRPr lang="en-IN"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onchange</a:t>
                      </a:r>
                      <a:endParaRPr lang="en-IN"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533160">
                <a:tc>
                  <a:txBody>
                    <a:bodyPr/>
                    <a:lstStyle/>
                    <a:p>
                      <a:pPr>
                        <a:lnSpc>
                          <a:spcPct val="100000"/>
                        </a:lnSpc>
                      </a:pPr>
                      <a:r>
                        <a:rPr lang="en-IN" sz="1800" b="0" strike="noStrike" spc="-1">
                          <a:solidFill>
                            <a:srgbClr val="000000"/>
                          </a:solidFill>
                          <a:latin typeface="Calibri"/>
                        </a:rPr>
                        <a:t>click</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en-IN" sz="1800" b="0" strike="noStrike" spc="-1">
                          <a:solidFill>
                            <a:srgbClr val="000000"/>
                          </a:solidFill>
                          <a:latin typeface="Calibri"/>
                        </a:rPr>
                        <a:t>onclick</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533160">
                <a:tc>
                  <a:txBody>
                    <a:bodyPr/>
                    <a:lstStyle/>
                    <a:p>
                      <a:pPr>
                        <a:lnSpc>
                          <a:spcPct val="100000"/>
                        </a:lnSpc>
                      </a:pPr>
                      <a:r>
                        <a:rPr lang="en-IN" sz="1800" b="0" strike="noStrike" spc="-1">
                          <a:solidFill>
                            <a:srgbClr val="000000"/>
                          </a:solidFill>
                          <a:latin typeface="Calibri"/>
                        </a:rPr>
                        <a:t>dbclick</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ondblick</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533160">
                <a:tc>
                  <a:txBody>
                    <a:bodyPr/>
                    <a:lstStyle/>
                    <a:p>
                      <a:pPr>
                        <a:lnSpc>
                          <a:spcPct val="100000"/>
                        </a:lnSpc>
                      </a:pPr>
                      <a:r>
                        <a:rPr lang="en-IN" sz="1800" b="0" strike="noStrike" spc="-1">
                          <a:solidFill>
                            <a:srgbClr val="000000"/>
                          </a:solidFill>
                          <a:latin typeface="Calibri"/>
                        </a:rPr>
                        <a:t>focus</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en-IN" sz="1800" b="0" strike="noStrike" spc="-1">
                          <a:solidFill>
                            <a:srgbClr val="000000"/>
                          </a:solidFill>
                          <a:latin typeface="Calibri"/>
                        </a:rPr>
                        <a:t>onfocus</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533160">
                <a:tc>
                  <a:txBody>
                    <a:bodyPr/>
                    <a:lstStyle/>
                    <a:p>
                      <a:pPr>
                        <a:lnSpc>
                          <a:spcPct val="100000"/>
                        </a:lnSpc>
                      </a:pPr>
                      <a:r>
                        <a:rPr lang="en-IN" sz="1800" b="0" strike="noStrike" spc="-1">
                          <a:solidFill>
                            <a:srgbClr val="000000"/>
                          </a:solidFill>
                          <a:latin typeface="Calibri"/>
                        </a:rPr>
                        <a:t>keyup</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onkeyup</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r h="533160">
                <a:tc>
                  <a:txBody>
                    <a:bodyPr/>
                    <a:lstStyle/>
                    <a:p>
                      <a:pPr>
                        <a:lnSpc>
                          <a:spcPct val="100000"/>
                        </a:lnSpc>
                      </a:pPr>
                      <a:r>
                        <a:rPr lang="en-IN" sz="1800" b="0" strike="noStrike" spc="-1">
                          <a:solidFill>
                            <a:srgbClr val="000000"/>
                          </a:solidFill>
                          <a:latin typeface="Calibri"/>
                        </a:rPr>
                        <a:t>keydown</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en-IN" sz="1800" b="0" strike="noStrike" spc="-1">
                          <a:solidFill>
                            <a:srgbClr val="000000"/>
                          </a:solidFill>
                          <a:latin typeface="Calibri"/>
                        </a:rPr>
                        <a:t>onkeydown</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6"/>
                  </a:ext>
                </a:extLst>
              </a:tr>
              <a:tr h="534600">
                <a:tc>
                  <a:txBody>
                    <a:bodyPr/>
                    <a:lstStyle/>
                    <a:p>
                      <a:pPr>
                        <a:lnSpc>
                          <a:spcPct val="100000"/>
                        </a:lnSpc>
                      </a:pPr>
                      <a:r>
                        <a:rPr lang="en-IN" sz="1800" b="0" strike="noStrike" spc="-1">
                          <a:solidFill>
                            <a:srgbClr val="000000"/>
                          </a:solidFill>
                          <a:latin typeface="Calibri"/>
                        </a:rPr>
                        <a:t>keypress</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onkeypress</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graphicFrame>
        <p:nvGraphicFramePr>
          <p:cNvPr id="272" name="Table 2"/>
          <p:cNvGraphicFramePr/>
          <p:nvPr/>
        </p:nvGraphicFramePr>
        <p:xfrm>
          <a:off x="457200" y="1600200"/>
          <a:ext cx="8229600" cy="29664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00">
                <a:tc>
                  <a:txBody>
                    <a:bodyPr/>
                    <a:lstStyle/>
                    <a:p>
                      <a:pPr>
                        <a:lnSpc>
                          <a:spcPct val="100000"/>
                        </a:lnSpc>
                      </a:pPr>
                      <a:r>
                        <a:rPr lang="en-IN" sz="1800" b="1" strike="noStrike" spc="-1">
                          <a:solidFill>
                            <a:srgbClr val="FFFFFF"/>
                          </a:solidFill>
                          <a:latin typeface="Calibri"/>
                        </a:rPr>
                        <a:t>Event</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nSpc>
                          <a:spcPct val="100000"/>
                        </a:lnSpc>
                      </a:pPr>
                      <a:r>
                        <a:rPr lang="en-IN" sz="1800" b="1" strike="noStrike" spc="-1">
                          <a:solidFill>
                            <a:srgbClr val="FFFFFF"/>
                          </a:solidFill>
                          <a:latin typeface="Calibri"/>
                        </a:rPr>
                        <a:t>Event Attribute</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370800">
                <a:tc>
                  <a:txBody>
                    <a:bodyPr/>
                    <a:lstStyle/>
                    <a:p>
                      <a:pPr>
                        <a:lnSpc>
                          <a:spcPct val="100000"/>
                        </a:lnSpc>
                      </a:pPr>
                      <a:r>
                        <a:rPr lang="en-IN" sz="1800" b="0" strike="noStrike" spc="-1">
                          <a:solidFill>
                            <a:srgbClr val="000000"/>
                          </a:solidFill>
                          <a:latin typeface="Calibri"/>
                        </a:rPr>
                        <a:t>mousedown</a:t>
                      </a:r>
                      <a:endParaRPr lang="en-IN"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onmousedown</a:t>
                      </a:r>
                      <a:endParaRPr lang="en-IN" sz="1800" b="0" strike="noStrike" spc="-1">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D0D8E7"/>
                    </a:solidFill>
                  </a:tcPr>
                </a:tc>
                <a:extLst>
                  <a:ext uri="{0D108BD9-81ED-4DB2-BD59-A6C34878D82A}">
                    <a16:rowId xmlns:a16="http://schemas.microsoft.com/office/drawing/2014/main" val="10001"/>
                  </a:ext>
                </a:extLst>
              </a:tr>
              <a:tr h="370800">
                <a:tc>
                  <a:txBody>
                    <a:bodyPr/>
                    <a:lstStyle/>
                    <a:p>
                      <a:pPr>
                        <a:lnSpc>
                          <a:spcPct val="100000"/>
                        </a:lnSpc>
                      </a:pPr>
                      <a:r>
                        <a:rPr lang="en-IN" sz="1800" b="0" strike="noStrike" spc="-1">
                          <a:solidFill>
                            <a:srgbClr val="000000"/>
                          </a:solidFill>
                          <a:latin typeface="Calibri"/>
                        </a:rPr>
                        <a:t>mousekey</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en-IN" sz="1800" b="0" strike="noStrike" spc="-1">
                          <a:solidFill>
                            <a:srgbClr val="000000"/>
                          </a:solidFill>
                          <a:latin typeface="Calibri"/>
                        </a:rPr>
                        <a:t>onmouseup</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370800">
                <a:tc>
                  <a:txBody>
                    <a:bodyPr/>
                    <a:lstStyle/>
                    <a:p>
                      <a:pPr>
                        <a:lnSpc>
                          <a:spcPct val="100000"/>
                        </a:lnSpc>
                      </a:pPr>
                      <a:r>
                        <a:rPr lang="en-IN" sz="1800" b="0" strike="noStrike" spc="-1">
                          <a:solidFill>
                            <a:srgbClr val="000000"/>
                          </a:solidFill>
                          <a:latin typeface="Calibri"/>
                        </a:rPr>
                        <a:t>mousemove</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onmousemove</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370800">
                <a:tc>
                  <a:txBody>
                    <a:bodyPr/>
                    <a:lstStyle/>
                    <a:p>
                      <a:pPr>
                        <a:lnSpc>
                          <a:spcPct val="100000"/>
                        </a:lnSpc>
                      </a:pPr>
                      <a:r>
                        <a:rPr lang="en-IN" sz="1800" b="0" strike="noStrike" spc="-1">
                          <a:solidFill>
                            <a:srgbClr val="000000"/>
                          </a:solidFill>
                          <a:latin typeface="Calibri"/>
                        </a:rPr>
                        <a:t>mouseout</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en-IN" sz="1800" b="0" strike="noStrike" spc="-1">
                          <a:solidFill>
                            <a:srgbClr val="000000"/>
                          </a:solidFill>
                          <a:latin typeface="Calibri"/>
                        </a:rPr>
                        <a:t>onmouseout</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370800">
                <a:tc>
                  <a:txBody>
                    <a:bodyPr/>
                    <a:lstStyle/>
                    <a:p>
                      <a:pPr>
                        <a:lnSpc>
                          <a:spcPct val="100000"/>
                        </a:lnSpc>
                      </a:pPr>
                      <a:r>
                        <a:rPr lang="en-IN" sz="1800" b="0" strike="noStrike" spc="-1">
                          <a:solidFill>
                            <a:srgbClr val="000000"/>
                          </a:solidFill>
                          <a:latin typeface="Calibri"/>
                        </a:rPr>
                        <a:t>mouseover</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onmouseover</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r h="370800">
                <a:tc>
                  <a:txBody>
                    <a:bodyPr/>
                    <a:lstStyle/>
                    <a:p>
                      <a:pPr>
                        <a:lnSpc>
                          <a:spcPct val="100000"/>
                        </a:lnSpc>
                      </a:pPr>
                      <a:r>
                        <a:rPr lang="en-IN" sz="1800" b="0" strike="noStrike" spc="-1">
                          <a:solidFill>
                            <a:srgbClr val="000000"/>
                          </a:solidFill>
                          <a:latin typeface="Calibri"/>
                        </a:rPr>
                        <a:t>load</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en-IN" sz="1800" b="0" strike="noStrike" spc="-1">
                          <a:solidFill>
                            <a:srgbClr val="000000"/>
                          </a:solidFill>
                          <a:latin typeface="Calibri"/>
                        </a:rPr>
                        <a:t>onload</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6"/>
                  </a:ext>
                </a:extLst>
              </a:tr>
              <a:tr h="370800">
                <a:tc>
                  <a:txBody>
                    <a:bodyPr/>
                    <a:lstStyle/>
                    <a:p>
                      <a:pPr>
                        <a:lnSpc>
                          <a:spcPct val="100000"/>
                        </a:lnSpc>
                      </a:pPr>
                      <a:r>
                        <a:rPr lang="en-IN" sz="1800" b="0" strike="noStrike" spc="-1">
                          <a:solidFill>
                            <a:srgbClr val="000000"/>
                          </a:solidFill>
                          <a:latin typeface="Calibri"/>
                        </a:rPr>
                        <a:t>submit</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en-IN" sz="1800" b="0" strike="noStrike" spc="-1">
                          <a:solidFill>
                            <a:srgbClr val="000000"/>
                          </a:solidFill>
                          <a:latin typeface="Calibri"/>
                        </a:rPr>
                        <a:t>onsubmit</a:t>
                      </a:r>
                      <a:endParaRPr lang="en-IN" sz="1800" b="0" strike="noStrike" spc="-1">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74"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3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use of tag attribute for handling the event is illustrated by following code example  - </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&lt;input type = “button” name =“my_button”</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Onclick = ‘my_fun()” ;</a:t>
            </a:r>
            <a:endParaRPr lang="en-IN" sz="3200" b="0" strike="noStrike" spc="-1">
              <a:latin typeface="Arial"/>
            </a:endParaRPr>
          </a:p>
          <a:p>
            <a:pPr marL="343080" indent="-342360">
              <a:lnSpc>
                <a:spcPct val="100000"/>
              </a:lnSpc>
              <a:spcBef>
                <a:spcPts val="641"/>
              </a:spcBef>
              <a:tabLst>
                <a:tab pos="0" algn="l"/>
              </a:tabLst>
            </a:pPr>
            <a:r>
              <a:rPr lang="en-IN" sz="3200" b="0" strike="noStrike" spc="-1">
                <a:solidFill>
                  <a:srgbClr val="000000"/>
                </a:solidFill>
                <a:latin typeface="Calibri"/>
              </a:rPr>
              <a:t> this means that when the user clicks the button then as an event handler a user defined function my_fun() gets called. In this function user writes the instruction that need to be executed on the button click event. </a:t>
            </a:r>
            <a:endParaRPr lang="en-IN" sz="3200" b="0" strike="noStrike" spc="-1">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20000"/>
          </a:bodyPr>
          <a:lstStyle/>
          <a:p>
            <a:pPr algn="ctr">
              <a:lnSpc>
                <a:spcPct val="100000"/>
              </a:lnSpc>
            </a:pPr>
            <a:r>
              <a:rPr lang="en-IN" sz="4400" b="0" strike="noStrike" spc="-1">
                <a:solidFill>
                  <a:srgbClr val="000000"/>
                </a:solidFill>
                <a:latin typeface="Calibri"/>
              </a:rPr>
              <a:t>Properties of mouse events associated with DOM2</a:t>
            </a:r>
            <a:endParaRPr lang="en-IN" sz="4400" b="0" strike="noStrike" spc="-1">
              <a:latin typeface="Arial"/>
            </a:endParaRPr>
          </a:p>
        </p:txBody>
      </p:sp>
      <p:sp>
        <p:nvSpPr>
          <p:cNvPr id="276"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onmousedown - It event occurs when a user </a:t>
            </a:r>
            <a:r>
              <a:rPr lang="en-US" sz="3200" b="1" strike="noStrike" spc="-1">
                <a:solidFill>
                  <a:srgbClr val="000000"/>
                </a:solidFill>
                <a:latin typeface="Calibri"/>
              </a:rPr>
              <a:t>presses a mouse button</a:t>
            </a:r>
            <a:r>
              <a:rPr lang="en-US" sz="3200" b="0" strike="noStrike" spc="-1">
                <a:solidFill>
                  <a:srgbClr val="000000"/>
                </a:solidFill>
                <a:latin typeface="Calibri"/>
              </a:rPr>
              <a:t> over an </a:t>
            </a:r>
            <a:r>
              <a:rPr lang="en-US" sz="3200" b="1" strike="noStrike" spc="-1">
                <a:solidFill>
                  <a:srgbClr val="000000"/>
                </a:solidFill>
                <a:latin typeface="Calibri"/>
              </a:rPr>
              <a:t>HTML element</a:t>
            </a:r>
            <a:r>
              <a:rPr lang="en-US" sz="3200" b="0" strike="noStrike" spc="-1">
                <a:solidFill>
                  <a:srgbClr val="000000"/>
                </a:solidFill>
                <a:latin typeface="Calibri"/>
              </a:rPr>
              <a: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&lt;p onmousedown="myFunction()"&gt;Click the text!&lt;/p&gt;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Ex - https://www.w3schools.com/jsref/tryit.asp?filename=tryjsref_onmousedown</a:t>
            </a:r>
            <a:br/>
            <a:r>
              <a:rPr lang="en-US" sz="3200" b="0" strike="noStrike" spc="-1">
                <a:solidFill>
                  <a:srgbClr val="000000"/>
                </a:solidFill>
                <a:latin typeface="Calibri"/>
              </a:rPr>
              <a:t> </a:t>
            </a:r>
            <a:endParaRPr lang="en-IN" sz="3200" b="0" strike="noStrike" spc="-1">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CustomShape 1"/>
          <p:cNvSpPr/>
          <p:nvPr/>
        </p:nvSpPr>
        <p:spPr>
          <a:xfrm>
            <a:off x="457200" y="274680"/>
            <a:ext cx="8228880" cy="140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55000" lnSpcReduction="20000"/>
          </a:bodyPr>
          <a:lstStyle/>
          <a:p>
            <a:pPr algn="ctr">
              <a:lnSpc>
                <a:spcPct val="100000"/>
              </a:lnSpc>
            </a:pPr>
            <a:r>
              <a:rPr lang="en-US" sz="4400" b="1" strike="noStrike" spc="-1">
                <a:solidFill>
                  <a:srgbClr val="000000"/>
                </a:solidFill>
                <a:latin typeface="Calibri"/>
              </a:rPr>
              <a:t> </a:t>
            </a:r>
            <a:br/>
            <a:r>
              <a:rPr lang="en-US" sz="4400" b="1" strike="noStrike" spc="-1">
                <a:solidFill>
                  <a:srgbClr val="000000"/>
                </a:solidFill>
                <a:latin typeface="Calibri"/>
              </a:rPr>
              <a:t>Difference between Event Handlers &amp; addEventListener in JavaScript?</a:t>
            </a:r>
            <a:br/>
            <a:endParaRPr lang="en-IN" sz="4400" b="0" strike="noStrike" spc="-1">
              <a:latin typeface="Arial"/>
            </a:endParaRPr>
          </a:p>
        </p:txBody>
      </p:sp>
      <p:sp>
        <p:nvSpPr>
          <p:cNvPr id="278"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9000" lnSpcReduction="1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One difference is that if you add two event handlers for the same button click, the second event handler will </a:t>
            </a:r>
            <a:r>
              <a:rPr lang="en-US" sz="3200" b="0" i="1" strike="noStrike" spc="-1">
                <a:solidFill>
                  <a:srgbClr val="000000"/>
                </a:solidFill>
                <a:latin typeface="Calibri"/>
              </a:rPr>
              <a:t>overwrite</a:t>
            </a:r>
            <a:r>
              <a:rPr lang="en-US" sz="3200" b="0" strike="noStrike" spc="-1">
                <a:solidFill>
                  <a:srgbClr val="000000"/>
                </a:solidFill>
                <a:latin typeface="Calibri"/>
              </a:rPr>
              <a:t> the first and only that event will trigger. For example: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document.querySelector('.btn').onclick = function()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console.log('Hello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document.querySelector('.btn').onclick = function()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console.log('World!'); }; </a:t>
            </a:r>
            <a:endParaRPr lang="en-IN" sz="3200" b="0" strike="noStrike" spc="-1">
              <a:latin typeface="Arial"/>
            </a:endParaRPr>
          </a:p>
          <a:p>
            <a:pPr marL="343080" indent="-342360">
              <a:lnSpc>
                <a:spcPct val="100000"/>
              </a:lnSpc>
              <a:spcBef>
                <a:spcPts val="641"/>
              </a:spcBef>
              <a:tabLst>
                <a:tab pos="0" algn="l"/>
              </a:tabLst>
            </a:pPr>
            <a:r>
              <a:rPr lang="en-US" sz="3200" b="0" i="1" strike="noStrike" spc="-1">
                <a:solidFill>
                  <a:srgbClr val="000000"/>
                </a:solidFill>
                <a:latin typeface="Calibri"/>
              </a:rPr>
              <a:t>   // This logs "World!" out to the console.</a:t>
            </a:r>
            <a:endParaRPr lang="en-IN" sz="3200" b="0" strike="noStrike" spc="-1">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80"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lnSpcReduction="20000"/>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But if you use addEventListener instead, then both of the triggers will run.</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document.querySelector('.btn').addEventListener('click', function()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console.log('Hello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 document.querySelector('.btn').addEventListener('click', function() {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console.log('World!'); </a:t>
            </a:r>
            <a:endParaRPr lang="en-IN" sz="3200" b="0" strike="noStrike" spc="-1">
              <a:latin typeface="Arial"/>
            </a:endParaRPr>
          </a:p>
          <a:p>
            <a:pPr marL="343080" indent="-342360">
              <a:lnSpc>
                <a:spcPct val="100000"/>
              </a:lnSpc>
              <a:spcBef>
                <a:spcPts val="641"/>
              </a:spcBef>
              <a:tabLst>
                <a:tab pos="0" algn="l"/>
              </a:tabLst>
            </a:pPr>
            <a:r>
              <a:rPr lang="en-US" sz="3200" b="0" strike="noStrike" spc="-1">
                <a:solidFill>
                  <a:srgbClr val="000000"/>
                </a:solidFill>
                <a:latin typeface="Calibri"/>
              </a:rPr>
              <a:t>    }); </a:t>
            </a:r>
            <a:r>
              <a:rPr lang="en-US" sz="3200" b="0" i="1" strike="noStrike" spc="-1">
                <a:solidFill>
                  <a:srgbClr val="000000"/>
                </a:solidFill>
                <a:latin typeface="Calibri"/>
              </a:rPr>
              <a:t>// This logs "Hello" and "World!" out to the console.</a:t>
            </a:r>
            <a:endParaRPr lang="en-IN" sz="3200" b="0" strike="noStrike" spc="-1">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82"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Event Handlers: </a:t>
            </a:r>
            <a:r>
              <a:rPr lang="en-US" sz="3200" b="0" strike="noStrike" spc="-1">
                <a:solidFill>
                  <a:srgbClr val="000000"/>
                </a:solidFill>
                <a:latin typeface="Calibri"/>
              </a:rPr>
              <a:t>You can only attach one event handler per event type to an element. If you assign a new function to an event handler, it replaces the previous one.</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1" strike="noStrike" spc="-1">
                <a:solidFill>
                  <a:srgbClr val="000000"/>
                </a:solidFill>
                <a:latin typeface="Calibri"/>
              </a:rPr>
              <a:t>addEventListener: </a:t>
            </a:r>
            <a:r>
              <a:rPr lang="en-US" sz="3200" b="0" strike="noStrike" spc="-1">
                <a:solidFill>
                  <a:srgbClr val="000000"/>
                </a:solidFill>
                <a:latin typeface="Calibri"/>
              </a:rPr>
              <a:t>You can attach multiple event listeners to the same event type on an element. They will all be executed in the order they were added.</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a:bodyPr>
          <a:lstStyle/>
          <a:p>
            <a:pPr algn="ctr">
              <a:lnSpc>
                <a:spcPct val="100000"/>
              </a:lnSpc>
            </a:pPr>
            <a:r>
              <a:rPr lang="en-IN" sz="4400" b="0" strike="noStrike" spc="-1">
                <a:solidFill>
                  <a:srgbClr val="000000"/>
                </a:solidFill>
                <a:latin typeface="Calibri"/>
              </a:rPr>
              <a:t>Handling Events from body elements</a:t>
            </a:r>
            <a:endParaRPr lang="en-IN" sz="4400" b="0" strike="noStrike" spc="-1">
              <a:latin typeface="Arial"/>
            </a:endParaRPr>
          </a:p>
        </p:txBody>
      </p:sp>
      <p:sp>
        <p:nvSpPr>
          <p:cNvPr id="284" name="CustomShape 2"/>
          <p:cNvSpPr/>
          <p:nvPr/>
        </p:nvSpPr>
        <p:spPr>
          <a:xfrm>
            <a:off x="457200" y="16002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8500" lnSpcReduction="20000"/>
          </a:bodyPr>
          <a:lstStyle/>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The onload events gets activated as soon as the web page is loaded in the browser’s window</a:t>
            </a:r>
            <a:endParaRPr lang="en-IN" sz="3200" b="0" strike="noStrike" spc="-1">
              <a:latin typeface="Arial"/>
            </a:endParaRPr>
          </a:p>
          <a:p>
            <a:pPr marL="343080" indent="-342360">
              <a:lnSpc>
                <a:spcPct val="100000"/>
              </a:lnSpc>
              <a:spcBef>
                <a:spcPts val="641"/>
              </a:spcBef>
              <a:buClr>
                <a:srgbClr val="000000"/>
              </a:buClr>
              <a:buFont typeface="Arial"/>
              <a:buChar char="•"/>
            </a:pPr>
            <a:r>
              <a:rPr lang="en-IN" sz="3200" b="0" strike="noStrike" spc="-1">
                <a:solidFill>
                  <a:srgbClr val="000000"/>
                </a:solidFill>
                <a:latin typeface="Calibri"/>
              </a:rPr>
              <a:t>Eg - </a:t>
            </a:r>
            <a:r>
              <a:rPr lang="en-US" sz="3200" b="0" strike="noStrike" spc="-1">
                <a:solidFill>
                  <a:srgbClr val="000000"/>
                </a:solidFill>
                <a:latin typeface="Calibri"/>
              </a:rPr>
              <a:t>&lt;body onload="myFunction()"&gt;</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onload is most often used within the &lt;body&gt; element to execute a script once a web page has completely loaded all content (including images, script files, CSS files, etc.).</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The onload event can be used to check the visitor's browser type and browser version, and load the proper version of the web page based on the information.</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sp>
        <p:nvSpPr>
          <p:cNvPr id="286" name="CustomShape 2"/>
          <p:cNvSpPr/>
          <p:nvPr/>
        </p:nvSpPr>
        <p:spPr>
          <a:xfrm>
            <a:off x="457200" y="762120"/>
            <a:ext cx="8228880" cy="536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40000" lnSpcReduction="20000"/>
          </a:bodyPr>
          <a:lstStyle/>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&lt;!DOCTYPE html&gt;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&lt;html&gt;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&lt;body onload="myFunction()"&gt; //when web documents gets loaded on the browser windowthen my_fun() wil be called</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&lt;h1&gt;HTML DOM Events&lt;/h1&gt;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&lt;h2&gt;The onload Event&lt;/h2&gt;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&lt;script&gt;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function myFunction() {</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  alert("Page is loaded"); </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&lt;/script&gt;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&lt;/body&gt;</a:t>
            </a:r>
            <a:endParaRPr lang="en-IN" sz="3200" b="0" strike="noStrike" spc="-1">
              <a:latin typeface="Arial"/>
            </a:endParaRPr>
          </a:p>
          <a:p>
            <a:pPr marL="343080" indent="-342360">
              <a:lnSpc>
                <a:spcPct val="170000"/>
              </a:lnSpc>
              <a:spcBef>
                <a:spcPts val="641"/>
              </a:spcBef>
              <a:buClr>
                <a:srgbClr val="000000"/>
              </a:buClr>
              <a:buFont typeface="Arial"/>
              <a:buChar char="•"/>
            </a:pPr>
            <a:r>
              <a:rPr lang="en-US" sz="3200" b="1" strike="noStrike" spc="-1">
                <a:solidFill>
                  <a:srgbClr val="000000"/>
                </a:solidFill>
                <a:latin typeface="Calibri"/>
              </a:rPr>
              <a:t>&lt;/html&gt;</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IN" sz="4400" b="0" strike="noStrike" spc="-1">
                <a:solidFill>
                  <a:srgbClr val="000000"/>
                </a:solidFill>
                <a:latin typeface="Calibri"/>
              </a:rPr>
              <a:t>output</a:t>
            </a:r>
            <a:endParaRPr lang="en-IN" sz="4400" b="0" strike="noStrike" spc="-1">
              <a:latin typeface="Arial"/>
            </a:endParaRPr>
          </a:p>
        </p:txBody>
      </p:sp>
      <p:pic>
        <p:nvPicPr>
          <p:cNvPr id="288" name="Content Placeholder 3" descr="Screenshot 2024-07-27 093159.png"/>
          <p:cNvPicPr/>
          <p:nvPr/>
        </p:nvPicPr>
        <p:blipFill>
          <a:blip r:embed="rId2" cstate="print"/>
          <a:stretch/>
        </p:blipFill>
        <p:spPr>
          <a:xfrm>
            <a:off x="1220760" y="1600200"/>
            <a:ext cx="6701760" cy="4525200"/>
          </a:xfrm>
          <a:prstGeom prst="rect">
            <a:avLst/>
          </a:prstGeom>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CustomShape 1"/>
          <p:cNvSpPr/>
          <p:nvPr/>
        </p:nvSpPr>
        <p:spPr>
          <a:xfrm>
            <a:off x="533520" y="152280"/>
            <a:ext cx="8228880" cy="68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lnSpcReduction="10000"/>
          </a:bodyPr>
          <a:lstStyle/>
          <a:p>
            <a:pPr algn="ctr">
              <a:lnSpc>
                <a:spcPct val="100000"/>
              </a:lnSpc>
            </a:pPr>
            <a:r>
              <a:rPr lang="en-IN" sz="4400" b="0" strike="noStrike" spc="-1">
                <a:solidFill>
                  <a:srgbClr val="000000"/>
                </a:solidFill>
                <a:latin typeface="Calibri"/>
              </a:rPr>
              <a:t>Form validation in JavaScript</a:t>
            </a:r>
            <a:endParaRPr lang="en-IN" sz="4400" b="0" strike="noStrike" spc="-1">
              <a:latin typeface="Arial"/>
            </a:endParaRPr>
          </a:p>
        </p:txBody>
      </p:sp>
      <p:sp>
        <p:nvSpPr>
          <p:cNvPr id="290" name="CustomShape 2"/>
          <p:cNvSpPr/>
          <p:nvPr/>
        </p:nvSpPr>
        <p:spPr>
          <a:xfrm>
            <a:off x="457200" y="838080"/>
            <a:ext cx="8228880" cy="6019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&lt;script type = “text/javascript”&gt;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Function my_fun()</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var mypwd = document.getElementById(“pwd”);</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var my_re_pwd = document.getElementById(“re_pwd”);</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If (myuname.value ==“”)</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Alert(“you have not entered the password”);</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Mypwd.focus();</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Return false;</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If(mypwd.value!= my_re_pwd.value)</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Alert (“password is not verified,re-enter both the password”);</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Mypwd.focus();</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Return false;</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Else</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Alert(“congratulations!!”);</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Return true;</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a:p>
            <a:pPr marL="343080" indent="-342360">
              <a:lnSpc>
                <a:spcPct val="100000"/>
              </a:lnSpc>
              <a:spcBef>
                <a:spcPts val="281"/>
              </a:spcBef>
              <a:buClr>
                <a:srgbClr val="000000"/>
              </a:buClr>
              <a:buFont typeface="Arial"/>
              <a:buChar char="•"/>
            </a:pPr>
            <a:r>
              <a:rPr lang="en-IN" sz="1400" b="1" strike="noStrike" spc="-1">
                <a:solidFill>
                  <a:srgbClr val="000000"/>
                </a:solidFill>
                <a:latin typeface="Calibri"/>
              </a:rPr>
              <a:t>}</a:t>
            </a:r>
            <a:endParaRPr lang="en-IN" sz="1400" b="0" strike="noStrike" spc="-1">
              <a:latin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sp>
      <p:pic>
        <p:nvPicPr>
          <p:cNvPr id="292" name="Content Placeholder 3" descr="WhatsApp Image 2024-07-27 at 4.13.52 PM.jpeg"/>
          <p:cNvPicPr/>
          <p:nvPr/>
        </p:nvPicPr>
        <p:blipFill>
          <a:blip r:embed="rId2" cstate="print"/>
          <a:stretch/>
        </p:blipFill>
        <p:spPr>
          <a:xfrm>
            <a:off x="1219320" y="609480"/>
            <a:ext cx="6552360" cy="5515920"/>
          </a:xfrm>
          <a:prstGeom prst="rect">
            <a:avLst/>
          </a:prstGeom>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rPr>
              <a:t>Jquery</a:t>
            </a:r>
            <a:endParaRPr lang="en-IN" sz="4400" b="0" strike="noStrike" spc="-1">
              <a:latin typeface="Arial"/>
            </a:endParaRPr>
          </a:p>
        </p:txBody>
      </p:sp>
      <p:sp>
        <p:nvSpPr>
          <p:cNvPr id="294" name="CustomShape 2"/>
          <p:cNvSpPr/>
          <p:nvPr/>
        </p:nvSpPr>
        <p:spPr>
          <a:xfrm>
            <a:off x="543960" y="127548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jQuery is a lightweight, "write less, do more", JavaScript library.</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The purpose of jQuery is to make it much easier to use JavaScript on your website.</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jQuery takes a lot of common tasks that require many lines of JavaScript code to accomplish, and wraps them into methods that you can call with a single line of code.</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jQuery also simplifies a lot of the complicated things from JavaScript, like AJAX calls and DOM manipulation.</a:t>
            </a:r>
            <a:endParaRPr lang="en-IN" sz="2400" b="0" strike="noStrike" spc="-1">
              <a:latin typeface="Arial"/>
            </a:endParaRPr>
          </a:p>
          <a:p>
            <a:pPr>
              <a:lnSpc>
                <a:spcPct val="100000"/>
              </a:lnSpc>
              <a:spcBef>
                <a:spcPts val="641"/>
              </a:spcBef>
            </a:pPr>
            <a:endParaRPr lang="en-IN" sz="2400" b="0" strike="noStrike" spc="-1">
              <a:latin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908720"/>
            <a:ext cx="7772400" cy="1470025"/>
          </a:xfrm>
        </p:spPr>
        <p:txBody>
          <a:bodyPr/>
          <a:lstStyle/>
          <a:p>
            <a:pPr algn="ctr"/>
            <a:r>
              <a:rPr lang="en-US" b="1" dirty="0"/>
              <a:t>Advantages of </a:t>
            </a:r>
            <a:r>
              <a:rPr lang="en-US" b="1" dirty="0" err="1"/>
              <a:t>jQuery</a:t>
            </a:r>
            <a:br>
              <a:rPr lang="en-US" b="1" dirty="0"/>
            </a:br>
            <a:endParaRPr lang="en-US" dirty="0"/>
          </a:p>
        </p:txBody>
      </p:sp>
      <p:sp>
        <p:nvSpPr>
          <p:cNvPr id="3" name="Subtitle 2"/>
          <p:cNvSpPr>
            <a:spLocks noGrp="1"/>
          </p:cNvSpPr>
          <p:nvPr>
            <p:ph type="subTitle" idx="1"/>
          </p:nvPr>
        </p:nvSpPr>
        <p:spPr>
          <a:xfrm>
            <a:off x="1371600" y="2060848"/>
            <a:ext cx="6400800" cy="3577952"/>
          </a:xfrm>
        </p:spPr>
        <p:txBody>
          <a:bodyPr>
            <a:normAutofit fontScale="55000" lnSpcReduction="20000"/>
          </a:bodyPr>
          <a:lstStyle/>
          <a:p>
            <a:pPr algn="l" fontAlgn="base"/>
            <a:r>
              <a:rPr lang="en-US" b="1" dirty="0">
                <a:latin typeface="Times New Roman" pitchFamily="18" charset="0"/>
                <a:cs typeface="Times New Roman" pitchFamily="18" charset="0"/>
              </a:rPr>
              <a:t>Simplicity: </a:t>
            </a:r>
            <a:r>
              <a:rPr lang="en-US" b="1" dirty="0" err="1">
                <a:latin typeface="Times New Roman" pitchFamily="18" charset="0"/>
                <a:cs typeface="Times New Roman" pitchFamily="18" charset="0"/>
              </a:rPr>
              <a:t>jQuery</a:t>
            </a:r>
            <a:r>
              <a:rPr lang="en-US" b="1" dirty="0">
                <a:latin typeface="Times New Roman" pitchFamily="18" charset="0"/>
                <a:cs typeface="Times New Roman" pitchFamily="18" charset="0"/>
              </a:rPr>
              <a:t> simplifies JavaScript coding by providing easy-to-use methods and utilities.</a:t>
            </a:r>
          </a:p>
          <a:p>
            <a:pPr algn="l" fontAlgn="base"/>
            <a:endParaRPr lang="en-US" b="1" dirty="0">
              <a:latin typeface="Times New Roman" pitchFamily="18" charset="0"/>
              <a:cs typeface="Times New Roman" pitchFamily="18" charset="0"/>
            </a:endParaRPr>
          </a:p>
          <a:p>
            <a:pPr algn="l" fontAlgn="base"/>
            <a:r>
              <a:rPr lang="en-US" b="1" dirty="0">
                <a:latin typeface="Times New Roman" pitchFamily="18" charset="0"/>
                <a:cs typeface="Times New Roman" pitchFamily="18" charset="0"/>
              </a:rPr>
              <a:t>Cross-browser Compatibility: </a:t>
            </a:r>
            <a:r>
              <a:rPr lang="en-US" b="1" dirty="0" err="1">
                <a:latin typeface="Times New Roman" pitchFamily="18" charset="0"/>
                <a:cs typeface="Times New Roman" pitchFamily="18" charset="0"/>
              </a:rPr>
              <a:t>jQuery</a:t>
            </a:r>
            <a:r>
              <a:rPr lang="en-US" b="1" dirty="0">
                <a:latin typeface="Times New Roman" pitchFamily="18" charset="0"/>
                <a:cs typeface="Times New Roman" pitchFamily="18" charset="0"/>
              </a:rPr>
              <a:t> abstracts browser differences, making it easier to write code that works consistently across different browsers.</a:t>
            </a:r>
          </a:p>
          <a:p>
            <a:pPr algn="l" fontAlgn="base"/>
            <a:endParaRPr lang="en-US" b="1" dirty="0">
              <a:latin typeface="Times New Roman" pitchFamily="18" charset="0"/>
              <a:cs typeface="Times New Roman" pitchFamily="18" charset="0"/>
            </a:endParaRPr>
          </a:p>
          <a:p>
            <a:pPr algn="l" fontAlgn="base"/>
            <a:r>
              <a:rPr lang="en-US" b="1" dirty="0">
                <a:latin typeface="Times New Roman" pitchFamily="18" charset="0"/>
                <a:cs typeface="Times New Roman" pitchFamily="18" charset="0"/>
              </a:rPr>
              <a:t>Large Ecosystem: </a:t>
            </a:r>
            <a:r>
              <a:rPr lang="en-US" b="1" dirty="0" err="1">
                <a:latin typeface="Times New Roman" pitchFamily="18" charset="0"/>
                <a:cs typeface="Times New Roman" pitchFamily="18" charset="0"/>
              </a:rPr>
              <a:t>jQuery</a:t>
            </a:r>
            <a:r>
              <a:rPr lang="en-US" b="1" dirty="0">
                <a:latin typeface="Times New Roman" pitchFamily="18" charset="0"/>
                <a:cs typeface="Times New Roman" pitchFamily="18" charset="0"/>
              </a:rPr>
              <a:t> has a large ecosystem of </a:t>
            </a:r>
            <a:r>
              <a:rPr lang="en-US" b="1" dirty="0" err="1">
                <a:latin typeface="Times New Roman" pitchFamily="18" charset="0"/>
                <a:cs typeface="Times New Roman" pitchFamily="18" charset="0"/>
              </a:rPr>
              <a:t>plugins</a:t>
            </a:r>
            <a:r>
              <a:rPr lang="en-US" b="1" dirty="0">
                <a:latin typeface="Times New Roman" pitchFamily="18" charset="0"/>
                <a:cs typeface="Times New Roman" pitchFamily="18" charset="0"/>
              </a:rPr>
              <a:t> and extensions that extend its functionality and provide additional features.</a:t>
            </a:r>
          </a:p>
          <a:p>
            <a:pPr algn="l" fontAlgn="base"/>
            <a:endParaRPr lang="en-US" b="1" dirty="0">
              <a:latin typeface="Times New Roman" pitchFamily="18" charset="0"/>
              <a:cs typeface="Times New Roman" pitchFamily="18" charset="0"/>
            </a:endParaRPr>
          </a:p>
          <a:p>
            <a:pPr algn="l" fontAlgn="base"/>
            <a:r>
              <a:rPr lang="en-US" b="1" dirty="0">
                <a:latin typeface="Times New Roman" pitchFamily="18" charset="0"/>
                <a:cs typeface="Times New Roman" pitchFamily="18" charset="0"/>
              </a:rPr>
              <a:t>Performance: </a:t>
            </a:r>
            <a:r>
              <a:rPr lang="en-US" b="1" dirty="0" err="1">
                <a:latin typeface="Times New Roman" pitchFamily="18" charset="0"/>
                <a:cs typeface="Times New Roman" pitchFamily="18" charset="0"/>
              </a:rPr>
              <a:t>jQuery</a:t>
            </a:r>
            <a:r>
              <a:rPr lang="en-US" b="1" dirty="0">
                <a:latin typeface="Times New Roman" pitchFamily="18" charset="0"/>
                <a:cs typeface="Times New Roman" pitchFamily="18" charset="0"/>
              </a:rPr>
              <a:t> is optimized for performance, with efficient DOM manipulation and event handling.</a:t>
            </a:r>
          </a:p>
          <a:p>
            <a:endParaRPr lang="en-US" dirty="0">
              <a:latin typeface="Times New Roman" pitchFamily="18" charset="0"/>
              <a:cs typeface="Times New Roman"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548680"/>
            <a:ext cx="7772400" cy="1470025"/>
          </a:xfrm>
        </p:spPr>
        <p:txBody>
          <a:bodyPr/>
          <a:lstStyle/>
          <a:p>
            <a:r>
              <a:rPr lang="en-US" b="1" dirty="0"/>
              <a:t>Limitations of </a:t>
            </a:r>
            <a:r>
              <a:rPr lang="en-US" b="1" dirty="0" err="1"/>
              <a:t>jQuery</a:t>
            </a:r>
            <a:br>
              <a:rPr lang="en-US" b="1" dirty="0"/>
            </a:br>
            <a:endParaRPr lang="en-US" dirty="0"/>
          </a:p>
        </p:txBody>
      </p:sp>
      <p:sp>
        <p:nvSpPr>
          <p:cNvPr id="3" name="Subtitle 2"/>
          <p:cNvSpPr>
            <a:spLocks noGrp="1"/>
          </p:cNvSpPr>
          <p:nvPr>
            <p:ph type="subTitle" idx="1"/>
          </p:nvPr>
        </p:nvSpPr>
        <p:spPr>
          <a:xfrm>
            <a:off x="1371600" y="1628800"/>
            <a:ext cx="6400800" cy="4010000"/>
          </a:xfrm>
        </p:spPr>
        <p:txBody>
          <a:bodyPr>
            <a:normAutofit fontScale="70000" lnSpcReduction="20000"/>
          </a:bodyPr>
          <a:lstStyle/>
          <a:p>
            <a:pPr algn="l" fontAlgn="base"/>
            <a:r>
              <a:rPr lang="en-US" b="1" dirty="0"/>
              <a:t>Size: It adds to the page load time due to its file size, especially for simple tasks where vanilla JavaScript could suffice.</a:t>
            </a:r>
          </a:p>
          <a:p>
            <a:pPr algn="l" fontAlgn="base"/>
            <a:r>
              <a:rPr lang="en-US" b="1" dirty="0"/>
              <a:t>Dependency: It is an external dependency, which means relying on a third-party library for functionality.</a:t>
            </a:r>
          </a:p>
          <a:p>
            <a:pPr algn="l" fontAlgn="base"/>
            <a:r>
              <a:rPr lang="en-US" b="1" dirty="0"/>
              <a:t>Overhead: It may introduce unnecessary overhead for projects that don’t require its extensive features.</a:t>
            </a:r>
          </a:p>
          <a:p>
            <a:pPr algn="l" fontAlgn="base"/>
            <a:r>
              <a:rPr lang="en-US" b="1" dirty="0"/>
              <a:t>Learning Curve: While </a:t>
            </a:r>
            <a:r>
              <a:rPr lang="en-US" b="1" dirty="0" err="1"/>
              <a:t>jQuery</a:t>
            </a:r>
            <a:r>
              <a:rPr lang="en-US" b="1" dirty="0"/>
              <a:t> simplifies many tasks, it still has a learning curve, especially for beginners transitioning to JavaScript development.</a:t>
            </a:r>
          </a:p>
          <a:p>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692696"/>
            <a:ext cx="7772400" cy="1470025"/>
          </a:xfrm>
        </p:spPr>
        <p:txBody>
          <a:bodyPr/>
          <a:lstStyle/>
          <a:p>
            <a:r>
              <a:rPr lang="en-US" b="1" dirty="0"/>
              <a:t>Application of </a:t>
            </a:r>
            <a:r>
              <a:rPr lang="en-US" b="1" dirty="0" err="1"/>
              <a:t>jQuery</a:t>
            </a:r>
            <a:br>
              <a:rPr lang="en-US" b="1" dirty="0"/>
            </a:br>
            <a:endParaRPr lang="en-US" dirty="0"/>
          </a:p>
        </p:txBody>
      </p:sp>
      <p:sp>
        <p:nvSpPr>
          <p:cNvPr id="3" name="Subtitle 2"/>
          <p:cNvSpPr>
            <a:spLocks noGrp="1"/>
          </p:cNvSpPr>
          <p:nvPr>
            <p:ph type="subTitle" idx="1"/>
          </p:nvPr>
        </p:nvSpPr>
        <p:spPr>
          <a:xfrm>
            <a:off x="1371600" y="1772816"/>
            <a:ext cx="6400800" cy="3865984"/>
          </a:xfrm>
        </p:spPr>
        <p:txBody>
          <a:bodyPr>
            <a:normAutofit fontScale="70000" lnSpcReduction="20000"/>
          </a:bodyPr>
          <a:lstStyle/>
          <a:p>
            <a:pPr algn="l" fontAlgn="base"/>
            <a:r>
              <a:rPr lang="en-US" b="1" dirty="0"/>
              <a:t>DOM Manipulation:</a:t>
            </a:r>
            <a:r>
              <a:rPr lang="en-US" dirty="0"/>
              <a:t> It simplifies the process of traversing and manipulating the </a:t>
            </a:r>
            <a:r>
              <a:rPr lang="en-US" u="sng" dirty="0">
                <a:hlinkClick r:id="rId2"/>
              </a:rPr>
              <a:t>HTML DOM</a:t>
            </a:r>
            <a:r>
              <a:rPr lang="en-US" dirty="0"/>
              <a:t>.</a:t>
            </a:r>
          </a:p>
          <a:p>
            <a:pPr algn="l" fontAlgn="base"/>
            <a:r>
              <a:rPr lang="en-US" b="1" dirty="0"/>
              <a:t>Event Handling:</a:t>
            </a:r>
            <a:r>
              <a:rPr lang="en-US" dirty="0"/>
              <a:t> It provides easy-to-use methods for attaching event handlers to HTML elements.</a:t>
            </a:r>
          </a:p>
          <a:p>
            <a:pPr algn="l" fontAlgn="base"/>
            <a:r>
              <a:rPr lang="en-US" b="1" dirty="0"/>
              <a:t>AJAX Requests:</a:t>
            </a:r>
            <a:r>
              <a:rPr lang="en-US" dirty="0"/>
              <a:t> It makes it easy to perform </a:t>
            </a:r>
            <a:r>
              <a:rPr lang="en-US" u="sng" dirty="0">
                <a:hlinkClick r:id="rId3"/>
              </a:rPr>
              <a:t>AJAX </a:t>
            </a:r>
            <a:r>
              <a:rPr lang="en-US" dirty="0"/>
              <a:t>requests and handle server responses asynchronously.</a:t>
            </a:r>
          </a:p>
          <a:p>
            <a:pPr algn="l" fontAlgn="base"/>
            <a:r>
              <a:rPr lang="en-US" b="1" dirty="0"/>
              <a:t>Animations:</a:t>
            </a:r>
            <a:r>
              <a:rPr lang="en-US" dirty="0"/>
              <a:t> It offers a wide range of animation effects that can be applied to HTML elements.</a:t>
            </a:r>
          </a:p>
          <a:p>
            <a:pPr algn="l" fontAlgn="base"/>
            <a:r>
              <a:rPr lang="en-US" b="1" dirty="0"/>
              <a:t>Form Validation</a:t>
            </a:r>
            <a:r>
              <a:rPr lang="en-US" dirty="0"/>
              <a:t>: It provides </a:t>
            </a:r>
            <a:r>
              <a:rPr lang="en-US" dirty="0" err="1"/>
              <a:t>plugins</a:t>
            </a:r>
            <a:r>
              <a:rPr lang="en-US" dirty="0"/>
              <a:t> and utilities for validating form input and handling form submission.</a:t>
            </a:r>
          </a:p>
          <a:p>
            <a:pPr algn="l"/>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The jQuery library contains the following features:</a:t>
            </a:r>
            <a:endParaRPr lang="en-IN" sz="3200" b="0" strike="noStrike" spc="-1">
              <a:latin typeface="Arial"/>
            </a:endParaRPr>
          </a:p>
        </p:txBody>
      </p:sp>
      <p:sp>
        <p:nvSpPr>
          <p:cNvPr id="296" name="CustomShape 2"/>
          <p:cNvSpPr/>
          <p:nvPr/>
        </p:nvSpPr>
        <p:spPr>
          <a:xfrm>
            <a:off x="543960" y="159444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HTML/DOM manipulation</a:t>
            </a:r>
            <a:endParaRPr lang="en-IN" sz="3200" b="0" strike="noStrike" spc="-1" dirty="0">
              <a:latin typeface="Arial"/>
            </a:endParaRPr>
          </a:p>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CSS manipulation</a:t>
            </a:r>
            <a:endParaRPr lang="en-IN" sz="3200" b="0" strike="noStrike" spc="-1" dirty="0">
              <a:latin typeface="Arial"/>
            </a:endParaRPr>
          </a:p>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HTML event methods</a:t>
            </a:r>
            <a:endParaRPr lang="en-IN" sz="3200" b="0" strike="noStrike" spc="-1" dirty="0">
              <a:latin typeface="Arial"/>
            </a:endParaRPr>
          </a:p>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Effects and animations</a:t>
            </a:r>
            <a:endParaRPr lang="en-IN" sz="3200" b="0" strike="noStrike" spc="-1" dirty="0">
              <a:latin typeface="Arial"/>
            </a:endParaRPr>
          </a:p>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AJAX (</a:t>
            </a:r>
            <a:r>
              <a:rPr lang="en-US" sz="3200" dirty="0"/>
              <a:t>Asynchronous JavaScript and XML (Ajax) refer to a group of technologies that are used to develop web applications</a:t>
            </a:r>
            <a:r>
              <a:rPr lang="en-US" sz="3200" b="0" strike="noStrike" spc="-1" dirty="0">
                <a:solidFill>
                  <a:srgbClr val="000000"/>
                </a:solidFill>
                <a:latin typeface="Calibri"/>
              </a:rPr>
              <a:t>)</a:t>
            </a:r>
            <a:endParaRPr lang="en-IN" sz="3200" b="0" strike="noStrike" spc="-1" dirty="0">
              <a:latin typeface="Arial"/>
            </a:endParaRPr>
          </a:p>
          <a:p>
            <a:pPr marL="343080" indent="-342360">
              <a:lnSpc>
                <a:spcPct val="100000"/>
              </a:lnSpc>
              <a:spcBef>
                <a:spcPts val="641"/>
              </a:spcBef>
              <a:buClr>
                <a:srgbClr val="000000"/>
              </a:buClr>
              <a:buFont typeface="Arial"/>
              <a:buChar char="•"/>
            </a:pPr>
            <a:r>
              <a:rPr lang="en-US" sz="3200" b="0" strike="noStrike" spc="-1" dirty="0">
                <a:solidFill>
                  <a:srgbClr val="000000"/>
                </a:solidFill>
                <a:latin typeface="Calibri"/>
              </a:rPr>
              <a:t>Utilities</a:t>
            </a:r>
            <a:endParaRPr lang="en-IN" sz="3200" b="0" strike="noStrike" spc="-1" dirty="0">
              <a:latin typeface="Arial"/>
            </a:endParaRPr>
          </a:p>
          <a:p>
            <a:pPr>
              <a:lnSpc>
                <a:spcPct val="100000"/>
              </a:lnSpc>
              <a:spcBef>
                <a:spcPts val="641"/>
              </a:spcBef>
            </a:pPr>
            <a:endParaRPr lang="en-IN" sz="3200" b="0" strike="noStrike" spc="-1" dirty="0">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CustomShape 1"/>
          <p:cNvSpPr/>
          <p:nvPr/>
        </p:nvSpPr>
        <p:spPr>
          <a:xfrm>
            <a:off x="457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The jQuery library contains the following features:</a:t>
            </a:r>
            <a:endParaRPr lang="en-IN" sz="3200" b="0" strike="noStrike" spc="-1">
              <a:latin typeface="Arial"/>
            </a:endParaRPr>
          </a:p>
        </p:txBody>
      </p:sp>
      <p:sp>
        <p:nvSpPr>
          <p:cNvPr id="298" name="CustomShape 2"/>
          <p:cNvSpPr/>
          <p:nvPr/>
        </p:nvSpPr>
        <p:spPr>
          <a:xfrm>
            <a:off x="543960" y="159444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HTML/DOM manipulation</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CSS manipulation</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HTML event methods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Effects and animations</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AJAX</a:t>
            </a:r>
            <a:endParaRPr lang="en-IN" sz="3200" b="0" strike="noStrike" spc="-1">
              <a:latin typeface="Arial"/>
            </a:endParaRPr>
          </a:p>
          <a:p>
            <a:pPr marL="343080" indent="-342360">
              <a:lnSpc>
                <a:spcPct val="100000"/>
              </a:lnSpc>
              <a:spcBef>
                <a:spcPts val="641"/>
              </a:spcBef>
              <a:buClr>
                <a:srgbClr val="000000"/>
              </a:buClr>
              <a:buFont typeface="Arial"/>
              <a:buChar char="•"/>
            </a:pPr>
            <a:r>
              <a:rPr lang="en-US" sz="3200" b="0" strike="noStrike" spc="-1">
                <a:solidFill>
                  <a:srgbClr val="000000"/>
                </a:solidFill>
                <a:latin typeface="Calibri"/>
              </a:rPr>
              <a:t>Utilities</a:t>
            </a:r>
            <a:endParaRPr lang="en-IN" sz="3200" b="0" strike="noStrike" spc="-1">
              <a:latin typeface="Arial"/>
            </a:endParaRPr>
          </a:p>
          <a:p>
            <a:pPr>
              <a:lnSpc>
                <a:spcPct val="100000"/>
              </a:lnSpc>
              <a:spcBef>
                <a:spcPts val="641"/>
              </a:spcBef>
            </a:pPr>
            <a:endParaRPr lang="en-IN" sz="3200" b="0" strike="noStrike" spc="-1">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CustomShape 1"/>
          <p:cNvSpPr/>
          <p:nvPr/>
        </p:nvSpPr>
        <p:spPr>
          <a:xfrm>
            <a:off x="457200" y="8136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Adding JQuery to Your Web Pages</a:t>
            </a:r>
            <a:endParaRPr lang="en-IN" sz="3200" b="0" strike="noStrike" spc="-1">
              <a:latin typeface="Arial"/>
            </a:endParaRPr>
          </a:p>
        </p:txBody>
      </p:sp>
      <p:sp>
        <p:nvSpPr>
          <p:cNvPr id="300" name="CustomShape 2"/>
          <p:cNvSpPr/>
          <p:nvPr/>
        </p:nvSpPr>
        <p:spPr>
          <a:xfrm>
            <a:off x="792000" y="12960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There are several ways to start using jQuery on your web site. You can:</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Download the jQuery library from jQuery.com</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Include jQuery from a CDN, like Google</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Downloading jQuery -</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There are two versions of jQuery available for downloading:</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1) Production version - this is for your live website because it has been minified and compressed</a:t>
            </a:r>
            <a:endParaRPr lang="en-IN" sz="2400" b="0" strike="noStrike" spc="-1">
              <a:latin typeface="Arial"/>
            </a:endParaRPr>
          </a:p>
          <a:p>
            <a:pPr marL="343080" indent="-342360">
              <a:lnSpc>
                <a:spcPct val="100000"/>
              </a:lnSpc>
              <a:spcBef>
                <a:spcPts val="641"/>
              </a:spcBef>
              <a:buClr>
                <a:srgbClr val="000000"/>
              </a:buClr>
              <a:buFont typeface="Arial"/>
              <a:buChar char="•"/>
            </a:pPr>
            <a:r>
              <a:rPr lang="en-US" sz="2400" b="0" strike="noStrike" spc="-1">
                <a:solidFill>
                  <a:srgbClr val="000000"/>
                </a:solidFill>
                <a:latin typeface="Calibri"/>
              </a:rPr>
              <a:t>2) Development version - this is for testing and development (uncompressed and readable code)</a:t>
            </a:r>
            <a:endParaRPr lang="en-IN" sz="2400" b="0" strike="noStrike" spc="-1">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CustomShape 1"/>
          <p:cNvSpPr/>
          <p:nvPr/>
        </p:nvSpPr>
        <p:spPr>
          <a:xfrm>
            <a:off x="457200" y="8136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JQuery Syntax</a:t>
            </a:r>
            <a:endParaRPr lang="en-IN" sz="3200" b="0" strike="noStrike" spc="-1">
              <a:latin typeface="Arial"/>
            </a:endParaRPr>
          </a:p>
        </p:txBody>
      </p:sp>
      <p:sp>
        <p:nvSpPr>
          <p:cNvPr id="302" name="CustomShape 2"/>
          <p:cNvSpPr/>
          <p:nvPr/>
        </p:nvSpPr>
        <p:spPr>
          <a:xfrm>
            <a:off x="792000" y="129600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 Basic syntax is: $(selector).action()</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 A $ sign to define/access jQuery</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 A (selector) to "query (or find)" HTML elements</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 A jQuery action() to be performed on the element(s)</a:t>
            </a:r>
            <a:endParaRPr lang="en-IN" sz="1800" b="0" strike="noStrike" spc="-1" dirty="0">
              <a:latin typeface="Arial"/>
            </a:endParaRPr>
          </a:p>
          <a:p>
            <a:pPr>
              <a:lnSpc>
                <a:spcPct val="100000"/>
              </a:lnSpc>
              <a:spcBef>
                <a:spcPts val="641"/>
              </a:spcBef>
            </a:pP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Examples:</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$(this).hide() - hides the current element.</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$("p").hide() - hides all &lt;p&gt; elements.</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$(".test").hide() - hides all elements with class="test".</a:t>
            </a:r>
            <a:endParaRPr lang="en-IN" sz="1800" b="0" strike="noStrike" spc="-1" dirty="0">
              <a:latin typeface="Arial"/>
            </a:endParaRPr>
          </a:p>
          <a:p>
            <a:pPr marL="343080" indent="-342360">
              <a:lnSpc>
                <a:spcPct val="100000"/>
              </a:lnSpc>
              <a:spcBef>
                <a:spcPts val="641"/>
              </a:spcBef>
              <a:buClr>
                <a:srgbClr val="000000"/>
              </a:buClr>
              <a:buFont typeface="Arial"/>
              <a:buChar char="•"/>
            </a:pPr>
            <a:r>
              <a:rPr lang="en-US" sz="1800" b="0" strike="noStrike" spc="-1" dirty="0">
                <a:solidFill>
                  <a:srgbClr val="000000"/>
                </a:solidFill>
                <a:latin typeface="Calibri"/>
              </a:rPr>
              <a:t>$("#test").hide() - hides the element with id="test"</a:t>
            </a:r>
            <a:endParaRPr lang="en-IN" sz="1800" b="0" strike="noStrike" spc="-1" dirty="0">
              <a:latin typeface="Arial"/>
            </a:endParaRPr>
          </a:p>
          <a:p>
            <a:pPr>
              <a:lnSpc>
                <a:spcPct val="100000"/>
              </a:lnSpc>
              <a:spcBef>
                <a:spcPts val="641"/>
              </a:spcBef>
            </a:pPr>
            <a:endParaRPr lang="en-IN" sz="1800" b="0" strike="noStrike" spc="-1" dirty="0">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CustomShape 1"/>
          <p:cNvSpPr/>
          <p:nvPr/>
        </p:nvSpPr>
        <p:spPr>
          <a:xfrm>
            <a:off x="457200" y="8136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Libraries</a:t>
            </a:r>
            <a:endParaRPr lang="en-IN" sz="3200" b="0" strike="noStrike" spc="-1">
              <a:latin typeface="Arial"/>
            </a:endParaRPr>
          </a:p>
        </p:txBody>
      </p:sp>
      <p:sp>
        <p:nvSpPr>
          <p:cNvPr id="304" name="CustomShape 2"/>
          <p:cNvSpPr/>
          <p:nvPr/>
        </p:nvSpPr>
        <p:spPr>
          <a:xfrm>
            <a:off x="432000" y="123444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gn="just">
              <a:lnSpc>
                <a:spcPct val="100000"/>
              </a:lnSpc>
              <a:spcBef>
                <a:spcPts val="641"/>
              </a:spcBef>
              <a:buClr>
                <a:srgbClr val="000000"/>
              </a:buClr>
              <a:buFont typeface="Arial"/>
              <a:buChar char="•"/>
            </a:pPr>
            <a:r>
              <a:rPr lang="en-US" sz="1800" b="0" strike="noStrike" spc="-1" dirty="0">
                <a:solidFill>
                  <a:srgbClr val="000000"/>
                </a:solidFill>
                <a:latin typeface="Calibri"/>
              </a:rPr>
              <a:t> To load a hosted library, copy and paste the HTML snippet for that library (shown below) in your web page. For instance, to load </a:t>
            </a:r>
            <a:r>
              <a:rPr lang="en-US" sz="1800" b="0" strike="noStrike" spc="-1" dirty="0" err="1">
                <a:solidFill>
                  <a:srgbClr val="000000"/>
                </a:solidFill>
                <a:latin typeface="Calibri"/>
              </a:rPr>
              <a:t>jQuery</a:t>
            </a:r>
            <a:r>
              <a:rPr lang="en-US" sz="1800" b="0" strike="noStrike" spc="-1" dirty="0">
                <a:solidFill>
                  <a:srgbClr val="000000"/>
                </a:solidFill>
                <a:latin typeface="Calibri"/>
              </a:rPr>
              <a:t>, embed the </a:t>
            </a:r>
            <a:endParaRPr lang="en-IN" sz="1800" b="0" strike="noStrike" spc="-1" dirty="0">
              <a:latin typeface="Arial"/>
            </a:endParaRPr>
          </a:p>
          <a:p>
            <a:pPr marL="343080" indent="-342360" algn="just">
              <a:lnSpc>
                <a:spcPct val="100000"/>
              </a:lnSpc>
              <a:spcBef>
                <a:spcPts val="641"/>
              </a:spcBef>
              <a:buClr>
                <a:srgbClr val="000000"/>
              </a:buClr>
              <a:buFont typeface="Arial"/>
              <a:buChar char="•"/>
            </a:pPr>
            <a:r>
              <a:rPr lang="en-US" sz="1800" b="0" strike="noStrike" spc="-1" dirty="0">
                <a:solidFill>
                  <a:srgbClr val="000000"/>
                </a:solidFill>
                <a:latin typeface="Calibri"/>
              </a:rPr>
              <a:t>&lt;script </a:t>
            </a:r>
            <a:r>
              <a:rPr lang="en-US" sz="1800" b="0" strike="noStrike" spc="-1" dirty="0" err="1">
                <a:solidFill>
                  <a:srgbClr val="000000"/>
                </a:solidFill>
                <a:latin typeface="Calibri"/>
              </a:rPr>
              <a:t>src</a:t>
            </a:r>
            <a:r>
              <a:rPr lang="en-US" sz="1800" b="0" strike="noStrike" spc="-1" dirty="0">
                <a:solidFill>
                  <a:srgbClr val="000000"/>
                </a:solidFill>
                <a:latin typeface="Calibri"/>
              </a:rPr>
              <a:t>="</a:t>
            </a:r>
            <a:r>
              <a:rPr lang="en-US" sz="1800" b="0" u="sng" strike="noStrike" spc="-1" dirty="0">
                <a:solidFill>
                  <a:srgbClr val="0000FF"/>
                </a:solidFill>
                <a:uFillTx/>
                <a:latin typeface="Calibri"/>
                <a:hlinkClick r:id="rId2"/>
              </a:rPr>
              <a:t>https://ajax.googleapis.com/ajax/libs/jquery/3.7.1/</a:t>
            </a:r>
            <a:endParaRPr lang="en-IN" sz="1800" b="0" strike="noStrike" spc="-1" dirty="0">
              <a:latin typeface="Arial"/>
            </a:endParaRPr>
          </a:p>
          <a:p>
            <a:pPr marL="343080" indent="-342360" algn="just">
              <a:lnSpc>
                <a:spcPct val="100000"/>
              </a:lnSpc>
              <a:spcBef>
                <a:spcPts val="641"/>
              </a:spcBef>
              <a:buClr>
                <a:srgbClr val="000000"/>
              </a:buClr>
              <a:buFont typeface="Arial"/>
              <a:buChar char="•"/>
            </a:pPr>
            <a:r>
              <a:rPr lang="en-US" sz="1800" b="0" strike="noStrike" spc="-1" dirty="0" err="1">
                <a:solidFill>
                  <a:srgbClr val="000000"/>
                </a:solidFill>
                <a:latin typeface="Calibri"/>
              </a:rPr>
              <a:t>jquery.min.js</a:t>
            </a:r>
            <a:r>
              <a:rPr lang="en-US" sz="1800" b="0" strike="noStrike" spc="-1" dirty="0">
                <a:solidFill>
                  <a:srgbClr val="000000"/>
                </a:solidFill>
                <a:latin typeface="Calibri"/>
              </a:rPr>
              <a:t>"&gt;&lt;/script&gt; snippet in your web page. </a:t>
            </a:r>
            <a:endParaRPr lang="en-IN" sz="1800" b="0" strike="noStrike" spc="-1" dirty="0">
              <a:latin typeface="Arial"/>
            </a:endParaRPr>
          </a:p>
          <a:p>
            <a:pPr marL="343080" indent="-342360" algn="just">
              <a:lnSpc>
                <a:spcPct val="100000"/>
              </a:lnSpc>
              <a:spcBef>
                <a:spcPts val="641"/>
              </a:spcBef>
              <a:buClr>
                <a:srgbClr val="000000"/>
              </a:buClr>
              <a:buFont typeface="Arial"/>
              <a:buChar char="•"/>
            </a:pPr>
            <a:r>
              <a:rPr lang="en-US" sz="1800" b="0" strike="noStrike" spc="-1" dirty="0">
                <a:solidFill>
                  <a:srgbClr val="000000"/>
                </a:solidFill>
                <a:latin typeface="Calibri"/>
              </a:rPr>
              <a:t>What is AJAX used for?</a:t>
            </a:r>
            <a:endParaRPr lang="en-IN" sz="1800" b="0" strike="noStrike" spc="-1" dirty="0">
              <a:latin typeface="Arial"/>
            </a:endParaRPr>
          </a:p>
          <a:p>
            <a:pPr marL="343080" indent="-342360" algn="just">
              <a:lnSpc>
                <a:spcPct val="100000"/>
              </a:lnSpc>
              <a:spcBef>
                <a:spcPts val="641"/>
              </a:spcBef>
              <a:buClr>
                <a:srgbClr val="000000"/>
              </a:buClr>
              <a:buFont typeface="Arial"/>
              <a:buChar char="•"/>
            </a:pPr>
            <a:r>
              <a:rPr lang="en-US" sz="1800" b="0" strike="noStrike" spc="-1" dirty="0">
                <a:solidFill>
                  <a:srgbClr val="000000"/>
                </a:solidFill>
                <a:latin typeface="Calibri"/>
              </a:rPr>
              <a:t>Ajax enables a web application user to interact with a web page without the interruption of constant web page reloading. Website interaction happens quickly with only portions of the page reloading and refreshing. Ajax is made up of the following technologies: XHTML and CSS for presenting information.</a:t>
            </a:r>
            <a:endParaRPr lang="en-IN" sz="1800" b="0" strike="noStrike" spc="-1" dirty="0">
              <a:latin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CustomShape 1"/>
          <p:cNvSpPr/>
          <p:nvPr/>
        </p:nvSpPr>
        <p:spPr>
          <a:xfrm>
            <a:off x="457200" y="8136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jQuery ready() Method</a:t>
            </a:r>
            <a:endParaRPr lang="en-IN" sz="3200" b="0" strike="noStrike" spc="-1">
              <a:latin typeface="Arial"/>
            </a:endParaRPr>
          </a:p>
        </p:txBody>
      </p:sp>
      <p:sp>
        <p:nvSpPr>
          <p:cNvPr id="306" name="CustomShape 2"/>
          <p:cNvSpPr/>
          <p:nvPr/>
        </p:nvSpPr>
        <p:spPr>
          <a:xfrm>
            <a:off x="432000" y="123444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gn="just">
              <a:lnSpc>
                <a:spcPct val="100000"/>
              </a:lnSpc>
              <a:spcBef>
                <a:spcPts val="641"/>
              </a:spcBef>
              <a:buClr>
                <a:srgbClr val="000000"/>
              </a:buClr>
              <a:buFont typeface="Arial"/>
              <a:buChar char="•"/>
            </a:pPr>
            <a:r>
              <a:rPr lang="en-US" sz="1800" b="0" strike="noStrike" spc="-1">
                <a:solidFill>
                  <a:srgbClr val="000000"/>
                </a:solidFill>
                <a:latin typeface="Calibri"/>
              </a:rPr>
              <a:t> Use ready() to make a function available after the document is loaded:</a:t>
            </a:r>
            <a:endParaRPr lang="en-IN" sz="1800" b="0" strike="noStrike" spc="-1">
              <a:latin typeface="Arial"/>
            </a:endParaRPr>
          </a:p>
          <a:p>
            <a:pPr marL="343080" indent="-342360" algn="just">
              <a:lnSpc>
                <a:spcPct val="100000"/>
              </a:lnSpc>
              <a:spcBef>
                <a:spcPts val="641"/>
              </a:spcBef>
              <a:buClr>
                <a:srgbClr val="000000"/>
              </a:buClr>
              <a:buFont typeface="Arial"/>
              <a:buChar char="•"/>
            </a:pPr>
            <a:r>
              <a:rPr lang="en-US" sz="1800" b="0" strike="noStrike" spc="-1">
                <a:solidFill>
                  <a:srgbClr val="000000"/>
                </a:solidFill>
                <a:latin typeface="Calibri"/>
              </a:rPr>
              <a:t>Syntax - $(document).ready(function) - The ready() method can only be used on the current document, so no selector is required</a:t>
            </a:r>
            <a:endParaRPr lang="en-IN" sz="1800" b="0" strike="noStrike" spc="-1">
              <a:latin typeface="Arial"/>
            </a:endParaRPr>
          </a:p>
          <a:p>
            <a:pPr marL="343080" indent="-342360" algn="just">
              <a:lnSpc>
                <a:spcPct val="100000"/>
              </a:lnSpc>
              <a:spcBef>
                <a:spcPts val="641"/>
              </a:spcBef>
              <a:buClr>
                <a:srgbClr val="000000"/>
              </a:buClr>
              <a:buFont typeface="Arial"/>
              <a:buChar char="•"/>
            </a:pPr>
            <a:r>
              <a:rPr lang="en-US" sz="1800" b="0" strike="noStrike" spc="-1">
                <a:solidFill>
                  <a:srgbClr val="000000"/>
                </a:solidFill>
                <a:latin typeface="Calibri"/>
              </a:rPr>
              <a:t>The ready event occurs when the DOM (document object model) has been loaded.</a:t>
            </a:r>
            <a:endParaRPr lang="en-IN" sz="1800" b="0" strike="noStrike" spc="-1">
              <a:latin typeface="Arial"/>
            </a:endParaRPr>
          </a:p>
          <a:p>
            <a:pPr marL="343080" indent="-342360" algn="just">
              <a:lnSpc>
                <a:spcPct val="100000"/>
              </a:lnSpc>
              <a:spcBef>
                <a:spcPts val="641"/>
              </a:spcBef>
              <a:buClr>
                <a:srgbClr val="000000"/>
              </a:buClr>
              <a:buFont typeface="Arial"/>
              <a:buChar char="•"/>
            </a:pPr>
            <a:r>
              <a:rPr lang="en-US" sz="1800" b="0" strike="noStrike" spc="-1">
                <a:solidFill>
                  <a:srgbClr val="000000"/>
                </a:solidFill>
                <a:latin typeface="Calibri"/>
              </a:rPr>
              <a:t>Because this event occurs after the document is ready, it is a good place to have all other jQuery events and functions</a:t>
            </a:r>
            <a:endParaRPr lang="en-IN" sz="1800" b="0" strike="noStrike" spc="-1">
              <a:latin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CustomShape 1"/>
          <p:cNvSpPr/>
          <p:nvPr/>
        </p:nvSpPr>
        <p:spPr>
          <a:xfrm>
            <a:off x="457200" y="8136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200" b="0" strike="noStrike" spc="-1">
                <a:solidFill>
                  <a:srgbClr val="000000"/>
                </a:solidFill>
                <a:latin typeface="Calibri"/>
              </a:rPr>
              <a:t>jQuery slideToggle() Method</a:t>
            </a:r>
            <a:endParaRPr lang="en-IN" sz="3200" b="0" strike="noStrike" spc="-1">
              <a:latin typeface="Arial"/>
            </a:endParaRPr>
          </a:p>
        </p:txBody>
      </p:sp>
      <p:sp>
        <p:nvSpPr>
          <p:cNvPr id="308" name="CustomShape 2"/>
          <p:cNvSpPr/>
          <p:nvPr/>
        </p:nvSpPr>
        <p:spPr>
          <a:xfrm>
            <a:off x="432000" y="1234440"/>
            <a:ext cx="8228880" cy="4525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360" algn="just">
              <a:lnSpc>
                <a:spcPct val="100000"/>
              </a:lnSpc>
              <a:spcBef>
                <a:spcPts val="641"/>
              </a:spcBef>
              <a:buClr>
                <a:srgbClr val="000000"/>
              </a:buClr>
              <a:buFont typeface="Arial"/>
              <a:buChar char="•"/>
            </a:pPr>
            <a:r>
              <a:rPr lang="en-US" sz="1800" b="0" strike="noStrike" spc="-1" dirty="0">
                <a:solidFill>
                  <a:srgbClr val="000000"/>
                </a:solidFill>
                <a:latin typeface="Calibri"/>
              </a:rPr>
              <a:t>The </a:t>
            </a:r>
            <a:r>
              <a:rPr lang="en-US" sz="1800" b="0" strike="noStrike" spc="-1" dirty="0" err="1">
                <a:solidFill>
                  <a:srgbClr val="000000"/>
                </a:solidFill>
                <a:latin typeface="Calibri"/>
              </a:rPr>
              <a:t>slideToggle</a:t>
            </a:r>
            <a:r>
              <a:rPr lang="en-US" sz="1800" b="0" strike="noStrike" spc="-1" dirty="0">
                <a:solidFill>
                  <a:srgbClr val="000000"/>
                </a:solidFill>
                <a:latin typeface="Calibri"/>
              </a:rPr>
              <a:t>() method toggles between </a:t>
            </a:r>
            <a:r>
              <a:rPr lang="en-US" sz="1800" b="0" strike="noStrike" spc="-1" dirty="0" err="1">
                <a:solidFill>
                  <a:srgbClr val="000000"/>
                </a:solidFill>
                <a:latin typeface="Calibri"/>
              </a:rPr>
              <a:t>slideUp</a:t>
            </a:r>
            <a:r>
              <a:rPr lang="en-US" sz="1800" b="0" strike="noStrike" spc="-1" dirty="0">
                <a:solidFill>
                  <a:srgbClr val="000000"/>
                </a:solidFill>
                <a:latin typeface="Calibri"/>
              </a:rPr>
              <a:t>() and </a:t>
            </a:r>
            <a:r>
              <a:rPr lang="en-US" sz="1800" b="0" strike="noStrike" spc="-1" dirty="0" err="1">
                <a:solidFill>
                  <a:srgbClr val="000000"/>
                </a:solidFill>
                <a:latin typeface="Calibri"/>
              </a:rPr>
              <a:t>slideDown</a:t>
            </a:r>
            <a:r>
              <a:rPr lang="en-US" sz="1800" b="0" strike="noStrike" spc="-1" dirty="0">
                <a:solidFill>
                  <a:srgbClr val="000000"/>
                </a:solidFill>
                <a:latin typeface="Calibri"/>
              </a:rPr>
              <a:t>() for the selected elements.</a:t>
            </a:r>
            <a:endParaRPr lang="en-IN" sz="1800" b="0" strike="noStrike" spc="-1" dirty="0">
              <a:latin typeface="Arial"/>
            </a:endParaRPr>
          </a:p>
          <a:p>
            <a:pPr marL="343080" indent="-342360" algn="just">
              <a:lnSpc>
                <a:spcPct val="100000"/>
              </a:lnSpc>
              <a:spcBef>
                <a:spcPts val="641"/>
              </a:spcBef>
              <a:buClr>
                <a:srgbClr val="000000"/>
              </a:buClr>
              <a:buFont typeface="Arial"/>
              <a:buChar char="•"/>
            </a:pPr>
            <a:r>
              <a:rPr lang="en-US" sz="1800" b="0" strike="noStrike" spc="-1" dirty="0">
                <a:solidFill>
                  <a:srgbClr val="000000"/>
                </a:solidFill>
                <a:latin typeface="Calibri"/>
              </a:rPr>
              <a:t>This method checks the selected elements for visibility. </a:t>
            </a:r>
            <a:r>
              <a:rPr lang="en-US" sz="1800" b="0" strike="noStrike" spc="-1" dirty="0" err="1">
                <a:solidFill>
                  <a:srgbClr val="000000"/>
                </a:solidFill>
                <a:latin typeface="Calibri"/>
              </a:rPr>
              <a:t>slideDown</a:t>
            </a:r>
            <a:r>
              <a:rPr lang="en-US" sz="1800" b="0" strike="noStrike" spc="-1" dirty="0">
                <a:solidFill>
                  <a:srgbClr val="000000"/>
                </a:solidFill>
                <a:latin typeface="Calibri"/>
              </a:rPr>
              <a:t>() is run if an element is hidden. </a:t>
            </a:r>
            <a:r>
              <a:rPr lang="en-US" sz="1800" b="0" strike="noStrike" spc="-1" dirty="0" err="1">
                <a:solidFill>
                  <a:srgbClr val="000000"/>
                </a:solidFill>
                <a:latin typeface="Calibri"/>
              </a:rPr>
              <a:t>slideUp</a:t>
            </a:r>
            <a:r>
              <a:rPr lang="en-US" sz="1800" b="0" strike="noStrike" spc="-1" dirty="0">
                <a:solidFill>
                  <a:srgbClr val="000000"/>
                </a:solidFill>
                <a:latin typeface="Calibri"/>
              </a:rPr>
              <a:t>() is run if an element is visible - This creates a toggle effect.</a:t>
            </a:r>
            <a:endParaRPr lang="en-IN" sz="1800" b="0" strike="noStrike" spc="-1" dirty="0">
              <a:latin typeface="Arial"/>
            </a:endParaRPr>
          </a:p>
          <a:p>
            <a:pPr algn="just">
              <a:lnSpc>
                <a:spcPct val="100000"/>
              </a:lnSpc>
              <a:spcBef>
                <a:spcPts val="641"/>
              </a:spcBef>
            </a:pPr>
            <a:r>
              <a:rPr lang="en-US" sz="1800" b="0" strike="noStrike" spc="-1" dirty="0">
                <a:solidFill>
                  <a:srgbClr val="000000"/>
                </a:solidFill>
                <a:latin typeface="Calibri"/>
              </a:rPr>
              <a:t>https://www.w3schools.com/jquery/eff_slidetoggle.asp</a:t>
            </a:r>
            <a:endParaRPr lang="en-IN" sz="1800" b="0" strike="noStrike" spc="-1" dirty="0">
              <a:latin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jQuery Selectors</a:t>
            </a:r>
          </a:p>
        </p:txBody>
      </p:sp>
      <p:sp>
        <p:nvSpPr>
          <p:cNvPr id="310" name="TextShape 2"/>
          <p:cNvSpPr txBox="1"/>
          <p:nvPr/>
        </p:nvSpPr>
        <p:spPr>
          <a:xfrm>
            <a:off x="457200" y="1604520"/>
            <a:ext cx="8229240" cy="3977280"/>
          </a:xfrm>
          <a:prstGeom prst="rect">
            <a:avLst/>
          </a:prstGeom>
          <a:noFill/>
          <a:ln>
            <a:noFill/>
          </a:ln>
        </p:spPr>
        <p:txBody>
          <a:bodyPr lIns="0" tIns="0" rIns="0" bIns="0" anchor="ctr">
            <a:noAutofit/>
          </a:bodyPr>
          <a:lstStyle/>
          <a:p>
            <a:pPr algn="just"/>
            <a:r>
              <a:rPr lang="en-IN" sz="3200" b="0" strike="noStrike" spc="-1">
                <a:latin typeface="Arial"/>
              </a:rPr>
              <a:t>jQuery selectors allow you to select and manipulate HTML element(s).</a:t>
            </a:r>
          </a:p>
          <a:p>
            <a:pPr algn="just"/>
            <a:endParaRPr lang="en-IN" sz="3200" b="0" strike="noStrike" spc="-1">
              <a:latin typeface="Arial"/>
            </a:endParaRPr>
          </a:p>
          <a:p>
            <a:pPr algn="just"/>
            <a:r>
              <a:rPr lang="en-IN" sz="3200" b="0" strike="noStrike" spc="-1">
                <a:latin typeface="Arial"/>
              </a:rPr>
              <a:t>jQuery selectors are used to "find" (or select) HTML elements based on their name, id, classes, types, attributes, values of attributes and much more. It's based on the existing CSS Selectors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The element Selector</a:t>
            </a:r>
          </a:p>
        </p:txBody>
      </p:sp>
      <p:sp>
        <p:nvSpPr>
          <p:cNvPr id="312" name="TextShape 2"/>
          <p:cNvSpPr txBox="1"/>
          <p:nvPr/>
        </p:nvSpPr>
        <p:spPr>
          <a:xfrm>
            <a:off x="457200" y="1604520"/>
            <a:ext cx="8229240" cy="3977280"/>
          </a:xfrm>
          <a:prstGeom prst="rect">
            <a:avLst/>
          </a:prstGeom>
          <a:noFill/>
          <a:ln>
            <a:noFill/>
          </a:ln>
        </p:spPr>
        <p:txBody>
          <a:bodyPr lIns="0" tIns="0" rIns="0" bIns="0">
            <a:normAutofit fontScale="70000" lnSpcReduction="20000"/>
          </a:bodyPr>
          <a:lstStyle/>
          <a:p>
            <a:pPr marL="432000" indent="-324000">
              <a:spcBef>
                <a:spcPts val="1417"/>
              </a:spcBef>
              <a:buClr>
                <a:srgbClr val="000000"/>
              </a:buClr>
              <a:buSzPct val="45000"/>
              <a:buFont typeface="Wingdings" charset="2"/>
              <a:buChar char=""/>
            </a:pPr>
            <a:endParaRPr lang="en-IN" sz="3200" b="0" strike="noStrike" spc="-1">
              <a:latin typeface="Arial"/>
            </a:endParaRPr>
          </a:p>
          <a:p>
            <a:pPr marL="432000" indent="-324000">
              <a:spcBef>
                <a:spcPts val="1417"/>
              </a:spcBef>
              <a:buClr>
                <a:srgbClr val="000000"/>
              </a:buClr>
              <a:buSzPct val="45000"/>
              <a:buFont typeface="Wingdings" charset="2"/>
              <a:buChar char=""/>
            </a:pPr>
            <a:r>
              <a:rPr lang="en-IN" sz="3200" b="0" strike="noStrike" spc="-1">
                <a:latin typeface="Arial"/>
              </a:rPr>
              <a:t>The jQuery element selector selects elements based on the element name.</a:t>
            </a:r>
          </a:p>
          <a:p>
            <a:pPr marL="432000" indent="-324000">
              <a:spcBef>
                <a:spcPts val="1417"/>
              </a:spcBef>
              <a:buClr>
                <a:srgbClr val="000000"/>
              </a:buClr>
              <a:buSzPct val="45000"/>
              <a:buFont typeface="Wingdings" charset="2"/>
              <a:buChar char=""/>
            </a:pPr>
            <a:r>
              <a:rPr lang="en-IN" sz="3200" b="0" strike="noStrike" spc="-1">
                <a:latin typeface="Arial"/>
              </a:rPr>
              <a:t>You can select all &lt;p&gt; elements on a page like this:</a:t>
            </a:r>
          </a:p>
          <a:p>
            <a:pPr marL="432000" indent="-324000">
              <a:spcBef>
                <a:spcPts val="1417"/>
              </a:spcBef>
              <a:buClr>
                <a:srgbClr val="000000"/>
              </a:buClr>
              <a:buSzPct val="45000"/>
              <a:buFont typeface="Wingdings" charset="2"/>
              <a:buChar char=""/>
            </a:pPr>
            <a:r>
              <a:rPr lang="en-IN" sz="3200" b="0" strike="noStrike" spc="-1">
                <a:latin typeface="Arial"/>
              </a:rPr>
              <a:t>$(document).ready(function(){</a:t>
            </a:r>
          </a:p>
          <a:p>
            <a:pPr marL="432000" indent="-324000">
              <a:spcBef>
                <a:spcPts val="1417"/>
              </a:spcBef>
              <a:buClr>
                <a:srgbClr val="000000"/>
              </a:buClr>
              <a:buSzPct val="45000"/>
              <a:buFont typeface="Wingdings" charset="2"/>
              <a:buChar char=""/>
            </a:pPr>
            <a:r>
              <a:rPr lang="en-IN" sz="3200" b="0" strike="noStrike" spc="-1">
                <a:latin typeface="Arial"/>
              </a:rPr>
              <a:t>  $("button").click(function(){</a:t>
            </a:r>
          </a:p>
          <a:p>
            <a:pPr marL="432000" indent="-324000">
              <a:spcBef>
                <a:spcPts val="1417"/>
              </a:spcBef>
              <a:buClr>
                <a:srgbClr val="000000"/>
              </a:buClr>
              <a:buSzPct val="45000"/>
              <a:buFont typeface="Wingdings" charset="2"/>
              <a:buChar char=""/>
            </a:pPr>
            <a:r>
              <a:rPr lang="en-IN" sz="3200" b="0" strike="noStrike" spc="-1">
                <a:latin typeface="Arial"/>
              </a:rPr>
              <a:t>    $("p").hide();</a:t>
            </a:r>
          </a:p>
          <a:p>
            <a:pPr marL="432000" indent="-324000">
              <a:spcBef>
                <a:spcPts val="1417"/>
              </a:spcBef>
              <a:buClr>
                <a:srgbClr val="000000"/>
              </a:buClr>
              <a:buSzPct val="45000"/>
              <a:buFont typeface="Wingdings" charset="2"/>
              <a:buChar char=""/>
            </a:pPr>
            <a:r>
              <a:rPr lang="en-IN" sz="3200" b="0" strike="noStrike" spc="-1">
                <a:latin typeface="Arial"/>
              </a:rPr>
              <a:t>  });</a:t>
            </a:r>
          </a:p>
          <a:p>
            <a:pPr marL="432000" indent="-324000">
              <a:spcBef>
                <a:spcPts val="1417"/>
              </a:spcBef>
              <a:buClr>
                <a:srgbClr val="000000"/>
              </a:buClr>
              <a:buSzPct val="45000"/>
              <a:buFont typeface="Wingdings" charset="2"/>
              <a:buChar char=""/>
            </a:pPr>
            <a:r>
              <a:rPr lang="en-IN" sz="3200" b="0" strike="noStrike" spc="-1">
                <a:latin typeface="Arial"/>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example</a:t>
            </a:r>
          </a:p>
        </p:txBody>
      </p:sp>
      <p:sp>
        <p:nvSpPr>
          <p:cNvPr id="314" name="TextShape 2"/>
          <p:cNvSpPr txBox="1"/>
          <p:nvPr/>
        </p:nvSpPr>
        <p:spPr>
          <a:xfrm>
            <a:off x="457200" y="1604520"/>
            <a:ext cx="8229240" cy="3977280"/>
          </a:xfrm>
          <a:prstGeom prst="rect">
            <a:avLst/>
          </a:prstGeom>
          <a:noFill/>
          <a:ln>
            <a:noFill/>
          </a:ln>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https://www.w3schools.com/jquery/tryit.asp?filename=tryjquery_hide_p</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The #id Selector</a:t>
            </a:r>
          </a:p>
        </p:txBody>
      </p:sp>
      <p:sp>
        <p:nvSpPr>
          <p:cNvPr id="316" name="TextShape 2"/>
          <p:cNvSpPr txBox="1"/>
          <p:nvPr/>
        </p:nvSpPr>
        <p:spPr>
          <a:xfrm>
            <a:off x="457200" y="1604520"/>
            <a:ext cx="8229240" cy="3977280"/>
          </a:xfrm>
          <a:prstGeom prst="rect">
            <a:avLst/>
          </a:prstGeom>
          <a:noFill/>
          <a:ln>
            <a:noFill/>
          </a:ln>
        </p:spPr>
        <p:txBody>
          <a:bodyPr lIns="0" tIns="0" rIns="0" bIns="0">
            <a:normAutofit fontScale="58500" lnSpcReduction="20000"/>
          </a:bodyPr>
          <a:lstStyle/>
          <a:p>
            <a:pPr marL="432000" indent="-324000">
              <a:spcBef>
                <a:spcPts val="1417"/>
              </a:spcBef>
              <a:buClr>
                <a:srgbClr val="000000"/>
              </a:buClr>
              <a:buSzPct val="45000"/>
              <a:buFont typeface="Wingdings" charset="2"/>
              <a:buChar char=""/>
            </a:pPr>
            <a:r>
              <a:rPr lang="en-IN" sz="3200" b="0" strike="noStrike" spc="-1">
                <a:latin typeface="Arial"/>
              </a:rPr>
              <a:t>The jQuery #id selector uses the id attribute of an HTML tag to find the specific element.</a:t>
            </a:r>
          </a:p>
          <a:p>
            <a:pPr marL="432000" indent="-324000">
              <a:spcBef>
                <a:spcPts val="1417"/>
              </a:spcBef>
              <a:buClr>
                <a:srgbClr val="000000"/>
              </a:buClr>
              <a:buSzPct val="45000"/>
              <a:buFont typeface="Wingdings" charset="2"/>
              <a:buChar char=""/>
            </a:pPr>
            <a:r>
              <a:rPr lang="en-IN" sz="3200" b="0" strike="noStrike" spc="-1">
                <a:latin typeface="Arial"/>
              </a:rPr>
              <a:t>An id should be unique within a page, so you should use the #id selector when you want to find a single, unique element.</a:t>
            </a:r>
          </a:p>
          <a:p>
            <a:pPr marL="432000" indent="-324000">
              <a:spcBef>
                <a:spcPts val="1417"/>
              </a:spcBef>
              <a:buClr>
                <a:srgbClr val="000000"/>
              </a:buClr>
              <a:buSzPct val="45000"/>
              <a:buFont typeface="Wingdings" charset="2"/>
              <a:buChar char=""/>
            </a:pPr>
            <a:r>
              <a:rPr lang="en-IN" sz="3200" b="0" strike="noStrike" spc="-1">
                <a:latin typeface="Arial"/>
              </a:rPr>
              <a:t>To find an element with a specific id, write a hash character, followed by the id of the HTML element:</a:t>
            </a:r>
          </a:p>
          <a:p>
            <a:pPr marL="432000" indent="-324000">
              <a:spcBef>
                <a:spcPts val="1417"/>
              </a:spcBef>
              <a:buClr>
                <a:srgbClr val="000000"/>
              </a:buClr>
              <a:buSzPct val="45000"/>
              <a:buFont typeface="Wingdings" charset="2"/>
              <a:buChar char=""/>
            </a:pPr>
            <a:r>
              <a:rPr lang="en-IN" sz="3200" b="0" strike="noStrike" spc="-1">
                <a:latin typeface="Arial"/>
              </a:rPr>
              <a:t>$(document).ready(function(){</a:t>
            </a:r>
          </a:p>
          <a:p>
            <a:pPr marL="432000" indent="-324000">
              <a:spcBef>
                <a:spcPts val="1417"/>
              </a:spcBef>
              <a:buClr>
                <a:srgbClr val="000000"/>
              </a:buClr>
              <a:buSzPct val="45000"/>
              <a:buFont typeface="Wingdings" charset="2"/>
              <a:buChar char=""/>
            </a:pPr>
            <a:r>
              <a:rPr lang="en-IN" sz="3200" b="0" strike="noStrike" spc="-1">
                <a:latin typeface="Arial"/>
              </a:rPr>
              <a:t>  $("button").click(function(){</a:t>
            </a:r>
          </a:p>
          <a:p>
            <a:pPr marL="432000" indent="-324000">
              <a:spcBef>
                <a:spcPts val="1417"/>
              </a:spcBef>
              <a:buClr>
                <a:srgbClr val="000000"/>
              </a:buClr>
              <a:buSzPct val="45000"/>
              <a:buFont typeface="Wingdings" charset="2"/>
              <a:buChar char=""/>
            </a:pPr>
            <a:r>
              <a:rPr lang="en-IN" sz="3200" b="0" strike="noStrike" spc="-1">
                <a:latin typeface="Arial"/>
              </a:rPr>
              <a:t>    $("#test").hide();</a:t>
            </a:r>
          </a:p>
          <a:p>
            <a:pPr marL="432000" indent="-324000">
              <a:spcBef>
                <a:spcPts val="1417"/>
              </a:spcBef>
              <a:buClr>
                <a:srgbClr val="000000"/>
              </a:buClr>
              <a:buSzPct val="45000"/>
              <a:buFont typeface="Wingdings" charset="2"/>
              <a:buChar char=""/>
            </a:pPr>
            <a:r>
              <a:rPr lang="en-IN" sz="3200" b="0" strike="noStrike" spc="-1">
                <a:latin typeface="Arial"/>
              </a:rPr>
              <a:t>  });</a:t>
            </a:r>
          </a:p>
          <a:p>
            <a:pPr marL="432000" indent="-324000">
              <a:spcBef>
                <a:spcPts val="1417"/>
              </a:spcBef>
              <a:buClr>
                <a:srgbClr val="000000"/>
              </a:buClr>
              <a:buSzPct val="45000"/>
              <a:buFont typeface="Wingdings" charset="2"/>
              <a:buChar char=""/>
            </a:pPr>
            <a:r>
              <a:rPr lang="en-IN" sz="3200" b="0" strike="noStrike" spc="-1">
                <a:latin typeface="Arial"/>
              </a:rPr>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Example</a:t>
            </a:r>
          </a:p>
        </p:txBody>
      </p:sp>
      <p:sp>
        <p:nvSpPr>
          <p:cNvPr id="318" name="TextShape 2"/>
          <p:cNvSpPr txBox="1"/>
          <p:nvPr/>
        </p:nvSpPr>
        <p:spPr>
          <a:xfrm>
            <a:off x="457200" y="1604520"/>
            <a:ext cx="8229240" cy="3977280"/>
          </a:xfrm>
          <a:prstGeom prst="rect">
            <a:avLst/>
          </a:prstGeom>
          <a:noFill/>
          <a:ln>
            <a:noFill/>
          </a:ln>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https://www.w3schools.com/jquery/tryit.asp?filename=tryjquery_hide_id</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The .class Selector</a:t>
            </a:r>
          </a:p>
        </p:txBody>
      </p:sp>
      <p:sp>
        <p:nvSpPr>
          <p:cNvPr id="320" name="TextShape 2"/>
          <p:cNvSpPr txBox="1"/>
          <p:nvPr/>
        </p:nvSpPr>
        <p:spPr>
          <a:xfrm>
            <a:off x="457200" y="1604520"/>
            <a:ext cx="8229240" cy="3977280"/>
          </a:xfrm>
          <a:prstGeom prst="rect">
            <a:avLst/>
          </a:prstGeom>
          <a:noFill/>
          <a:ln>
            <a:noFill/>
          </a:ln>
        </p:spPr>
        <p:txBody>
          <a:bodyPr lIns="0" tIns="0" rIns="0" bIns="0">
            <a:normAutofit fontScale="78500" lnSpcReduction="20000"/>
          </a:bodyPr>
          <a:lstStyle/>
          <a:p>
            <a:pPr marL="432000" indent="-324000">
              <a:spcBef>
                <a:spcPts val="1417"/>
              </a:spcBef>
              <a:buClr>
                <a:srgbClr val="000000"/>
              </a:buClr>
              <a:buSzPct val="45000"/>
              <a:buFont typeface="Wingdings" charset="2"/>
              <a:buChar char=""/>
            </a:pPr>
            <a:r>
              <a:rPr lang="en-IN" sz="3200" b="0" strike="noStrike" spc="-1">
                <a:latin typeface="Arial"/>
              </a:rPr>
              <a:t>The jQuery .class selector finds elements with a specific class.</a:t>
            </a:r>
          </a:p>
          <a:p>
            <a:pPr marL="432000" indent="-324000">
              <a:spcBef>
                <a:spcPts val="1417"/>
              </a:spcBef>
              <a:buClr>
                <a:srgbClr val="000000"/>
              </a:buClr>
              <a:buSzPct val="45000"/>
              <a:buFont typeface="Wingdings" charset="2"/>
              <a:buChar char=""/>
            </a:pPr>
            <a:r>
              <a:rPr lang="en-IN" sz="3200" b="0" strike="noStrike" spc="-1">
                <a:latin typeface="Arial"/>
              </a:rPr>
              <a:t>To find elements with a specific class, write a period character, followed by the name of the class:</a:t>
            </a:r>
          </a:p>
          <a:p>
            <a:pPr marL="432000" indent="-324000">
              <a:spcBef>
                <a:spcPts val="1417"/>
              </a:spcBef>
              <a:buClr>
                <a:srgbClr val="000000"/>
              </a:buClr>
              <a:buSzPct val="45000"/>
              <a:buFont typeface="Wingdings" charset="2"/>
              <a:buChar char=""/>
            </a:pPr>
            <a:r>
              <a:rPr lang="en-IN" sz="3200" b="0" strike="noStrike" spc="-1">
                <a:latin typeface="Arial"/>
              </a:rPr>
              <a:t>$(document).ready(function(){</a:t>
            </a:r>
          </a:p>
          <a:p>
            <a:pPr marL="432000" indent="-324000">
              <a:spcBef>
                <a:spcPts val="1417"/>
              </a:spcBef>
              <a:buClr>
                <a:srgbClr val="000000"/>
              </a:buClr>
              <a:buSzPct val="45000"/>
              <a:buFont typeface="Wingdings" charset="2"/>
              <a:buChar char=""/>
            </a:pPr>
            <a:r>
              <a:rPr lang="en-IN" sz="3200" b="0" strike="noStrike" spc="-1">
                <a:latin typeface="Arial"/>
              </a:rPr>
              <a:t>  $("button").click(function(){</a:t>
            </a:r>
          </a:p>
          <a:p>
            <a:pPr marL="432000" indent="-324000">
              <a:spcBef>
                <a:spcPts val="1417"/>
              </a:spcBef>
              <a:buClr>
                <a:srgbClr val="000000"/>
              </a:buClr>
              <a:buSzPct val="45000"/>
              <a:buFont typeface="Wingdings" charset="2"/>
              <a:buChar char=""/>
            </a:pPr>
            <a:r>
              <a:rPr lang="en-IN" sz="3200" b="0" strike="noStrike" spc="-1">
                <a:latin typeface="Arial"/>
              </a:rPr>
              <a:t>    $(".test").hide();</a:t>
            </a:r>
          </a:p>
          <a:p>
            <a:pPr marL="432000" indent="-324000">
              <a:spcBef>
                <a:spcPts val="1417"/>
              </a:spcBef>
              <a:buClr>
                <a:srgbClr val="000000"/>
              </a:buClr>
              <a:buSzPct val="45000"/>
              <a:buFont typeface="Wingdings" charset="2"/>
              <a:buChar char=""/>
            </a:pPr>
            <a:r>
              <a:rPr lang="en-IN" sz="3200" b="0" strike="noStrike" spc="-1">
                <a:latin typeface="Arial"/>
              </a:rPr>
              <a:t>  });</a:t>
            </a:r>
          </a:p>
          <a:p>
            <a:pPr marL="432000" indent="-324000">
              <a:spcBef>
                <a:spcPts val="1417"/>
              </a:spcBef>
              <a:buClr>
                <a:srgbClr val="000000"/>
              </a:buClr>
              <a:buSzPct val="45000"/>
              <a:buFont typeface="Wingdings" charset="2"/>
              <a:buChar char=""/>
            </a:pPr>
            <a:r>
              <a:rPr lang="en-IN" sz="3200" b="0" strike="noStrike" spc="-1">
                <a:latin typeface="Arial"/>
              </a:rPr>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example</a:t>
            </a:r>
          </a:p>
        </p:txBody>
      </p:sp>
      <p:sp>
        <p:nvSpPr>
          <p:cNvPr id="322" name="TextShape 2"/>
          <p:cNvSpPr txBox="1"/>
          <p:nvPr/>
        </p:nvSpPr>
        <p:spPr>
          <a:xfrm>
            <a:off x="457200" y="1604520"/>
            <a:ext cx="8229240" cy="3977280"/>
          </a:xfrm>
          <a:prstGeom prst="rect">
            <a:avLst/>
          </a:prstGeom>
          <a:noFill/>
          <a:ln>
            <a:noFill/>
          </a:ln>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https://www.w3schools.com/jquery/tryit.asp?filename=tryjquery_hide_class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The href Selector</a:t>
            </a:r>
          </a:p>
        </p:txBody>
      </p:sp>
      <p:sp>
        <p:nvSpPr>
          <p:cNvPr id="324" name="TextShape 2"/>
          <p:cNvSpPr txBox="1"/>
          <p:nvPr/>
        </p:nvSpPr>
        <p:spPr>
          <a:xfrm>
            <a:off x="457200" y="1604520"/>
            <a:ext cx="8229240" cy="3977280"/>
          </a:xfrm>
          <a:prstGeom prst="rect">
            <a:avLst/>
          </a:prstGeom>
          <a:noFill/>
          <a:ln>
            <a:noFill/>
          </a:ln>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The href element is used along with the anchor tag in order to introduce hyperlink in the web document </a:t>
            </a:r>
          </a:p>
          <a:p>
            <a:pPr marL="432000" indent="-324000">
              <a:spcBef>
                <a:spcPts val="1417"/>
              </a:spcBef>
              <a:buClr>
                <a:srgbClr val="000000"/>
              </a:buClr>
              <a:buSzPct val="45000"/>
              <a:buFont typeface="Wingdings" charset="2"/>
              <a:buChar char=""/>
            </a:pPr>
            <a:r>
              <a:rPr lang="en-IN" sz="3200" b="0" strike="noStrike" spc="-1">
                <a:latin typeface="Arial"/>
              </a:rPr>
              <a:t>We can navigator to the desired web page using such hyperlinks</a:t>
            </a:r>
          </a:p>
          <a:p>
            <a:pPr marL="432000" indent="-324000">
              <a:spcBef>
                <a:spcPts val="1417"/>
              </a:spcBef>
              <a:buClr>
                <a:srgbClr val="000000"/>
              </a:buClr>
              <a:buSzPct val="45000"/>
              <a:buFont typeface="Wingdings" charset="2"/>
              <a:buChar char=""/>
            </a:pPr>
            <a:r>
              <a:rPr lang="en-IN" sz="3200" b="0" strike="noStrike" spc="-1">
                <a:latin typeface="Arial"/>
              </a:rPr>
              <a:t>https://www.w3schools.com/jquery/tryit.asp?filename=tryjquery_sel_hrefattr</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4400" b="0" strike="noStrike" spc="-1">
                <a:latin typeface="Arial"/>
              </a:rPr>
              <a:t>The tr selector</a:t>
            </a:r>
          </a:p>
        </p:txBody>
      </p:sp>
      <p:sp>
        <p:nvSpPr>
          <p:cNvPr id="326" name="TextShape 2"/>
          <p:cNvSpPr txBox="1"/>
          <p:nvPr/>
        </p:nvSpPr>
        <p:spPr>
          <a:xfrm>
            <a:off x="457200" y="1604520"/>
            <a:ext cx="8229240" cy="3977280"/>
          </a:xfrm>
          <a:prstGeom prst="rect">
            <a:avLst/>
          </a:prstGeom>
          <a:noFill/>
          <a:ln>
            <a:noFill/>
          </a:ln>
        </p:spPr>
        <p:txBody>
          <a:bodyPr lIns="0" tIns="0" rIns="0" bIns="0">
            <a:normAutofit/>
          </a:bodyPr>
          <a:lstStyle/>
          <a:p>
            <a:pPr marL="432000" indent="-324000">
              <a:spcBef>
                <a:spcPts val="1417"/>
              </a:spcBef>
              <a:buClr>
                <a:srgbClr val="000000"/>
              </a:buClr>
              <a:buSzPct val="45000"/>
              <a:buFont typeface="Wingdings" charset="2"/>
              <a:buChar char=""/>
            </a:pPr>
            <a:r>
              <a:rPr lang="en-IN" sz="3200" b="0" strike="noStrike" spc="-1">
                <a:latin typeface="Arial"/>
              </a:rPr>
              <a:t>The element tr is used to define the rows of the table.</a:t>
            </a:r>
          </a:p>
          <a:p>
            <a:pPr marL="432000" indent="-324000">
              <a:spcBef>
                <a:spcPts val="1417"/>
              </a:spcBef>
              <a:buClr>
                <a:srgbClr val="000000"/>
              </a:buClr>
              <a:buSzPct val="45000"/>
              <a:buFont typeface="Wingdings" charset="2"/>
              <a:buChar char=""/>
            </a:pPr>
            <a:r>
              <a:rPr lang="en-IN" sz="3200" b="0" strike="noStrike" spc="-1">
                <a:latin typeface="Arial"/>
              </a:rPr>
              <a:t>$("tr:even")	Selects all even &lt;tr&gt; elements</a:t>
            </a:r>
          </a:p>
          <a:p>
            <a:pPr marL="432000" indent="-324000">
              <a:spcBef>
                <a:spcPts val="1417"/>
              </a:spcBef>
              <a:buClr>
                <a:srgbClr val="000000"/>
              </a:buClr>
              <a:buSzPct val="45000"/>
              <a:buFont typeface="Wingdings" charset="2"/>
              <a:buChar char=""/>
            </a:pPr>
            <a:r>
              <a:rPr lang="en-IN" sz="3200" b="0" strike="noStrike" spc="-1">
                <a:latin typeface="Arial"/>
              </a:rPr>
              <a:t>$("tr:odd")	Selects all odd &lt;tr&gt; elements</a:t>
            </a:r>
          </a:p>
          <a:p>
            <a:pPr marL="432000" indent="-324000">
              <a:spcBef>
                <a:spcPts val="1417"/>
              </a:spcBef>
              <a:buClr>
                <a:srgbClr val="000000"/>
              </a:buClr>
              <a:buSzPct val="45000"/>
              <a:buFont typeface="Wingdings" charset="2"/>
              <a:buChar char=""/>
            </a:pPr>
            <a:r>
              <a:rPr lang="en-IN" sz="3200" b="0" strike="noStrike" spc="-1">
                <a:latin typeface="Arial"/>
              </a:rPr>
              <a:t>https://www.w3schools.com/jquery/tryit.asp?filename=tryjquery_sel_even</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TextShape 1"/>
          <p:cNvSpPr txBox="1"/>
          <p:nvPr/>
        </p:nvSpPr>
        <p:spPr>
          <a:xfrm>
            <a:off x="457200" y="273600"/>
            <a:ext cx="8229240" cy="1144800"/>
          </a:xfrm>
          <a:prstGeom prst="rect">
            <a:avLst/>
          </a:prstGeom>
          <a:noFill/>
          <a:ln>
            <a:noFill/>
          </a:ln>
        </p:spPr>
        <p:txBody>
          <a:bodyPr lIns="0" tIns="0" rIns="0" bIns="0" anchor="ctr">
            <a:noAutofit/>
          </a:bodyPr>
          <a:lstStyle/>
          <a:p>
            <a:pPr algn="ctr"/>
            <a:r>
              <a:rPr lang="en-IN" sz="3600" b="0" strike="noStrike" spc="-1" dirty="0">
                <a:latin typeface="Arial"/>
              </a:rPr>
              <a:t>Changing Style - </a:t>
            </a:r>
            <a:r>
              <a:rPr lang="en-IN" sz="3600" b="0" strike="noStrike" spc="-1" dirty="0" err="1">
                <a:latin typeface="Arial"/>
              </a:rPr>
              <a:t>jQuery</a:t>
            </a:r>
            <a:r>
              <a:rPr lang="en-IN" sz="3600" b="0" strike="noStrike" spc="-1" dirty="0">
                <a:latin typeface="Arial"/>
              </a:rPr>
              <a:t> - </a:t>
            </a:r>
            <a:r>
              <a:rPr lang="en-IN" sz="3600" b="0" strike="noStrike" spc="-1" dirty="0" err="1">
                <a:latin typeface="Arial"/>
              </a:rPr>
              <a:t>css</a:t>
            </a:r>
            <a:r>
              <a:rPr lang="en-IN" sz="3600" b="0" strike="noStrike" spc="-1" dirty="0">
                <a:latin typeface="Arial"/>
              </a:rPr>
              <a:t>() Method</a:t>
            </a:r>
            <a:br>
              <a:rPr dirty="0"/>
            </a:br>
            <a:endParaRPr lang="en-IN" sz="3600" b="0" strike="noStrike" spc="-1" dirty="0">
              <a:latin typeface="Arial"/>
            </a:endParaRPr>
          </a:p>
        </p:txBody>
      </p:sp>
      <p:sp>
        <p:nvSpPr>
          <p:cNvPr id="328" name="TextShape 2"/>
          <p:cNvSpPr txBox="1"/>
          <p:nvPr/>
        </p:nvSpPr>
        <p:spPr>
          <a:xfrm>
            <a:off x="457200" y="1604520"/>
            <a:ext cx="8229240" cy="3977280"/>
          </a:xfrm>
          <a:prstGeom prst="rect">
            <a:avLst/>
          </a:prstGeom>
          <a:noFill/>
          <a:ln>
            <a:noFill/>
          </a:ln>
        </p:spPr>
        <p:txBody>
          <a:bodyPr lIns="0" tIns="0" rIns="0" bIns="0">
            <a:normAutofit fontScale="92500" lnSpcReduction="10000"/>
          </a:bodyPr>
          <a:lstStyle/>
          <a:p>
            <a:pPr marL="432000" indent="-324000">
              <a:spcBef>
                <a:spcPts val="1417"/>
              </a:spcBef>
              <a:buClr>
                <a:srgbClr val="000000"/>
              </a:buClr>
              <a:buSzPct val="45000"/>
              <a:buFont typeface="Wingdings" charset="2"/>
              <a:buChar char=""/>
            </a:pPr>
            <a:r>
              <a:rPr lang="en-IN" sz="3200" b="0" strike="noStrike" spc="-1" dirty="0">
                <a:latin typeface="Arial"/>
              </a:rPr>
              <a:t>The </a:t>
            </a:r>
            <a:r>
              <a:rPr lang="en-IN" sz="3200" b="0" strike="noStrike" spc="-1" dirty="0" err="1">
                <a:latin typeface="Arial"/>
              </a:rPr>
              <a:t>css</a:t>
            </a:r>
            <a:r>
              <a:rPr lang="en-IN" sz="3200" b="0" strike="noStrike" spc="-1" dirty="0">
                <a:latin typeface="Arial"/>
              </a:rPr>
              <a:t>() method sets or returns one or more style properties for the selected elements.</a:t>
            </a:r>
          </a:p>
          <a:p>
            <a:pPr marL="432000" indent="-324000">
              <a:spcBef>
                <a:spcPts val="1417"/>
              </a:spcBef>
              <a:buClr>
                <a:srgbClr val="000000"/>
              </a:buClr>
              <a:buSzPct val="45000"/>
              <a:buFont typeface="Wingdings" charset="2"/>
              <a:buChar char=""/>
            </a:pPr>
            <a:r>
              <a:rPr lang="en-IN" sz="3200" b="0" strike="noStrike" spc="-1" dirty="0">
                <a:latin typeface="Arial"/>
              </a:rPr>
              <a:t>The following example will return the background-</a:t>
            </a:r>
            <a:r>
              <a:rPr lang="en-IN" sz="3200" b="0" strike="noStrike" spc="-1" dirty="0" err="1">
                <a:latin typeface="Arial"/>
              </a:rPr>
              <a:t>color</a:t>
            </a:r>
            <a:r>
              <a:rPr lang="en-IN" sz="3200" b="0" strike="noStrike" spc="-1" dirty="0">
                <a:latin typeface="Arial"/>
              </a:rPr>
              <a:t> value of the FIRST matched element:</a:t>
            </a:r>
          </a:p>
          <a:p>
            <a:pPr marL="432000" indent="-324000">
              <a:spcBef>
                <a:spcPts val="1417"/>
              </a:spcBef>
              <a:buClr>
                <a:srgbClr val="000000"/>
              </a:buClr>
              <a:buSzPct val="45000"/>
              <a:buFont typeface="Wingdings" charset="2"/>
              <a:buChar char=""/>
            </a:pPr>
            <a:r>
              <a:rPr lang="en-IN" sz="3200" b="0" strike="noStrike" spc="-1" dirty="0">
                <a:latin typeface="Arial"/>
              </a:rPr>
              <a:t>$("p").</a:t>
            </a:r>
            <a:r>
              <a:rPr lang="en-IN" sz="3200" b="0" strike="noStrike" spc="-1" dirty="0" err="1">
                <a:latin typeface="Arial"/>
              </a:rPr>
              <a:t>css</a:t>
            </a:r>
            <a:r>
              <a:rPr lang="en-IN" sz="3200" b="0" strike="noStrike" spc="-1" dirty="0">
                <a:latin typeface="Arial"/>
              </a:rPr>
              <a:t>("background-</a:t>
            </a:r>
            <a:r>
              <a:rPr lang="en-IN" sz="3200" b="0" strike="noStrike" spc="-1" dirty="0" err="1">
                <a:latin typeface="Arial"/>
              </a:rPr>
              <a:t>color</a:t>
            </a:r>
            <a:r>
              <a:rPr lang="en-IN" sz="3200" b="0" strike="noStrike" spc="-1" dirty="0">
                <a:latin typeface="Arial"/>
              </a:rPr>
              <a:t>");</a:t>
            </a:r>
          </a:p>
          <a:p>
            <a:pPr marL="432000" indent="-324000">
              <a:spcBef>
                <a:spcPts val="1417"/>
              </a:spcBef>
              <a:buClr>
                <a:srgbClr val="000000"/>
              </a:buClr>
              <a:buSzPct val="45000"/>
              <a:buFont typeface="Wingdings" charset="2"/>
              <a:buChar char=""/>
            </a:pPr>
            <a:r>
              <a:rPr lang="en-IN" sz="3200" spc="-1" dirty="0"/>
              <a:t>https://www.w3schools.com/jquery/jquery_css.asp</a:t>
            </a:r>
            <a:endParaRPr lang="en-IN" sz="3200" b="0" strike="noStrike" spc="-1" dirty="0">
              <a:latin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jQuery</a:t>
            </a:r>
            <a:r>
              <a:rPr lang="en-US" dirty="0"/>
              <a:t> - Add Elements </a:t>
            </a:r>
          </a:p>
        </p:txBody>
      </p:sp>
      <p:sp>
        <p:nvSpPr>
          <p:cNvPr id="3" name="Content Placeholder 2"/>
          <p:cNvSpPr>
            <a:spLocks noGrp="1"/>
          </p:cNvSpPr>
          <p:nvPr>
            <p:ph idx="1"/>
          </p:nvPr>
        </p:nvSpPr>
        <p:spPr/>
        <p:txBody>
          <a:bodyPr>
            <a:normAutofit fontScale="92500" lnSpcReduction="20000"/>
          </a:bodyPr>
          <a:lstStyle/>
          <a:p>
            <a:r>
              <a:rPr lang="en-US" dirty="0"/>
              <a:t>We will look at four </a:t>
            </a:r>
            <a:r>
              <a:rPr lang="en-US" dirty="0" err="1"/>
              <a:t>jQuery</a:t>
            </a:r>
            <a:r>
              <a:rPr lang="en-US" dirty="0"/>
              <a:t> methods that are used to add new content: </a:t>
            </a:r>
          </a:p>
          <a:p>
            <a:r>
              <a:rPr lang="en-US" dirty="0"/>
              <a:t>append() - Inserts content at the end of the selected elements </a:t>
            </a:r>
          </a:p>
          <a:p>
            <a:r>
              <a:rPr lang="en-US" dirty="0" err="1"/>
              <a:t>prepend</a:t>
            </a:r>
            <a:r>
              <a:rPr lang="en-US" dirty="0"/>
              <a:t>() - Inserts content at the beginning of the selected elements </a:t>
            </a:r>
          </a:p>
          <a:p>
            <a:r>
              <a:rPr lang="en-US" dirty="0"/>
              <a:t>after() - Inserts content after the selected elements  </a:t>
            </a:r>
          </a:p>
          <a:p>
            <a:r>
              <a:rPr lang="en-US" dirty="0"/>
              <a:t>before() - Inserts content before the selected elements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dirty="0"/>
              <a:t>Angular JS</a:t>
            </a:r>
            <a:endParaRPr lang="en-US" sz="3200" dirty="0"/>
          </a:p>
        </p:txBody>
      </p:sp>
      <p:sp>
        <p:nvSpPr>
          <p:cNvPr id="3" name="Text Placeholder 2"/>
          <p:cNvSpPr>
            <a:spLocks noGrp="1"/>
          </p:cNvSpPr>
          <p:nvPr>
            <p:ph idx="1"/>
          </p:nvPr>
        </p:nvSpPr>
        <p:spPr/>
        <p:txBody>
          <a:bodyPr/>
          <a:lstStyle/>
          <a:p>
            <a:pPr>
              <a:buFont typeface="Wingdings" pitchFamily="2" charset="2"/>
              <a:buChar char="Ø"/>
            </a:pPr>
            <a:r>
              <a:rPr lang="en-IN" dirty="0"/>
              <a:t>  Angular JS is a powerful </a:t>
            </a:r>
            <a:r>
              <a:rPr lang="en-IN" dirty="0" err="1"/>
              <a:t>javascript</a:t>
            </a:r>
            <a:r>
              <a:rPr lang="en-IN" dirty="0"/>
              <a:t> framework</a:t>
            </a:r>
          </a:p>
          <a:p>
            <a:pPr>
              <a:buFont typeface="Wingdings" pitchFamily="2" charset="2"/>
              <a:buChar char="Ø"/>
            </a:pPr>
            <a:r>
              <a:rPr lang="en-IN" dirty="0"/>
              <a:t>  It is an open source front-end enabled web application framework.</a:t>
            </a:r>
          </a:p>
          <a:p>
            <a:pPr>
              <a:buFont typeface="Wingdings" pitchFamily="2" charset="2"/>
              <a:buChar char="Ø"/>
            </a:pPr>
            <a:r>
              <a:rPr lang="en-IN" dirty="0"/>
              <a:t>  It is licensed under Apache license version 2.0</a:t>
            </a:r>
          </a:p>
          <a:p>
            <a:pPr>
              <a:buFont typeface="Wingdings" pitchFamily="2" charset="2"/>
              <a:buChar char="Ø"/>
            </a:pPr>
            <a:r>
              <a:rPr lang="en-IN" dirty="0"/>
              <a:t>  It extends HTML DOM with additional </a:t>
            </a:r>
            <a:r>
              <a:rPr lang="en-IN" dirty="0" err="1"/>
              <a:t>attributes.it</a:t>
            </a:r>
            <a:r>
              <a:rPr lang="en-IN" dirty="0"/>
              <a:t> is more </a:t>
            </a:r>
            <a:r>
              <a:rPr lang="en-IN" dirty="0" err="1"/>
              <a:t>responsiv</a:t>
            </a:r>
            <a:r>
              <a:rPr lang="en-IN" dirty="0"/>
              <a:t> to user   actions</a:t>
            </a:r>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a:t>
            </a:r>
            <a:endParaRPr lang="en-US" dirty="0"/>
          </a:p>
        </p:txBody>
      </p:sp>
      <p:sp>
        <p:nvSpPr>
          <p:cNvPr id="3" name="Text Placeholder 2"/>
          <p:cNvSpPr>
            <a:spLocks noGrp="1"/>
          </p:cNvSpPr>
          <p:nvPr>
            <p:ph idx="1"/>
          </p:nvPr>
        </p:nvSpPr>
        <p:spPr/>
        <p:txBody>
          <a:bodyPr>
            <a:normAutofit fontScale="77500" lnSpcReduction="20000"/>
          </a:bodyPr>
          <a:lstStyle/>
          <a:p>
            <a:r>
              <a:rPr lang="en-US" b="1" dirty="0"/>
              <a:t> </a:t>
            </a:r>
            <a:r>
              <a:rPr lang="en-US" dirty="0"/>
              <a:t>Code reusability </a:t>
            </a:r>
            <a:r>
              <a:rPr lang="en-US" b="1" dirty="0"/>
              <a:t>– </a:t>
            </a:r>
            <a:r>
              <a:rPr lang="en-US" dirty="0"/>
              <a:t>it support for using the reusable components.</a:t>
            </a:r>
          </a:p>
          <a:p>
            <a:r>
              <a:rPr lang="en-IN" dirty="0"/>
              <a:t>Less code – It supports for less code and more functionality.</a:t>
            </a:r>
          </a:p>
          <a:p>
            <a:r>
              <a:rPr lang="en-IN" dirty="0"/>
              <a:t>Unit Testing – the </a:t>
            </a:r>
            <a:r>
              <a:rPr lang="en-IN" dirty="0" err="1"/>
              <a:t>AngularJS</a:t>
            </a:r>
            <a:r>
              <a:rPr lang="en-IN" dirty="0"/>
              <a:t> code is unit testable.</a:t>
            </a:r>
          </a:p>
          <a:p>
            <a:r>
              <a:rPr lang="en-IN" dirty="0"/>
              <a:t>Rich Features – There is wide range of features supported by Angular JS such as Data binding, dependency injection, enterprise level testing so on.</a:t>
            </a:r>
          </a:p>
          <a:p>
            <a:r>
              <a:rPr lang="en-IN" dirty="0"/>
              <a:t>Built by Google Engineers – The Angular JS is maintained by dedicated Google Engineers. </a:t>
            </a:r>
          </a:p>
          <a:p>
            <a:r>
              <a:rPr lang="en-IN" dirty="0"/>
              <a:t>MVC support – it is based on Model View Controller(MVC) architecture which provides separation of model ,view and controller components.  </a:t>
            </a:r>
            <a:endParaRPr lang="en-US" dirty="0"/>
          </a:p>
          <a:p>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Disadvantages</a:t>
            </a:r>
            <a:endParaRPr lang="en-US" dirty="0"/>
          </a:p>
        </p:txBody>
      </p:sp>
      <p:sp>
        <p:nvSpPr>
          <p:cNvPr id="3" name="Content Placeholder 2"/>
          <p:cNvSpPr>
            <a:spLocks noGrp="1"/>
          </p:cNvSpPr>
          <p:nvPr>
            <p:ph idx="1"/>
          </p:nvPr>
        </p:nvSpPr>
        <p:spPr/>
        <p:txBody>
          <a:bodyPr/>
          <a:lstStyle/>
          <a:p>
            <a:r>
              <a:rPr lang="en-IN" dirty="0"/>
              <a:t>As Angular JS is based on JavaScript framework, it is not secure.</a:t>
            </a:r>
          </a:p>
          <a:p>
            <a:r>
              <a:rPr lang="en-IN" dirty="0"/>
              <a:t>There are multiple ways to do the same thing with </a:t>
            </a:r>
            <a:r>
              <a:rPr lang="en-IN" dirty="0" err="1"/>
              <a:t>AngularJS</a:t>
            </a:r>
            <a:r>
              <a:rPr lang="en-IN" dirty="0"/>
              <a:t> . Sometimes it can be hard to say which way is better for task</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Angular JS</a:t>
            </a:r>
            <a:endParaRPr lang="en-US" dirty="0"/>
          </a:p>
        </p:txBody>
      </p:sp>
      <p:sp>
        <p:nvSpPr>
          <p:cNvPr id="3" name="Content Placeholder 2"/>
          <p:cNvSpPr>
            <a:spLocks noGrp="1"/>
          </p:cNvSpPr>
          <p:nvPr>
            <p:ph idx="1"/>
          </p:nvPr>
        </p:nvSpPr>
        <p:spPr/>
        <p:txBody>
          <a:bodyPr/>
          <a:lstStyle/>
          <a:p>
            <a:pPr marL="514350" indent="-514350">
              <a:buAutoNum type="arabicPeriod"/>
            </a:pPr>
            <a:r>
              <a:rPr lang="en-IN" dirty="0"/>
              <a:t>Data Binding – It allows the automatic synchronization between model and view components</a:t>
            </a:r>
          </a:p>
          <a:p>
            <a:pPr marL="514350" indent="-514350">
              <a:buAutoNum type="arabicPeriod"/>
            </a:pPr>
            <a:endParaRPr lang="en-IN" dirty="0"/>
          </a:p>
          <a:p>
            <a:pPr marL="514350" indent="-514350">
              <a:buAutoNum type="arabicPeriod"/>
            </a:pPr>
            <a:endParaRPr lang="en-IN" dirty="0"/>
          </a:p>
          <a:p>
            <a:pPr marL="514350" indent="-514350">
              <a:buAutoNum type="arabicPeriod"/>
            </a:pPr>
            <a:endParaRPr lang="en-IN" dirty="0"/>
          </a:p>
          <a:p>
            <a:pPr marL="514350" indent="-514350">
              <a:buAutoNum type="arabicPeriod"/>
            </a:pPr>
            <a:r>
              <a:rPr lang="en-IN" dirty="0"/>
              <a:t>Scope – There are some objects from model that can be correlated to controller and view</a:t>
            </a:r>
            <a:endParaRPr lang="en-US" dirty="0"/>
          </a:p>
        </p:txBody>
      </p:sp>
      <p:pic>
        <p:nvPicPr>
          <p:cNvPr id="4" name="Picture 3" descr="Screenshot 2024-08-06 113301.png"/>
          <p:cNvPicPr>
            <a:picLocks noChangeAspect="1"/>
          </p:cNvPicPr>
          <p:nvPr/>
        </p:nvPicPr>
        <p:blipFill>
          <a:blip r:embed="rId2" cstate="print"/>
          <a:stretch>
            <a:fillRect/>
          </a:stretch>
        </p:blipFill>
        <p:spPr>
          <a:xfrm>
            <a:off x="3275856" y="2852936"/>
            <a:ext cx="2419688" cy="1600423"/>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IN" dirty="0"/>
              <a:t>3. Controller -  These are basically </a:t>
            </a:r>
            <a:r>
              <a:rPr lang="en-IN" dirty="0" err="1"/>
              <a:t>Javascript</a:t>
            </a:r>
            <a:r>
              <a:rPr lang="en-IN" dirty="0"/>
              <a:t> functions that are bound to particular scope</a:t>
            </a:r>
          </a:p>
          <a:p>
            <a:pPr>
              <a:buNone/>
            </a:pPr>
            <a:r>
              <a:rPr lang="en-IN" dirty="0"/>
              <a:t>4. Directives – the directives is designed to give HTML new functionality.</a:t>
            </a:r>
          </a:p>
          <a:p>
            <a:pPr>
              <a:buNone/>
            </a:pPr>
            <a:r>
              <a:rPr lang="en-IN" dirty="0"/>
              <a:t>5. Filters – This feature allows to select subset from array of elements.</a:t>
            </a:r>
          </a:p>
          <a:p>
            <a:pPr>
              <a:buNone/>
            </a:pPr>
            <a:r>
              <a:rPr lang="en-IN" dirty="0"/>
              <a:t>6. Routing – this features allows to switch between multiple views.</a:t>
            </a:r>
          </a:p>
          <a:p>
            <a:pPr>
              <a:buNone/>
            </a:pPr>
            <a:r>
              <a:rPr lang="en-IN" dirty="0"/>
              <a:t>7. Services – There is support for many built in services for Angular JS.</a:t>
            </a:r>
          </a:p>
          <a:p>
            <a:pPr>
              <a:buNone/>
            </a:pPr>
            <a:r>
              <a:rPr lang="en-IN" dirty="0"/>
              <a:t>8. Dependency Injection – It is a Software design pattern that helps the developer to develop and understand the application easily.</a:t>
            </a:r>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MVC with </a:t>
            </a:r>
            <a:r>
              <a:rPr lang="en-IN" dirty="0" err="1"/>
              <a:t>AngularJS</a:t>
            </a:r>
            <a:endParaRPr lang="en-US" dirty="0"/>
          </a:p>
        </p:txBody>
      </p:sp>
      <p:pic>
        <p:nvPicPr>
          <p:cNvPr id="4" name="Content Placeholder 3" descr="mvcarchitecture.jpg"/>
          <p:cNvPicPr>
            <a:picLocks noGrp="1" noChangeAspect="1"/>
          </p:cNvPicPr>
          <p:nvPr>
            <p:ph idx="1"/>
          </p:nvPr>
        </p:nvPicPr>
        <p:blipFill>
          <a:blip r:embed="rId2" cstate="print"/>
          <a:stretch>
            <a:fillRect/>
          </a:stretch>
        </p:blipFill>
        <p:spPr>
          <a:xfrm>
            <a:off x="2699792" y="2077244"/>
            <a:ext cx="3034258" cy="3571875"/>
          </a:xfr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MVC with </a:t>
            </a:r>
            <a:r>
              <a:rPr lang="en-IN" dirty="0" err="1"/>
              <a:t>AngularJS</a:t>
            </a:r>
            <a:endParaRPr lang="en-US" dirty="0"/>
          </a:p>
        </p:txBody>
      </p:sp>
      <p:sp>
        <p:nvSpPr>
          <p:cNvPr id="3" name="Content Placeholder 2"/>
          <p:cNvSpPr>
            <a:spLocks noGrp="1"/>
          </p:cNvSpPr>
          <p:nvPr>
            <p:ph idx="1"/>
          </p:nvPr>
        </p:nvSpPr>
        <p:spPr/>
        <p:txBody>
          <a:bodyPr>
            <a:normAutofit fontScale="92500"/>
          </a:bodyPr>
          <a:lstStyle/>
          <a:p>
            <a:r>
              <a:rPr lang="en-IN" dirty="0"/>
              <a:t>The MVC stands for Model , View and Controller. It is a pattern for the architectural framework. It consist of three parts  -</a:t>
            </a:r>
          </a:p>
          <a:p>
            <a:pPr marL="514350" indent="-514350">
              <a:buAutoNum type="arabicPeriod"/>
            </a:pPr>
            <a:r>
              <a:rPr lang="en-IN" dirty="0"/>
              <a:t>Model – This part of the architecture is responsible for managing the application data. This module responds to the request made from view . This module responds to the request made from view. the model gives instructions to controller to update when the response is made  </a:t>
            </a:r>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View:</a:t>
            </a:r>
            <a:r>
              <a:rPr lang="en-US" dirty="0"/>
              <a:t> It is responsible for displaying all data or only a portion of data to the users. It also specifies the data in a particular format triggered by the controller's decision to present the data. They are script-based template systems such as JSP, ASP, PHP and very easy to integrate with AJAX technology.</a:t>
            </a:r>
          </a:p>
          <a:p>
            <a:r>
              <a:rPr lang="en-US" b="1" dirty="0"/>
              <a:t>Controller:</a:t>
            </a:r>
            <a:r>
              <a:rPr lang="en-US" dirty="0"/>
              <a:t> It is responsible to control the relation between models and views. It responds to user input and performs interactions on the data model objects. The controller receives input, validates it, and then performs business operations that modify the state of the data model.</a:t>
            </a:r>
          </a:p>
          <a:p>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AngularJS</a:t>
            </a:r>
            <a:r>
              <a:rPr lang="en-US" dirty="0"/>
              <a:t> Directives</a:t>
            </a:r>
            <a:br>
              <a:rPr lang="en-US" dirty="0"/>
            </a:br>
            <a:endParaRPr lang="en-US" dirty="0"/>
          </a:p>
        </p:txBody>
      </p:sp>
      <p:sp>
        <p:nvSpPr>
          <p:cNvPr id="3" name="Content Placeholder 2"/>
          <p:cNvSpPr>
            <a:spLocks noGrp="1"/>
          </p:cNvSpPr>
          <p:nvPr>
            <p:ph idx="1"/>
          </p:nvPr>
        </p:nvSpPr>
        <p:spPr/>
        <p:txBody>
          <a:bodyPr/>
          <a:lstStyle/>
          <a:p>
            <a:r>
              <a:rPr lang="en-US" dirty="0" err="1"/>
              <a:t>AngularJS</a:t>
            </a:r>
            <a:r>
              <a:rPr lang="en-US" dirty="0"/>
              <a:t> lets you extend HTML with new attributes called </a:t>
            </a:r>
            <a:r>
              <a:rPr lang="en-US" b="1" dirty="0"/>
              <a:t>Directives</a:t>
            </a:r>
            <a:r>
              <a:rPr lang="en-US" dirty="0"/>
              <a:t>.</a:t>
            </a:r>
          </a:p>
          <a:p>
            <a:r>
              <a:rPr lang="en-US" dirty="0" err="1"/>
              <a:t>AngularJS</a:t>
            </a:r>
            <a:r>
              <a:rPr lang="en-US" dirty="0"/>
              <a:t> has a set of built-in directives which offers functionality to your applications.</a:t>
            </a:r>
          </a:p>
          <a:p>
            <a:r>
              <a:rPr lang="en-US" dirty="0" err="1"/>
              <a:t>AngularJS</a:t>
            </a:r>
            <a:r>
              <a:rPr lang="en-US" dirty="0"/>
              <a:t> also lets you define your own directives.</a:t>
            </a:r>
          </a:p>
          <a:p>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AngularJS</a:t>
            </a:r>
            <a:r>
              <a:rPr lang="en-US" dirty="0"/>
              <a:t> Directives</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err="1"/>
              <a:t>AngularJS</a:t>
            </a:r>
            <a:r>
              <a:rPr lang="en-US" dirty="0"/>
              <a:t> directives are extended HTML attributes with the prefix </a:t>
            </a:r>
            <a:r>
              <a:rPr lang="en-US" dirty="0" err="1"/>
              <a:t>ng</a:t>
            </a:r>
            <a:r>
              <a:rPr lang="en-US" dirty="0"/>
              <a:t>-.</a:t>
            </a:r>
          </a:p>
          <a:p>
            <a:r>
              <a:rPr lang="en-US" dirty="0"/>
              <a:t>The </a:t>
            </a:r>
            <a:r>
              <a:rPr lang="en-US" dirty="0" err="1"/>
              <a:t>ng</a:t>
            </a:r>
            <a:r>
              <a:rPr lang="en-US" dirty="0"/>
              <a:t>-app directive initializes an </a:t>
            </a:r>
            <a:r>
              <a:rPr lang="en-US" dirty="0" err="1"/>
              <a:t>AngularJS</a:t>
            </a:r>
            <a:r>
              <a:rPr lang="en-US" dirty="0"/>
              <a:t> application.</a:t>
            </a:r>
          </a:p>
          <a:p>
            <a:r>
              <a:rPr lang="en-US" dirty="0"/>
              <a:t>The </a:t>
            </a:r>
            <a:r>
              <a:rPr lang="en-US" dirty="0" err="1"/>
              <a:t>ng</a:t>
            </a:r>
            <a:r>
              <a:rPr lang="en-US" dirty="0"/>
              <a:t>-init directive initializes application data.</a:t>
            </a:r>
          </a:p>
          <a:p>
            <a:r>
              <a:rPr lang="en-US" dirty="0"/>
              <a:t>The </a:t>
            </a:r>
            <a:r>
              <a:rPr lang="en-US" dirty="0" err="1"/>
              <a:t>ng</a:t>
            </a:r>
            <a:r>
              <a:rPr lang="en-US" dirty="0"/>
              <a:t>-model directive binds the value of HTML controls (input, select, </a:t>
            </a:r>
            <a:r>
              <a:rPr lang="en-US" dirty="0" err="1"/>
              <a:t>textarea</a:t>
            </a:r>
            <a:r>
              <a:rPr lang="en-US" dirty="0"/>
              <a:t>) to application data.</a:t>
            </a:r>
          </a:p>
          <a:p>
            <a:r>
              <a:rPr lang="en-US" dirty="0"/>
              <a:t>https://www.tutorialspoint.com/angularjs/angularjs_directives.htm</a:t>
            </a:r>
          </a:p>
          <a:p>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E8B826"/>
      </a:accent1>
      <a:accent2>
        <a:srgbClr val="E2CA72"/>
      </a:accent2>
      <a:accent3>
        <a:srgbClr val="BD723B"/>
      </a:accent3>
      <a:accent4>
        <a:srgbClr val="AE9376"/>
      </a:accent4>
      <a:accent5>
        <a:srgbClr val="A77F41"/>
      </a:accent5>
      <a:accent6>
        <a:srgbClr val="A1AE79"/>
      </a:accent6>
      <a:hlink>
        <a:srgbClr val="F1D06A"/>
      </a:hlink>
      <a:folHlink>
        <a:srgbClr val="EDDCA8"/>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D5CBAF11-69B7-47EA-BC01-41F77058C2A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14477</TotalTime>
  <Words>7465</Words>
  <Application>Microsoft Office PowerPoint</Application>
  <PresentationFormat>On-screen Show (4:3)</PresentationFormat>
  <Paragraphs>762</Paragraphs>
  <Slides>138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138</vt:i4>
      </vt:variant>
    </vt:vector>
  </HeadingPairs>
  <TitlesOfParts>
    <vt:vector size="146" baseType="lpstr">
      <vt:lpstr>Arial</vt:lpstr>
      <vt:lpstr>Calibri</vt:lpstr>
      <vt:lpstr>Calisto MT</vt:lpstr>
      <vt:lpstr>Times New Roman</vt:lpstr>
      <vt:lpstr>Wingdings</vt:lpstr>
      <vt:lpstr>Wingdings 2</vt:lpstr>
      <vt:lpstr>1_Office Theme</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jQuery </vt:lpstr>
      <vt:lpstr>Limitations of jQuery </vt:lpstr>
      <vt:lpstr>Application of jQuery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jQuery - Add Elements </vt:lpstr>
      <vt:lpstr>Angular JS</vt:lpstr>
      <vt:lpstr>Advantage</vt:lpstr>
      <vt:lpstr>Disadvantages</vt:lpstr>
      <vt:lpstr>Features of Angular JS</vt:lpstr>
      <vt:lpstr>PowerPoint Presentation</vt:lpstr>
      <vt:lpstr>MVC with AngularJS</vt:lpstr>
      <vt:lpstr>MVC with AngularJS</vt:lpstr>
      <vt:lpstr>PowerPoint Presentation</vt:lpstr>
      <vt:lpstr>AngularJS Directives </vt:lpstr>
      <vt:lpstr>AngularJS Directives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Technology Unit II- Client Side Technologies</dc:title>
  <dc:creator>AIDS36</dc:creator>
  <cp:lastModifiedBy>Atharv Patil</cp:lastModifiedBy>
  <cp:revision>157</cp:revision>
  <dcterms:created xsi:type="dcterms:W3CDTF">2006-08-16T00:00:00Z</dcterms:created>
  <dcterms:modified xsi:type="dcterms:W3CDTF">2024-09-03T04:29:03Z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106</vt:i4>
  </property>
</Properties>
</file>