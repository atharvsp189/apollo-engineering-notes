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3" r:id="rId3"/>
    <p:sldId id="257" r:id="rId4"/>
    <p:sldId id="258" r:id="rId5"/>
    <p:sldId id="264" r:id="rId6"/>
    <p:sldId id="265" r:id="rId7"/>
    <p:sldId id="259" r:id="rId8"/>
    <p:sldId id="266" r:id="rId9"/>
    <p:sldId id="267" r:id="rId10"/>
    <p:sldId id="268" r:id="rId11"/>
    <p:sldId id="269" r:id="rId12"/>
    <p:sldId id="271" r:id="rId13"/>
    <p:sldId id="272" r:id="rId14"/>
    <p:sldId id="273" r:id="rId15"/>
    <p:sldId id="274" r:id="rId16"/>
    <p:sldId id="275" r:id="rId17"/>
    <p:sldId id="278" r:id="rId18"/>
    <p:sldId id="277" r:id="rId19"/>
    <p:sldId id="276" r:id="rId20"/>
    <p:sldId id="260" r:id="rId21"/>
    <p:sldId id="279" r:id="rId22"/>
    <p:sldId id="280" r:id="rId23"/>
    <p:sldId id="281" r:id="rId24"/>
    <p:sldId id="282" r:id="rId25"/>
    <p:sldId id="283" r:id="rId26"/>
    <p:sldId id="284" r:id="rId27"/>
    <p:sldId id="285" r:id="rId28"/>
    <p:sldId id="286" r:id="rId29"/>
    <p:sldId id="287" r:id="rId30"/>
    <p:sldId id="288" r:id="rId31"/>
    <p:sldId id="289" r:id="rId32"/>
    <p:sldId id="291" r:id="rId33"/>
    <p:sldId id="290" r:id="rId34"/>
    <p:sldId id="292" r:id="rId35"/>
    <p:sldId id="293" r:id="rId36"/>
    <p:sldId id="294" r:id="rId37"/>
    <p:sldId id="295" r:id="rId38"/>
    <p:sldId id="296" r:id="rId39"/>
    <p:sldId id="298" r:id="rId40"/>
    <p:sldId id="299" r:id="rId41"/>
    <p:sldId id="300" r:id="rId42"/>
    <p:sldId id="301" r:id="rId43"/>
    <p:sldId id="302" r:id="rId44"/>
    <p:sldId id="303" r:id="rId45"/>
    <p:sldId id="304" r:id="rId46"/>
    <p:sldId id="363" r:id="rId47"/>
    <p:sldId id="305" r:id="rId48"/>
    <p:sldId id="306" r:id="rId49"/>
    <p:sldId id="307" r:id="rId50"/>
    <p:sldId id="308" r:id="rId51"/>
    <p:sldId id="309" r:id="rId52"/>
    <p:sldId id="310" r:id="rId53"/>
    <p:sldId id="312" r:id="rId54"/>
    <p:sldId id="364" r:id="rId55"/>
    <p:sldId id="311"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2" r:id="rId93"/>
    <p:sldId id="365" r:id="rId94"/>
    <p:sldId id="366" r:id="rId95"/>
    <p:sldId id="367" r:id="rId96"/>
    <p:sldId id="368" r:id="rId97"/>
    <p:sldId id="369" r:id="rId98"/>
    <p:sldId id="370" r:id="rId99"/>
    <p:sldId id="372" r:id="rId100"/>
    <p:sldId id="373" r:id="rId101"/>
    <p:sldId id="374" r:id="rId102"/>
    <p:sldId id="375" r:id="rId103"/>
    <p:sldId id="376" r:id="rId104"/>
    <p:sldId id="377" r:id="rId105"/>
    <p:sldId id="378" r:id="rId106"/>
    <p:sldId id="353" r:id="rId107"/>
    <p:sldId id="354" r:id="rId108"/>
    <p:sldId id="371" r:id="rId109"/>
    <p:sldId id="355" r:id="rId110"/>
    <p:sldId id="356" r:id="rId111"/>
    <p:sldId id="357" r:id="rId112"/>
    <p:sldId id="358" r:id="rId113"/>
    <p:sldId id="359" r:id="rId114"/>
    <p:sldId id="379" r:id="rId115"/>
    <p:sldId id="360" r:id="rId116"/>
    <p:sldId id="361" r:id="rId117"/>
    <p:sldId id="362" r:id="rId1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721" autoAdjust="0"/>
  </p:normalViewPr>
  <p:slideViewPr>
    <p:cSldViewPr>
      <p:cViewPr varScale="1">
        <p:scale>
          <a:sx n="96" d="100"/>
          <a:sy n="96" d="100"/>
        </p:scale>
        <p:origin x="10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8421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01810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1204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1161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08291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11119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95696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17939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1791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9482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1296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31401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50839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800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70953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17684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99355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D8BD707-D9CF-40AE-B4C6-C98DA3205C09}" type="datetimeFigureOut">
              <a:rPr lang="en-US" smtClean="0"/>
              <a:pPr/>
              <a:t>9/2/2024</a:t>
            </a:fld>
            <a:endParaRPr lang="en-US" dirty="0"/>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8259614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Stateless_protocol" TargetMode="External"/><Relationship Id="rId2" Type="http://schemas.openxmlformats.org/officeDocument/2006/relationships/hyperlink" Target="https://en.wikipedia.org/wiki/Client%E2%80%93server_mod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thousandeyes.com/solutions/network-device-monitor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phoenixnap.com/glossary/web-browser-definition" TargetMode="External"/><Relationship Id="rId2" Type="http://schemas.openxmlformats.org/officeDocument/2006/relationships/hyperlink" Target="https://phoenixnap.com/glossary/http-definition" TargetMode="External"/><Relationship Id="rId1" Type="http://schemas.openxmlformats.org/officeDocument/2006/relationships/slideLayout" Target="../slideLayouts/slideLayout2.xml"/><Relationship Id="rId4" Type="http://schemas.openxmlformats.org/officeDocument/2006/relationships/hyperlink" Target="https://cloudinfrastructureservices.co.uk/ubuntu-vs-pop_os-whats-the-differenc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geeksforgeeks.org/mozilla-firefox-browser/" TargetMode="External"/><Relationship Id="rId2" Type="http://schemas.openxmlformats.org/officeDocument/2006/relationships/hyperlink" Target="https://www.geeksforgeeks.org/google-chrome-browser/" TargetMode="External"/><Relationship Id="rId1" Type="http://schemas.openxmlformats.org/officeDocument/2006/relationships/slideLayout" Target="../slideLayouts/slideLayout2.xml"/><Relationship Id="rId6" Type="http://schemas.openxmlformats.org/officeDocument/2006/relationships/hyperlink" Target="https://www.geeksforgeeks.org/tor-browser-a-complete-overview/" TargetMode="External"/><Relationship Id="rId5" Type="http://schemas.openxmlformats.org/officeDocument/2006/relationships/hyperlink" Target="https://www.geeksforgeeks.org/microsoft-edge-browser/" TargetMode="External"/><Relationship Id="rId4" Type="http://schemas.openxmlformats.org/officeDocument/2006/relationships/hyperlink" Target="https://www.geeksforgeeks.org/apple-safari-browser/"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www.techtarget.com/whatis/definition/IP-address" TargetMode="External"/><Relationship Id="rId2" Type="http://schemas.openxmlformats.org/officeDocument/2006/relationships/hyperlink" Target="https://www.techtarget.com/searchnetworking/definition/protoco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techtarget.com/searchsoftwarequality/definition/HTTPS" TargetMode="External"/><Relationship Id="rId2" Type="http://schemas.openxmlformats.org/officeDocument/2006/relationships/hyperlink" Target="https://www.techtarget.com/whatis/definition/HTTP-Hypertext-Transfer-Protoco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techtarget.com/searchnetworking/definition/domain-name-system"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tutorialspoint.com/html/html_body_tag.htm" TargetMode="External"/><Relationship Id="rId2" Type="http://schemas.openxmlformats.org/officeDocument/2006/relationships/hyperlink" Target="https://www.tutorialspoint.com/html/html_frameset_tag.htm"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www.w3schools.com/bootstrap5/index.php" TargetMode="External"/><Relationship Id="rId2" Type="http://schemas.openxmlformats.org/officeDocument/2006/relationships/hyperlink" Target="https://www.w3schools.com/bootstrap4/default.asp" TargetMode="External"/><Relationship Id="rId1" Type="http://schemas.openxmlformats.org/officeDocument/2006/relationships/slideLayout" Target="../slideLayouts/slideLayout2.xml"/><Relationship Id="rId6" Type="http://schemas.openxmlformats.org/officeDocument/2006/relationships/hyperlink" Target="https://www.w3schools.com/jquery/default.asp" TargetMode="External"/><Relationship Id="rId5" Type="http://schemas.openxmlformats.org/officeDocument/2006/relationships/hyperlink" Target="https://www.w3schools.com/js/default.asp" TargetMode="External"/><Relationship Id="rId4" Type="http://schemas.openxmlformats.org/officeDocument/2006/relationships/hyperlink" Target="https://www.w3schools.com/bootstrap/default.asp"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hyperlink" Target="https://www.w3schools.com/bootstrap/bootstrap_images.asp"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Web Essentials and Mark-up language -HTML </a:t>
            </a:r>
            <a:endParaRPr lang="en-US" dirty="0"/>
          </a:p>
        </p:txBody>
      </p:sp>
      <p:sp>
        <p:nvSpPr>
          <p:cNvPr id="3" name="Subtitle 2"/>
          <p:cNvSpPr>
            <a:spLocks noGrp="1"/>
          </p:cNvSpPr>
          <p:nvPr>
            <p:ph type="subTitle" idx="1"/>
          </p:nvPr>
        </p:nvSpPr>
        <p:spPr/>
        <p:txBody>
          <a:bodyPr/>
          <a:lstStyle/>
          <a:p>
            <a:r>
              <a:rPr lang="en-IN" dirty="0"/>
              <a:t>By </a:t>
            </a:r>
            <a:r>
              <a:rPr lang="en-IN" dirty="0" err="1"/>
              <a:t>Pradnya</a:t>
            </a:r>
            <a:r>
              <a:rPr lang="en-IN" dirty="0"/>
              <a:t> </a:t>
            </a:r>
            <a:r>
              <a:rPr lang="en-IN" dirty="0" err="1"/>
              <a:t>Lodha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Web </a:t>
            </a:r>
            <a:r>
              <a:rPr lang="en-IN" dirty="0" err="1"/>
              <a:t>Techonology</a:t>
            </a:r>
            <a:r>
              <a:rPr lang="en-IN" dirty="0"/>
              <a:t>?</a:t>
            </a:r>
            <a:endParaRPr lang="en-US" dirty="0"/>
          </a:p>
        </p:txBody>
      </p:sp>
      <p:sp>
        <p:nvSpPr>
          <p:cNvPr id="3" name="Content Placeholder 2"/>
          <p:cNvSpPr>
            <a:spLocks noGrp="1"/>
          </p:cNvSpPr>
          <p:nvPr>
            <p:ph idx="1"/>
          </p:nvPr>
        </p:nvSpPr>
        <p:spPr/>
        <p:txBody>
          <a:bodyPr>
            <a:normAutofit/>
          </a:bodyPr>
          <a:lstStyle/>
          <a:p>
            <a:r>
              <a:rPr lang="en-IN" dirty="0"/>
              <a:t>Web technology is a technology that act as a interface between web client and web server.</a:t>
            </a:r>
          </a:p>
          <a:p>
            <a:r>
              <a:rPr lang="en-IN" dirty="0"/>
              <a:t>It includes </a:t>
            </a:r>
            <a:r>
              <a:rPr lang="en-IN" dirty="0" err="1"/>
              <a:t>markup</a:t>
            </a:r>
            <a:r>
              <a:rPr lang="en-IN" dirty="0"/>
              <a:t> languages, programming interfaces, online presentation tools , java applets , video editing tools etc.</a:t>
            </a:r>
          </a:p>
          <a:p>
            <a:r>
              <a:rPr lang="en-IN" dirty="0"/>
              <a:t>Client side scripting language – </a:t>
            </a:r>
            <a:r>
              <a:rPr lang="en-IN" dirty="0" err="1"/>
              <a:t>HTML,Javascript</a:t>
            </a:r>
            <a:r>
              <a:rPr lang="en-IN" dirty="0"/>
              <a:t>, CSS, XML and so o.</a:t>
            </a:r>
          </a:p>
          <a:p>
            <a:r>
              <a:rPr lang="en-IN" dirty="0"/>
              <a:t>Server side scripting language – ASP,JSP, java </a:t>
            </a:r>
            <a:r>
              <a:rPr lang="en-IN" dirty="0" err="1"/>
              <a:t>Servlet</a:t>
            </a:r>
            <a:r>
              <a:rPr lang="en-IN" dirty="0"/>
              <a:t>, PHP and so on.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Internet</a:t>
            </a:r>
            <a:endParaRPr lang="en-US" dirty="0"/>
          </a:p>
        </p:txBody>
      </p:sp>
      <p:sp>
        <p:nvSpPr>
          <p:cNvPr id="3" name="Content Placeholder 2"/>
          <p:cNvSpPr>
            <a:spLocks noGrp="1"/>
          </p:cNvSpPr>
          <p:nvPr>
            <p:ph idx="1"/>
          </p:nvPr>
        </p:nvSpPr>
        <p:spPr/>
        <p:txBody>
          <a:bodyPr>
            <a:normAutofit/>
          </a:bodyPr>
          <a:lstStyle/>
          <a:p>
            <a:r>
              <a:rPr lang="en-US" dirty="0"/>
              <a:t>The Internet is a massive network of networks, a networking infrastructure. It connects millions of computers together globally, forming a network in which any computer can communicate with any other computer as long as they are both connected to the Internet.</a:t>
            </a:r>
          </a:p>
          <a:p>
            <a:r>
              <a:rPr lang="en-IN" dirty="0"/>
              <a:t>Using internet many people can share resources and can communicate with each other.</a:t>
            </a:r>
          </a:p>
          <a:p>
            <a:r>
              <a:rPr lang="en-IN" dirty="0"/>
              <a:t>To have internet service one must go to the service providers. That means your computer must be connected to the internet service provider (ISP) through phone - line modem or DSL .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World Wide Web</a:t>
            </a:r>
          </a:p>
        </p:txBody>
      </p:sp>
      <p:sp>
        <p:nvSpPr>
          <p:cNvPr id="3" name="Content Placeholder 2"/>
          <p:cNvSpPr>
            <a:spLocks noGrp="1"/>
          </p:cNvSpPr>
          <p:nvPr>
            <p:ph idx="1"/>
          </p:nvPr>
        </p:nvSpPr>
        <p:spPr/>
        <p:txBody>
          <a:bodyPr>
            <a:normAutofit/>
          </a:bodyPr>
          <a:lstStyle/>
          <a:p>
            <a:r>
              <a:rPr lang="en-US" dirty="0"/>
              <a:t>It is a collection of websites or web pages stored in web servers and connected to local computers through the internet. </a:t>
            </a:r>
          </a:p>
          <a:p>
            <a:r>
              <a:rPr lang="en-IN" dirty="0"/>
              <a:t>It is a information system in which various documents containing information are interlinked together. User can access this information or write the information via computers. These information typically stored on web pages and through web browser we can access web pages .</a:t>
            </a:r>
          </a:p>
          <a:p>
            <a:r>
              <a:rPr lang="fr-FR" dirty="0" err="1"/>
              <a:t>These</a:t>
            </a:r>
            <a:r>
              <a:rPr lang="fr-FR" dirty="0"/>
              <a:t> </a:t>
            </a:r>
            <a:r>
              <a:rPr lang="fr-FR" dirty="0" err="1"/>
              <a:t>websites</a:t>
            </a:r>
            <a:r>
              <a:rPr lang="fr-FR" dirty="0"/>
              <a:t> </a:t>
            </a:r>
            <a:r>
              <a:rPr lang="fr-FR" dirty="0" err="1"/>
              <a:t>contain</a:t>
            </a:r>
            <a:r>
              <a:rPr lang="fr-FR" dirty="0"/>
              <a:t> </a:t>
            </a:r>
            <a:r>
              <a:rPr lang="fr-FR" dirty="0" err="1"/>
              <a:t>text</a:t>
            </a:r>
            <a:r>
              <a:rPr lang="fr-FR" dirty="0"/>
              <a:t> pages, digital images, </a:t>
            </a:r>
            <a:r>
              <a:rPr lang="fr-FR" dirty="0" err="1"/>
              <a:t>audios</a:t>
            </a:r>
            <a:r>
              <a:rPr lang="fr-FR" dirty="0"/>
              <a:t>, </a:t>
            </a:r>
            <a:r>
              <a:rPr lang="fr-FR" dirty="0" err="1"/>
              <a:t>videos</a:t>
            </a:r>
            <a:r>
              <a:rPr lang="fr-FR" dirty="0"/>
              <a:t>, etc.</a:t>
            </a:r>
            <a:endParaRPr lang="en-IN"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History of the WWW</a:t>
            </a:r>
            <a:br>
              <a:rPr lang="en-US" b="1" dirty="0"/>
            </a:br>
            <a:endParaRPr lang="en-US" dirty="0"/>
          </a:p>
        </p:txBody>
      </p:sp>
      <p:sp>
        <p:nvSpPr>
          <p:cNvPr id="3" name="Content Placeholder 2"/>
          <p:cNvSpPr>
            <a:spLocks noGrp="1"/>
          </p:cNvSpPr>
          <p:nvPr>
            <p:ph idx="1"/>
          </p:nvPr>
        </p:nvSpPr>
        <p:spPr/>
        <p:txBody>
          <a:bodyPr/>
          <a:lstStyle/>
          <a:p>
            <a:r>
              <a:rPr lang="en-US" dirty="0"/>
              <a:t>Tim Berners-Lee, a British scientist, invented the World Wide Web (WWW) in 1989, while working at CERN. The Web was originally conceived and developed to meet the demand for automated information-sharing between scientists in universities and institutes around the world.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Internet or WWW?</a:t>
            </a:r>
            <a:endParaRPr lang="en-US" dirty="0"/>
          </a:p>
        </p:txBody>
      </p:sp>
      <p:sp>
        <p:nvSpPr>
          <p:cNvPr id="3" name="Content Placeholder 2"/>
          <p:cNvSpPr>
            <a:spLocks noGrp="1"/>
          </p:cNvSpPr>
          <p:nvPr>
            <p:ph idx="1"/>
          </p:nvPr>
        </p:nvSpPr>
        <p:spPr/>
        <p:txBody>
          <a:bodyPr>
            <a:normAutofit/>
          </a:bodyPr>
          <a:lstStyle/>
          <a:p>
            <a:r>
              <a:rPr lang="en-IN" dirty="0"/>
              <a:t>The internet is a collection of computers and other devices (</a:t>
            </a:r>
            <a:r>
              <a:rPr lang="en-IN" dirty="0" err="1"/>
              <a:t>sach</a:t>
            </a:r>
            <a:r>
              <a:rPr lang="en-IN" dirty="0"/>
              <a:t> as printer and scanner) connected together whereas WWW is  collection of software and corresponding protocols used to access the resources over network   </a:t>
            </a:r>
          </a:p>
          <a:p>
            <a:r>
              <a:rPr lang="en-IN" dirty="0"/>
              <a:t>WWW contains huge amount of documents, images and other resources which can be accessed using the hyperlinks.</a:t>
            </a:r>
          </a:p>
          <a:p>
            <a:r>
              <a:rPr lang="en-IN" dirty="0"/>
              <a:t>Thus people use internet through web.</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Internet Protocols:</a:t>
            </a:r>
          </a:p>
        </p:txBody>
      </p:sp>
      <p:sp>
        <p:nvSpPr>
          <p:cNvPr id="3" name="Content Placeholder 2"/>
          <p:cNvSpPr>
            <a:spLocks noGrp="1"/>
          </p:cNvSpPr>
          <p:nvPr>
            <p:ph idx="1"/>
          </p:nvPr>
        </p:nvSpPr>
        <p:spPr/>
        <p:txBody>
          <a:bodyPr>
            <a:normAutofit/>
          </a:bodyPr>
          <a:lstStyle/>
          <a:p>
            <a:r>
              <a:rPr lang="en-US" dirty="0"/>
              <a:t>The term “protocol” means in the context of networked communication. A computer communication protocol is a detailed specification of how communication between two computers will be carried out in order to serve some purpose.</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File Transfer Protocol (FTP)</a:t>
            </a:r>
            <a:endParaRPr lang="en-US" dirty="0"/>
          </a:p>
        </p:txBody>
      </p:sp>
      <p:sp>
        <p:nvSpPr>
          <p:cNvPr id="3" name="Content Placeholder 2"/>
          <p:cNvSpPr>
            <a:spLocks noGrp="1"/>
          </p:cNvSpPr>
          <p:nvPr>
            <p:ph idx="1"/>
          </p:nvPr>
        </p:nvSpPr>
        <p:spPr/>
        <p:txBody>
          <a:bodyPr>
            <a:normAutofit/>
          </a:bodyPr>
          <a:lstStyle/>
          <a:p>
            <a:r>
              <a:rPr lang="en-US" dirty="0"/>
              <a:t>he File Transfer Protocol (FTP) is used to transfer files between two computers over a network and Internet. </a:t>
            </a:r>
          </a:p>
          <a:p>
            <a:r>
              <a:rPr lang="en-US" dirty="0"/>
              <a:t>Although transferring files from one system to another is very simple and straightforward, but sometimes it can cause problems. </a:t>
            </a:r>
          </a:p>
          <a:p>
            <a:r>
              <a:rPr lang="en-US" dirty="0"/>
              <a:t>For example, two systems may have different file conventions. Two systems may have different ways to represent text and data. Two systems may have different directory structures. FTP protocol overcomes these problems by establishing two connections between hosts. One connection is used for data transfer, and another connection is used for the control connection.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r>
              <a:rPr lang="en-US" dirty="0"/>
              <a:t>Mechanism of FTP</a:t>
            </a:r>
            <a:br>
              <a:rPr lang="en-US" dirty="0"/>
            </a:br>
            <a:br>
              <a:rPr lang="en-US" dirty="0"/>
            </a:br>
            <a:endParaRPr lang="en-US" dirty="0"/>
          </a:p>
        </p:txBody>
      </p:sp>
      <p:pic>
        <p:nvPicPr>
          <p:cNvPr id="4" name="Content Placeholder 3" descr="computer-network-ftp.png"/>
          <p:cNvPicPr>
            <a:picLocks noGrp="1" noChangeAspect="1"/>
          </p:cNvPicPr>
          <p:nvPr>
            <p:ph idx="1"/>
          </p:nvPr>
        </p:nvPicPr>
        <p:blipFill>
          <a:blip r:embed="rId2" cstate="print"/>
          <a:stretch>
            <a:fillRect/>
          </a:stretch>
        </p:blipFill>
        <p:spPr>
          <a:xfrm>
            <a:off x="1097844" y="1447800"/>
            <a:ext cx="8046156" cy="4525963"/>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When clients make a request for particular file download then using the data transfer connection actual data gets transmitted from server to client.</a:t>
            </a:r>
          </a:p>
          <a:p>
            <a:r>
              <a:rPr lang="en-US" dirty="0"/>
              <a:t>At the same time server keeps track of how much data is sent so far and how much is remaining . This tracking can be done using the control transfer connection.</a:t>
            </a:r>
          </a:p>
          <a:p>
            <a:r>
              <a:rPr lang="en-US" dirty="0"/>
              <a:t>The above figure shows the basic model of the FTP. The FTP client has three components: the user interface, control process, and data transfer process. The server has two components: the server control process and the server data transfer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There are two types of connections in FTP:</a:t>
            </a:r>
            <a:endParaRPr lang="en-US" dirty="0"/>
          </a:p>
        </p:txBody>
      </p:sp>
      <p:pic>
        <p:nvPicPr>
          <p:cNvPr id="4" name="Content Placeholder 3" descr="computer-network-ftp2.png"/>
          <p:cNvPicPr>
            <a:picLocks noGrp="1" noChangeAspect="1"/>
          </p:cNvPicPr>
          <p:nvPr>
            <p:ph idx="1"/>
          </p:nvPr>
        </p:nvPicPr>
        <p:blipFill>
          <a:blip r:embed="rId2" cstate="print"/>
          <a:stretch>
            <a:fillRect/>
          </a:stretch>
        </p:blipFill>
        <p:spPr>
          <a:xfrm>
            <a:off x="1752601" y="2209801"/>
            <a:ext cx="5486400" cy="2610644"/>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a:t>
            </a:r>
            <a:endParaRPr lang="en-US" dirty="0"/>
          </a:p>
        </p:txBody>
      </p:sp>
      <p:sp>
        <p:nvSpPr>
          <p:cNvPr id="3" name="Content Placeholder 2"/>
          <p:cNvSpPr>
            <a:spLocks noGrp="1"/>
          </p:cNvSpPr>
          <p:nvPr>
            <p:ph idx="1"/>
          </p:nvPr>
        </p:nvSpPr>
        <p:spPr/>
        <p:txBody>
          <a:bodyPr>
            <a:normAutofit/>
          </a:bodyPr>
          <a:lstStyle/>
          <a:p>
            <a:r>
              <a:rPr lang="en-US" b="1" i="1" dirty="0"/>
              <a:t>Hypertext Transfer Protocol (HTTP)</a:t>
            </a:r>
            <a:r>
              <a:rPr lang="en-US" dirty="0"/>
              <a:t> is request/ response protocol.</a:t>
            </a:r>
          </a:p>
          <a:p>
            <a:r>
              <a:rPr lang="en-US" dirty="0"/>
              <a:t>It was designed for communication between web browsers and web servers, but it can also be used for other purposes.</a:t>
            </a:r>
          </a:p>
          <a:p>
            <a:r>
              <a:rPr lang="en-US" dirty="0"/>
              <a:t>HTTP follows a classical </a:t>
            </a:r>
            <a:r>
              <a:rPr lang="en-US" u="sng" dirty="0">
                <a:hlinkClick r:id="rId2"/>
              </a:rPr>
              <a:t>client-server model</a:t>
            </a:r>
            <a:r>
              <a:rPr lang="en-US" dirty="0"/>
              <a:t>, with a client opening a connection to make a request, then waiting until it receives a response. HTTP is a </a:t>
            </a:r>
            <a:r>
              <a:rPr lang="en-US" u="sng" dirty="0">
                <a:hlinkClick r:id="rId3"/>
              </a:rPr>
              <a:t>stateless protocol</a:t>
            </a:r>
            <a:r>
              <a:rPr lang="en-US" dirty="0"/>
              <a:t>, meaning that the server does not maintain the previous information.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SNMP</a:t>
            </a:r>
            <a:endParaRPr lang="en-US" dirty="0"/>
          </a:p>
        </p:txBody>
      </p:sp>
      <p:sp>
        <p:nvSpPr>
          <p:cNvPr id="3" name="Content Placeholder 2"/>
          <p:cNvSpPr>
            <a:spLocks noGrp="1"/>
          </p:cNvSpPr>
          <p:nvPr>
            <p:ph idx="1"/>
          </p:nvPr>
        </p:nvSpPr>
        <p:spPr/>
        <p:txBody>
          <a:bodyPr>
            <a:normAutofit fontScale="92500" lnSpcReduction="10000"/>
          </a:bodyPr>
          <a:lstStyle/>
          <a:p>
            <a:r>
              <a:rPr lang="en-US" sz="2400" dirty="0">
                <a:latin typeface="Times New Roman" pitchFamily="18" charset="0"/>
                <a:cs typeface="Times New Roman" pitchFamily="18" charset="0"/>
              </a:rPr>
              <a:t>Simple Network Management Protocol (SNMP) is a networking protocol used for the management and </a:t>
            </a:r>
            <a:r>
              <a:rPr lang="en-US" sz="2400" dirty="0">
                <a:latin typeface="Times New Roman" pitchFamily="18" charset="0"/>
                <a:cs typeface="Times New Roman" pitchFamily="18" charset="0"/>
                <a:hlinkClick r:id="rId2" tooltip="Network Device Monitoring"/>
              </a:rPr>
              <a:t>monitoring of network-connected devices</a:t>
            </a:r>
            <a:r>
              <a:rPr lang="en-US" sz="2400" dirty="0">
                <a:latin typeface="Times New Roman" pitchFamily="18" charset="0"/>
                <a:cs typeface="Times New Roman" pitchFamily="18" charset="0"/>
              </a:rPr>
              <a:t> in Internet Protocol networks.</a:t>
            </a:r>
          </a:p>
          <a:p>
            <a:r>
              <a:rPr lang="en-IN" sz="2400" dirty="0">
                <a:latin typeface="Times New Roman" pitchFamily="18" charset="0"/>
                <a:cs typeface="Times New Roman" pitchFamily="18" charset="0"/>
              </a:rPr>
              <a:t>The network management system is based on two main elements : a supervisor and agents </a:t>
            </a:r>
          </a:p>
          <a:p>
            <a:pPr>
              <a:buFont typeface="Wingdings" pitchFamily="2" charset="2"/>
              <a:buChar char="Ø"/>
            </a:pPr>
            <a:r>
              <a:rPr lang="en-IN" sz="2400" dirty="0">
                <a:latin typeface="Times New Roman" pitchFamily="18" charset="0"/>
                <a:cs typeface="Times New Roman" pitchFamily="18" charset="0"/>
              </a:rPr>
              <a:t>The supervisor is the terminal at which the network administrator requests for network management.</a:t>
            </a:r>
          </a:p>
          <a:p>
            <a:pPr>
              <a:buFont typeface="Wingdings" pitchFamily="2" charset="2"/>
              <a:buChar char="Ø"/>
            </a:pPr>
            <a:r>
              <a:rPr lang="en-IN" sz="2400" dirty="0">
                <a:latin typeface="Times New Roman" pitchFamily="18" charset="0"/>
                <a:cs typeface="Times New Roman" pitchFamily="18" charset="0"/>
              </a:rPr>
              <a:t>The agents are found at the level of each interface connecting the managed devices to the </a:t>
            </a:r>
            <a:r>
              <a:rPr lang="en-IN" sz="2400" dirty="0" err="1">
                <a:latin typeface="Times New Roman" pitchFamily="18" charset="0"/>
                <a:cs typeface="Times New Roman" pitchFamily="18" charset="0"/>
              </a:rPr>
              <a:t>network.with</a:t>
            </a:r>
            <a:r>
              <a:rPr lang="en-IN" sz="2400" dirty="0">
                <a:latin typeface="Times New Roman" pitchFamily="18" charset="0"/>
                <a:cs typeface="Times New Roman" pitchFamily="18" charset="0"/>
              </a:rPr>
              <a:t> the help of these agent information on the different objects (such as switch, hub, router ) can be collected.</a:t>
            </a:r>
            <a:endParaRPr lang="en-US" sz="2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SMTP </a:t>
            </a:r>
            <a:endParaRPr lang="en-US" dirty="0"/>
          </a:p>
        </p:txBody>
      </p:sp>
      <p:sp>
        <p:nvSpPr>
          <p:cNvPr id="3" name="Content Placeholder 2"/>
          <p:cNvSpPr>
            <a:spLocks noGrp="1"/>
          </p:cNvSpPr>
          <p:nvPr>
            <p:ph idx="1"/>
          </p:nvPr>
        </p:nvSpPr>
        <p:spPr/>
        <p:txBody>
          <a:bodyPr>
            <a:normAutofit/>
          </a:bodyPr>
          <a:lstStyle/>
          <a:p>
            <a:r>
              <a:rPr lang="en-US" dirty="0"/>
              <a:t>The Simple Mail Transfer Protocol (SMTP) is an application used by mail servers to send, receive, and relay outgoing email between senders and receivers. As the technology behind email communication, SMTP is the protocol that allows you to send and receive emails.</a:t>
            </a:r>
          </a:p>
          <a:p>
            <a:r>
              <a:rPr lang="en-IN" dirty="0"/>
              <a:t>It is a asynchronous protocol because it allows delayed delivery of message.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POP3</a:t>
            </a:r>
            <a:endParaRPr lang="en-US" dirty="0"/>
          </a:p>
        </p:txBody>
      </p:sp>
      <p:sp>
        <p:nvSpPr>
          <p:cNvPr id="3" name="Content Placeholder 2"/>
          <p:cNvSpPr>
            <a:spLocks noGrp="1"/>
          </p:cNvSpPr>
          <p:nvPr>
            <p:ph idx="1"/>
          </p:nvPr>
        </p:nvSpPr>
        <p:spPr/>
        <p:txBody>
          <a:bodyPr>
            <a:normAutofit/>
          </a:bodyPr>
          <a:lstStyle/>
          <a:p>
            <a:r>
              <a:rPr lang="en-IN" dirty="0"/>
              <a:t>Post office protocol 3 is used by local email clients (such as Microsoft outlook express).</a:t>
            </a:r>
          </a:p>
          <a:p>
            <a:r>
              <a:rPr lang="en-IN" dirty="0"/>
              <a:t>The POP3 protocol works only at receivers end  and has no work at sender’s end.</a:t>
            </a:r>
          </a:p>
          <a:p>
            <a:r>
              <a:rPr lang="en-IN" dirty="0"/>
              <a:t>The pop protocol has two parts ,client pop that is receiver pop and server pop  that is receiver email server. The client that is receiver opens TCP connection with receivers pop server. This client must be authenticated first by using the user name and password. then the client can receive the emails from mailbox.</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Transmission control Protocol (TCP) </a:t>
            </a:r>
            <a:endParaRPr lang="en-US" dirty="0"/>
          </a:p>
        </p:txBody>
      </p:sp>
      <p:sp>
        <p:nvSpPr>
          <p:cNvPr id="3" name="Content Placeholder 2"/>
          <p:cNvSpPr>
            <a:spLocks noGrp="1"/>
          </p:cNvSpPr>
          <p:nvPr>
            <p:ph idx="1"/>
          </p:nvPr>
        </p:nvSpPr>
        <p:spPr/>
        <p:txBody>
          <a:bodyPr>
            <a:normAutofit/>
          </a:bodyPr>
          <a:lstStyle/>
          <a:p>
            <a:r>
              <a:rPr lang="en-IN" dirty="0"/>
              <a:t>TCP protocol is used for – </a:t>
            </a:r>
          </a:p>
          <a:p>
            <a:pPr>
              <a:buFont typeface="Wingdings" pitchFamily="2" charset="2"/>
              <a:buChar char="Ø"/>
            </a:pPr>
            <a:r>
              <a:rPr lang="en-IN" dirty="0"/>
              <a:t>Safe delivery of data</a:t>
            </a:r>
          </a:p>
          <a:p>
            <a:pPr>
              <a:buFont typeface="Wingdings" pitchFamily="2" charset="2"/>
              <a:buChar char="Ø"/>
            </a:pPr>
            <a:r>
              <a:rPr lang="en-IN" dirty="0"/>
              <a:t>Error detection </a:t>
            </a:r>
          </a:p>
          <a:p>
            <a:pPr>
              <a:buFont typeface="Wingdings" pitchFamily="2" charset="2"/>
              <a:buChar char="Ø"/>
            </a:pPr>
            <a:r>
              <a:rPr lang="en-IN" dirty="0"/>
              <a:t>Assurance of the correct sequencing of data being received.</a:t>
            </a:r>
          </a:p>
          <a:p>
            <a:pPr>
              <a:buFont typeface="Wingdings" pitchFamily="2" charset="2"/>
              <a:buChar char="Ø"/>
            </a:pPr>
            <a:r>
              <a:rPr lang="en-IN" dirty="0"/>
              <a:t>It is connection oriented protocol because before sending data this protocol require that two computer have establish connection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br>
              <a:rPr lang="en-US" b="1" dirty="0"/>
            </a:br>
            <a:br>
              <a:rPr lang="en-US" b="1" dirty="0"/>
            </a:br>
            <a:br>
              <a:rPr lang="en-US" b="1" dirty="0"/>
            </a:br>
            <a:br>
              <a:rPr lang="en-US" b="1" dirty="0"/>
            </a:br>
            <a:br>
              <a:rPr lang="en-US" b="1" dirty="0"/>
            </a:br>
            <a:r>
              <a:rPr lang="en-US" b="1" dirty="0"/>
              <a:t>What is Internet Protocol (IP)?</a:t>
            </a:r>
            <a:br>
              <a:rPr lang="en-US" b="1" dirty="0"/>
            </a:br>
            <a:br>
              <a:rPr lang="en-US" b="1" dirty="0"/>
            </a:br>
            <a:br>
              <a:rPr lang="en-US" b="1" dirty="0"/>
            </a:br>
            <a:br>
              <a:rPr lang="en-US" b="1" dirty="0"/>
            </a:br>
            <a:r>
              <a:rPr lang="en-US" sz="2700" dirty="0"/>
              <a:t>Internet Protocol is a method that is useful for sending data from one device to another from all over the internet. Every device contains a unique IP Address that helps it communicate and exchange data across other devices present on the internet.</a:t>
            </a:r>
            <a:br>
              <a:rPr lang="en-US" sz="2700" dirty="0"/>
            </a:br>
            <a:endParaRPr lang="en-US" sz="2700" dirty="0"/>
          </a:p>
        </p:txBody>
      </p:sp>
      <p:sp>
        <p:nvSpPr>
          <p:cNvPr id="3" name="Content Placeholder 2"/>
          <p:cNvSpPr>
            <a:spLocks noGrp="1"/>
          </p:cNvSpPr>
          <p:nvPr>
            <p:ph idx="1"/>
          </p:nvPr>
        </p:nvSpPr>
        <p:spPr>
          <a:xfrm>
            <a:off x="457200" y="1600201"/>
            <a:ext cx="8229600" cy="3581400"/>
          </a:xfrm>
        </p:spPr>
        <p:txBody>
          <a:bodyPr/>
          <a:lstStyle/>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Working of Transmission Control Protocol (TCP)</a:t>
            </a:r>
            <a:br>
              <a:rPr lang="en-US" b="1" dirty="0"/>
            </a:br>
            <a:endParaRPr lang="en-US" dirty="0"/>
          </a:p>
        </p:txBody>
      </p:sp>
      <p:sp>
        <p:nvSpPr>
          <p:cNvPr id="3" name="Content Placeholder 2"/>
          <p:cNvSpPr>
            <a:spLocks noGrp="1"/>
          </p:cNvSpPr>
          <p:nvPr>
            <p:ph idx="1"/>
          </p:nvPr>
        </p:nvSpPr>
        <p:spPr/>
        <p:txBody>
          <a:bodyPr>
            <a:normAutofit/>
          </a:bodyPr>
          <a:lstStyle/>
          <a:p>
            <a:pPr fontAlgn="base"/>
            <a:r>
              <a:rPr lang="en-US" dirty="0"/>
              <a:t>To make sure that each message reaches its target location intact, the TCP/IP model breaks down the data into small bundles and afterward reassembles the bundles into the original message on the opposite end. Sending the information in little bundles of information makes it simpler to maintain efficiency as opposed to sending everything in one go. </a:t>
            </a:r>
          </a:p>
          <a:p>
            <a:pPr fontAlgn="base"/>
            <a:r>
              <a:rPr lang="en-US" dirty="0"/>
              <a:t>After a particular message is broken down into bundles, these bundles may travel along multiple routes if one route is jammed but the destination remains the same.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Working of Transmission Control Protocol (TCP)</a:t>
            </a:r>
            <a:endParaRPr lang="en-US" dirty="0"/>
          </a:p>
        </p:txBody>
      </p:sp>
      <p:pic>
        <p:nvPicPr>
          <p:cNvPr id="4" name="Content Placeholder 3" descr="TCP-Gif.gif"/>
          <p:cNvPicPr>
            <a:picLocks noGrp="1" noChangeAspect="1"/>
          </p:cNvPicPr>
          <p:nvPr>
            <p:ph idx="1"/>
          </p:nvPr>
        </p:nvPicPr>
        <p:blipFill>
          <a:blip r:embed="rId2" cstate="print"/>
          <a:stretch>
            <a:fillRect/>
          </a:stretch>
        </p:blipFill>
        <p:spPr>
          <a:xfrm>
            <a:off x="758031" y="1856581"/>
            <a:ext cx="7620000" cy="38100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TCP/IP</a:t>
            </a:r>
            <a:endParaRPr lang="en-US" dirty="0"/>
          </a:p>
        </p:txBody>
      </p:sp>
      <p:sp>
        <p:nvSpPr>
          <p:cNvPr id="3" name="Content Placeholder 2"/>
          <p:cNvSpPr>
            <a:spLocks noGrp="1"/>
          </p:cNvSpPr>
          <p:nvPr>
            <p:ph idx="1"/>
          </p:nvPr>
        </p:nvSpPr>
        <p:spPr/>
        <p:txBody>
          <a:bodyPr>
            <a:normAutofit/>
          </a:bodyPr>
          <a:lstStyle/>
          <a:p>
            <a:r>
              <a:rPr lang="en-US" dirty="0"/>
              <a:t>A key element of IP is the IP address, which is simply a 32-bit number. At any given moment, each device on the Internet has one or more IP addresses associated with it.</a:t>
            </a:r>
          </a:p>
          <a:p>
            <a:r>
              <a:rPr lang="en-US" dirty="0"/>
              <a:t> IP addresses are normally written as a sequence of four decimal numbers separated by periods (called “dots”), as in 192.0.34.166.</a:t>
            </a:r>
          </a:p>
          <a:p>
            <a:r>
              <a:rPr lang="en-US" dirty="0"/>
              <a:t>Each decimal number represents one byte of the IP address. The function of IP software is to transfer data from one computer (the source) to another computer (the destination).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UDP</a:t>
            </a:r>
            <a:endParaRPr lang="en-US" dirty="0"/>
          </a:p>
        </p:txBody>
      </p:sp>
      <p:sp>
        <p:nvSpPr>
          <p:cNvPr id="3" name="Content Placeholder 2"/>
          <p:cNvSpPr>
            <a:spLocks noGrp="1"/>
          </p:cNvSpPr>
          <p:nvPr>
            <p:ph idx="1"/>
          </p:nvPr>
        </p:nvSpPr>
        <p:spPr/>
        <p:txBody>
          <a:bodyPr/>
          <a:lstStyle/>
          <a:p>
            <a:r>
              <a:rPr lang="en-IN" dirty="0"/>
              <a:t>The User datagram protocol is a connectionless protocol without any error detection facility.</a:t>
            </a:r>
          </a:p>
          <a:p>
            <a:r>
              <a:rPr lang="en-IN" dirty="0"/>
              <a:t>This protocol is used for simply transmission of data.</a:t>
            </a:r>
          </a:p>
          <a:p>
            <a:r>
              <a:rPr lang="en-IN" dirty="0"/>
              <a:t>The UDP is known as an unreliable protocol however this is much faster than TCP.</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web site </a:t>
            </a:r>
            <a:r>
              <a:rPr lang="en-IN"/>
              <a:t>design issue</a:t>
            </a:r>
            <a:endParaRPr lang="en-US"/>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IN" sz="2400" dirty="0">
                <a:latin typeface="Times New Roman" pitchFamily="18" charset="0"/>
                <a:cs typeface="Times New Roman" pitchFamily="18" charset="0"/>
              </a:rPr>
              <a:t>Simplicity – Web design provide lot of animation, huge amount of information, extreme visual and so on. This make the web design enormous and it should be avoided. The web application must be moderate and simple.</a:t>
            </a:r>
          </a:p>
          <a:p>
            <a:pPr marL="514350" indent="-514350">
              <a:buFont typeface="+mj-lt"/>
              <a:buAutoNum type="arabicPeriod"/>
            </a:pPr>
            <a:r>
              <a:rPr lang="en-IN" sz="2400" dirty="0">
                <a:latin typeface="Times New Roman" pitchFamily="18" charset="0"/>
                <a:cs typeface="Times New Roman" pitchFamily="18" charset="0"/>
              </a:rPr>
              <a:t>Identity – web design must be based on the nature of the web application. A web engineer must work to establish an identify for the web application through the design.</a:t>
            </a:r>
          </a:p>
          <a:p>
            <a:pPr marL="514350" indent="-514350">
              <a:buFont typeface="+mj-lt"/>
              <a:buAutoNum type="arabicPeriod"/>
            </a:pPr>
            <a:r>
              <a:rPr lang="en-IN" sz="2400" dirty="0">
                <a:latin typeface="Times New Roman" pitchFamily="18" charset="0"/>
                <a:cs typeface="Times New Roman" pitchFamily="18" charset="0"/>
              </a:rPr>
              <a:t>Consistency - </a:t>
            </a:r>
            <a:r>
              <a:rPr lang="en-US" sz="2400" dirty="0">
                <a:latin typeface="Times New Roman" pitchFamily="18" charset="0"/>
                <a:cs typeface="Times New Roman" pitchFamily="18" charset="0"/>
              </a:rPr>
              <a:t>Website design consistency involves the systematic use of similar design elements and structures, such as color schemes, fonts, layouts, and navigation menus, to create a cohesive and intuitive user experience.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Screenshot 2024-05-28 101753.png"/>
          <p:cNvPicPr>
            <a:picLocks noGrp="1" noChangeAspect="1"/>
          </p:cNvPicPr>
          <p:nvPr>
            <p:ph idx="1"/>
          </p:nvPr>
        </p:nvPicPr>
        <p:blipFill>
          <a:blip r:embed="rId2" cstate="print"/>
          <a:stretch>
            <a:fillRect/>
          </a:stretch>
        </p:blipFill>
        <p:spPr>
          <a:xfrm>
            <a:off x="838200" y="762000"/>
            <a:ext cx="7467600" cy="5182684"/>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HTTP Request Message and Response Message</a:t>
            </a:r>
            <a:endParaRPr lang="en-US" dirty="0"/>
          </a:p>
        </p:txBody>
      </p:sp>
      <p:sp>
        <p:nvSpPr>
          <p:cNvPr id="3" name="Content Placeholder 2"/>
          <p:cNvSpPr>
            <a:spLocks noGrp="1"/>
          </p:cNvSpPr>
          <p:nvPr>
            <p:ph idx="1"/>
          </p:nvPr>
        </p:nvSpPr>
        <p:spPr/>
        <p:txBody>
          <a:bodyPr/>
          <a:lstStyle/>
          <a:p>
            <a:r>
              <a:rPr lang="en-IN" dirty="0"/>
              <a:t>HTTP Protocol follows Request Response model.</a:t>
            </a:r>
          </a:p>
          <a:p>
            <a:r>
              <a:rPr lang="en-IN" dirty="0"/>
              <a:t>Clients make a request for desired web page by giving the URL in address bar. This request is submitted to web server and then web server gives response to web browser by returning the required web page.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message structure</a:t>
            </a:r>
            <a:endParaRPr lang="en-US" dirty="0"/>
          </a:p>
        </p:txBody>
      </p:sp>
      <p:sp>
        <p:nvSpPr>
          <p:cNvPr id="3" name="Content Placeholder 2"/>
          <p:cNvSpPr>
            <a:spLocks noGrp="1"/>
          </p:cNvSpPr>
          <p:nvPr>
            <p:ph idx="1"/>
          </p:nvPr>
        </p:nvSpPr>
        <p:spPr/>
        <p:txBody>
          <a:bodyPr/>
          <a:lstStyle/>
          <a:p>
            <a:r>
              <a:rPr lang="en-US" dirty="0"/>
              <a:t>The request-response model defines a communication pattern where a client sends a request to a server, and the server responds with a corresponding response.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a Request/Response model works?</a:t>
            </a:r>
            <a:endParaRPr lang="en-US" dirty="0"/>
          </a:p>
        </p:txBody>
      </p:sp>
      <p:sp>
        <p:nvSpPr>
          <p:cNvPr id="3" name="Content Placeholder 2"/>
          <p:cNvSpPr>
            <a:spLocks noGrp="1"/>
          </p:cNvSpPr>
          <p:nvPr>
            <p:ph idx="1"/>
          </p:nvPr>
        </p:nvSpPr>
        <p:spPr/>
        <p:txBody>
          <a:bodyPr>
            <a:normAutofit/>
          </a:bodyPr>
          <a:lstStyle/>
          <a:p>
            <a:pPr>
              <a:buNone/>
            </a:pPr>
            <a:r>
              <a:rPr lang="en-IN" dirty="0"/>
              <a:t>    &lt; start line &gt;</a:t>
            </a:r>
          </a:p>
          <a:p>
            <a:pPr>
              <a:buNone/>
            </a:pPr>
            <a:r>
              <a:rPr lang="en-IN" dirty="0"/>
              <a:t>    &lt;Header Fields &gt;</a:t>
            </a:r>
          </a:p>
          <a:p>
            <a:pPr>
              <a:buNone/>
            </a:pPr>
            <a:r>
              <a:rPr lang="en-IN" dirty="0"/>
              <a:t>    &lt; Blank Line &gt;</a:t>
            </a:r>
          </a:p>
          <a:p>
            <a:pPr>
              <a:buNone/>
            </a:pPr>
            <a:r>
              <a:rPr lang="en-IN" dirty="0"/>
              <a:t>    &lt; Message Body &gt;</a:t>
            </a:r>
          </a:p>
          <a:p>
            <a:pPr>
              <a:buFont typeface="Wingdings" pitchFamily="2" charset="2"/>
              <a:buChar char="Ø"/>
            </a:pPr>
            <a:r>
              <a:rPr lang="en-IN" dirty="0"/>
              <a:t> &lt;start line&gt;  consist of three parts which are separated by single space. These parts are – Request Method , Request URI , Request Version </a:t>
            </a:r>
          </a:p>
          <a:p>
            <a:endParaRPr lang="en-IN" dirty="0"/>
          </a:p>
          <a:p>
            <a:pPr>
              <a:buNone/>
            </a:pPr>
            <a:r>
              <a:rPr lang="en-IN" dirty="0"/>
              <a:t>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Request Method – Various methods are used for making the request are enlisted in the following table </a:t>
            </a:r>
            <a:r>
              <a:rPr lang="en-IN" dirty="0"/>
              <a:t>- </a:t>
            </a:r>
            <a:endParaRPr lang="en-US" dirty="0"/>
          </a:p>
        </p:txBody>
      </p:sp>
      <p:pic>
        <p:nvPicPr>
          <p:cNvPr id="4" name="Content Placeholder 3" descr="Screenshot 2024-05-28 145648.png"/>
          <p:cNvPicPr>
            <a:picLocks noGrp="1" noChangeAspect="1"/>
          </p:cNvPicPr>
          <p:nvPr>
            <p:ph idx="1"/>
          </p:nvPr>
        </p:nvPicPr>
        <p:blipFill>
          <a:blip r:embed="rId2" cstate="print"/>
          <a:stretch>
            <a:fillRect/>
          </a:stretch>
        </p:blipFill>
        <p:spPr>
          <a:xfrm>
            <a:off x="2152874" y="1731963"/>
            <a:ext cx="4830315" cy="4059237"/>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Request URI</a:t>
            </a:r>
            <a:endParaRPr lang="en-US" dirty="0"/>
          </a:p>
        </p:txBody>
      </p:sp>
      <p:sp>
        <p:nvSpPr>
          <p:cNvPr id="3" name="Content Placeholder 2"/>
          <p:cNvSpPr>
            <a:spLocks noGrp="1"/>
          </p:cNvSpPr>
          <p:nvPr>
            <p:ph idx="1"/>
          </p:nvPr>
        </p:nvSpPr>
        <p:spPr>
          <a:xfrm>
            <a:off x="533400" y="1447800"/>
            <a:ext cx="8229600" cy="4525963"/>
          </a:xfrm>
        </p:spPr>
        <p:txBody>
          <a:bodyPr>
            <a:normAutofit/>
          </a:bodyPr>
          <a:lstStyle/>
          <a:p>
            <a:r>
              <a:rPr lang="en-IN" dirty="0"/>
              <a:t>The Uniform Resource Identifier (URI) is a string used to identify the names or resources of the internet.</a:t>
            </a:r>
          </a:p>
          <a:p>
            <a:r>
              <a:rPr lang="en-IN" dirty="0"/>
              <a:t>URI is a combination of URL and URN.</a:t>
            </a:r>
          </a:p>
          <a:p>
            <a:r>
              <a:rPr lang="en-IN" dirty="0"/>
              <a:t>URL stands for Uniform Resource Locator and URN stands for Uniform Resource Name.</a:t>
            </a:r>
          </a:p>
          <a:p>
            <a:r>
              <a:rPr lang="en-IN" dirty="0"/>
              <a:t>The web address denote the URL and specific name of the place and person or item denotes the URN. For ex. ISBN 978-81-8431-123-2 specifies the address of some book.</a:t>
            </a:r>
          </a:p>
          <a:p>
            <a:r>
              <a:rPr lang="en-IN" dirty="0"/>
              <a:t>If URI is written in the form of http: then it is both URI and URL, but there are some URI which can be also used as URL.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Version</a:t>
            </a:r>
            <a:endParaRPr lang="en-US" dirty="0"/>
          </a:p>
        </p:txBody>
      </p:sp>
      <p:sp>
        <p:nvSpPr>
          <p:cNvPr id="3" name="Content Placeholder 2"/>
          <p:cNvSpPr>
            <a:spLocks noGrp="1"/>
          </p:cNvSpPr>
          <p:nvPr>
            <p:ph idx="1"/>
          </p:nvPr>
        </p:nvSpPr>
        <p:spPr/>
        <p:txBody>
          <a:bodyPr>
            <a:normAutofit/>
          </a:bodyPr>
          <a:lstStyle/>
          <a:p>
            <a:r>
              <a:rPr lang="en-IN" dirty="0"/>
              <a:t>First HTTP Version was HTTP/0.9 but the official version of HTTP/1.1</a:t>
            </a:r>
          </a:p>
          <a:p>
            <a:r>
              <a:rPr lang="en-IN" dirty="0"/>
              <a:t>&lt;Header Field&gt; and &lt;Message Body&gt;</a:t>
            </a:r>
          </a:p>
          <a:p>
            <a:r>
              <a:rPr lang="en-IN" dirty="0"/>
              <a:t>The host header field is associated with the HTTP request.</a:t>
            </a:r>
          </a:p>
          <a:p>
            <a:r>
              <a:rPr lang="en-IN" dirty="0"/>
              <a:t>The header field are in the form of field name and field value.</a:t>
            </a:r>
          </a:p>
          <a:p>
            <a:r>
              <a:rPr lang="en-IN" dirty="0"/>
              <a:t>Thus typical structure of HTTP request is given be following example.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Message Structure</a:t>
            </a:r>
            <a:endParaRPr lang="en-US" dirty="0"/>
          </a:p>
        </p:txBody>
      </p:sp>
      <p:pic>
        <p:nvPicPr>
          <p:cNvPr id="4" name="Content Placeholder 3" descr="Screenshot 2024-05-30 100714.png"/>
          <p:cNvPicPr>
            <a:picLocks noGrp="1" noChangeAspect="1"/>
          </p:cNvPicPr>
          <p:nvPr>
            <p:ph idx="1"/>
          </p:nvPr>
        </p:nvPicPr>
        <p:blipFill>
          <a:blip r:embed="rId2" cstate="print"/>
          <a:stretch>
            <a:fillRect/>
          </a:stretch>
        </p:blipFill>
        <p:spPr>
          <a:xfrm>
            <a:off x="2057400" y="2209800"/>
            <a:ext cx="5367662" cy="2438400"/>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Response Message structure</a:t>
            </a:r>
            <a:endParaRPr lang="en-US" dirty="0"/>
          </a:p>
        </p:txBody>
      </p:sp>
      <p:sp>
        <p:nvSpPr>
          <p:cNvPr id="3" name="Content Placeholder 2"/>
          <p:cNvSpPr>
            <a:spLocks noGrp="1"/>
          </p:cNvSpPr>
          <p:nvPr>
            <p:ph idx="1"/>
          </p:nvPr>
        </p:nvSpPr>
        <p:spPr/>
        <p:txBody>
          <a:bodyPr>
            <a:normAutofit/>
          </a:bodyPr>
          <a:lstStyle/>
          <a:p>
            <a:pPr>
              <a:buNone/>
            </a:pPr>
            <a:r>
              <a:rPr lang="en-IN" dirty="0"/>
              <a:t>    &lt;Status line&gt;</a:t>
            </a:r>
          </a:p>
          <a:p>
            <a:pPr>
              <a:buNone/>
            </a:pPr>
            <a:r>
              <a:rPr lang="en-IN" dirty="0"/>
              <a:t>    &lt;Header Fields&gt;</a:t>
            </a:r>
          </a:p>
          <a:p>
            <a:pPr>
              <a:buNone/>
            </a:pPr>
            <a:r>
              <a:rPr lang="en-IN" dirty="0"/>
              <a:t>    &lt;Blank line&gt;</a:t>
            </a:r>
          </a:p>
          <a:p>
            <a:pPr>
              <a:buNone/>
            </a:pPr>
            <a:r>
              <a:rPr lang="en-IN" dirty="0"/>
              <a:t>    &lt;Message body&gt;</a:t>
            </a:r>
          </a:p>
          <a:p>
            <a:r>
              <a:rPr lang="en-IN" dirty="0"/>
              <a:t>Status line is similar to the start line in request message. It consist of three fields.</a:t>
            </a:r>
          </a:p>
          <a:p>
            <a:pPr fontAlgn="t">
              <a:buFont typeface="Wingdings" pitchFamily="2" charset="2"/>
              <a:buChar char="Ø"/>
            </a:pPr>
            <a:r>
              <a:rPr lang="en-IN" b="1" dirty="0"/>
              <a:t>HTTP Version</a:t>
            </a:r>
            <a:endParaRPr lang="en-US" b="1" dirty="0"/>
          </a:p>
          <a:p>
            <a:pPr fontAlgn="t">
              <a:buFont typeface="Wingdings" pitchFamily="2" charset="2"/>
              <a:buChar char="Ø"/>
            </a:pPr>
            <a:r>
              <a:rPr lang="en-IN" b="1" dirty="0"/>
              <a:t>Status Code</a:t>
            </a:r>
            <a:endParaRPr lang="en-US" b="1" dirty="0"/>
          </a:p>
          <a:p>
            <a:pPr fontAlgn="t">
              <a:buFont typeface="Wingdings" pitchFamily="2" charset="2"/>
              <a:buChar char="Ø"/>
            </a:pPr>
            <a:r>
              <a:rPr lang="en-IN" b="1" dirty="0"/>
              <a:t>Reason Phrase</a:t>
            </a:r>
            <a:endParaRPr lang="en-US" b="1"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5562600"/>
          </a:xfrm>
        </p:spPr>
        <p:txBody>
          <a:bodyPr>
            <a:normAutofit/>
          </a:bodyPr>
          <a:lstStyle/>
          <a:p>
            <a:r>
              <a:rPr lang="en-IN" dirty="0"/>
              <a:t>HTTP version denote HTTP version such as HTTP/1.1.</a:t>
            </a:r>
          </a:p>
          <a:p>
            <a:r>
              <a:rPr lang="en-IN" dirty="0"/>
              <a:t>The status code is a numeric code indication the type of response.</a:t>
            </a:r>
          </a:p>
          <a:p>
            <a:r>
              <a:rPr lang="en-IN" dirty="0"/>
              <a:t>The Reason Phrase is in the text string from and presents the information about the status code</a:t>
            </a:r>
          </a:p>
          <a:p>
            <a:r>
              <a:rPr lang="en-IN" dirty="0"/>
              <a:t>HTTP / 1.1 200 OK</a:t>
            </a:r>
          </a:p>
          <a:p>
            <a:endParaRPr lang="en-IN" dirty="0"/>
          </a:p>
          <a:p>
            <a:r>
              <a:rPr lang="en-IN" sz="2000" dirty="0"/>
              <a:t>HTTP Version        Status Code             Reason Phrase</a:t>
            </a:r>
            <a:endParaRPr lang="en-US" sz="2000" dirty="0"/>
          </a:p>
          <a:p>
            <a:endParaRPr lang="en-IN" dirty="0"/>
          </a:p>
        </p:txBody>
      </p:sp>
      <p:cxnSp>
        <p:nvCxnSpPr>
          <p:cNvPr id="5" name="Straight Arrow Connector 4"/>
          <p:cNvCxnSpPr/>
          <p:nvPr/>
        </p:nvCxnSpPr>
        <p:spPr>
          <a:xfrm flipH="1">
            <a:off x="1219200" y="5257800"/>
            <a:ext cx="152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733800" y="5105400"/>
            <a:ext cx="1676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743200" y="5181600"/>
            <a:ext cx="3048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creenshot 2024-05-30 114150.png"/>
          <p:cNvPicPr>
            <a:picLocks noGrp="1" noChangeAspect="1"/>
          </p:cNvPicPr>
          <p:nvPr>
            <p:ph idx="1"/>
          </p:nvPr>
        </p:nvPicPr>
        <p:blipFill>
          <a:blip r:embed="rId2" cstate="print"/>
          <a:stretch>
            <a:fillRect/>
          </a:stretch>
        </p:blipFill>
        <p:spPr>
          <a:xfrm>
            <a:off x="838200" y="685800"/>
            <a:ext cx="7162799" cy="5216017"/>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&lt;Header Fields&gt; - The Header field in response message is similar to that of request message.</a:t>
            </a:r>
          </a:p>
          <a:p>
            <a:r>
              <a:rPr lang="en-IN" dirty="0"/>
              <a:t>&lt;Message Body&gt; - The message body consist of response message.</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2024-05-30 114652.png"/>
          <p:cNvPicPr>
            <a:picLocks noGrp="1" noChangeAspect="1"/>
          </p:cNvPicPr>
          <p:nvPr>
            <p:ph idx="1"/>
          </p:nvPr>
        </p:nvPicPr>
        <p:blipFill>
          <a:blip r:embed="rId2" cstate="print"/>
          <a:stretch>
            <a:fillRect/>
          </a:stretch>
        </p:blipFill>
        <p:spPr>
          <a:xfrm>
            <a:off x="762000" y="1600200"/>
            <a:ext cx="7467599" cy="3306114"/>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IN" dirty="0"/>
              <a:t>Features of HTTP Protocol</a:t>
            </a:r>
            <a:endParaRPr lang="en-US" dirty="0"/>
          </a:p>
        </p:txBody>
      </p:sp>
      <p:sp>
        <p:nvSpPr>
          <p:cNvPr id="3" name="Content Placeholder 2"/>
          <p:cNvSpPr>
            <a:spLocks noGrp="1"/>
          </p:cNvSpPr>
          <p:nvPr>
            <p:ph idx="1"/>
          </p:nvPr>
        </p:nvSpPr>
        <p:spPr>
          <a:xfrm>
            <a:off x="457200" y="1066800"/>
            <a:ext cx="8229600" cy="4953000"/>
          </a:xfrm>
        </p:spPr>
        <p:txBody>
          <a:bodyPr>
            <a:noAutofit/>
          </a:bodyPr>
          <a:lstStyle/>
          <a:p>
            <a:r>
              <a:rPr lang="en-IN" sz="1800" dirty="0"/>
              <a:t>It is commutation protocol used between web browser and web server.</a:t>
            </a:r>
          </a:p>
          <a:p>
            <a:r>
              <a:rPr lang="en-IN" sz="1800" dirty="0"/>
              <a:t>This protocol based on request – response messaging. This means client makes a request of desired web page and then the server responds it by sending  the requested resource.</a:t>
            </a:r>
          </a:p>
          <a:p>
            <a:r>
              <a:rPr lang="en-IN" sz="1800" dirty="0"/>
              <a:t>It is a stateless protocol. That means HTTP protocol can not remember the previous user’s information nor it remembers the number of times user has visited particular website  </a:t>
            </a:r>
          </a:p>
          <a:p>
            <a:r>
              <a:rPr lang="en-IN" sz="1800" dirty="0"/>
              <a:t>The request-response message consists of plain text in fairly readable form.</a:t>
            </a:r>
          </a:p>
          <a:p>
            <a:r>
              <a:rPr lang="en-IN" sz="1800" dirty="0"/>
              <a:t>The HTTP Protocol has a cache control. This is very useful feature because if the user requests the same web page that has been visited already then it can be displayed from the cache memory instead of requesting the web server and bringing it from there. </a:t>
            </a:r>
            <a:endParaRPr lang="en-US" sz="1800" dirty="0"/>
          </a:p>
          <a:p>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Web clients</a:t>
            </a:r>
            <a:endParaRPr lang="en-US" dirty="0"/>
          </a:p>
        </p:txBody>
      </p:sp>
      <p:sp>
        <p:nvSpPr>
          <p:cNvPr id="3" name="Content Placeholder 2"/>
          <p:cNvSpPr>
            <a:spLocks noGrp="1"/>
          </p:cNvSpPr>
          <p:nvPr>
            <p:ph idx="1"/>
          </p:nvPr>
        </p:nvSpPr>
        <p:spPr/>
        <p:txBody>
          <a:bodyPr>
            <a:normAutofit/>
          </a:bodyPr>
          <a:lstStyle/>
          <a:p>
            <a:r>
              <a:rPr lang="en-US" dirty="0"/>
              <a:t>A web client is a client-side application used for connecting to a web server over </a:t>
            </a:r>
            <a:r>
              <a:rPr lang="en-US" dirty="0">
                <a:hlinkClick r:id="rId2"/>
              </a:rPr>
              <a:t>HTTP</a:t>
            </a:r>
            <a:r>
              <a:rPr lang="en-US" dirty="0"/>
              <a:t>. </a:t>
            </a:r>
          </a:p>
          <a:p>
            <a:r>
              <a:rPr lang="en-US" dirty="0"/>
              <a:t>It is typically a </a:t>
            </a:r>
            <a:r>
              <a:rPr lang="en-US" dirty="0">
                <a:hlinkClick r:id="rId3"/>
              </a:rPr>
              <a:t>web browser</a:t>
            </a:r>
            <a:r>
              <a:rPr lang="en-US" dirty="0"/>
              <a:t> or web app which displays web pages received from the server and allows users to interact with the web server.</a:t>
            </a:r>
          </a:p>
          <a:p>
            <a:r>
              <a:rPr lang="en-US" dirty="0"/>
              <a:t>Without these clients, an ordinary user can’t use the internet. When you search for a particular webpage through your browser, it retrieves the page from the appropriate server and displays the result. The client and server communicate via </a:t>
            </a:r>
            <a:r>
              <a:rPr lang="en-US" dirty="0">
                <a:hlinkClick r:id="rId4"/>
              </a:rPr>
              <a:t>HTTP</a:t>
            </a:r>
            <a:r>
              <a:rPr lang="en-US" dirty="0"/>
              <a:t>(Hypertext Transfer Protocol).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Web Browser</a:t>
            </a:r>
            <a:br>
              <a:rPr lang="en-US" b="1" dirty="0"/>
            </a:br>
            <a:endParaRPr lang="en-US" dirty="0"/>
          </a:p>
        </p:txBody>
      </p:sp>
      <p:sp>
        <p:nvSpPr>
          <p:cNvPr id="3" name="Content Placeholder 2"/>
          <p:cNvSpPr>
            <a:spLocks noGrp="1"/>
          </p:cNvSpPr>
          <p:nvPr>
            <p:ph idx="1"/>
          </p:nvPr>
        </p:nvSpPr>
        <p:spPr/>
        <p:txBody>
          <a:bodyPr>
            <a:normAutofit/>
          </a:bodyPr>
          <a:lstStyle/>
          <a:p>
            <a:r>
              <a:rPr lang="en-US" dirty="0"/>
              <a:t>When we need any kind of information most of the time we get help from the Internet, and we get information. </a:t>
            </a:r>
          </a:p>
          <a:p>
            <a:r>
              <a:rPr lang="en-US" dirty="0"/>
              <a:t>The Internet provides us with useful information easily.</a:t>
            </a:r>
          </a:p>
          <a:p>
            <a:r>
              <a:rPr lang="en-US" dirty="0"/>
              <a:t>We use mobile phones, computers, and tablets. We search for a lot of things in our daily lives, so we get information about all over the world, but we can not get information by just only getting connected to the Internet.</a:t>
            </a:r>
          </a:p>
          <a:p>
            <a:r>
              <a:rPr lang="en-US" dirty="0"/>
              <a:t> We need a platform where we can search for our questions. The platform that provides such kinds of services is called a web browser, without a web browser internet will not be able to provide information.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a Web Browser Work?</a:t>
            </a:r>
            <a:br>
              <a:rPr lang="en-US" b="1" dirty="0"/>
            </a:br>
            <a:endParaRPr lang="en-US" dirty="0"/>
          </a:p>
        </p:txBody>
      </p:sp>
      <p:pic>
        <p:nvPicPr>
          <p:cNvPr id="4" name="Content Placeholder 3" descr="clientsideserver1-282x300.png"/>
          <p:cNvPicPr>
            <a:picLocks noGrp="1" noChangeAspect="1"/>
          </p:cNvPicPr>
          <p:nvPr>
            <p:ph idx="1"/>
          </p:nvPr>
        </p:nvPicPr>
        <p:blipFill>
          <a:blip r:embed="rId2" cstate="print"/>
          <a:stretch>
            <a:fillRect/>
          </a:stretch>
        </p:blipFill>
        <p:spPr>
          <a:xfrm>
            <a:off x="3225006" y="2332831"/>
            <a:ext cx="2686050" cy="28575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 web browser helps us find information anywhere on the internet. It is installed on the client computer and requests information from the web server such a type of working model is called a client-server model.</a:t>
            </a:r>
          </a:p>
          <a:p>
            <a:r>
              <a:rPr lang="en-US" dirty="0"/>
              <a:t>The browser receives information through HTTP protocol. In which transmission of data is defined. When the browser received data from the server, it is rendered in HTML to user-readable form and, information is displayed on the device screen.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2800" dirty="0">
                <a:latin typeface="Times New Roman" pitchFamily="18" charset="0"/>
                <a:cs typeface="Times New Roman" pitchFamily="18" charset="0"/>
              </a:rPr>
              <a:t>Some Popular Web Browsers</a:t>
            </a:r>
          </a:p>
          <a:p>
            <a:r>
              <a:rPr lang="en-US" sz="2800" dirty="0">
                <a:latin typeface="Times New Roman" pitchFamily="18" charset="0"/>
                <a:cs typeface="Times New Roman" pitchFamily="18" charset="0"/>
              </a:rPr>
              <a:t>1. </a:t>
            </a:r>
            <a:r>
              <a:rPr lang="en-US" sz="2800" dirty="0">
                <a:latin typeface="Times New Roman" pitchFamily="18" charset="0"/>
                <a:cs typeface="Times New Roman" pitchFamily="18" charset="0"/>
                <a:hlinkClick r:id="rId2"/>
              </a:rPr>
              <a:t>Google Chrome:</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2. </a:t>
            </a:r>
            <a:r>
              <a:rPr lang="en-US" sz="2800" dirty="0">
                <a:latin typeface="Times New Roman" pitchFamily="18" charset="0"/>
                <a:cs typeface="Times New Roman" pitchFamily="18" charset="0"/>
                <a:hlinkClick r:id="rId3"/>
              </a:rPr>
              <a:t>Mozilla Firefox:</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3. </a:t>
            </a:r>
            <a:r>
              <a:rPr lang="en-US" sz="2800" dirty="0">
                <a:latin typeface="Times New Roman" pitchFamily="18" charset="0"/>
                <a:cs typeface="Times New Roman" pitchFamily="18" charset="0"/>
                <a:hlinkClick r:id="rId4"/>
              </a:rPr>
              <a:t>Apple Safari:</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4. </a:t>
            </a:r>
            <a:r>
              <a:rPr lang="en-US" sz="2000" dirty="0">
                <a:hlinkClick r:id="rId5"/>
              </a:rPr>
              <a:t>Microsoft </a:t>
            </a:r>
            <a:r>
              <a:rPr lang="en-US" sz="2800" dirty="0">
                <a:latin typeface="Times New Roman" pitchFamily="18" charset="0"/>
                <a:cs typeface="Times New Roman" pitchFamily="18" charset="0"/>
                <a:hlinkClick r:id="rId5"/>
              </a:rPr>
              <a:t>Edge:</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5. </a:t>
            </a:r>
            <a:r>
              <a:rPr lang="en-US" sz="2800" dirty="0">
                <a:latin typeface="Times New Roman" pitchFamily="18" charset="0"/>
                <a:cs typeface="Times New Roman" pitchFamily="18" charset="0"/>
                <a:hlinkClick r:id="rId6"/>
              </a:rPr>
              <a:t>Tor Browser:</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6. Opera:</a:t>
            </a:r>
          </a:p>
          <a:p>
            <a:r>
              <a:rPr lang="en-US" sz="2800" dirty="0">
                <a:latin typeface="Times New Roman" pitchFamily="18" charset="0"/>
                <a:cs typeface="Times New Roman" pitchFamily="18" charset="0"/>
              </a:rPr>
              <a:t>7. Brave:</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URL</a:t>
            </a:r>
            <a:endParaRPr lang="en-US" dirty="0"/>
          </a:p>
        </p:txBody>
      </p:sp>
      <p:sp>
        <p:nvSpPr>
          <p:cNvPr id="3" name="Content Placeholder 2"/>
          <p:cNvSpPr>
            <a:spLocks noGrp="1"/>
          </p:cNvSpPr>
          <p:nvPr>
            <p:ph idx="1"/>
          </p:nvPr>
        </p:nvSpPr>
        <p:spPr/>
        <p:txBody>
          <a:bodyPr>
            <a:normAutofit/>
          </a:bodyPr>
          <a:lstStyle/>
          <a:p>
            <a:r>
              <a:rPr lang="en-US" dirty="0"/>
              <a:t>A URL (Uniform Resource Locator) is a unique identifier used to locate a resource on the Internet. It is also referred to as a web address. URLs consist of multiple parts -- including a protocol and domain name -- that tell a web browser how and where to retrieve a resource.</a:t>
            </a:r>
          </a:p>
          <a:p>
            <a:r>
              <a:rPr lang="en-US" dirty="0"/>
              <a:t>The URL contains the name of the </a:t>
            </a:r>
            <a:r>
              <a:rPr lang="en-US" u="sng" dirty="0">
                <a:hlinkClick r:id="rId2"/>
              </a:rPr>
              <a:t>protocol</a:t>
            </a:r>
            <a:r>
              <a:rPr lang="en-US" dirty="0"/>
              <a:t> needed to access a resource, as well as a resource name. The first part of a URL identifies what protocol to use as the primary access medium. The second part identifies the </a:t>
            </a:r>
            <a:r>
              <a:rPr lang="en-US" u="sng" dirty="0">
                <a:hlinkClick r:id="rId3"/>
              </a:rPr>
              <a:t>IP address</a:t>
            </a:r>
            <a:r>
              <a:rPr lang="en-US" dirty="0"/>
              <a:t> or domain name -- and possibly </a:t>
            </a:r>
            <a:r>
              <a:rPr lang="en-US" dirty="0" err="1"/>
              <a:t>subdomain</a:t>
            </a:r>
            <a:r>
              <a:rPr lang="en-US" dirty="0"/>
              <a:t> -- where the resource is located.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URL protocols include </a:t>
            </a:r>
            <a:r>
              <a:rPr lang="en-US" u="sng" dirty="0">
                <a:hlinkClick r:id="rId2"/>
              </a:rPr>
              <a:t>HTTP</a:t>
            </a:r>
            <a:r>
              <a:rPr lang="en-US" dirty="0"/>
              <a:t> (Hypertext Transfer Protocol) and </a:t>
            </a:r>
            <a:r>
              <a:rPr lang="en-US" u="sng" dirty="0">
                <a:hlinkClick r:id="rId3"/>
              </a:rPr>
              <a:t>HTTPS</a:t>
            </a:r>
            <a:r>
              <a:rPr lang="en-US" dirty="0"/>
              <a:t> (HTTP Secure) for web resources, mail to for email addresses, FTP for files on a File Transfer Protocol (FTP) server, and telnet for a session to access remote computers. Most URL protocols are followed by a colon and two forward slashes; "mail to" is followed only by a colon.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networking-basic_url_structure.png"/>
          <p:cNvPicPr>
            <a:picLocks noGrp="1" noChangeAspect="1"/>
          </p:cNvPicPr>
          <p:nvPr>
            <p:ph idx="1"/>
          </p:nvPr>
        </p:nvPicPr>
        <p:blipFill>
          <a:blip r:embed="rId2" cstate="print"/>
          <a:stretch>
            <a:fillRect/>
          </a:stretch>
        </p:blipFill>
        <p:spPr>
          <a:xfrm>
            <a:off x="1789387" y="1731963"/>
            <a:ext cx="5557288" cy="4059237"/>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Parts of a URL</a:t>
            </a:r>
            <a:br>
              <a:rPr lang="en-US" b="1" dirty="0"/>
            </a:br>
            <a:endParaRPr lang="en-US" dirty="0"/>
          </a:p>
        </p:txBody>
      </p:sp>
      <p:sp>
        <p:nvSpPr>
          <p:cNvPr id="3" name="Content Placeholder 2"/>
          <p:cNvSpPr>
            <a:spLocks noGrp="1"/>
          </p:cNvSpPr>
          <p:nvPr>
            <p:ph idx="1"/>
          </p:nvPr>
        </p:nvSpPr>
        <p:spPr>
          <a:xfrm>
            <a:off x="457200" y="1143000"/>
            <a:ext cx="8229600" cy="4953000"/>
          </a:xfrm>
        </p:spPr>
        <p:txBody>
          <a:bodyPr>
            <a:normAutofit/>
          </a:bodyPr>
          <a:lstStyle/>
          <a:p>
            <a:r>
              <a:rPr lang="en-US" b="1" dirty="0"/>
              <a:t>The protocol or scheme.</a:t>
            </a:r>
            <a:r>
              <a:rPr lang="en-US" dirty="0"/>
              <a:t> Used to access a resource on the internet. Protocols include http, https, </a:t>
            </a:r>
            <a:r>
              <a:rPr lang="en-US" dirty="0" err="1"/>
              <a:t>ftps</a:t>
            </a:r>
            <a:r>
              <a:rPr lang="en-US" dirty="0"/>
              <a:t>, mailto and file. The resource is reached through the domain name system (</a:t>
            </a:r>
            <a:r>
              <a:rPr lang="en-US" u="sng" dirty="0">
                <a:hlinkClick r:id="rId2"/>
              </a:rPr>
              <a:t>DNS</a:t>
            </a:r>
            <a:r>
              <a:rPr lang="en-US" dirty="0"/>
              <a:t>) name. In this example, the protocol is https.</a:t>
            </a:r>
          </a:p>
          <a:p>
            <a:r>
              <a:rPr lang="en-US" b="1" dirty="0"/>
              <a:t>Host name or domain name.</a:t>
            </a:r>
            <a:r>
              <a:rPr lang="en-US" dirty="0"/>
              <a:t> The unique reference the represents a webpage. For this example, whatis.techtarget.com.</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Absolute and relative URL</a:t>
            </a:r>
            <a:endParaRPr lang="en-US" dirty="0"/>
          </a:p>
        </p:txBody>
      </p:sp>
      <p:sp>
        <p:nvSpPr>
          <p:cNvPr id="3" name="Content Placeholder 2"/>
          <p:cNvSpPr>
            <a:spLocks noGrp="1"/>
          </p:cNvSpPr>
          <p:nvPr>
            <p:ph idx="1"/>
          </p:nvPr>
        </p:nvSpPr>
        <p:spPr/>
        <p:txBody>
          <a:bodyPr>
            <a:normAutofit/>
          </a:bodyPr>
          <a:lstStyle/>
          <a:p>
            <a:r>
              <a:rPr lang="en-IN" dirty="0"/>
              <a:t>The absolute URL is a URL which directly point to a file</a:t>
            </a:r>
          </a:p>
          <a:p>
            <a:r>
              <a:rPr lang="en-IN" dirty="0"/>
              <a:t>It exactly specifies exact location of a file or directory on the internet. Each absolute URL is unique</a:t>
            </a:r>
          </a:p>
          <a:p>
            <a:r>
              <a:rPr lang="en-IN" dirty="0"/>
              <a:t>Ex -</a:t>
            </a:r>
            <a:r>
              <a:rPr lang="en-US" b="1" dirty="0"/>
              <a:t>http://www.example.com/xyz.html</a:t>
            </a:r>
            <a:r>
              <a:rPr lang="en-US" dirty="0"/>
              <a:t>&gt;</a:t>
            </a:r>
          </a:p>
          <a:p>
            <a:r>
              <a:rPr lang="en-US" dirty="0"/>
              <a:t>The relative URL points the file or directory in a relation to the present directory.</a:t>
            </a:r>
            <a:br>
              <a:rPr lang="en-US" dirty="0"/>
            </a:br>
            <a:br>
              <a:rPr lang="en-US" dirty="0"/>
            </a:br>
            <a:r>
              <a:rPr lang="en-US" b="1" dirty="0"/>
              <a:t>An example of a relative URL is:</a:t>
            </a:r>
            <a:endParaRPr lang="en-US" dirty="0"/>
          </a:p>
          <a:p>
            <a:r>
              <a:rPr lang="en-US" dirty="0"/>
              <a:t>&lt;a </a:t>
            </a:r>
            <a:r>
              <a:rPr lang="en-US" dirty="0" err="1"/>
              <a:t>href</a:t>
            </a:r>
            <a:r>
              <a:rPr lang="en-US" dirty="0"/>
              <a:t> = "</a:t>
            </a:r>
            <a:r>
              <a:rPr lang="en-US" b="1" dirty="0"/>
              <a:t>/xyz.html</a:t>
            </a:r>
            <a:r>
              <a:rPr lang="en-US" dirty="0"/>
              <a:t>"&gt;</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Web Servers</a:t>
            </a:r>
            <a:endParaRPr lang="en-US" dirty="0"/>
          </a:p>
        </p:txBody>
      </p:sp>
      <p:sp>
        <p:nvSpPr>
          <p:cNvPr id="3" name="Content Placeholder 2"/>
          <p:cNvSpPr>
            <a:spLocks noGrp="1"/>
          </p:cNvSpPr>
          <p:nvPr>
            <p:ph idx="1"/>
          </p:nvPr>
        </p:nvSpPr>
        <p:spPr/>
        <p:txBody>
          <a:bodyPr>
            <a:normAutofit/>
          </a:bodyPr>
          <a:lstStyle/>
          <a:p>
            <a:r>
              <a:rPr lang="en-IN" dirty="0"/>
              <a:t>Web server is a special type of server to which the web browser submits the request of web page which is desired by the client.</a:t>
            </a:r>
          </a:p>
          <a:p>
            <a:r>
              <a:rPr lang="en-US" dirty="0"/>
              <a:t>The main job of a web server is to display website content through storing, processing and delivering </a:t>
            </a:r>
            <a:r>
              <a:rPr lang="en-US" dirty="0" err="1"/>
              <a:t>webpages</a:t>
            </a:r>
            <a:r>
              <a:rPr lang="en-US" dirty="0"/>
              <a:t> to users. Besides HTTP, web servers also support SMTP (Simple Mail Transfer Protocol) and FTP (File Transfer Protocol), used for email, file transfer and storage.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Functions of a Web Server</a:t>
            </a:r>
            <a:br>
              <a:rPr lang="en-US" b="1" dirty="0"/>
            </a:br>
            <a:endParaRPr lang="en-US" dirty="0"/>
          </a:p>
        </p:txBody>
      </p:sp>
      <p:sp>
        <p:nvSpPr>
          <p:cNvPr id="3" name="Content Placeholder 2"/>
          <p:cNvSpPr>
            <a:spLocks noGrp="1"/>
          </p:cNvSpPr>
          <p:nvPr>
            <p:ph idx="1"/>
          </p:nvPr>
        </p:nvSpPr>
        <p:spPr/>
        <p:txBody>
          <a:bodyPr>
            <a:normAutofit/>
          </a:bodyPr>
          <a:lstStyle/>
          <a:p>
            <a:r>
              <a:rPr lang="en-US" b="1" dirty="0"/>
              <a:t>Storing and delivering web </a:t>
            </a:r>
            <a:r>
              <a:rPr lang="en-US" b="1" dirty="0" err="1"/>
              <a:t>content:</a:t>
            </a:r>
            <a:r>
              <a:rPr lang="en-US" dirty="0" err="1"/>
              <a:t>The</a:t>
            </a:r>
            <a:r>
              <a:rPr lang="en-US" dirty="0"/>
              <a:t> primary function of a web server is to store and deliver web content such as web pages, images, videos, and other files to clients that request them</a:t>
            </a:r>
          </a:p>
          <a:p>
            <a:r>
              <a:rPr lang="en-US" b="1" dirty="0"/>
              <a:t>Handling HTTP </a:t>
            </a:r>
            <a:r>
              <a:rPr lang="en-US" b="1" dirty="0" err="1"/>
              <a:t>requests:</a:t>
            </a:r>
            <a:r>
              <a:rPr lang="en-US" dirty="0" err="1"/>
              <a:t>A</a:t>
            </a:r>
            <a:r>
              <a:rPr lang="en-US" dirty="0"/>
              <a:t> web server handles HTTP (Hypertext Transfer Protocol) requests from clients or users. The HTTP protocol is the standard protocol used for communication between web servers and clients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5800"/>
            <a:ext cx="7688668" cy="4058751"/>
          </a:xfrm>
        </p:spPr>
        <p:txBody>
          <a:bodyPr lIns="720000">
            <a:normAutofit fontScale="92500" lnSpcReduction="10000"/>
          </a:bodyPr>
          <a:lstStyle/>
          <a:p>
            <a:r>
              <a:rPr lang="en-US" b="1" dirty="0"/>
              <a:t>Generating responses to HTTP requests: </a:t>
            </a:r>
            <a:r>
              <a:rPr lang="en-US" dirty="0"/>
              <a:t>A web server generates responses to HTTP requests by running web applications that generate dynamic content based on user input and other factors. For example, an e-commerce website may use a web application to generate web pages dynamically that display product information, pricing, and availability based on user searches or selections.</a:t>
            </a:r>
          </a:p>
          <a:p>
            <a:r>
              <a:rPr lang="en-US" b="1" dirty="0"/>
              <a:t>Managing and maintaining web applications:</a:t>
            </a:r>
            <a:r>
              <a:rPr lang="en-US" dirty="0"/>
              <a:t> web server manages and maintains web applications that provide various services such as e-commerce, social networking, and content management.</a:t>
            </a:r>
            <a:endParaRPr lang="en-US" b="1" dirty="0"/>
          </a:p>
          <a:p>
            <a:r>
              <a:rPr lang="en-US" b="1" dirty="0"/>
              <a:t>Supporting multiple clients simultaneously:</a:t>
            </a:r>
            <a:br>
              <a:rPr lang="en-US" dirty="0"/>
            </a:br>
            <a:r>
              <a:rPr lang="en-US" dirty="0"/>
              <a:t>A web server supports multiple clients or users simultaneously by handling multiple HTTP requests at the same time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a Web Server Work?</a:t>
            </a:r>
            <a:br>
              <a:rPr lang="en-US" b="1" dirty="0"/>
            </a:br>
            <a:endParaRPr lang="en-US" dirty="0"/>
          </a:p>
        </p:txBody>
      </p:sp>
      <p:sp>
        <p:nvSpPr>
          <p:cNvPr id="5" name="Content Placeholder 4"/>
          <p:cNvSpPr>
            <a:spLocks noGrp="1"/>
          </p:cNvSpPr>
          <p:nvPr>
            <p:ph idx="1"/>
          </p:nvPr>
        </p:nvSpPr>
        <p:spPr/>
        <p:txBody>
          <a:bodyPr>
            <a:normAutofit/>
          </a:bodyPr>
          <a:lstStyle/>
          <a:p>
            <a:r>
              <a:rPr lang="en-US" dirty="0"/>
              <a:t>Here’s a basic overview of how a web server works:</a:t>
            </a:r>
          </a:p>
          <a:p>
            <a:r>
              <a:rPr lang="en-US" dirty="0"/>
              <a:t>The client device (e.g., a web browser) sends a request to the web server for a particular resource, such as a web page.</a:t>
            </a:r>
          </a:p>
          <a:p>
            <a:r>
              <a:rPr lang="en-US" dirty="0"/>
              <a:t>The web server receives the request and processes it, checking if the requested resource exists and is accessible.</a:t>
            </a:r>
          </a:p>
          <a:p>
            <a:r>
              <a:rPr lang="en-US" dirty="0"/>
              <a:t>If the resource is available, the web server retrieves it and sends it back to the client’s device as a response.</a:t>
            </a:r>
          </a:p>
          <a:p>
            <a:r>
              <a:rPr lang="en-US" dirty="0"/>
              <a:t>The client device receives the response and displays the resource (e.g., web page) to the user.</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Does a Web Server Work?</a:t>
            </a:r>
            <a:br>
              <a:rPr lang="en-US" b="1" dirty="0"/>
            </a:br>
            <a:endParaRPr lang="en-US" dirty="0"/>
          </a:p>
        </p:txBody>
      </p:sp>
      <p:pic>
        <p:nvPicPr>
          <p:cNvPr id="4" name="Content Placeholder 3" descr="1681192963435-1 (4).png"/>
          <p:cNvPicPr>
            <a:picLocks noGrp="1" noChangeAspect="1"/>
          </p:cNvPicPr>
          <p:nvPr>
            <p:ph idx="1"/>
          </p:nvPr>
        </p:nvPicPr>
        <p:blipFill>
          <a:blip r:embed="rId2" cstate="print"/>
          <a:stretch>
            <a:fillRect/>
          </a:stretch>
        </p:blipFill>
        <p:spPr>
          <a:xfrm>
            <a:off x="1761682" y="2828248"/>
            <a:ext cx="5612698" cy="1866667"/>
          </a:xfr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Web Servers</a:t>
            </a:r>
            <a:br>
              <a:rPr lang="en-US" b="1" dirty="0"/>
            </a:br>
            <a:endParaRPr lang="en-US" dirty="0"/>
          </a:p>
        </p:txBody>
      </p:sp>
      <p:sp>
        <p:nvSpPr>
          <p:cNvPr id="3" name="Content Placeholder 2"/>
          <p:cNvSpPr>
            <a:spLocks noGrp="1"/>
          </p:cNvSpPr>
          <p:nvPr>
            <p:ph idx="1"/>
          </p:nvPr>
        </p:nvSpPr>
        <p:spPr>
          <a:xfrm>
            <a:off x="609600" y="1219200"/>
            <a:ext cx="8229600" cy="4525963"/>
          </a:xfrm>
        </p:spPr>
        <p:txBody>
          <a:bodyPr>
            <a:normAutofit/>
          </a:bodyPr>
          <a:lstStyle/>
          <a:p>
            <a:r>
              <a:rPr lang="en-US" b="1" dirty="0"/>
              <a:t>Apache HTTP Server:</a:t>
            </a:r>
            <a:br>
              <a:rPr lang="en-US" dirty="0"/>
            </a:br>
            <a:r>
              <a:rPr lang="en-US" dirty="0"/>
              <a:t>Apache HTTP Server is an open-source web server software that is widely used around the world. It is known for its high performance, stability, and flexibility, and supports a wide range of operating systems, including Linux, Windows, and </a:t>
            </a:r>
            <a:r>
              <a:rPr lang="en-US" dirty="0" err="1"/>
              <a:t>macOS</a:t>
            </a:r>
            <a:r>
              <a:rPr lang="en-US" dirty="0"/>
              <a:t>.</a:t>
            </a:r>
          </a:p>
          <a:p>
            <a:r>
              <a:rPr lang="en-US" b="1" dirty="0"/>
              <a:t>Microsoft Internet Information Services (IIS):</a:t>
            </a:r>
            <a:br>
              <a:rPr lang="en-US" dirty="0"/>
            </a:br>
            <a:r>
              <a:rPr lang="en-US" dirty="0"/>
              <a:t>IIS is a web server software developed by Microsoft that is designed to run on Windows operating systems. It is known for its scalability, security features, and support for Microsoft technologies such as ASP.NET and Microsoft SQL Server.</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t>Difference of </a:t>
            </a:r>
            <a:r>
              <a:rPr lang="en-US" sz="3600" b="1" dirty="0"/>
              <a:t>Apache HTTP Server and IIS  web server </a:t>
            </a:r>
          </a:p>
        </p:txBody>
      </p:sp>
      <p:pic>
        <p:nvPicPr>
          <p:cNvPr id="6" name="Content Placeholder 5" descr="Screenshot 2024-06-22 155232.png"/>
          <p:cNvPicPr>
            <a:picLocks noGrp="1" noChangeAspect="1"/>
          </p:cNvPicPr>
          <p:nvPr>
            <p:ph idx="1"/>
          </p:nvPr>
        </p:nvPicPr>
        <p:blipFill>
          <a:blip r:embed="rId2" cstate="print"/>
          <a:stretch>
            <a:fillRect/>
          </a:stretch>
        </p:blipFill>
        <p:spPr>
          <a:xfrm>
            <a:off x="653541" y="1752600"/>
            <a:ext cx="7924800" cy="5029200"/>
          </a:xfr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client side scripting and client side scripting</a:t>
            </a:r>
            <a:endParaRPr lang="en-US" dirty="0"/>
          </a:p>
        </p:txBody>
      </p:sp>
      <p:pic>
        <p:nvPicPr>
          <p:cNvPr id="4" name="Content Placeholder 3" descr="Screenshot 2024-07-02 122102.png"/>
          <p:cNvPicPr>
            <a:picLocks noGrp="1" noChangeAspect="1"/>
          </p:cNvPicPr>
          <p:nvPr>
            <p:ph idx="1"/>
          </p:nvPr>
        </p:nvPicPr>
        <p:blipFill>
          <a:blip r:embed="rId2" cstate="print"/>
          <a:stretch>
            <a:fillRect/>
          </a:stretch>
        </p:blipFill>
        <p:spPr>
          <a:xfrm>
            <a:off x="1871057" y="1731963"/>
            <a:ext cx="5393948" cy="4059237"/>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a:t>
            </a:r>
            <a:endParaRPr lang="en-US" dirty="0"/>
          </a:p>
        </p:txBody>
      </p:sp>
      <p:pic>
        <p:nvPicPr>
          <p:cNvPr id="4" name="Content Placeholder 3" descr="Screenshot 2024-06-22 155947.png"/>
          <p:cNvPicPr>
            <a:picLocks noGrp="1" noChangeAspect="1"/>
          </p:cNvPicPr>
          <p:nvPr>
            <p:ph idx="1"/>
          </p:nvPr>
        </p:nvPicPr>
        <p:blipFill>
          <a:blip r:embed="rId2" cstate="print"/>
          <a:stretch>
            <a:fillRect/>
          </a:stretch>
        </p:blipFill>
        <p:spPr>
          <a:xfrm>
            <a:off x="1310515" y="1731963"/>
            <a:ext cx="6515033" cy="4059237"/>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057.png"/>
          <p:cNvPicPr>
            <a:picLocks noGrp="1" noChangeAspect="1"/>
          </p:cNvPicPr>
          <p:nvPr>
            <p:ph idx="1"/>
          </p:nvPr>
        </p:nvPicPr>
        <p:blipFill>
          <a:blip r:embed="rId2" cstate="print"/>
          <a:stretch>
            <a:fillRect/>
          </a:stretch>
        </p:blipFill>
        <p:spPr>
          <a:xfrm>
            <a:off x="1104261" y="1731963"/>
            <a:ext cx="6927541" cy="4059237"/>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217.png"/>
          <p:cNvPicPr>
            <a:picLocks noGrp="1" noChangeAspect="1"/>
          </p:cNvPicPr>
          <p:nvPr>
            <p:ph idx="1"/>
          </p:nvPr>
        </p:nvPicPr>
        <p:blipFill>
          <a:blip r:embed="rId2" cstate="print"/>
          <a:stretch>
            <a:fillRect/>
          </a:stretch>
        </p:blipFill>
        <p:spPr>
          <a:xfrm>
            <a:off x="2114946" y="1731963"/>
            <a:ext cx="4906171" cy="4059237"/>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307.png"/>
          <p:cNvPicPr>
            <a:picLocks noGrp="1" noChangeAspect="1"/>
          </p:cNvPicPr>
          <p:nvPr>
            <p:ph idx="1"/>
          </p:nvPr>
        </p:nvPicPr>
        <p:blipFill>
          <a:blip r:embed="rId2" cstate="print"/>
          <a:stretch>
            <a:fillRect/>
          </a:stretch>
        </p:blipFill>
        <p:spPr>
          <a:xfrm>
            <a:off x="1830768" y="1731963"/>
            <a:ext cx="5474526" cy="4059237"/>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415.png"/>
          <p:cNvPicPr>
            <a:picLocks noGrp="1" noChangeAspect="1"/>
          </p:cNvPicPr>
          <p:nvPr>
            <p:ph idx="1"/>
          </p:nvPr>
        </p:nvPicPr>
        <p:blipFill>
          <a:blip r:embed="rId2" cstate="print"/>
          <a:stretch>
            <a:fillRect/>
          </a:stretch>
        </p:blipFill>
        <p:spPr>
          <a:xfrm>
            <a:off x="1493600" y="1731963"/>
            <a:ext cx="6148862" cy="4059237"/>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507.png"/>
          <p:cNvPicPr>
            <a:picLocks noGrp="1" noChangeAspect="1"/>
          </p:cNvPicPr>
          <p:nvPr>
            <p:ph idx="1"/>
          </p:nvPr>
        </p:nvPicPr>
        <p:blipFill>
          <a:blip r:embed="rId2" cstate="print"/>
          <a:stretch>
            <a:fillRect/>
          </a:stretch>
        </p:blipFill>
        <p:spPr>
          <a:xfrm>
            <a:off x="609600" y="1600200"/>
            <a:ext cx="7467599" cy="4525963"/>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630.png"/>
          <p:cNvPicPr>
            <a:picLocks noGrp="1" noChangeAspect="1"/>
          </p:cNvPicPr>
          <p:nvPr>
            <p:ph idx="1"/>
          </p:nvPr>
        </p:nvPicPr>
        <p:blipFill>
          <a:blip r:embed="rId2" cstate="print"/>
          <a:stretch>
            <a:fillRect/>
          </a:stretch>
        </p:blipFill>
        <p:spPr>
          <a:xfrm>
            <a:off x="1938541" y="1731963"/>
            <a:ext cx="5258981" cy="4059237"/>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709.png"/>
          <p:cNvPicPr>
            <a:picLocks noGrp="1" noChangeAspect="1"/>
          </p:cNvPicPr>
          <p:nvPr>
            <p:ph idx="1"/>
          </p:nvPr>
        </p:nvPicPr>
        <p:blipFill>
          <a:blip r:embed="rId2" cstate="print"/>
          <a:stretch>
            <a:fillRect/>
          </a:stretch>
        </p:blipFill>
        <p:spPr>
          <a:xfrm>
            <a:off x="1441322" y="1731963"/>
            <a:ext cx="6253419" cy="4059237"/>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746.png"/>
          <p:cNvPicPr>
            <a:picLocks noGrp="1" noChangeAspect="1"/>
          </p:cNvPicPr>
          <p:nvPr>
            <p:ph idx="1"/>
          </p:nvPr>
        </p:nvPicPr>
        <p:blipFill>
          <a:blip r:embed="rId2" cstate="print"/>
          <a:stretch>
            <a:fillRect/>
          </a:stretch>
        </p:blipFill>
        <p:spPr>
          <a:xfrm>
            <a:off x="1663695" y="1731963"/>
            <a:ext cx="5808672" cy="4059237"/>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2 160839.png"/>
          <p:cNvPicPr>
            <a:picLocks noGrp="1" noChangeAspect="1"/>
          </p:cNvPicPr>
          <p:nvPr>
            <p:ph idx="1"/>
          </p:nvPr>
        </p:nvPicPr>
        <p:blipFill>
          <a:blip r:embed="rId2" cstate="print"/>
          <a:stretch>
            <a:fillRect/>
          </a:stretch>
        </p:blipFill>
        <p:spPr>
          <a:xfrm>
            <a:off x="2089495" y="1731963"/>
            <a:ext cx="4957073" cy="4059237"/>
          </a:xfr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Paragraphs</a:t>
            </a:r>
            <a:endParaRPr lang="en-US" dirty="0"/>
          </a:p>
        </p:txBody>
      </p:sp>
      <p:sp>
        <p:nvSpPr>
          <p:cNvPr id="3" name="Content Placeholder 2"/>
          <p:cNvSpPr>
            <a:spLocks noGrp="1"/>
          </p:cNvSpPr>
          <p:nvPr>
            <p:ph idx="1"/>
          </p:nvPr>
        </p:nvSpPr>
        <p:spPr/>
        <p:txBody>
          <a:bodyPr>
            <a:normAutofit/>
          </a:bodyPr>
          <a:lstStyle/>
          <a:p>
            <a:r>
              <a:rPr lang="en-US" dirty="0"/>
              <a:t>The &lt;p&gt; tag defines a paragraph.</a:t>
            </a:r>
          </a:p>
          <a:p>
            <a:r>
              <a:rPr lang="en-US" dirty="0"/>
              <a:t>Browsers automatically add a single blank line before and after each &lt;p&gt; element.</a:t>
            </a:r>
          </a:p>
          <a:p>
            <a:r>
              <a:rPr lang="en-US" dirty="0"/>
              <a:t>Text in a &lt;pre&gt; element is displayed in a fixed-width font, and the text preserves both spaces and line breaks. </a:t>
            </a:r>
          </a:p>
          <a:p>
            <a:r>
              <a:rPr lang="en-IN" dirty="0"/>
              <a:t>&lt;div&gt; this tag is used to make division of section in the XHTML document</a:t>
            </a:r>
          </a:p>
          <a:p>
            <a:pPr>
              <a:buNone/>
            </a:pPr>
            <a:r>
              <a:rPr lang="en-US" dirty="0"/>
              <a:t>Try - https://www.w3schools.com/html/html_paragraphs.asp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dirty="0"/>
              <a:t>Text Formatting</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a:t>Formatting elements were designed to display special types of text:</a:t>
            </a:r>
          </a:p>
          <a:p>
            <a:r>
              <a:rPr lang="en-US" dirty="0"/>
              <a:t>&lt;b&gt; - Bold text</a:t>
            </a:r>
          </a:p>
          <a:p>
            <a:r>
              <a:rPr lang="en-US" dirty="0"/>
              <a:t>&lt;strong&gt; -  element defines text with strong importance. The content inside is typically displayed in bold.</a:t>
            </a:r>
          </a:p>
          <a:p>
            <a:r>
              <a:rPr lang="en-US" dirty="0"/>
              <a:t>&lt;</a:t>
            </a:r>
            <a:r>
              <a:rPr lang="en-US" dirty="0" err="1"/>
              <a:t>i</a:t>
            </a:r>
            <a:r>
              <a:rPr lang="en-US" dirty="0"/>
              <a:t>&gt; - Italic text</a:t>
            </a:r>
          </a:p>
          <a:p>
            <a:r>
              <a:rPr lang="en-US" dirty="0"/>
              <a:t>&lt;</a:t>
            </a:r>
            <a:r>
              <a:rPr lang="en-US" dirty="0" err="1"/>
              <a:t>em</a:t>
            </a:r>
            <a:r>
              <a:rPr lang="en-US" dirty="0"/>
              <a:t>&gt; - Emphasized text, The content inside is typically displayed in italic.</a:t>
            </a:r>
          </a:p>
          <a:p>
            <a:r>
              <a:rPr lang="en-US" dirty="0"/>
              <a:t>&lt;mark&gt; - defines text that should be marked or highlighted:</a:t>
            </a:r>
          </a:p>
          <a:p>
            <a:r>
              <a:rPr lang="en-US" dirty="0"/>
              <a:t>&lt;small&gt; - Smaller text</a:t>
            </a:r>
          </a:p>
          <a:p>
            <a:r>
              <a:rPr lang="en-US" dirty="0"/>
              <a:t>&lt;del&gt; - Deleted text</a:t>
            </a:r>
          </a:p>
          <a:p>
            <a:r>
              <a:rPr lang="en-US" dirty="0"/>
              <a:t>&lt;ins&gt; - Inserted text</a:t>
            </a:r>
          </a:p>
          <a:p>
            <a:r>
              <a:rPr lang="en-US" dirty="0"/>
              <a:t>&lt;sub&gt; - Subscript text appears half a character below the normal line, and is sometimes rendered in a smaller font. Subscript text can be used for chemical formulas, like H</a:t>
            </a:r>
            <a:r>
              <a:rPr lang="en-US" baseline="-25000" dirty="0"/>
              <a:t>2</a:t>
            </a:r>
            <a:r>
              <a:rPr lang="en-US" dirty="0"/>
              <a:t>O:</a:t>
            </a:r>
          </a:p>
          <a:p>
            <a:r>
              <a:rPr lang="en-US" dirty="0"/>
              <a:t>&lt;sup&gt; - Superscript text appears half a character above the normal line, and is sometimes rendered in a smaller font. Superscript text can be used for footnotes, like WWW</a:t>
            </a:r>
            <a:r>
              <a:rPr lang="en-US" baseline="30000" dirty="0"/>
              <a:t>[1]</a:t>
            </a:r>
          </a:p>
          <a:p>
            <a:r>
              <a:rPr lang="en-IN" sz="4500" baseline="30000" dirty="0"/>
              <a:t>Try - https://www.w3schools.com/html/html_formatting.asp</a:t>
            </a:r>
            <a:endParaRPr lang="en-US" sz="4500" dirty="0"/>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Formatting Example</a:t>
            </a:r>
          </a:p>
        </p:txBody>
      </p:sp>
      <p:pic>
        <p:nvPicPr>
          <p:cNvPr id="4" name="Content Placeholder 3" descr="Screenshot 2024-06-24 120150.png"/>
          <p:cNvPicPr>
            <a:picLocks noGrp="1" noChangeAspect="1"/>
          </p:cNvPicPr>
          <p:nvPr>
            <p:ph idx="1"/>
          </p:nvPr>
        </p:nvPicPr>
        <p:blipFill>
          <a:blip r:embed="rId2" cstate="print"/>
          <a:stretch>
            <a:fillRect/>
          </a:stretch>
        </p:blipFill>
        <p:spPr>
          <a:xfrm>
            <a:off x="838201" y="1600200"/>
            <a:ext cx="7316090" cy="4525963"/>
          </a:xfr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Setting font and colour</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HTML font color attribute</a:t>
            </a:r>
            <a:r>
              <a:rPr lang="en-US" dirty="0"/>
              <a:t> specifies the text color of content inside the </a:t>
            </a:r>
            <a:r>
              <a:rPr lang="en-US" b="1" dirty="0"/>
              <a:t>&lt;font&gt; tag</a:t>
            </a:r>
            <a:r>
              <a:rPr lang="en-US" dirty="0"/>
              <a:t>. The font color attribute accepts a </a:t>
            </a:r>
            <a:r>
              <a:rPr lang="en-US" b="1" dirty="0"/>
              <a:t>color value</a:t>
            </a:r>
            <a:r>
              <a:rPr lang="en-US" dirty="0"/>
              <a:t> that we want to apply to a text and it will be displayed on the screen having that mentioned color.</a:t>
            </a:r>
          </a:p>
          <a:p>
            <a:pPr algn="just"/>
            <a:r>
              <a:rPr lang="en-US" dirty="0"/>
              <a:t>&lt;font color="</a:t>
            </a:r>
            <a:r>
              <a:rPr lang="en-US" dirty="0" err="1"/>
              <a:t>color_name|hex_number|rgb_number</a:t>
            </a:r>
            <a:r>
              <a:rPr lang="en-US" dirty="0"/>
              <a:t>"&gt;</a:t>
            </a:r>
          </a:p>
          <a:p>
            <a:pPr fontAlgn="base"/>
            <a:r>
              <a:rPr lang="en-US" b="1" dirty="0"/>
              <a:t>Attribute Values:</a:t>
            </a:r>
            <a:endParaRPr lang="en-US" dirty="0"/>
          </a:p>
          <a:p>
            <a:pPr fontAlgn="base"/>
            <a:r>
              <a:rPr lang="en-US" b="1" dirty="0" err="1"/>
              <a:t>color_name</a:t>
            </a:r>
            <a:r>
              <a:rPr lang="en-US" b="1" dirty="0"/>
              <a:t>:</a:t>
            </a:r>
            <a:r>
              <a:rPr lang="en-US" dirty="0"/>
              <a:t> It sets the text color by using the color name. For example: </a:t>
            </a:r>
            <a:r>
              <a:rPr lang="en-US" b="1" dirty="0"/>
              <a:t>“red”</a:t>
            </a:r>
            <a:r>
              <a:rPr lang="en-US" dirty="0"/>
              <a:t>.</a:t>
            </a:r>
          </a:p>
          <a:p>
            <a:pPr fontAlgn="base"/>
            <a:r>
              <a:rPr lang="en-US" b="1" dirty="0" err="1"/>
              <a:t>hex_number</a:t>
            </a:r>
            <a:r>
              <a:rPr lang="en-US" b="1" dirty="0"/>
              <a:t>:</a:t>
            </a:r>
            <a:r>
              <a:rPr lang="en-US" dirty="0"/>
              <a:t> It sets the text color by using color hex code. For example: </a:t>
            </a:r>
            <a:r>
              <a:rPr lang="en-US" b="1" dirty="0"/>
              <a:t>“#0000ff”</a:t>
            </a:r>
            <a:r>
              <a:rPr lang="en-US" dirty="0"/>
              <a:t>.</a:t>
            </a:r>
          </a:p>
          <a:p>
            <a:pPr fontAlgn="base"/>
            <a:r>
              <a:rPr lang="en-US" b="1" dirty="0" err="1"/>
              <a:t>rgb_number</a:t>
            </a:r>
            <a:r>
              <a:rPr lang="en-US" b="1" dirty="0"/>
              <a:t>:</a:t>
            </a:r>
            <a:r>
              <a:rPr lang="en-US" dirty="0"/>
              <a:t> It sets the text color by using </a:t>
            </a:r>
            <a:r>
              <a:rPr lang="en-US" dirty="0" err="1"/>
              <a:t>rgb</a:t>
            </a:r>
            <a:r>
              <a:rPr lang="en-US" dirty="0"/>
              <a:t> code. For example: </a:t>
            </a:r>
            <a:r>
              <a:rPr lang="en-US" b="1" dirty="0"/>
              <a:t>“</a:t>
            </a:r>
            <a:r>
              <a:rPr lang="en-US" b="1" dirty="0" err="1"/>
              <a:t>rgb</a:t>
            </a:r>
            <a:r>
              <a:rPr lang="en-US" b="1" dirty="0"/>
              <a:t>(0, 153, 0)”</a:t>
            </a:r>
            <a:r>
              <a:rPr lang="en-US" dirty="0"/>
              <a:t>.</a:t>
            </a:r>
          </a:p>
          <a:p>
            <a:pPr algn="just"/>
            <a:endParaRPr lang="en-IN" dirty="0"/>
          </a:p>
          <a:p>
            <a:pPr algn="just"/>
            <a:r>
              <a:rPr lang="en-IN" dirty="0"/>
              <a:t>Try  -  https://www.w3schools.com/html/html_colors.asp</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HTML Links - Syntax</a:t>
            </a:r>
            <a:br>
              <a:rPr lang="en-US" dirty="0"/>
            </a:br>
            <a:endParaRPr lang="en-US" dirty="0"/>
          </a:p>
        </p:txBody>
      </p:sp>
      <p:sp>
        <p:nvSpPr>
          <p:cNvPr id="3" name="Content Placeholder 2"/>
          <p:cNvSpPr>
            <a:spLocks noGrp="1"/>
          </p:cNvSpPr>
          <p:nvPr>
            <p:ph idx="1"/>
          </p:nvPr>
        </p:nvSpPr>
        <p:spPr/>
        <p:txBody>
          <a:bodyPr>
            <a:normAutofit/>
          </a:bodyPr>
          <a:lstStyle/>
          <a:p>
            <a:r>
              <a:rPr lang="en-US" dirty="0"/>
              <a:t>The HTML &lt;a&gt; tag defines a hyperlink. It has the following syntax:</a:t>
            </a:r>
          </a:p>
          <a:p>
            <a:r>
              <a:rPr lang="en-US" dirty="0"/>
              <a:t>&lt;a </a:t>
            </a:r>
            <a:r>
              <a:rPr lang="en-US" dirty="0" err="1"/>
              <a:t>href</a:t>
            </a:r>
            <a:r>
              <a:rPr lang="en-US" dirty="0"/>
              <a:t>="</a:t>
            </a:r>
            <a:r>
              <a:rPr lang="en-US" i="1" dirty="0" err="1"/>
              <a:t>url</a:t>
            </a:r>
            <a:r>
              <a:rPr lang="en-US" dirty="0"/>
              <a:t>"&gt;</a:t>
            </a:r>
            <a:r>
              <a:rPr lang="en-US" i="1" dirty="0"/>
              <a:t>link text</a:t>
            </a:r>
            <a:r>
              <a:rPr lang="en-US" dirty="0"/>
              <a:t>&lt;/a&gt;</a:t>
            </a:r>
          </a:p>
          <a:p>
            <a:r>
              <a:rPr lang="en-US" dirty="0"/>
              <a:t>The most important attribute of the &lt;a&gt; element is the </a:t>
            </a:r>
            <a:r>
              <a:rPr lang="en-US" dirty="0" err="1"/>
              <a:t>href</a:t>
            </a:r>
            <a:r>
              <a:rPr lang="en-US" dirty="0"/>
              <a:t> attribute, which indicates the link's destination.</a:t>
            </a:r>
          </a:p>
          <a:p>
            <a:r>
              <a:rPr lang="en-US" dirty="0"/>
              <a:t>The </a:t>
            </a:r>
            <a:r>
              <a:rPr lang="en-US" i="1" dirty="0"/>
              <a:t>link text</a:t>
            </a:r>
            <a:r>
              <a:rPr lang="en-US" dirty="0"/>
              <a:t> is the part that will be visible to the reader.</a:t>
            </a:r>
          </a:p>
          <a:p>
            <a:r>
              <a:rPr lang="en-US" dirty="0"/>
              <a:t>DETAILS -https://www.w3schools.com/html/html_links.asp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Frames</a:t>
            </a:r>
            <a:endParaRPr lang="en-US" dirty="0"/>
          </a:p>
        </p:txBody>
      </p:sp>
      <p:sp>
        <p:nvSpPr>
          <p:cNvPr id="3" name="Content Placeholder 2"/>
          <p:cNvSpPr>
            <a:spLocks noGrp="1"/>
          </p:cNvSpPr>
          <p:nvPr>
            <p:ph idx="1"/>
          </p:nvPr>
        </p:nvSpPr>
        <p:spPr/>
        <p:txBody>
          <a:bodyPr>
            <a:normAutofit/>
          </a:bodyPr>
          <a:lstStyle/>
          <a:p>
            <a:r>
              <a:rPr lang="en-US" dirty="0"/>
              <a:t>To make frames on a page we use </a:t>
            </a:r>
            <a:r>
              <a:rPr lang="en-US" dirty="0">
                <a:hlinkClick r:id="rId2"/>
              </a:rPr>
              <a:t>&lt;frameset&gt; tag</a:t>
            </a:r>
            <a:r>
              <a:rPr lang="en-US" dirty="0"/>
              <a:t> instead of </a:t>
            </a:r>
            <a:r>
              <a:rPr lang="en-US" dirty="0">
                <a:hlinkClick r:id="rId3"/>
              </a:rPr>
              <a:t>&lt;body&gt; tag.</a:t>
            </a:r>
            <a:r>
              <a:rPr lang="en-US" dirty="0"/>
              <a:t> The </a:t>
            </a:r>
            <a:r>
              <a:rPr lang="en-US" b="1" dirty="0"/>
              <a:t>&lt;frameset&gt;</a:t>
            </a:r>
            <a:r>
              <a:rPr lang="en-US" dirty="0"/>
              <a:t> tag defines how to divide the window into frames. The </a:t>
            </a:r>
            <a:r>
              <a:rPr lang="en-US" b="1" dirty="0"/>
              <a:t>rows</a:t>
            </a:r>
            <a:r>
              <a:rPr lang="en-US" dirty="0"/>
              <a:t> attribute of </a:t>
            </a:r>
            <a:r>
              <a:rPr lang="en-US" b="1" dirty="0"/>
              <a:t>&lt;frameset&gt;</a:t>
            </a:r>
            <a:r>
              <a:rPr lang="en-US" dirty="0"/>
              <a:t> tag defines horizontal frames and </a:t>
            </a:r>
            <a:r>
              <a:rPr lang="en-US" b="1" dirty="0"/>
              <a:t>cols</a:t>
            </a:r>
            <a:r>
              <a:rPr lang="en-US" dirty="0"/>
              <a:t> attribute defines vertical frames. Each frame is indicated by </a:t>
            </a:r>
            <a:r>
              <a:rPr lang="en-US" b="1" dirty="0"/>
              <a:t>&lt;frame&gt;</a:t>
            </a:r>
            <a:r>
              <a:rPr lang="en-US" dirty="0"/>
              <a:t> tag and it defines which HTML document shall open into the frame.</a:t>
            </a:r>
          </a:p>
          <a:p>
            <a:r>
              <a:rPr lang="en-IN" dirty="0"/>
              <a:t>Try - https://www.geeksforgeeks.org/html-frame-tag/?ref=lbp</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HTML Lists</a:t>
            </a:r>
            <a:br>
              <a:rPr lang="en-US" dirty="0"/>
            </a:br>
            <a:endParaRPr lang="en-US" dirty="0"/>
          </a:p>
        </p:txBody>
      </p:sp>
      <p:sp>
        <p:nvSpPr>
          <p:cNvPr id="3" name="Content Placeholder 2"/>
          <p:cNvSpPr>
            <a:spLocks noGrp="1"/>
          </p:cNvSpPr>
          <p:nvPr>
            <p:ph idx="1"/>
          </p:nvPr>
        </p:nvSpPr>
        <p:spPr/>
        <p:txBody>
          <a:bodyPr>
            <a:normAutofit/>
          </a:bodyPr>
          <a:lstStyle/>
          <a:p>
            <a:r>
              <a:rPr lang="en-US" dirty="0"/>
              <a:t>An unordered list starts with the &lt;</a:t>
            </a:r>
            <a:r>
              <a:rPr lang="en-US" dirty="0" err="1"/>
              <a:t>ul</a:t>
            </a:r>
            <a:r>
              <a:rPr lang="en-US" dirty="0"/>
              <a:t>&gt; tag. Each list item starts with the &lt;</a:t>
            </a:r>
            <a:r>
              <a:rPr lang="en-US" dirty="0" err="1"/>
              <a:t>li</a:t>
            </a:r>
            <a:r>
              <a:rPr lang="en-US" dirty="0"/>
              <a:t>&gt; tag</a:t>
            </a:r>
          </a:p>
          <a:p>
            <a:r>
              <a:rPr lang="en-US" dirty="0"/>
              <a:t>Unordered HTML List - An unordered list starts with the &lt;</a:t>
            </a:r>
            <a:r>
              <a:rPr lang="en-US" dirty="0" err="1"/>
              <a:t>ul</a:t>
            </a:r>
            <a:r>
              <a:rPr lang="en-US" dirty="0"/>
              <a:t>&gt; tag. Each list item starts with the &lt;</a:t>
            </a:r>
            <a:r>
              <a:rPr lang="en-US" dirty="0" err="1"/>
              <a:t>li</a:t>
            </a:r>
            <a:r>
              <a:rPr lang="en-US" dirty="0"/>
              <a:t>&gt; tag.</a:t>
            </a:r>
          </a:p>
          <a:p>
            <a:r>
              <a:rPr lang="en-US" dirty="0"/>
              <a:t>Ordered HTML List - An ordered list starts with the &lt;</a:t>
            </a:r>
            <a:r>
              <a:rPr lang="en-US" dirty="0" err="1"/>
              <a:t>ol</a:t>
            </a:r>
            <a:r>
              <a:rPr lang="en-US" dirty="0"/>
              <a:t>&gt; tag. Each list item starts with the &lt;</a:t>
            </a:r>
            <a:r>
              <a:rPr lang="en-US" dirty="0" err="1"/>
              <a:t>li</a:t>
            </a:r>
            <a:r>
              <a:rPr lang="en-US" dirty="0"/>
              <a:t>&gt; tag.</a:t>
            </a:r>
          </a:p>
          <a:p>
            <a:r>
              <a:rPr lang="en-US" dirty="0"/>
              <a:t>HTML Description Lists - The &lt;dl&gt; tag defines the description list, the &lt;</a:t>
            </a:r>
            <a:r>
              <a:rPr lang="en-US" dirty="0" err="1"/>
              <a:t>dt</a:t>
            </a:r>
            <a:r>
              <a:rPr lang="en-US" dirty="0"/>
              <a:t>&gt; tag defines the term (name), and the &lt;</a:t>
            </a:r>
            <a:r>
              <a:rPr lang="en-US" dirty="0" err="1"/>
              <a:t>dd</a:t>
            </a:r>
            <a:r>
              <a:rPr lang="en-US" dirty="0"/>
              <a:t>&gt; tag describes each term</a:t>
            </a:r>
          </a:p>
          <a:p>
            <a:r>
              <a:rPr lang="en-IN" dirty="0"/>
              <a:t>Ex - https://www.w3schools.com/html/html_lists.asp</a:t>
            </a:r>
            <a:endParaRPr lang="en-US" dirty="0"/>
          </a:p>
          <a:p>
            <a:endParaRPr lang="en-US" dirty="0"/>
          </a:p>
          <a:p>
            <a:endParaRPr lang="en-US" dirty="0"/>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a:t>
            </a:r>
            <a:endParaRPr lang="en-US" dirty="0"/>
          </a:p>
        </p:txBody>
      </p:sp>
      <p:sp>
        <p:nvSpPr>
          <p:cNvPr id="3" name="Content Placeholder 2"/>
          <p:cNvSpPr>
            <a:spLocks noGrp="1"/>
          </p:cNvSpPr>
          <p:nvPr>
            <p:ph idx="1"/>
          </p:nvPr>
        </p:nvSpPr>
        <p:spPr/>
        <p:txBody>
          <a:bodyPr>
            <a:normAutofit/>
          </a:bodyPr>
          <a:lstStyle/>
          <a:p>
            <a:r>
              <a:rPr lang="en-US" dirty="0"/>
              <a:t>A table in HTML consists of table cells inside rows and columns.</a:t>
            </a:r>
          </a:p>
          <a:p>
            <a:r>
              <a:rPr lang="en-US" dirty="0"/>
              <a:t>Each table cell is defined by a &lt;td&gt; and a &lt;/td&gt; tag.</a:t>
            </a:r>
          </a:p>
          <a:p>
            <a:r>
              <a:rPr lang="en-US" dirty="0"/>
              <a:t>td stands for table data.</a:t>
            </a:r>
          </a:p>
          <a:p>
            <a:r>
              <a:rPr lang="en-US" dirty="0"/>
              <a:t>Everything between &lt;td&gt; and &lt;/td&gt; are the content of the table cell.</a:t>
            </a:r>
          </a:p>
          <a:p>
            <a:r>
              <a:rPr lang="en-US" dirty="0"/>
              <a:t>Each table row starts with a &lt;</a:t>
            </a:r>
            <a:r>
              <a:rPr lang="en-US" dirty="0" err="1"/>
              <a:t>tr</a:t>
            </a:r>
            <a:r>
              <a:rPr lang="en-US" dirty="0"/>
              <a:t>&gt; and ends with a &lt;/</a:t>
            </a:r>
            <a:r>
              <a:rPr lang="en-US" dirty="0" err="1"/>
              <a:t>tr</a:t>
            </a:r>
            <a:r>
              <a:rPr lang="en-US" dirty="0"/>
              <a:t>&gt; tag.</a:t>
            </a:r>
          </a:p>
          <a:p>
            <a:r>
              <a:rPr lang="en-US" dirty="0" err="1"/>
              <a:t>tr</a:t>
            </a:r>
            <a:r>
              <a:rPr lang="en-US" dirty="0"/>
              <a:t> stands for table row.</a:t>
            </a:r>
          </a:p>
          <a:p>
            <a:r>
              <a:rPr lang="en-US" dirty="0" err="1"/>
              <a:t>th</a:t>
            </a:r>
            <a:r>
              <a:rPr lang="en-US" dirty="0"/>
              <a:t> stands for table header.</a:t>
            </a:r>
          </a:p>
          <a:p>
            <a:r>
              <a:rPr lang="en-IN" dirty="0"/>
              <a:t>Ex - https://www.w3schools.com/html/html_tables.asp</a:t>
            </a:r>
            <a:endParaRPr lang="en-US" dirty="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Images</a:t>
            </a:r>
            <a:endParaRPr lang="en-US" dirty="0"/>
          </a:p>
        </p:txBody>
      </p:sp>
      <p:sp>
        <p:nvSpPr>
          <p:cNvPr id="3" name="Content Placeholder 2"/>
          <p:cNvSpPr>
            <a:spLocks noGrp="1"/>
          </p:cNvSpPr>
          <p:nvPr>
            <p:ph idx="1"/>
          </p:nvPr>
        </p:nvSpPr>
        <p:spPr/>
        <p:txBody>
          <a:bodyPr>
            <a:normAutofit/>
          </a:bodyPr>
          <a:lstStyle/>
          <a:p>
            <a:r>
              <a:rPr lang="en-US" dirty="0"/>
              <a:t>The HTML &lt;</a:t>
            </a:r>
            <a:r>
              <a:rPr lang="en-US" dirty="0" err="1"/>
              <a:t>img</a:t>
            </a:r>
            <a:r>
              <a:rPr lang="en-US" dirty="0"/>
              <a:t>&gt; tag is used to embed an image in a web page.</a:t>
            </a:r>
          </a:p>
          <a:p>
            <a:r>
              <a:rPr lang="en-US" dirty="0"/>
              <a:t>Images are not technically inserted into a web page; images are linked to web pages. The &lt;</a:t>
            </a:r>
            <a:r>
              <a:rPr lang="en-US" dirty="0" err="1"/>
              <a:t>img</a:t>
            </a:r>
            <a:r>
              <a:rPr lang="en-US" dirty="0"/>
              <a:t>&gt; tag creates a holding space for the referenced image.</a:t>
            </a:r>
          </a:p>
          <a:p>
            <a:r>
              <a:rPr lang="en-US" dirty="0"/>
              <a:t>The &lt;</a:t>
            </a:r>
            <a:r>
              <a:rPr lang="en-US" dirty="0" err="1"/>
              <a:t>img</a:t>
            </a:r>
            <a:r>
              <a:rPr lang="en-US" dirty="0"/>
              <a:t>&gt; tag is empty, it contains attributes only, and does not have a closing tag.</a:t>
            </a:r>
          </a:p>
          <a:p>
            <a:r>
              <a:rPr lang="en-US" dirty="0"/>
              <a:t>The &lt;</a:t>
            </a:r>
            <a:r>
              <a:rPr lang="en-US" dirty="0" err="1"/>
              <a:t>img</a:t>
            </a:r>
            <a:r>
              <a:rPr lang="en-US" dirty="0"/>
              <a:t>&gt; tag has two required attributes:</a:t>
            </a:r>
          </a:p>
          <a:p>
            <a:r>
              <a:rPr lang="en-US" dirty="0" err="1"/>
              <a:t>src</a:t>
            </a:r>
            <a:r>
              <a:rPr lang="en-US" dirty="0"/>
              <a:t> - Specifies the path to the image</a:t>
            </a:r>
          </a:p>
          <a:p>
            <a:r>
              <a:rPr lang="en-US" dirty="0"/>
              <a:t>alt - Specifies an alternate text for the image</a:t>
            </a:r>
          </a:p>
          <a:p>
            <a:r>
              <a:rPr lang="en-IN" dirty="0"/>
              <a:t>Ex. - https://www.w3schools.com/html/html_images.asp</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Features of HTML:</a:t>
            </a:r>
            <a:br>
              <a:rPr lang="en-US" b="1" dirty="0"/>
            </a:br>
            <a:endParaRPr lang="en-US" dirty="0"/>
          </a:p>
        </p:txBody>
      </p:sp>
      <p:sp>
        <p:nvSpPr>
          <p:cNvPr id="3" name="Content Placeholder 2"/>
          <p:cNvSpPr>
            <a:spLocks noGrp="1"/>
          </p:cNvSpPr>
          <p:nvPr>
            <p:ph idx="1"/>
          </p:nvPr>
        </p:nvSpPr>
        <p:spPr/>
        <p:txBody>
          <a:bodyPr>
            <a:normAutofit/>
          </a:bodyPr>
          <a:lstStyle/>
          <a:p>
            <a:pPr fontAlgn="base"/>
            <a:r>
              <a:rPr lang="en-US" dirty="0"/>
              <a:t>It allows the creation of hyperlinks with the &lt;a&gt; tag, connecting different web pages.</a:t>
            </a:r>
          </a:p>
          <a:p>
            <a:pPr fontAlgn="base"/>
            <a:r>
              <a:rPr lang="en-US" dirty="0"/>
              <a:t>Uses tags to mark elements and content, such as headings (&lt;h1&gt; to &lt;h6&gt;).</a:t>
            </a:r>
          </a:p>
          <a:p>
            <a:pPr fontAlgn="base"/>
            <a:r>
              <a:rPr lang="en-US" dirty="0"/>
              <a:t>It supports embedding images (&lt;</a:t>
            </a:r>
            <a:r>
              <a:rPr lang="en-US" dirty="0" err="1"/>
              <a:t>img</a:t>
            </a:r>
            <a:r>
              <a:rPr lang="en-US" dirty="0"/>
              <a:t>&gt;), videos (&lt;video&gt;), and audio (&lt;audio&gt;) for multimedia content.</a:t>
            </a:r>
          </a:p>
          <a:p>
            <a:pPr fontAlgn="base"/>
            <a:r>
              <a:rPr lang="en-US" dirty="0"/>
              <a:t>It provides form elements like &lt;form&gt;, &lt;input&gt;, and &lt;button&gt; for user input and data submission.</a:t>
            </a:r>
          </a:p>
          <a:p>
            <a:pPr fontAlgn="base"/>
            <a:r>
              <a:rPr lang="en-US" dirty="0"/>
              <a:t>Semantic tags like &lt;article&gt;, &lt;section&gt;, and &lt;</a:t>
            </a:r>
            <a:r>
              <a:rPr lang="en-US" dirty="0" err="1"/>
              <a:t>nav</a:t>
            </a:r>
            <a:r>
              <a:rPr lang="en-US" dirty="0"/>
              <a:t>&gt; for better document structure and accessibility.</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Features of HTML5</a:t>
            </a:r>
            <a:endParaRPr lang="en-US" dirty="0"/>
          </a:p>
        </p:txBody>
      </p:sp>
      <p:sp>
        <p:nvSpPr>
          <p:cNvPr id="3" name="Content Placeholder 2"/>
          <p:cNvSpPr>
            <a:spLocks noGrp="1"/>
          </p:cNvSpPr>
          <p:nvPr>
            <p:ph idx="1"/>
          </p:nvPr>
        </p:nvSpPr>
        <p:spPr/>
        <p:txBody>
          <a:bodyPr>
            <a:normAutofit/>
          </a:bodyPr>
          <a:lstStyle/>
          <a:p>
            <a:pPr fontAlgn="base"/>
            <a:r>
              <a:rPr lang="en-US" dirty="0"/>
              <a:t>Introduced new semantic elements like &lt;header&gt;, &lt;footer&gt;, &lt;section&gt;, and &lt;article&gt; for improved structure.</a:t>
            </a:r>
          </a:p>
          <a:p>
            <a:pPr fontAlgn="base"/>
            <a:r>
              <a:rPr lang="en-US" dirty="0"/>
              <a:t>Enhances multimedia capabilities with native support for audio and video elements.</a:t>
            </a:r>
          </a:p>
          <a:p>
            <a:pPr fontAlgn="base"/>
            <a:r>
              <a:rPr lang="en-US" dirty="0"/>
              <a:t>Provides the </a:t>
            </a:r>
            <a:r>
              <a:rPr lang="en-US" dirty="0" err="1"/>
              <a:t>localStorage</a:t>
            </a:r>
            <a:r>
              <a:rPr lang="en-US" dirty="0"/>
              <a:t> API, allowing web applications to store data locally on the user’s device.</a:t>
            </a:r>
          </a:p>
          <a:p>
            <a:pPr fontAlgn="base"/>
            <a:r>
              <a:rPr lang="en-US" dirty="0"/>
              <a:t>Enables websites to access a user’s geographical location.</a:t>
            </a:r>
          </a:p>
          <a:p>
            <a:pPr fontAlgn="base"/>
            <a:r>
              <a:rPr lang="en-US" dirty="0"/>
              <a:t>Uses SQL database to store data offline.</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HTML and HTML5</a:t>
            </a:r>
            <a:endParaRPr lang="en-US" dirty="0"/>
          </a:p>
        </p:txBody>
      </p:sp>
      <p:pic>
        <p:nvPicPr>
          <p:cNvPr id="4" name="Content Placeholder 3" descr="Screenshot 2024-06-26 115243.png"/>
          <p:cNvPicPr>
            <a:picLocks noGrp="1" noChangeAspect="1"/>
          </p:cNvPicPr>
          <p:nvPr>
            <p:ph idx="1"/>
          </p:nvPr>
        </p:nvPicPr>
        <p:blipFill>
          <a:blip r:embed="rId2" cstate="print"/>
          <a:stretch>
            <a:fillRect/>
          </a:stretch>
        </p:blipFill>
        <p:spPr>
          <a:xfrm>
            <a:off x="2358691" y="1731963"/>
            <a:ext cx="4418680" cy="4059237"/>
          </a:xfr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HTML and HTML5</a:t>
            </a:r>
            <a:endParaRPr lang="en-US" dirty="0"/>
          </a:p>
        </p:txBody>
      </p:sp>
      <p:pic>
        <p:nvPicPr>
          <p:cNvPr id="4" name="Content Placeholder 3" descr="Screenshot 2024-06-26 115459.png"/>
          <p:cNvPicPr>
            <a:picLocks noGrp="1" noChangeAspect="1"/>
          </p:cNvPicPr>
          <p:nvPr>
            <p:ph idx="1"/>
          </p:nvPr>
        </p:nvPicPr>
        <p:blipFill>
          <a:blip r:embed="rId2" cstate="print"/>
          <a:stretch>
            <a:fillRect/>
          </a:stretch>
        </p:blipFill>
        <p:spPr>
          <a:xfrm>
            <a:off x="1447800" y="1219200"/>
            <a:ext cx="6248400" cy="4906963"/>
          </a:xfr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CSS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CSS stands for Cascading Style Sheets</a:t>
            </a:r>
          </a:p>
          <a:p>
            <a:r>
              <a:rPr lang="en-US" dirty="0"/>
              <a:t>CSS describes how HTML elements are to be displayed on screen, paper, or in other media</a:t>
            </a:r>
          </a:p>
          <a:p>
            <a:r>
              <a:rPr lang="en-IN" dirty="0"/>
              <a:t>The CSS  is a </a:t>
            </a:r>
            <a:r>
              <a:rPr lang="en-IN" dirty="0" err="1"/>
              <a:t>markup</a:t>
            </a:r>
            <a:r>
              <a:rPr lang="en-IN" dirty="0"/>
              <a:t> language used in the web document for presentation purpose.</a:t>
            </a:r>
          </a:p>
          <a:p>
            <a:r>
              <a:rPr lang="en-IN" dirty="0"/>
              <a:t>The primary intension of CSS was to separate out the web content from the web presentation</a:t>
            </a:r>
            <a:endParaRPr lang="en-US" dirty="0"/>
          </a:p>
          <a:p>
            <a:r>
              <a:rPr lang="en-US" dirty="0"/>
              <a:t>CSS saves a lot of work. It can control the layout of multiple web pages all at once</a:t>
            </a:r>
          </a:p>
          <a:p>
            <a:r>
              <a:rPr lang="en-US" dirty="0"/>
              <a:t>Cascading Style Sheets, fondly referred to as CSS, is a simple design language intended to simplify the process of making web pages presentable. </a:t>
            </a:r>
          </a:p>
          <a:p>
            <a:r>
              <a:rPr lang="en-US" dirty="0"/>
              <a:t>CSS handles the look and feel part of a web page. </a:t>
            </a:r>
          </a:p>
          <a:p>
            <a:r>
              <a:rPr lang="en-US" dirty="0"/>
              <a:t>Using CSS, you can control the color of the text, the style of fonts, the spacing between paragraphs, how columns are sized and laid out, what background images or colors are used, layout designs , variations in display for different devices and screen sizes as well as a variety of other effects</a:t>
            </a:r>
          </a:p>
          <a:p>
            <a:r>
              <a:rPr lang="en-IN" dirty="0"/>
              <a:t>Try - https://www.w3schools.com/css/css_syntax.asp</a:t>
            </a:r>
            <a:endParaRPr lang="en-US" dirty="0"/>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CSS</a:t>
            </a:r>
          </a:p>
        </p:txBody>
      </p:sp>
      <p:sp>
        <p:nvSpPr>
          <p:cNvPr id="3" name="Content Placeholder 2"/>
          <p:cNvSpPr>
            <a:spLocks noGrp="1"/>
          </p:cNvSpPr>
          <p:nvPr>
            <p:ph idx="1"/>
          </p:nvPr>
        </p:nvSpPr>
        <p:spPr/>
        <p:txBody>
          <a:bodyPr>
            <a:normAutofit fontScale="92500" lnSpcReduction="10000"/>
          </a:bodyPr>
          <a:lstStyle/>
          <a:p>
            <a:r>
              <a:rPr lang="en-US" dirty="0"/>
              <a:t>CSS saves time </a:t>
            </a:r>
          </a:p>
          <a:p>
            <a:r>
              <a:rPr lang="en-US" dirty="0"/>
              <a:t>Pages load faster </a:t>
            </a:r>
          </a:p>
          <a:p>
            <a:r>
              <a:rPr lang="en-US" dirty="0"/>
              <a:t>Easy maintenance</a:t>
            </a:r>
          </a:p>
          <a:p>
            <a:r>
              <a:rPr lang="en-US" dirty="0"/>
              <a:t>Superior styles to HTML </a:t>
            </a:r>
          </a:p>
          <a:p>
            <a:r>
              <a:rPr lang="en-US" dirty="0"/>
              <a:t>Multiple Device Compatibility </a:t>
            </a:r>
          </a:p>
          <a:p>
            <a:r>
              <a:rPr lang="en-US" dirty="0"/>
              <a:t>Global web standards </a:t>
            </a:r>
          </a:p>
          <a:p>
            <a:r>
              <a:rPr lang="en-US" dirty="0"/>
              <a:t> Offline Browsing </a:t>
            </a:r>
          </a:p>
          <a:p>
            <a:r>
              <a:rPr lang="en-US" dirty="0"/>
              <a:t> Platform Independence </a:t>
            </a:r>
          </a:p>
          <a:p>
            <a:r>
              <a:rPr lang="en-IN" dirty="0"/>
              <a:t>Flexibility</a:t>
            </a:r>
          </a:p>
          <a:p>
            <a:pPr>
              <a:buNone/>
            </a:pPr>
            <a:r>
              <a:rPr lang="en-IN" dirty="0"/>
              <a:t>Try - https://www.w3schools.com/css/css_selectors.asp</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 Syntax</a:t>
            </a:r>
          </a:p>
        </p:txBody>
      </p:sp>
      <p:sp>
        <p:nvSpPr>
          <p:cNvPr id="3" name="Content Placeholder 2"/>
          <p:cNvSpPr>
            <a:spLocks noGrp="1"/>
          </p:cNvSpPr>
          <p:nvPr>
            <p:ph idx="1"/>
          </p:nvPr>
        </p:nvSpPr>
        <p:spPr>
          <a:xfrm>
            <a:off x="457200" y="1447800"/>
            <a:ext cx="8229600" cy="4800600"/>
          </a:xfrm>
        </p:spPr>
        <p:txBody>
          <a:bodyPr>
            <a:noAutofit/>
          </a:bodyPr>
          <a:lstStyle/>
          <a:p>
            <a:r>
              <a:rPr lang="en-IN" sz="2000" dirty="0"/>
              <a:t>For inline cascading style sheets the </a:t>
            </a:r>
            <a:r>
              <a:rPr lang="en-IN" sz="2000" b="1" dirty="0"/>
              <a:t>style </a:t>
            </a:r>
            <a:r>
              <a:rPr lang="en-IN" sz="2000" dirty="0"/>
              <a:t>appears in side the tag for defining the values</a:t>
            </a:r>
          </a:p>
          <a:p>
            <a:r>
              <a:rPr lang="en-IN" sz="2000" dirty="0"/>
              <a:t>&lt;p style = “</a:t>
            </a:r>
            <a:r>
              <a:rPr lang="en-IN" sz="2000" dirty="0" err="1"/>
              <a:t>font.size</a:t>
            </a:r>
            <a:r>
              <a:rPr lang="en-IN" sz="2000" dirty="0"/>
              <a:t>: 30pt ;font-</a:t>
            </a:r>
            <a:r>
              <a:rPr lang="en-IN" sz="2000" dirty="0" err="1"/>
              <a:t>family:Script</a:t>
            </a:r>
            <a:r>
              <a:rPr lang="en-IN" sz="2000" dirty="0"/>
              <a:t>”&gt;</a:t>
            </a:r>
          </a:p>
          <a:p>
            <a:r>
              <a:rPr lang="en-IN" sz="2000" dirty="0"/>
              <a:t>For the document cascading style sheet the style specification appear as the content of a style element within the header of a document.</a:t>
            </a:r>
            <a:endParaRPr lang="en-US" sz="2000" dirty="0"/>
          </a:p>
          <a:p>
            <a:r>
              <a:rPr lang="en-US" sz="2000" dirty="0"/>
              <a:t>Style rule is made of three parts −</a:t>
            </a:r>
          </a:p>
          <a:p>
            <a:r>
              <a:rPr lang="en-US" sz="2000" dirty="0"/>
              <a:t> </a:t>
            </a:r>
            <a:r>
              <a:rPr lang="en-US" sz="2000" b="1" dirty="0"/>
              <a:t>Selector</a:t>
            </a:r>
            <a:r>
              <a:rPr lang="en-US" sz="2000" dirty="0"/>
              <a:t> − A selector is an HTML tag at which a style will be applied. This could be any tag like h1,h2,table or etc. </a:t>
            </a:r>
          </a:p>
          <a:p>
            <a:r>
              <a:rPr lang="en-US" sz="2000" b="1" dirty="0"/>
              <a:t>Property</a:t>
            </a:r>
            <a:r>
              <a:rPr lang="en-US" sz="2000" dirty="0"/>
              <a:t> - A property is a type of attribute of HTML tag. Put simply, all the HTML attributes are converted into CSS properties. They could be color, border, </a:t>
            </a:r>
            <a:r>
              <a:rPr lang="en-US" sz="2000" dirty="0" err="1"/>
              <a:t>fonts,text,colour</a:t>
            </a:r>
            <a:r>
              <a:rPr lang="en-US" sz="2000" dirty="0"/>
              <a:t> background etc</a:t>
            </a:r>
          </a:p>
          <a:p>
            <a:r>
              <a:rPr lang="en-US" sz="2000" b="1" dirty="0"/>
              <a:t>Value</a:t>
            </a:r>
            <a:r>
              <a:rPr lang="en-US" sz="2000" dirty="0"/>
              <a:t> - Values are assigned to properties. For example, color property can have value either red or #F1F1F1 etc</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6 124202.png"/>
          <p:cNvPicPr>
            <a:picLocks noGrp="1" noChangeAspect="1"/>
          </p:cNvPicPr>
          <p:nvPr>
            <p:ph idx="1"/>
          </p:nvPr>
        </p:nvPicPr>
        <p:blipFill>
          <a:blip r:embed="rId2" cstate="print"/>
          <a:stretch>
            <a:fillRect/>
          </a:stretch>
        </p:blipFill>
        <p:spPr>
          <a:xfrm>
            <a:off x="1219200" y="1600200"/>
            <a:ext cx="6303172" cy="4525963"/>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selectors (1)</a:t>
            </a:r>
          </a:p>
        </p:txBody>
      </p:sp>
      <p:sp>
        <p:nvSpPr>
          <p:cNvPr id="3" name="Content Placeholder 2"/>
          <p:cNvSpPr>
            <a:spLocks noGrp="1"/>
          </p:cNvSpPr>
          <p:nvPr>
            <p:ph idx="1"/>
          </p:nvPr>
        </p:nvSpPr>
        <p:spPr/>
        <p:txBody>
          <a:bodyPr>
            <a:normAutofit lnSpcReduction="10000"/>
          </a:bodyPr>
          <a:lstStyle/>
          <a:p>
            <a:r>
              <a:rPr lang="en-US" dirty="0"/>
              <a:t>CSS selectors are used to "find" (or select) HTML elements based on their element name, id, class, attribute, and more. </a:t>
            </a:r>
          </a:p>
          <a:p>
            <a:pPr>
              <a:buNone/>
            </a:pPr>
            <a:r>
              <a:rPr lang="en-US" b="1" dirty="0"/>
              <a:t>     The element Selector </a:t>
            </a:r>
          </a:p>
          <a:p>
            <a:r>
              <a:rPr lang="en-US" dirty="0"/>
              <a:t>The element selector selects elements based on the element name. </a:t>
            </a:r>
          </a:p>
          <a:p>
            <a:r>
              <a:rPr lang="en-US" dirty="0"/>
              <a:t>You can select all elements on a page like this (in this case, all elements will be center-aligned, with a red text color): </a:t>
            </a:r>
          </a:p>
          <a:p>
            <a:r>
              <a:rPr lang="en-US" dirty="0"/>
              <a:t>Example </a:t>
            </a:r>
          </a:p>
          <a:p>
            <a:pPr>
              <a:buNone/>
            </a:pPr>
            <a:r>
              <a:rPr lang="en-US" dirty="0"/>
              <a:t>   p {</a:t>
            </a:r>
          </a:p>
          <a:p>
            <a:pPr>
              <a:buNone/>
            </a:pPr>
            <a:r>
              <a:rPr lang="en-US" dirty="0"/>
              <a:t>    text-align: center; color: red; </a:t>
            </a:r>
          </a:p>
          <a:p>
            <a:pPr>
              <a:buNone/>
            </a:pPr>
            <a:r>
              <a:rPr lang="en-US" dirty="0"/>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6 124455.png"/>
          <p:cNvPicPr>
            <a:picLocks noGrp="1" noChangeAspect="1"/>
          </p:cNvPicPr>
          <p:nvPr>
            <p:ph idx="1"/>
          </p:nvPr>
        </p:nvPicPr>
        <p:blipFill>
          <a:blip r:embed="rId2" cstate="print"/>
          <a:stretch>
            <a:fillRect/>
          </a:stretch>
        </p:blipFill>
        <p:spPr>
          <a:xfrm>
            <a:off x="609600" y="533400"/>
            <a:ext cx="8001000" cy="5592763"/>
          </a:xfr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selectors (2)</a:t>
            </a:r>
          </a:p>
        </p:txBody>
      </p:sp>
      <p:sp>
        <p:nvSpPr>
          <p:cNvPr id="3" name="Content Placeholder 2"/>
          <p:cNvSpPr>
            <a:spLocks noGrp="1"/>
          </p:cNvSpPr>
          <p:nvPr>
            <p:ph idx="1"/>
          </p:nvPr>
        </p:nvSpPr>
        <p:spPr/>
        <p:txBody>
          <a:bodyPr>
            <a:normAutofit/>
          </a:bodyPr>
          <a:lstStyle/>
          <a:p>
            <a:r>
              <a:rPr lang="en-US" b="1" dirty="0"/>
              <a:t> The id Selector  - </a:t>
            </a:r>
          </a:p>
          <a:p>
            <a:r>
              <a:rPr lang="en-US" dirty="0"/>
              <a:t> The id selector uses the id attribute of an HTML element to select a specific element. </a:t>
            </a:r>
          </a:p>
          <a:p>
            <a:r>
              <a:rPr lang="en-US" dirty="0"/>
              <a:t>The id of an element should be unique within a page, so the id selector is used to select one unique element! </a:t>
            </a:r>
          </a:p>
          <a:p>
            <a:r>
              <a:rPr lang="en-US" dirty="0"/>
              <a:t>To select an element with a specific id, write a hash (#) character, followed by the id of the element. </a:t>
            </a:r>
          </a:p>
          <a:p>
            <a:r>
              <a:rPr lang="en-US" dirty="0"/>
              <a:t>The style rule below will be applied to the HTML element with id="para1": </a:t>
            </a:r>
          </a:p>
          <a:p>
            <a:pPr>
              <a:buNone/>
            </a:pPr>
            <a:r>
              <a:rPr lang="en-US" dirty="0"/>
              <a:t>Example #para1 { text-align: center; color: red;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6 143913.png"/>
          <p:cNvPicPr>
            <a:picLocks noGrp="1" noChangeAspect="1"/>
          </p:cNvPicPr>
          <p:nvPr>
            <p:ph idx="1"/>
          </p:nvPr>
        </p:nvPicPr>
        <p:blipFill>
          <a:blip r:embed="rId2" cstate="print"/>
          <a:stretch>
            <a:fillRect/>
          </a:stretch>
        </p:blipFill>
        <p:spPr>
          <a:xfrm>
            <a:off x="1066800" y="1371600"/>
            <a:ext cx="6226715" cy="4754563"/>
          </a:xfr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selectors (3)</a:t>
            </a:r>
          </a:p>
        </p:txBody>
      </p:sp>
      <p:sp>
        <p:nvSpPr>
          <p:cNvPr id="3" name="Content Placeholder 2"/>
          <p:cNvSpPr>
            <a:spLocks noGrp="1"/>
          </p:cNvSpPr>
          <p:nvPr>
            <p:ph idx="1"/>
          </p:nvPr>
        </p:nvSpPr>
        <p:spPr/>
        <p:txBody>
          <a:bodyPr>
            <a:normAutofit fontScale="92500" lnSpcReduction="10000"/>
          </a:bodyPr>
          <a:lstStyle/>
          <a:p>
            <a:r>
              <a:rPr lang="en-US" dirty="0"/>
              <a:t>The class Selector  </a:t>
            </a:r>
          </a:p>
          <a:p>
            <a:r>
              <a:rPr lang="en-US" dirty="0"/>
              <a:t>The class selector selects elements with a specific class attribute. </a:t>
            </a:r>
          </a:p>
          <a:p>
            <a:r>
              <a:rPr lang="en-US" dirty="0"/>
              <a:t>To select elements with a specific class, write a period (.) character, followed by the name of the class. </a:t>
            </a:r>
          </a:p>
          <a:p>
            <a:r>
              <a:rPr lang="en-US" dirty="0"/>
              <a:t>In the example below, all HTML elements with class="center" will be red and center-aligned: Example </a:t>
            </a:r>
          </a:p>
          <a:p>
            <a:pPr>
              <a:buNone/>
            </a:pPr>
            <a:r>
              <a:rPr lang="en-US" dirty="0"/>
              <a:t>   .center </a:t>
            </a:r>
          </a:p>
          <a:p>
            <a:pPr>
              <a:buNone/>
            </a:pPr>
            <a:r>
              <a:rPr lang="en-US" dirty="0"/>
              <a:t>     {</a:t>
            </a:r>
          </a:p>
          <a:p>
            <a:pPr>
              <a:buNone/>
            </a:pPr>
            <a:r>
              <a:rPr lang="en-US" dirty="0"/>
              <a:t>         text-align: center;</a:t>
            </a:r>
          </a:p>
          <a:p>
            <a:pPr>
              <a:buNone/>
            </a:pPr>
            <a:r>
              <a:rPr lang="en-US" dirty="0"/>
              <a:t>        color: red; </a:t>
            </a:r>
          </a:p>
          <a:p>
            <a:pPr>
              <a:buNone/>
            </a:pPr>
            <a:r>
              <a:rPr lang="en-US" dirty="0"/>
              <a:t>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6 144333.png"/>
          <p:cNvPicPr>
            <a:picLocks noGrp="1" noChangeAspect="1"/>
          </p:cNvPicPr>
          <p:nvPr>
            <p:ph idx="1"/>
          </p:nvPr>
        </p:nvPicPr>
        <p:blipFill>
          <a:blip r:embed="rId2" cstate="print"/>
          <a:stretch>
            <a:fillRect/>
          </a:stretch>
        </p:blipFill>
        <p:spPr>
          <a:xfrm>
            <a:off x="1066800" y="990600"/>
            <a:ext cx="7010400" cy="5135563"/>
          </a:xfr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r>
              <a:rPr lang="en-US" dirty="0"/>
              <a:t>CSS selectors (4)</a:t>
            </a:r>
            <a:br>
              <a:rPr lang="en-US" dirty="0"/>
            </a:br>
            <a:br>
              <a:rPr lang="en-US" dirty="0"/>
            </a:br>
            <a:br>
              <a:rPr lang="en-US" dirty="0"/>
            </a:br>
            <a:endParaRPr lang="en-US" dirty="0"/>
          </a:p>
        </p:txBody>
      </p:sp>
      <p:sp>
        <p:nvSpPr>
          <p:cNvPr id="3" name="Content Placeholder 2"/>
          <p:cNvSpPr>
            <a:spLocks noGrp="1"/>
          </p:cNvSpPr>
          <p:nvPr>
            <p:ph idx="1"/>
          </p:nvPr>
        </p:nvSpPr>
        <p:spPr/>
        <p:txBody>
          <a:bodyPr>
            <a:normAutofit/>
          </a:bodyPr>
          <a:lstStyle/>
          <a:p>
            <a:r>
              <a:rPr lang="en-US" dirty="0"/>
              <a:t>The class Selector continued….  </a:t>
            </a:r>
          </a:p>
          <a:p>
            <a:r>
              <a:rPr lang="en-US" dirty="0"/>
              <a:t>You can also specify that only specific HTML elements should be affected by a class. </a:t>
            </a:r>
          </a:p>
          <a:p>
            <a:r>
              <a:rPr lang="en-US" dirty="0"/>
              <a:t>In the example below, only elements with class="center" will be center-aligned: </a:t>
            </a:r>
          </a:p>
          <a:p>
            <a:pPr>
              <a:buNone/>
            </a:pPr>
            <a:r>
              <a:rPr lang="en-US" dirty="0"/>
              <a:t>Example - </a:t>
            </a:r>
            <a:r>
              <a:rPr lang="en-US" dirty="0" err="1"/>
              <a:t>p.center</a:t>
            </a:r>
            <a:r>
              <a:rPr lang="en-US" dirty="0"/>
              <a:t> </a:t>
            </a:r>
          </a:p>
          <a:p>
            <a:pPr>
              <a:buNone/>
            </a:pPr>
            <a:r>
              <a:rPr lang="en-US" dirty="0"/>
              <a:t>{ </a:t>
            </a:r>
          </a:p>
          <a:p>
            <a:pPr>
              <a:buNone/>
            </a:pPr>
            <a:r>
              <a:rPr lang="en-US" dirty="0"/>
              <a:t>    text-align: center; color: red; </a:t>
            </a:r>
          </a:p>
          <a:p>
            <a:pPr>
              <a:buNone/>
            </a:pPr>
            <a:r>
              <a:rPr lang="en-US" dirty="0"/>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selectors (5)</a:t>
            </a:r>
          </a:p>
        </p:txBody>
      </p:sp>
      <p:sp>
        <p:nvSpPr>
          <p:cNvPr id="3" name="Content Placeholder 2"/>
          <p:cNvSpPr>
            <a:spLocks noGrp="1"/>
          </p:cNvSpPr>
          <p:nvPr>
            <p:ph idx="1"/>
          </p:nvPr>
        </p:nvSpPr>
        <p:spPr/>
        <p:txBody>
          <a:bodyPr>
            <a:normAutofit fontScale="47500" lnSpcReduction="20000"/>
          </a:bodyPr>
          <a:lstStyle/>
          <a:p>
            <a:r>
              <a:rPr lang="en-US" dirty="0"/>
              <a:t>Grouping Selectors </a:t>
            </a:r>
          </a:p>
          <a:p>
            <a:r>
              <a:rPr lang="en-US" dirty="0"/>
              <a:t>If you have elements with the same style definitions, like this: </a:t>
            </a:r>
          </a:p>
          <a:p>
            <a:r>
              <a:rPr lang="en-US" dirty="0"/>
              <a:t>h1 </a:t>
            </a:r>
          </a:p>
          <a:p>
            <a:pPr>
              <a:buNone/>
            </a:pPr>
            <a:r>
              <a:rPr lang="en-US" dirty="0"/>
              <a:t>   { </a:t>
            </a:r>
          </a:p>
          <a:p>
            <a:pPr>
              <a:buNone/>
            </a:pPr>
            <a:r>
              <a:rPr lang="en-US" dirty="0"/>
              <a:t>   text-align: center; color: red;</a:t>
            </a:r>
          </a:p>
          <a:p>
            <a:pPr>
              <a:buNone/>
            </a:pPr>
            <a:r>
              <a:rPr lang="en-US" dirty="0"/>
              <a:t>   } </a:t>
            </a:r>
          </a:p>
          <a:p>
            <a:pPr>
              <a:buNone/>
            </a:pPr>
            <a:r>
              <a:rPr lang="en-US" dirty="0"/>
              <a:t>   h2 </a:t>
            </a:r>
          </a:p>
          <a:p>
            <a:pPr>
              <a:buNone/>
            </a:pPr>
            <a:r>
              <a:rPr lang="en-US" dirty="0"/>
              <a:t>     { text-align: center; color: red;  </a:t>
            </a:r>
          </a:p>
          <a:p>
            <a:pPr>
              <a:buNone/>
            </a:pPr>
            <a:r>
              <a:rPr lang="en-US" dirty="0"/>
              <a:t>      } </a:t>
            </a:r>
          </a:p>
          <a:p>
            <a:pPr>
              <a:buNone/>
            </a:pPr>
            <a:r>
              <a:rPr lang="en-US" dirty="0"/>
              <a:t>p  { </a:t>
            </a:r>
          </a:p>
          <a:p>
            <a:pPr>
              <a:buNone/>
            </a:pPr>
            <a:r>
              <a:rPr lang="en-US" dirty="0"/>
              <a:t>   text-align: center; color: red; </a:t>
            </a:r>
          </a:p>
          <a:p>
            <a:pPr>
              <a:buNone/>
            </a:pPr>
            <a:r>
              <a:rPr lang="en-US" dirty="0"/>
              <a:t>    } </a:t>
            </a:r>
          </a:p>
          <a:p>
            <a:pPr>
              <a:buNone/>
            </a:pPr>
            <a:r>
              <a:rPr lang="en-US" dirty="0"/>
              <a:t>   It will be better to group the selectors, to minimize the code. </a:t>
            </a:r>
          </a:p>
          <a:p>
            <a:pPr>
              <a:buNone/>
            </a:pPr>
            <a:r>
              <a:rPr lang="en-US" dirty="0"/>
              <a:t>   h1, h2, p </a:t>
            </a:r>
          </a:p>
          <a:p>
            <a:pPr>
              <a:buNone/>
            </a:pPr>
            <a:r>
              <a:rPr lang="en-US" dirty="0"/>
              <a:t>   { </a:t>
            </a:r>
          </a:p>
          <a:p>
            <a:pPr>
              <a:buNone/>
            </a:pPr>
            <a:r>
              <a:rPr lang="en-US" dirty="0"/>
              <a:t>   text-align: center; color: red;  </a:t>
            </a:r>
          </a:p>
          <a:p>
            <a:pPr>
              <a:buNone/>
            </a:pPr>
            <a:r>
              <a:rPr lang="en-US" dirty="0"/>
              <a:t>    }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6-26 145944.png"/>
          <p:cNvPicPr>
            <a:picLocks noGrp="1" noChangeAspect="1"/>
          </p:cNvPicPr>
          <p:nvPr>
            <p:ph idx="1"/>
          </p:nvPr>
        </p:nvPicPr>
        <p:blipFill>
          <a:blip r:embed="rId2" cstate="print"/>
          <a:stretch>
            <a:fillRect/>
          </a:stretch>
        </p:blipFill>
        <p:spPr>
          <a:xfrm>
            <a:off x="1143000" y="1143000"/>
            <a:ext cx="6499922" cy="4983163"/>
          </a:xfr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 CSS in HTML</a:t>
            </a:r>
          </a:p>
        </p:txBody>
      </p:sp>
      <p:sp>
        <p:nvSpPr>
          <p:cNvPr id="3" name="Content Placeholder 2"/>
          <p:cNvSpPr>
            <a:spLocks noGrp="1"/>
          </p:cNvSpPr>
          <p:nvPr>
            <p:ph idx="1"/>
          </p:nvPr>
        </p:nvSpPr>
        <p:spPr/>
        <p:txBody>
          <a:bodyPr/>
          <a:lstStyle/>
          <a:p>
            <a:pPr>
              <a:buNone/>
            </a:pPr>
            <a:r>
              <a:rPr lang="en-US" dirty="0"/>
              <a:t>• Three Ways to Insert CSS </a:t>
            </a:r>
          </a:p>
          <a:p>
            <a:pPr>
              <a:buNone/>
            </a:pPr>
            <a:r>
              <a:rPr lang="en-US" dirty="0"/>
              <a:t>    1. External style sheet </a:t>
            </a:r>
          </a:p>
          <a:p>
            <a:pPr>
              <a:buNone/>
            </a:pPr>
            <a:r>
              <a:rPr lang="en-US" dirty="0"/>
              <a:t>    2. Internal style sheet </a:t>
            </a:r>
          </a:p>
          <a:p>
            <a:pPr>
              <a:buNone/>
            </a:pPr>
            <a:r>
              <a:rPr lang="en-US" dirty="0"/>
              <a:t>   3. Inline style </a:t>
            </a:r>
          </a:p>
          <a:p>
            <a:pPr>
              <a:buNone/>
            </a:pPr>
            <a:r>
              <a:rPr lang="en-US" dirty="0"/>
              <a:t>Example https://www.w3schools.com/html/html_css.asp</a:t>
            </a:r>
          </a:p>
          <a:p>
            <a:pPr>
              <a:buNone/>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Style rule cascading and inheritance</a:t>
            </a:r>
            <a:endParaRPr lang="en-US" dirty="0"/>
          </a:p>
        </p:txBody>
      </p:sp>
      <p:sp>
        <p:nvSpPr>
          <p:cNvPr id="3" name="Content Placeholder 2"/>
          <p:cNvSpPr>
            <a:spLocks noGrp="1"/>
          </p:cNvSpPr>
          <p:nvPr>
            <p:ph idx="1"/>
          </p:nvPr>
        </p:nvSpPr>
        <p:spPr/>
        <p:txBody>
          <a:bodyPr>
            <a:normAutofit/>
          </a:bodyPr>
          <a:lstStyle/>
          <a:p>
            <a:r>
              <a:rPr lang="en-US" dirty="0"/>
              <a:t>The CSS cascade and inheritance module defines the rules for assigning values to properties by way of cascading and inheritance. This module specifies the rules for finding the specified value for all properties on all elements. One of the fundamental design principles of CSS is cascading of rules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Steps in CSS cascade</a:t>
            </a:r>
            <a:endParaRPr lang="en-US" dirty="0"/>
          </a:p>
        </p:txBody>
      </p:sp>
      <p:pic>
        <p:nvPicPr>
          <p:cNvPr id="4" name="Content Placeholder 3" descr="WhatsApp Image 2024-07-09 at 2.00.28 PM (1).jpeg"/>
          <p:cNvPicPr>
            <a:picLocks noGrp="1" noChangeAspect="1"/>
          </p:cNvPicPr>
          <p:nvPr>
            <p:ph idx="1"/>
          </p:nvPr>
        </p:nvPicPr>
        <p:blipFill>
          <a:blip r:embed="rId2" cstate="print"/>
          <a:stretch>
            <a:fillRect/>
          </a:stretch>
        </p:blipFill>
        <p:spPr>
          <a:xfrm>
            <a:off x="2737807" y="1731963"/>
            <a:ext cx="3660449" cy="4059237"/>
          </a:xfr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Inheritance</a:t>
            </a:r>
            <a:endParaRPr lang="en-US" dirty="0"/>
          </a:p>
        </p:txBody>
      </p:sp>
      <p:sp>
        <p:nvSpPr>
          <p:cNvPr id="3" name="Content Placeholder 2"/>
          <p:cNvSpPr>
            <a:spLocks noGrp="1"/>
          </p:cNvSpPr>
          <p:nvPr>
            <p:ph idx="1"/>
          </p:nvPr>
        </p:nvSpPr>
        <p:spPr/>
        <p:txBody>
          <a:bodyPr>
            <a:normAutofit/>
          </a:bodyPr>
          <a:lstStyle/>
          <a:p>
            <a:r>
              <a:rPr lang="en-IN" dirty="0"/>
              <a:t>In HTML document, the tags have parent-child relationships. For ex. &lt;title&gt; tag is always inside the &lt;head&gt; tag, so the &lt;head&gt; tag is the parent of the &lt;title&gt;. Similarly &lt;p&gt; tag is defined inside the&lt;body&gt; tag. Then &lt;body&gt; becomes parent of &lt;p&gt;.</a:t>
            </a:r>
          </a:p>
          <a:p>
            <a:r>
              <a:rPr lang="en-IN" dirty="0"/>
              <a:t>In cascading style sheets, inheritance is based on tree structure of the document itself.</a:t>
            </a:r>
          </a:p>
          <a:p>
            <a:r>
              <a:rPr lang="en-IN" dirty="0"/>
              <a:t>Inheritance can be defined as a concept in which child always inherits the properties of parent tag along with its own properties.</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sApp Image 2024-07-09 at 2.17.56 PM.jpeg"/>
          <p:cNvPicPr>
            <a:picLocks noGrp="1" noChangeAspect="1"/>
          </p:cNvPicPr>
          <p:nvPr>
            <p:ph idx="1"/>
          </p:nvPr>
        </p:nvPicPr>
        <p:blipFill>
          <a:blip r:embed="rId2" cstate="print"/>
          <a:stretch>
            <a:fillRect/>
          </a:stretch>
        </p:blipFill>
        <p:spPr>
          <a:xfrm>
            <a:off x="1600200" y="304800"/>
            <a:ext cx="6781800" cy="5821363"/>
          </a:xfr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sApp Image 2024-07-09 at 2.18.59 PM (1).jpeg"/>
          <p:cNvPicPr>
            <a:picLocks noGrp="1" noChangeAspect="1"/>
          </p:cNvPicPr>
          <p:nvPr>
            <p:ph idx="1"/>
          </p:nvPr>
        </p:nvPicPr>
        <p:blipFill>
          <a:blip r:embed="rId2" cstate="print"/>
          <a:stretch>
            <a:fillRect/>
          </a:stretch>
        </p:blipFill>
        <p:spPr>
          <a:xfrm>
            <a:off x="1600200" y="381000"/>
            <a:ext cx="6172200" cy="5745163"/>
          </a:xfr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sApp Image 2024-07-09 at 2.25.04 PM.jpeg"/>
          <p:cNvPicPr>
            <a:picLocks noGrp="1" noChangeAspect="1"/>
          </p:cNvPicPr>
          <p:nvPr>
            <p:ph idx="1"/>
          </p:nvPr>
        </p:nvPicPr>
        <p:blipFill>
          <a:blip r:embed="rId2" cstate="print"/>
          <a:stretch>
            <a:fillRect/>
          </a:stretch>
        </p:blipFill>
        <p:spPr>
          <a:xfrm>
            <a:off x="762000" y="685800"/>
            <a:ext cx="7277706" cy="5440363"/>
          </a:xfr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CSS font families</a:t>
            </a:r>
            <a:endParaRPr lang="en-US" dirty="0"/>
          </a:p>
        </p:txBody>
      </p:sp>
      <p:sp>
        <p:nvSpPr>
          <p:cNvPr id="3" name="Content Placeholder 2"/>
          <p:cNvSpPr>
            <a:spLocks noGrp="1"/>
          </p:cNvSpPr>
          <p:nvPr>
            <p:ph idx="1"/>
          </p:nvPr>
        </p:nvSpPr>
        <p:spPr/>
        <p:txBody>
          <a:bodyPr/>
          <a:lstStyle/>
          <a:p>
            <a:r>
              <a:rPr lang="en-IN" dirty="0"/>
              <a:t>The font family denotes different types of fonts such as </a:t>
            </a:r>
            <a:r>
              <a:rPr lang="en-IN" dirty="0" err="1"/>
              <a:t>Arial,Times</a:t>
            </a:r>
            <a:r>
              <a:rPr lang="en-IN" dirty="0"/>
              <a:t> New Roman and so on.</a:t>
            </a: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2024-07-15 154321.png"/>
          <p:cNvPicPr>
            <a:picLocks noGrp="1" noChangeAspect="1"/>
          </p:cNvPicPr>
          <p:nvPr>
            <p:ph idx="1"/>
          </p:nvPr>
        </p:nvPicPr>
        <p:blipFill>
          <a:blip r:embed="rId2" cstate="print"/>
          <a:stretch>
            <a:fillRect/>
          </a:stretch>
        </p:blipFill>
        <p:spPr>
          <a:xfrm>
            <a:off x="1362010" y="1731963"/>
            <a:ext cx="6412043" cy="4059237"/>
          </a:xfr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sApp Image 2024-07-15 at 2.22.55 PM.jpeg"/>
          <p:cNvPicPr>
            <a:picLocks noGrp="1" noChangeAspect="1"/>
          </p:cNvPicPr>
          <p:nvPr>
            <p:ph idx="1"/>
          </p:nvPr>
        </p:nvPicPr>
        <p:blipFill>
          <a:blip r:embed="rId2" cstate="print"/>
          <a:stretch>
            <a:fillRect/>
          </a:stretch>
        </p:blipFill>
        <p:spPr>
          <a:xfrm>
            <a:off x="1905000" y="533400"/>
            <a:ext cx="5638800" cy="5592763"/>
          </a:xfr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Font Size</a:t>
            </a:r>
            <a:endParaRPr lang="en-US" dirty="0"/>
          </a:p>
        </p:txBody>
      </p:sp>
      <p:sp>
        <p:nvSpPr>
          <p:cNvPr id="3" name="Content Placeholder 2"/>
          <p:cNvSpPr>
            <a:spLocks noGrp="1"/>
          </p:cNvSpPr>
          <p:nvPr>
            <p:ph idx="1"/>
          </p:nvPr>
        </p:nvSpPr>
        <p:spPr/>
        <p:txBody>
          <a:bodyPr/>
          <a:lstStyle/>
          <a:p>
            <a:r>
              <a:rPr lang="en-US" dirty="0"/>
              <a:t>https://www.w3schools.com/css/css_font_size.asp</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Font Variants</a:t>
            </a:r>
            <a:endParaRPr lang="en-US" dirty="0"/>
          </a:p>
        </p:txBody>
      </p:sp>
      <p:sp>
        <p:nvSpPr>
          <p:cNvPr id="3" name="Content Placeholder 2"/>
          <p:cNvSpPr>
            <a:spLocks noGrp="1"/>
          </p:cNvSpPr>
          <p:nvPr>
            <p:ph idx="1"/>
          </p:nvPr>
        </p:nvSpPr>
        <p:spPr/>
        <p:txBody>
          <a:bodyPr>
            <a:normAutofit/>
          </a:bodyPr>
          <a:lstStyle/>
          <a:p>
            <a:r>
              <a:rPr lang="en-US" dirty="0"/>
              <a:t>The </a:t>
            </a:r>
            <a:r>
              <a:rPr lang="en-US" b="1" dirty="0"/>
              <a:t>font-variant</a:t>
            </a:r>
            <a:r>
              <a:rPr lang="en-US" dirty="0"/>
              <a:t> property is used to convert all lowercase letters into uppercase letters. But the converted upper letters appear too small font-size than the original uppercase letters. </a:t>
            </a:r>
          </a:p>
          <a:p>
            <a:pPr fontAlgn="base"/>
            <a:r>
              <a:rPr lang="en-US" b="1" dirty="0"/>
              <a:t>normal: </a:t>
            </a:r>
            <a:r>
              <a:rPr lang="en-US" dirty="0"/>
              <a:t>It has a default value. It specifies a normal font-size.</a:t>
            </a:r>
          </a:p>
          <a:p>
            <a:pPr fontAlgn="base"/>
            <a:r>
              <a:rPr lang="en-US" b="1" dirty="0"/>
              <a:t>small-caps</a:t>
            </a:r>
            <a:r>
              <a:rPr lang="en-US" dirty="0"/>
              <a:t>: It is used to convert all the lowercase letters into uppercase letters.</a:t>
            </a:r>
          </a:p>
          <a:p>
            <a:pPr fontAlgn="base"/>
            <a:r>
              <a:rPr lang="en-US" b="1" dirty="0"/>
              <a:t>initial</a:t>
            </a:r>
            <a:r>
              <a:rPr lang="en-US" dirty="0"/>
              <a:t>: It sets the property to its default value.</a:t>
            </a:r>
          </a:p>
          <a:p>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hatsApp Image 2024-07-15 at 4.17.17 PM.jpeg"/>
          <p:cNvPicPr>
            <a:picLocks noGrp="1" noChangeAspect="1"/>
          </p:cNvPicPr>
          <p:nvPr>
            <p:ph idx="1"/>
          </p:nvPr>
        </p:nvPicPr>
        <p:blipFill>
          <a:blip r:embed="rId2" cstate="print"/>
          <a:stretch>
            <a:fillRect/>
          </a:stretch>
        </p:blipFill>
        <p:spPr>
          <a:xfrm>
            <a:off x="457200" y="914400"/>
            <a:ext cx="8229600" cy="4935458"/>
          </a:xfr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Font Weights</a:t>
            </a:r>
            <a:endParaRPr lang="en-US" dirty="0"/>
          </a:p>
        </p:txBody>
      </p:sp>
      <p:sp>
        <p:nvSpPr>
          <p:cNvPr id="3" name="Content Placeholder 2"/>
          <p:cNvSpPr>
            <a:spLocks noGrp="1"/>
          </p:cNvSpPr>
          <p:nvPr>
            <p:ph idx="1"/>
          </p:nvPr>
        </p:nvSpPr>
        <p:spPr/>
        <p:txBody>
          <a:bodyPr/>
          <a:lstStyle/>
          <a:p>
            <a:r>
              <a:rPr lang="en-US" dirty="0"/>
              <a:t>https://www.w3schools.com/cssref/pr_font_weight.php</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Font </a:t>
            </a:r>
            <a:r>
              <a:rPr lang="en-IN" dirty="0" err="1"/>
              <a:t>shorthands</a:t>
            </a:r>
            <a:endParaRPr lang="en-US" dirty="0"/>
          </a:p>
        </p:txBody>
      </p:sp>
      <p:sp>
        <p:nvSpPr>
          <p:cNvPr id="3" name="Content Placeholder 2"/>
          <p:cNvSpPr>
            <a:spLocks noGrp="1"/>
          </p:cNvSpPr>
          <p:nvPr>
            <p:ph idx="1"/>
          </p:nvPr>
        </p:nvSpPr>
        <p:spPr/>
        <p:txBody>
          <a:bodyPr/>
          <a:lstStyle/>
          <a:p>
            <a:r>
              <a:rPr lang="en-US" dirty="0"/>
              <a:t>https://www.w3schools.com/css/css_font_shorthand.asp</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Bootstrap</a:t>
            </a:r>
            <a:endParaRPr lang="en-US" dirty="0"/>
          </a:p>
        </p:txBody>
      </p:sp>
      <p:sp>
        <p:nvSpPr>
          <p:cNvPr id="3" name="Content Placeholder 2"/>
          <p:cNvSpPr>
            <a:spLocks noGrp="1"/>
          </p:cNvSpPr>
          <p:nvPr>
            <p:ph idx="1"/>
          </p:nvPr>
        </p:nvSpPr>
        <p:spPr/>
        <p:txBody>
          <a:bodyPr>
            <a:normAutofit lnSpcReduction="10000"/>
          </a:bodyPr>
          <a:lstStyle/>
          <a:p>
            <a:r>
              <a:rPr lang="en-US" dirty="0"/>
              <a:t>Bootstrap is a free front-end framework for faster and easier web development</a:t>
            </a:r>
          </a:p>
          <a:p>
            <a:r>
              <a:rPr lang="en-US" dirty="0"/>
              <a:t>Bootstrap includes HTML and CSS based design templates for typography, forms, buttons, tables, navigation, modals, image carousels and many other, as well as optional JavaScript </a:t>
            </a:r>
            <a:r>
              <a:rPr lang="en-US" dirty="0" err="1"/>
              <a:t>plugins</a:t>
            </a:r>
            <a:endParaRPr lang="en-US" dirty="0"/>
          </a:p>
          <a:p>
            <a:r>
              <a:rPr lang="en-US" dirty="0"/>
              <a:t>Bootstrap also gives you the ability to easily create responsive designs</a:t>
            </a:r>
          </a:p>
          <a:p>
            <a:r>
              <a:rPr lang="en-US" b="1" dirty="0"/>
              <a:t>What is Responsive Web Design?</a:t>
            </a:r>
            <a:br>
              <a:rPr lang="en-US" dirty="0"/>
            </a:br>
            <a:br>
              <a:rPr lang="en-US" dirty="0"/>
            </a:br>
            <a:r>
              <a:rPr lang="en-US" dirty="0"/>
              <a:t>Responsive web design is about creating web sites which automatically adjust themselves to look good on all devices, from small phones to large desktops.</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Use Bootstrap?</a:t>
            </a:r>
            <a:br>
              <a:rPr lang="en-US" dirty="0"/>
            </a:br>
            <a:endParaRPr lang="en-US" dirty="0"/>
          </a:p>
        </p:txBody>
      </p:sp>
      <p:sp>
        <p:nvSpPr>
          <p:cNvPr id="3" name="Content Placeholder 2"/>
          <p:cNvSpPr>
            <a:spLocks noGrp="1"/>
          </p:cNvSpPr>
          <p:nvPr>
            <p:ph idx="1"/>
          </p:nvPr>
        </p:nvSpPr>
        <p:spPr/>
        <p:txBody>
          <a:bodyPr>
            <a:normAutofit/>
          </a:bodyPr>
          <a:lstStyle/>
          <a:p>
            <a:r>
              <a:rPr lang="en-US" b="1" dirty="0"/>
              <a:t>Easy to use:</a:t>
            </a:r>
            <a:r>
              <a:rPr lang="en-US" dirty="0"/>
              <a:t> Anybody with just basic knowledge of HTML and CSS can start using Bootstrap</a:t>
            </a:r>
          </a:p>
          <a:p>
            <a:r>
              <a:rPr lang="en-US" b="1" dirty="0"/>
              <a:t>Responsive features:</a:t>
            </a:r>
            <a:r>
              <a:rPr lang="en-US" dirty="0"/>
              <a:t> Bootstrap's responsive CSS adjusts to phones, tablets, and desktops</a:t>
            </a:r>
          </a:p>
          <a:p>
            <a:r>
              <a:rPr lang="en-US" b="1" dirty="0"/>
              <a:t>Mobile-first approach:</a:t>
            </a:r>
            <a:r>
              <a:rPr lang="en-US" dirty="0"/>
              <a:t> In Bootstrap 3, mobile-first styles are part of the core framework</a:t>
            </a:r>
          </a:p>
          <a:p>
            <a:r>
              <a:rPr lang="en-US" b="1" dirty="0"/>
              <a:t>Browser compatibility:</a:t>
            </a:r>
            <a:r>
              <a:rPr lang="en-US" dirty="0"/>
              <a:t> Bootstrap is compatible with all modern browsers (Chrome, Firefox, Internet Explorer, Edge, Safari, and Opera)</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Bootstrap Versions</a:t>
            </a:r>
            <a:br>
              <a:rPr lang="en-US" dirty="0"/>
            </a:br>
            <a:endParaRPr lang="en-US" dirty="0"/>
          </a:p>
        </p:txBody>
      </p:sp>
      <p:sp>
        <p:nvSpPr>
          <p:cNvPr id="3" name="Content Placeholder 2"/>
          <p:cNvSpPr>
            <a:spLocks noGrp="1"/>
          </p:cNvSpPr>
          <p:nvPr>
            <p:ph idx="1"/>
          </p:nvPr>
        </p:nvSpPr>
        <p:spPr/>
        <p:txBody>
          <a:bodyPr>
            <a:normAutofit/>
          </a:bodyPr>
          <a:lstStyle/>
          <a:p>
            <a:r>
              <a:rPr lang="en-US" dirty="0"/>
              <a:t>This tutorial follows </a:t>
            </a:r>
            <a:r>
              <a:rPr lang="en-US" b="1" dirty="0"/>
              <a:t>Bootstrap 3</a:t>
            </a:r>
            <a:r>
              <a:rPr lang="en-US" dirty="0"/>
              <a:t>, which was released in 2013. However, we also cover newer versions; </a:t>
            </a:r>
            <a:r>
              <a:rPr lang="en-US" u="sng" dirty="0">
                <a:hlinkClick r:id="rId2"/>
              </a:rPr>
              <a:t>Bootstrap 4 (released 2018)</a:t>
            </a:r>
            <a:r>
              <a:rPr lang="en-US" dirty="0"/>
              <a:t> and </a:t>
            </a:r>
            <a:r>
              <a:rPr lang="en-US" u="sng" dirty="0">
                <a:hlinkClick r:id="rId3"/>
              </a:rPr>
              <a:t>Bootstrap 5 (released 2021)</a:t>
            </a:r>
            <a:r>
              <a:rPr lang="en-US" dirty="0"/>
              <a:t>.</a:t>
            </a:r>
          </a:p>
          <a:p>
            <a:r>
              <a:rPr lang="en-US" u="sng" dirty="0">
                <a:hlinkClick r:id="rId3"/>
              </a:rPr>
              <a:t>Bootstrap 5</a:t>
            </a:r>
            <a:r>
              <a:rPr lang="en-US" dirty="0"/>
              <a:t> is the newest version of </a:t>
            </a:r>
            <a:r>
              <a:rPr lang="en-US" u="sng" dirty="0">
                <a:hlinkClick r:id="rId4"/>
              </a:rPr>
              <a:t>Bootstrap</a:t>
            </a:r>
            <a:r>
              <a:rPr lang="en-US" dirty="0"/>
              <a:t>; with new components, faster </a:t>
            </a:r>
            <a:r>
              <a:rPr lang="en-US" dirty="0" err="1"/>
              <a:t>stylesheets</a:t>
            </a:r>
            <a:r>
              <a:rPr lang="en-US" dirty="0"/>
              <a:t>, more responsiveness etc. It supports the latest, stable releases of all major browsers and platforms. However, Internet Explorer 11 and down is not supported.</a:t>
            </a:r>
          </a:p>
          <a:p>
            <a:r>
              <a:rPr lang="en-US" dirty="0"/>
              <a:t>The main differences between Bootstrap 5 and Bootstrap 3 &amp; 4, is that Bootstrap 5 has switched to </a:t>
            </a:r>
            <a:r>
              <a:rPr lang="en-US" u="sng" dirty="0">
                <a:hlinkClick r:id="rId5"/>
              </a:rPr>
              <a:t>JavaScript</a:t>
            </a:r>
            <a:r>
              <a:rPr lang="en-US" dirty="0"/>
              <a:t> instead of </a:t>
            </a:r>
            <a:r>
              <a:rPr lang="en-US" u="sng" dirty="0" err="1">
                <a:hlinkClick r:id="rId6"/>
              </a:rPr>
              <a:t>jQuery</a:t>
            </a:r>
            <a:r>
              <a:rPr lang="en-US" dirty="0"/>
              <a:t>.</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First Web Page With Bootstrap</a:t>
            </a:r>
            <a:br>
              <a:rPr lang="en-US" dirty="0"/>
            </a:b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a:t>Bootstrap uses HTML elements and CSS properties that require the HTML5 </a:t>
            </a:r>
            <a:r>
              <a:rPr lang="en-US" dirty="0" err="1"/>
              <a:t>doctype</a:t>
            </a:r>
            <a:r>
              <a:rPr lang="en-US" dirty="0"/>
              <a:t>.</a:t>
            </a:r>
          </a:p>
          <a:p>
            <a:r>
              <a:rPr lang="en-US" dirty="0"/>
              <a:t>Always include the HTML5 </a:t>
            </a:r>
            <a:r>
              <a:rPr lang="en-US" dirty="0" err="1"/>
              <a:t>doctype</a:t>
            </a:r>
            <a:r>
              <a:rPr lang="en-US" dirty="0"/>
              <a:t> at the beginning of the page, along with the </a:t>
            </a:r>
            <a:r>
              <a:rPr lang="en-US" dirty="0" err="1"/>
              <a:t>lang</a:t>
            </a:r>
            <a:r>
              <a:rPr lang="en-US" dirty="0"/>
              <a:t> attribute and the correct character set</a:t>
            </a:r>
          </a:p>
          <a:p>
            <a:r>
              <a:rPr lang="en-US" dirty="0"/>
              <a:t>Bootstrap is developed </a:t>
            </a:r>
            <a:r>
              <a:rPr lang="en-US" i="1" dirty="0"/>
              <a:t>mobile first</a:t>
            </a:r>
            <a:r>
              <a:rPr lang="en-US" dirty="0"/>
              <a:t>, a strategy in which we optimize code for mobile devices first and then scale up components as necessary using CSS media queries. To ensure proper rendering and touch zooming for all devices, </a:t>
            </a:r>
            <a:r>
              <a:rPr lang="en-US" b="1" dirty="0"/>
              <a:t>add the responsive viewport meta tag</a:t>
            </a:r>
            <a:r>
              <a:rPr lang="en-US" dirty="0"/>
              <a:t> to your &lt;head&gt;.</a:t>
            </a:r>
          </a:p>
          <a:p>
            <a:r>
              <a:rPr lang="en-US" dirty="0" err="1"/>
              <a:t>Charset</a:t>
            </a:r>
            <a:r>
              <a:rPr lang="en-US" dirty="0"/>
              <a:t>: This is an attribute that tells your browser what character encoding to use for this webpage to show the content as desired.</a:t>
            </a:r>
          </a:p>
          <a:p>
            <a:r>
              <a:rPr lang="en-US" dirty="0"/>
              <a:t>UTF-8: This is a version of the character set.</a:t>
            </a:r>
          </a:p>
          <a:p>
            <a:endParaRPr lang="en-US" dirty="0"/>
          </a:p>
          <a:p>
            <a:r>
              <a:rPr lang="en-US" dirty="0"/>
              <a:t>&lt;!DOCTYPE html&gt;</a:t>
            </a:r>
            <a:br>
              <a:rPr lang="en-US" dirty="0"/>
            </a:br>
            <a:r>
              <a:rPr lang="en-US" dirty="0"/>
              <a:t>&lt;html </a:t>
            </a:r>
            <a:r>
              <a:rPr lang="en-US" dirty="0" err="1"/>
              <a:t>lang</a:t>
            </a:r>
            <a:r>
              <a:rPr lang="en-US" dirty="0"/>
              <a:t>="en"&gt;</a:t>
            </a:r>
            <a:br>
              <a:rPr lang="en-US" dirty="0"/>
            </a:br>
            <a:r>
              <a:rPr lang="en-US" dirty="0"/>
              <a:t>  &lt;head&gt;</a:t>
            </a:r>
            <a:br>
              <a:rPr lang="en-US" dirty="0"/>
            </a:br>
            <a:r>
              <a:rPr lang="en-US" dirty="0"/>
              <a:t>    &lt;meta </a:t>
            </a:r>
            <a:r>
              <a:rPr lang="en-US" dirty="0" err="1"/>
              <a:t>charset</a:t>
            </a:r>
            <a:r>
              <a:rPr lang="en-US" dirty="0"/>
              <a:t>="utf-8"&gt;</a:t>
            </a:r>
            <a:br>
              <a:rPr lang="en-US" dirty="0"/>
            </a:br>
            <a:r>
              <a:rPr lang="en-US" dirty="0"/>
              <a:t>  &lt;/head&gt;</a:t>
            </a:r>
            <a:br>
              <a:rPr lang="en-US" dirty="0"/>
            </a:br>
            <a:r>
              <a:rPr lang="en-US" dirty="0"/>
              <a:t>&lt;/html&gt;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Bootstrap 3 is mobile-first</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r>
              <a:rPr lang="en-US" dirty="0"/>
              <a:t>Bootstrap 3 is designed to be responsive to mobile devices. Mobile-first styles are part of the core framework.</a:t>
            </a:r>
          </a:p>
          <a:p>
            <a:r>
              <a:rPr lang="en-US" dirty="0"/>
              <a:t>To ensure proper rendering and touch zooming, add the following &lt;meta&gt; tag inside the &lt;head&gt; element:</a:t>
            </a:r>
          </a:p>
          <a:p>
            <a:r>
              <a:rPr lang="en-US" dirty="0"/>
              <a:t>&lt;meta name="viewport" content="width=device-width, initial-scale=1"&gt;</a:t>
            </a:r>
          </a:p>
          <a:p>
            <a:r>
              <a:rPr lang="en-US" dirty="0"/>
              <a:t>The width=device-width part sets the width of the page to follow the screen-width of the device (which will vary depending on the device).</a:t>
            </a:r>
          </a:p>
          <a:p>
            <a:r>
              <a:rPr lang="en-US" dirty="0"/>
              <a:t>The initial-scale=1 part sets the initial zoom level when the page is first loaded by the browser.</a:t>
            </a:r>
          </a:p>
          <a:p>
            <a:endParaRPr lang="en-US" dirty="0"/>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Containers</a:t>
            </a:r>
            <a:endParaRPr lang="en-US" dirty="0"/>
          </a:p>
        </p:txBody>
      </p:sp>
      <p:sp>
        <p:nvSpPr>
          <p:cNvPr id="3" name="Content Placeholder 2"/>
          <p:cNvSpPr>
            <a:spLocks noGrp="1"/>
          </p:cNvSpPr>
          <p:nvPr>
            <p:ph idx="1"/>
          </p:nvPr>
        </p:nvSpPr>
        <p:spPr/>
        <p:txBody>
          <a:bodyPr>
            <a:normAutofit/>
          </a:bodyPr>
          <a:lstStyle/>
          <a:p>
            <a:r>
              <a:rPr lang="en-US" dirty="0"/>
              <a:t>Bootstrap also requires a containing element to wrap site contents.</a:t>
            </a:r>
          </a:p>
          <a:p>
            <a:r>
              <a:rPr lang="en-US" dirty="0"/>
              <a:t>There are two container classes to choose from:</a:t>
            </a:r>
          </a:p>
          <a:p>
            <a:r>
              <a:rPr lang="en-US" dirty="0"/>
              <a:t>The .container class provides a responsive </a:t>
            </a:r>
            <a:r>
              <a:rPr lang="en-US" b="1" dirty="0"/>
              <a:t>fixed width container</a:t>
            </a:r>
            <a:endParaRPr lang="en-US" dirty="0"/>
          </a:p>
          <a:p>
            <a:r>
              <a:rPr lang="en-US" dirty="0"/>
              <a:t>The .container-fluid class provides a </a:t>
            </a:r>
            <a:r>
              <a:rPr lang="en-US" b="1" dirty="0"/>
              <a:t>full width container</a:t>
            </a:r>
            <a:r>
              <a:rPr lang="en-US" dirty="0"/>
              <a:t>, spanning the entire width of the viewport</a:t>
            </a:r>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Grid Classes</a:t>
            </a:r>
            <a:br>
              <a:rPr lang="en-US" dirty="0"/>
            </a:br>
            <a:endParaRPr lang="en-US" dirty="0"/>
          </a:p>
        </p:txBody>
      </p:sp>
      <p:sp>
        <p:nvSpPr>
          <p:cNvPr id="3" name="Content Placeholder 2"/>
          <p:cNvSpPr>
            <a:spLocks noGrp="1"/>
          </p:cNvSpPr>
          <p:nvPr>
            <p:ph idx="1"/>
          </p:nvPr>
        </p:nvSpPr>
        <p:spPr/>
        <p:txBody>
          <a:bodyPr>
            <a:normAutofit/>
          </a:bodyPr>
          <a:lstStyle/>
          <a:p>
            <a:r>
              <a:rPr lang="en-US" dirty="0"/>
              <a:t>The Bootstrap grid system has four classes:</a:t>
            </a:r>
          </a:p>
          <a:p>
            <a:r>
              <a:rPr lang="en-US" dirty="0" err="1"/>
              <a:t>xs</a:t>
            </a:r>
            <a:r>
              <a:rPr lang="en-US" dirty="0"/>
              <a:t> (for phones - screens less than 768px wide)</a:t>
            </a:r>
          </a:p>
          <a:p>
            <a:r>
              <a:rPr lang="en-US" dirty="0" err="1"/>
              <a:t>sm</a:t>
            </a:r>
            <a:r>
              <a:rPr lang="en-US" dirty="0"/>
              <a:t> (for tablets - screens equal to or greater than 768px wide)</a:t>
            </a:r>
          </a:p>
          <a:p>
            <a:r>
              <a:rPr lang="en-US" dirty="0" err="1"/>
              <a:t>md</a:t>
            </a:r>
            <a:r>
              <a:rPr lang="en-US" dirty="0"/>
              <a:t> (for small laptops - screens equal to or greater than 992px wide)</a:t>
            </a:r>
          </a:p>
          <a:p>
            <a:r>
              <a:rPr lang="en-US" dirty="0" err="1"/>
              <a:t>lg</a:t>
            </a:r>
            <a:r>
              <a:rPr lang="en-US" dirty="0"/>
              <a:t> (for laptops and desktops - screens equal to or greater than 1200px wide)</a:t>
            </a:r>
          </a:p>
          <a:p>
            <a:r>
              <a:rPr lang="en-IN" dirty="0"/>
              <a:t>Ex - https://www.w3schools.com/bootstrap/bootstrap_grid_basic.asp</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Bootstrap Text/Typography</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dirty="0"/>
              <a:t>    Bootstrap's Default Settings</a:t>
            </a:r>
          </a:p>
          <a:p>
            <a:r>
              <a:rPr lang="en-US" dirty="0"/>
              <a:t>Bootstrap's global default font-size is 14px, with a line-height of 1.428.</a:t>
            </a:r>
          </a:p>
          <a:p>
            <a:r>
              <a:rPr lang="en-US" dirty="0"/>
              <a:t>This is applied to the &lt;body&gt; element and all paragraphs (&lt;p&gt;).</a:t>
            </a:r>
          </a:p>
          <a:p>
            <a:r>
              <a:rPr lang="en-US" dirty="0"/>
              <a:t>In addition, all &lt;p&gt; elements have a bottom margin that equals half their computed line-height (10px by default).</a:t>
            </a:r>
          </a:p>
          <a:p>
            <a:r>
              <a:rPr lang="en-IN" dirty="0"/>
              <a:t>Ex - https://www.w3schools.com/bootstrap/bootstrap_typography.asp</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Bootstrap Tables</a:t>
            </a:r>
          </a:p>
        </p:txBody>
      </p:sp>
      <p:sp>
        <p:nvSpPr>
          <p:cNvPr id="3" name="Content Placeholder 2"/>
          <p:cNvSpPr>
            <a:spLocks noGrp="1"/>
          </p:cNvSpPr>
          <p:nvPr>
            <p:ph idx="1"/>
          </p:nvPr>
        </p:nvSpPr>
        <p:spPr/>
        <p:txBody>
          <a:bodyPr>
            <a:normAutofit/>
          </a:bodyPr>
          <a:lstStyle/>
          <a:p>
            <a:r>
              <a:rPr lang="en-IN" dirty="0"/>
              <a:t>The &lt;table&gt; tag is used to create the table.</a:t>
            </a:r>
          </a:p>
          <a:p>
            <a:r>
              <a:rPr lang="en-IN" dirty="0"/>
              <a:t>The &lt;</a:t>
            </a:r>
            <a:r>
              <a:rPr lang="en-IN" dirty="0" err="1"/>
              <a:t>tr</a:t>
            </a:r>
            <a:r>
              <a:rPr lang="en-IN" dirty="0"/>
              <a:t>&gt; tag is used for rows and &lt;td&gt; tag is used for columns.</a:t>
            </a:r>
          </a:p>
          <a:p>
            <a:r>
              <a:rPr lang="en-IN" dirty="0"/>
              <a:t>The heading in the table can be denoted within &lt;</a:t>
            </a:r>
            <a:r>
              <a:rPr lang="en-IN" dirty="0" err="1"/>
              <a:t>thead</a:t>
            </a:r>
            <a:r>
              <a:rPr lang="en-IN" dirty="0"/>
              <a:t>&gt;&lt;</a:t>
            </a:r>
            <a:r>
              <a:rPr lang="en-IN" dirty="0" err="1"/>
              <a:t>th</a:t>
            </a:r>
            <a:r>
              <a:rPr lang="en-IN" dirty="0"/>
              <a:t>&gt;  &lt;/</a:t>
            </a:r>
            <a:r>
              <a:rPr lang="en-IN" dirty="0" err="1"/>
              <a:t>th</a:t>
            </a:r>
            <a:r>
              <a:rPr lang="en-IN" dirty="0"/>
              <a:t>&gt;&lt;/</a:t>
            </a:r>
            <a:r>
              <a:rPr lang="en-IN" dirty="0" err="1"/>
              <a:t>thead</a:t>
            </a:r>
            <a:r>
              <a:rPr lang="en-IN" dirty="0"/>
              <a:t>&gt; tag while remaining contents of the table are specified in &lt;</a:t>
            </a:r>
            <a:r>
              <a:rPr lang="en-IN" dirty="0" err="1"/>
              <a:t>tbody</a:t>
            </a:r>
            <a:r>
              <a:rPr lang="en-IN" dirty="0"/>
              <a:t>&gt; tag</a:t>
            </a:r>
          </a:p>
          <a:p>
            <a:r>
              <a:rPr lang="en-US" dirty="0"/>
              <a:t>https://www.w3schools.com/bootstrap/bootstrap_tables.asp</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Bootstrap images</a:t>
            </a:r>
            <a:br>
              <a:rPr lang="en-US" dirty="0"/>
            </a:br>
            <a:endParaRPr lang="en-US" dirty="0"/>
          </a:p>
        </p:txBody>
      </p:sp>
      <p:sp>
        <p:nvSpPr>
          <p:cNvPr id="3" name="Content Placeholder 2"/>
          <p:cNvSpPr>
            <a:spLocks noGrp="1"/>
          </p:cNvSpPr>
          <p:nvPr>
            <p:ph idx="1"/>
          </p:nvPr>
        </p:nvSpPr>
        <p:spPr/>
        <p:txBody>
          <a:bodyPr/>
          <a:lstStyle/>
          <a:p>
            <a:r>
              <a:rPr lang="en-US" dirty="0"/>
              <a:t>Bootstrap Images  - </a:t>
            </a:r>
            <a:r>
              <a:rPr lang="en-US" dirty="0">
                <a:hlinkClick r:id="rId2"/>
              </a:rPr>
              <a:t>https://www.w3schools.com/bootstrap/bootstrap_images.asp</a:t>
            </a:r>
            <a:endParaRPr lang="en-US" dirty="0"/>
          </a:p>
          <a:p>
            <a:r>
              <a:rPr lang="en-US" dirty="0"/>
              <a:t>Bootstrap Buttons - https://www.w3schools.com/bootstrap/bootstrap_buttons.asp</a:t>
            </a:r>
          </a:p>
          <a:p>
            <a:endParaRPr lang="en-US" dirty="0"/>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Bootstrap Forms</a:t>
            </a:r>
            <a:br>
              <a:rPr lang="en-US" dirty="0"/>
            </a:br>
            <a:endParaRPr lang="en-US" dirty="0"/>
          </a:p>
        </p:txBody>
      </p:sp>
      <p:sp>
        <p:nvSpPr>
          <p:cNvPr id="3" name="Content Placeholder 2"/>
          <p:cNvSpPr>
            <a:spLocks noGrp="1"/>
          </p:cNvSpPr>
          <p:nvPr>
            <p:ph idx="1"/>
          </p:nvPr>
        </p:nvSpPr>
        <p:spPr/>
        <p:txBody>
          <a:bodyPr>
            <a:noAutofit/>
          </a:bodyPr>
          <a:lstStyle/>
          <a:p>
            <a:pPr>
              <a:buFont typeface="Wingdings" pitchFamily="2" charset="2"/>
              <a:buChar char="Ø"/>
            </a:pPr>
            <a:r>
              <a:rPr lang="en-US" sz="2400" dirty="0">
                <a:latin typeface="Times New Roman" pitchFamily="18" charset="0"/>
                <a:cs typeface="Times New Roman" pitchFamily="18" charset="0"/>
              </a:rPr>
              <a:t>Bootstrap provides three types of form layouts:</a:t>
            </a:r>
          </a:p>
          <a:p>
            <a:r>
              <a:rPr lang="en-US" sz="2400" dirty="0">
                <a:latin typeface="Times New Roman" pitchFamily="18" charset="0"/>
                <a:cs typeface="Times New Roman" pitchFamily="18" charset="0"/>
              </a:rPr>
              <a:t>Vertical form (this is default)</a:t>
            </a:r>
          </a:p>
          <a:p>
            <a:r>
              <a:rPr lang="en-US" sz="2400" dirty="0">
                <a:latin typeface="Times New Roman" pitchFamily="18" charset="0"/>
                <a:cs typeface="Times New Roman" pitchFamily="18" charset="0"/>
              </a:rPr>
              <a:t>Horizontal form</a:t>
            </a:r>
          </a:p>
          <a:p>
            <a:r>
              <a:rPr lang="en-US" sz="2400" dirty="0">
                <a:latin typeface="Times New Roman" pitchFamily="18" charset="0"/>
                <a:cs typeface="Times New Roman" pitchFamily="18" charset="0"/>
              </a:rPr>
              <a:t>Inline form</a:t>
            </a:r>
          </a:p>
          <a:p>
            <a:pPr>
              <a:buFont typeface="Wingdings" pitchFamily="2" charset="2"/>
              <a:buChar char="Ø"/>
            </a:pPr>
            <a:r>
              <a:rPr lang="en-US" sz="2400" dirty="0">
                <a:latin typeface="Times New Roman" pitchFamily="18" charset="0"/>
                <a:cs typeface="Times New Roman" pitchFamily="18" charset="0"/>
              </a:rPr>
              <a:t>Standard rules for all three form layouts:</a:t>
            </a:r>
          </a:p>
          <a:p>
            <a:r>
              <a:rPr lang="en-US" sz="2400" dirty="0">
                <a:latin typeface="Times New Roman" pitchFamily="18" charset="0"/>
                <a:cs typeface="Times New Roman" pitchFamily="18" charset="0"/>
              </a:rPr>
              <a:t>Wrap labels and form controls in &lt;div class="form-group"&gt; (needed for optimum spacing)</a:t>
            </a:r>
          </a:p>
          <a:p>
            <a:r>
              <a:rPr lang="en-US" sz="2400" dirty="0">
                <a:latin typeface="Times New Roman" pitchFamily="18" charset="0"/>
                <a:cs typeface="Times New Roman" pitchFamily="18" charset="0"/>
              </a:rPr>
              <a:t>Add class .form-control to all textual &lt;input&gt;, &lt;</a:t>
            </a:r>
            <a:r>
              <a:rPr lang="en-US" sz="2400" dirty="0" err="1">
                <a:latin typeface="Times New Roman" pitchFamily="18" charset="0"/>
                <a:cs typeface="Times New Roman" pitchFamily="18" charset="0"/>
              </a:rPr>
              <a:t>textarea</a:t>
            </a:r>
            <a:r>
              <a:rPr lang="en-US" sz="2400" dirty="0">
                <a:latin typeface="Times New Roman" pitchFamily="18" charset="0"/>
                <a:cs typeface="Times New Roman" pitchFamily="18" charset="0"/>
              </a:rPr>
              <a:t>&gt;, and &lt;select&gt; elements</a:t>
            </a:r>
          </a:p>
          <a:p>
            <a:pPr>
              <a:buNone/>
            </a:pPr>
            <a:r>
              <a:rPr lang="en-US" sz="2400" dirty="0">
                <a:latin typeface="Times New Roman" pitchFamily="18" charset="0"/>
                <a:cs typeface="Times New Roman" pitchFamily="18" charset="0"/>
              </a:rPr>
              <a:t>Ex. - https://www.w3schools.com/bootstrap/bootstrap_forms.asp</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24347</TotalTime>
  <Words>6538</Words>
  <Application>Microsoft Office PowerPoint</Application>
  <PresentationFormat>On-screen Show (4:3)</PresentationFormat>
  <Paragraphs>422</Paragraphs>
  <Slides>117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117</vt:i4>
      </vt:variant>
    </vt:vector>
  </HeadingPairs>
  <TitlesOfParts>
    <vt:vector size="122" baseType="lpstr">
      <vt:lpstr>Calisto MT</vt:lpstr>
      <vt:lpstr>Times New Roman</vt:lpstr>
      <vt:lpstr>Wingdings</vt:lpstr>
      <vt:lpstr>Wingdings 2</vt:lpstr>
      <vt:lpstr>Slate</vt:lpstr>
      <vt:lpstr>Web Essentials and Mark-up language -HTML </vt:lpstr>
      <vt:lpstr>What is Web Techonology?</vt:lpstr>
      <vt:lpstr>The Internet</vt:lpstr>
      <vt:lpstr>World Wide Web</vt:lpstr>
      <vt:lpstr>History of the WWW </vt:lpstr>
      <vt:lpstr>Internet or WWW?</vt:lpstr>
      <vt:lpstr>Basic Internet Protocols:</vt:lpstr>
      <vt:lpstr>1. File Transfer Protocol (FTP)</vt:lpstr>
      <vt:lpstr>  Mechanism of FTP  </vt:lpstr>
      <vt:lpstr>PowerPoint Presentation</vt:lpstr>
      <vt:lpstr>There are two types of connections in FTP:</vt:lpstr>
      <vt:lpstr>HTTP</vt:lpstr>
      <vt:lpstr>SNMP</vt:lpstr>
      <vt:lpstr>SMTP </vt:lpstr>
      <vt:lpstr>POP3</vt:lpstr>
      <vt:lpstr>Transmission control Protocol (TCP) </vt:lpstr>
      <vt:lpstr>     What is Internet Protocol (IP)?    Internet Protocol is a method that is useful for sending data from one device to another from all over the internet. Every device contains a unique IP Address that helps it communicate and exchange data across other devices present on the internet. </vt:lpstr>
      <vt:lpstr> Working of Transmission Control Protocol (TCP) </vt:lpstr>
      <vt:lpstr>Working of Transmission Control Protocol (TCP)</vt:lpstr>
      <vt:lpstr>TCP/IP</vt:lpstr>
      <vt:lpstr>UDP</vt:lpstr>
      <vt:lpstr>The web site design issue</vt:lpstr>
      <vt:lpstr>PowerPoint Presentation</vt:lpstr>
      <vt:lpstr>HTTP Request Message and Response Message</vt:lpstr>
      <vt:lpstr>HTTP Request message structure</vt:lpstr>
      <vt:lpstr>How Does a Request/Response model works?</vt:lpstr>
      <vt:lpstr>Request Method – Various methods are used for making the request are enlisted in the following table - </vt:lpstr>
      <vt:lpstr>Request URI</vt:lpstr>
      <vt:lpstr>HTTP Version</vt:lpstr>
      <vt:lpstr>HTTP Request Message Structure</vt:lpstr>
      <vt:lpstr>HTTP Response Message structure</vt:lpstr>
      <vt:lpstr>PowerPoint Presentation</vt:lpstr>
      <vt:lpstr>PowerPoint Presentation</vt:lpstr>
      <vt:lpstr>PowerPoint Presentation</vt:lpstr>
      <vt:lpstr>PowerPoint Presentation</vt:lpstr>
      <vt:lpstr>Features of HTTP Protocol</vt:lpstr>
      <vt:lpstr>Web clients</vt:lpstr>
      <vt:lpstr>Web Browser </vt:lpstr>
      <vt:lpstr>How does a Web Browser Work? </vt:lpstr>
      <vt:lpstr>PowerPoint Presentation</vt:lpstr>
      <vt:lpstr>PowerPoint Presentation</vt:lpstr>
      <vt:lpstr>URL</vt:lpstr>
      <vt:lpstr>PowerPoint Presentation</vt:lpstr>
      <vt:lpstr>PowerPoint Presentation</vt:lpstr>
      <vt:lpstr>Parts of a URL </vt:lpstr>
      <vt:lpstr>Absolute and relative URL</vt:lpstr>
      <vt:lpstr>Web Servers</vt:lpstr>
      <vt:lpstr>Functions of a Web Server </vt:lpstr>
      <vt:lpstr>PowerPoint Presentation</vt:lpstr>
      <vt:lpstr>How Does a Web Server Work? </vt:lpstr>
      <vt:lpstr>How Does a Web Server Work? </vt:lpstr>
      <vt:lpstr>Types of Web Servers </vt:lpstr>
      <vt:lpstr>Difference of Apache HTTP Server and IIS  web server </vt:lpstr>
      <vt:lpstr>client side scripting and client side scripting</vt:lpstr>
      <vt:lpstr>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Paragraphs</vt:lpstr>
      <vt:lpstr>Text Formatting</vt:lpstr>
      <vt:lpstr>Text Formatting Example</vt:lpstr>
      <vt:lpstr>Setting font and colour</vt:lpstr>
      <vt:lpstr>HTML Links - Syntax </vt:lpstr>
      <vt:lpstr>Frames</vt:lpstr>
      <vt:lpstr>HTML Lists </vt:lpstr>
      <vt:lpstr>Table</vt:lpstr>
      <vt:lpstr>Images</vt:lpstr>
      <vt:lpstr>Features of HTML: </vt:lpstr>
      <vt:lpstr>Features of HTML5</vt:lpstr>
      <vt:lpstr>Difference between HTML and HTML5</vt:lpstr>
      <vt:lpstr>Difference between HTML and HTML5</vt:lpstr>
      <vt:lpstr>What is CSS </vt:lpstr>
      <vt:lpstr>Advantages of CSS</vt:lpstr>
      <vt:lpstr>CSS - Syntax</vt:lpstr>
      <vt:lpstr>PowerPoint Presentation</vt:lpstr>
      <vt:lpstr>CSS selectors (1)</vt:lpstr>
      <vt:lpstr>PowerPoint Presentation</vt:lpstr>
      <vt:lpstr>CSS selectors (2)</vt:lpstr>
      <vt:lpstr>PowerPoint Presentation</vt:lpstr>
      <vt:lpstr>CSS selectors (3)</vt:lpstr>
      <vt:lpstr>PowerPoint Presentation</vt:lpstr>
      <vt:lpstr>   CSS selectors (4)   </vt:lpstr>
      <vt:lpstr>CSS selectors (5)</vt:lpstr>
      <vt:lpstr>PowerPoint Presentation</vt:lpstr>
      <vt:lpstr>Insert CSS in HTML</vt:lpstr>
      <vt:lpstr>Style rule cascading and inheritance</vt:lpstr>
      <vt:lpstr>Steps in CSS cascade</vt:lpstr>
      <vt:lpstr>Inheritance</vt:lpstr>
      <vt:lpstr>PowerPoint Presentation</vt:lpstr>
      <vt:lpstr>PowerPoint Presentation</vt:lpstr>
      <vt:lpstr>PowerPoint Presentation</vt:lpstr>
      <vt:lpstr>CSS font families</vt:lpstr>
      <vt:lpstr>PowerPoint Presentation</vt:lpstr>
      <vt:lpstr>PowerPoint Presentation</vt:lpstr>
      <vt:lpstr>Font Size</vt:lpstr>
      <vt:lpstr>Font Variants</vt:lpstr>
      <vt:lpstr>PowerPoint Presentation</vt:lpstr>
      <vt:lpstr>Font Weights</vt:lpstr>
      <vt:lpstr>Font shorthands</vt:lpstr>
      <vt:lpstr>Bootstrap</vt:lpstr>
      <vt:lpstr>Why Use Bootstrap? </vt:lpstr>
      <vt:lpstr>Bootstrap Versions </vt:lpstr>
      <vt:lpstr>Create First Web Page With Bootstrap </vt:lpstr>
      <vt:lpstr>2. Bootstrap 3 is mobile-first</vt:lpstr>
      <vt:lpstr>3. Containers</vt:lpstr>
      <vt:lpstr>Grid Classes </vt:lpstr>
      <vt:lpstr>Bootstrap Text/Typography </vt:lpstr>
      <vt:lpstr>Bootstrap Tables</vt:lpstr>
      <vt:lpstr>Bootstrap images </vt:lpstr>
      <vt:lpstr>Bootstrap Forms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Essentials and Mark-up language -HTML </dc:title>
  <dc:creator>AIDS36</dc:creator>
  <cp:lastModifiedBy>Atharv Patil</cp:lastModifiedBy>
  <cp:revision>279</cp:revision>
  <dcterms:created xsi:type="dcterms:W3CDTF">2006-08-16T00:00:00Z</dcterms:created>
  <dcterms:modified xsi:type="dcterms:W3CDTF">2024-09-02T19:27:45Z</dcterms:modified>
</cp:coreProperties>
</file>