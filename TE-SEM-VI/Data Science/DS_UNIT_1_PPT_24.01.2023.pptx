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257" r:id="rId3"/>
    <p:sldId id="259" r:id="rId4"/>
    <p:sldId id="260" r:id="rId5"/>
    <p:sldId id="261" r:id="rId6"/>
    <p:sldId id="302" r:id="rId7"/>
    <p:sldId id="303" r:id="rId8"/>
    <p:sldId id="304" r:id="rId9"/>
    <p:sldId id="262" r:id="rId10"/>
    <p:sldId id="265" r:id="rId11"/>
    <p:sldId id="335" r:id="rId12"/>
    <p:sldId id="336" r:id="rId13"/>
    <p:sldId id="266" r:id="rId14"/>
    <p:sldId id="267" r:id="rId15"/>
    <p:sldId id="268" r:id="rId16"/>
    <p:sldId id="269" r:id="rId17"/>
    <p:sldId id="270" r:id="rId18"/>
    <p:sldId id="305" r:id="rId19"/>
    <p:sldId id="274" r:id="rId20"/>
    <p:sldId id="275" r:id="rId21"/>
    <p:sldId id="276" r:id="rId22"/>
    <p:sldId id="277" r:id="rId23"/>
    <p:sldId id="272" r:id="rId24"/>
    <p:sldId id="337" r:id="rId25"/>
    <p:sldId id="278" r:id="rId26"/>
    <p:sldId id="279" r:id="rId27"/>
    <p:sldId id="280" r:id="rId28"/>
    <p:sldId id="281" r:id="rId29"/>
    <p:sldId id="282" r:id="rId30"/>
    <p:sldId id="300" r:id="rId31"/>
    <p:sldId id="306" r:id="rId32"/>
    <p:sldId id="283" r:id="rId33"/>
    <p:sldId id="284" r:id="rId34"/>
    <p:sldId id="307" r:id="rId35"/>
    <p:sldId id="308" r:id="rId36"/>
    <p:sldId id="309" r:id="rId37"/>
    <p:sldId id="310" r:id="rId38"/>
    <p:sldId id="338" r:id="rId39"/>
    <p:sldId id="311" r:id="rId40"/>
    <p:sldId id="312" r:id="rId41"/>
    <p:sldId id="313" r:id="rId42"/>
    <p:sldId id="314" r:id="rId43"/>
    <p:sldId id="315" r:id="rId44"/>
    <p:sldId id="316" r:id="rId45"/>
    <p:sldId id="317" r:id="rId46"/>
    <p:sldId id="318" r:id="rId47"/>
    <p:sldId id="319" r:id="rId48"/>
    <p:sldId id="320" r:id="rId49"/>
    <p:sldId id="322" r:id="rId50"/>
    <p:sldId id="321" r:id="rId51"/>
    <p:sldId id="342" r:id="rId52"/>
    <p:sldId id="323" r:id="rId53"/>
    <p:sldId id="324" r:id="rId54"/>
    <p:sldId id="295" r:id="rId55"/>
    <p:sldId id="325" r:id="rId56"/>
    <p:sldId id="343" r:id="rId57"/>
    <p:sldId id="346" r:id="rId58"/>
    <p:sldId id="347" r:id="rId59"/>
    <p:sldId id="326" r:id="rId60"/>
    <p:sldId id="327" r:id="rId61"/>
    <p:sldId id="328" r:id="rId62"/>
    <p:sldId id="329" r:id="rId63"/>
    <p:sldId id="330" r:id="rId64"/>
    <p:sldId id="296" r:id="rId65"/>
    <p:sldId id="331" r:id="rId66"/>
    <p:sldId id="344" r:id="rId67"/>
    <p:sldId id="333" r:id="rId68"/>
    <p:sldId id="345" r:id="rId69"/>
    <p:sldId id="332" r:id="rId70"/>
    <p:sldId id="334" r:id="rId71"/>
    <p:sldId id="301" r:id="rId72"/>
    <p:sldId id="341" r:id="rId73"/>
  </p:sldIdLst>
  <p:sldSz cx="10801350" cy="7200900"/>
  <p:notesSz cx="6858000" cy="9144000"/>
  <p:defaultTextStyle>
    <a:defPPr>
      <a:defRPr lang="en-US"/>
    </a:defPPr>
    <a:lvl1pPr marL="0" algn="l" defTabSz="1131451" rtl="0" eaLnBrk="1" latinLnBrk="0" hangingPunct="1">
      <a:defRPr sz="2200" kern="1200">
        <a:solidFill>
          <a:schemeClr val="tx1"/>
        </a:solidFill>
        <a:latin typeface="+mn-lt"/>
        <a:ea typeface="+mn-ea"/>
        <a:cs typeface="+mn-cs"/>
      </a:defRPr>
    </a:lvl1pPr>
    <a:lvl2pPr marL="565725" algn="l" defTabSz="1131451" rtl="0" eaLnBrk="1" latinLnBrk="0" hangingPunct="1">
      <a:defRPr sz="2200" kern="1200">
        <a:solidFill>
          <a:schemeClr val="tx1"/>
        </a:solidFill>
        <a:latin typeface="+mn-lt"/>
        <a:ea typeface="+mn-ea"/>
        <a:cs typeface="+mn-cs"/>
      </a:defRPr>
    </a:lvl2pPr>
    <a:lvl3pPr marL="1131451" algn="l" defTabSz="1131451" rtl="0" eaLnBrk="1" latinLnBrk="0" hangingPunct="1">
      <a:defRPr sz="2200" kern="1200">
        <a:solidFill>
          <a:schemeClr val="tx1"/>
        </a:solidFill>
        <a:latin typeface="+mn-lt"/>
        <a:ea typeface="+mn-ea"/>
        <a:cs typeface="+mn-cs"/>
      </a:defRPr>
    </a:lvl3pPr>
    <a:lvl4pPr marL="1697176" algn="l" defTabSz="1131451" rtl="0" eaLnBrk="1" latinLnBrk="0" hangingPunct="1">
      <a:defRPr sz="2200" kern="1200">
        <a:solidFill>
          <a:schemeClr val="tx1"/>
        </a:solidFill>
        <a:latin typeface="+mn-lt"/>
        <a:ea typeface="+mn-ea"/>
        <a:cs typeface="+mn-cs"/>
      </a:defRPr>
    </a:lvl4pPr>
    <a:lvl5pPr marL="2262901" algn="l" defTabSz="1131451" rtl="0" eaLnBrk="1" latinLnBrk="0" hangingPunct="1">
      <a:defRPr sz="2200" kern="1200">
        <a:solidFill>
          <a:schemeClr val="tx1"/>
        </a:solidFill>
        <a:latin typeface="+mn-lt"/>
        <a:ea typeface="+mn-ea"/>
        <a:cs typeface="+mn-cs"/>
      </a:defRPr>
    </a:lvl5pPr>
    <a:lvl6pPr marL="2828626" algn="l" defTabSz="1131451" rtl="0" eaLnBrk="1" latinLnBrk="0" hangingPunct="1">
      <a:defRPr sz="2200" kern="1200">
        <a:solidFill>
          <a:schemeClr val="tx1"/>
        </a:solidFill>
        <a:latin typeface="+mn-lt"/>
        <a:ea typeface="+mn-ea"/>
        <a:cs typeface="+mn-cs"/>
      </a:defRPr>
    </a:lvl6pPr>
    <a:lvl7pPr marL="3394352" algn="l" defTabSz="1131451" rtl="0" eaLnBrk="1" latinLnBrk="0" hangingPunct="1">
      <a:defRPr sz="2200" kern="1200">
        <a:solidFill>
          <a:schemeClr val="tx1"/>
        </a:solidFill>
        <a:latin typeface="+mn-lt"/>
        <a:ea typeface="+mn-ea"/>
        <a:cs typeface="+mn-cs"/>
      </a:defRPr>
    </a:lvl7pPr>
    <a:lvl8pPr marL="3960077" algn="l" defTabSz="1131451" rtl="0" eaLnBrk="1" latinLnBrk="0" hangingPunct="1">
      <a:defRPr sz="2200" kern="1200">
        <a:solidFill>
          <a:schemeClr val="tx1"/>
        </a:solidFill>
        <a:latin typeface="+mn-lt"/>
        <a:ea typeface="+mn-ea"/>
        <a:cs typeface="+mn-cs"/>
      </a:defRPr>
    </a:lvl8pPr>
    <a:lvl9pPr marL="4525802" algn="l" defTabSz="1131451" rtl="0" eaLnBrk="1" latinLnBrk="0" hangingPunct="1">
      <a:defRPr sz="22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2" d="100"/>
          <a:sy n="82" d="100"/>
        </p:scale>
        <p:origin x="-1188" y="-90"/>
      </p:cViewPr>
      <p:guideLst>
        <p:guide orient="horz" pos="2269"/>
        <p:guide pos="3402"/>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3E8DDD-61D3-4D24-A87A-50087B6A3C57}" type="datetimeFigureOut">
              <a:rPr lang="en-US" smtClean="0"/>
              <a:pPr/>
              <a:t>1/20/2025</a:t>
            </a:fld>
            <a:endParaRPr lang="en-US"/>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7B8BA0A-6327-4C37-9BD4-10F9A1AEAA9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1131451" rtl="0" eaLnBrk="1" latinLnBrk="0" hangingPunct="1">
      <a:defRPr sz="1500" kern="1200">
        <a:solidFill>
          <a:schemeClr val="tx1"/>
        </a:solidFill>
        <a:latin typeface="+mn-lt"/>
        <a:ea typeface="+mn-ea"/>
        <a:cs typeface="+mn-cs"/>
      </a:defRPr>
    </a:lvl1pPr>
    <a:lvl2pPr marL="565725" algn="l" defTabSz="1131451" rtl="0" eaLnBrk="1" latinLnBrk="0" hangingPunct="1">
      <a:defRPr sz="1500" kern="1200">
        <a:solidFill>
          <a:schemeClr val="tx1"/>
        </a:solidFill>
        <a:latin typeface="+mn-lt"/>
        <a:ea typeface="+mn-ea"/>
        <a:cs typeface="+mn-cs"/>
      </a:defRPr>
    </a:lvl2pPr>
    <a:lvl3pPr marL="1131451" algn="l" defTabSz="1131451" rtl="0" eaLnBrk="1" latinLnBrk="0" hangingPunct="1">
      <a:defRPr sz="1500" kern="1200">
        <a:solidFill>
          <a:schemeClr val="tx1"/>
        </a:solidFill>
        <a:latin typeface="+mn-lt"/>
        <a:ea typeface="+mn-ea"/>
        <a:cs typeface="+mn-cs"/>
      </a:defRPr>
    </a:lvl3pPr>
    <a:lvl4pPr marL="1697176" algn="l" defTabSz="1131451" rtl="0" eaLnBrk="1" latinLnBrk="0" hangingPunct="1">
      <a:defRPr sz="1500" kern="1200">
        <a:solidFill>
          <a:schemeClr val="tx1"/>
        </a:solidFill>
        <a:latin typeface="+mn-lt"/>
        <a:ea typeface="+mn-ea"/>
        <a:cs typeface="+mn-cs"/>
      </a:defRPr>
    </a:lvl4pPr>
    <a:lvl5pPr marL="2262901" algn="l" defTabSz="1131451" rtl="0" eaLnBrk="1" latinLnBrk="0" hangingPunct="1">
      <a:defRPr sz="1500" kern="1200">
        <a:solidFill>
          <a:schemeClr val="tx1"/>
        </a:solidFill>
        <a:latin typeface="+mn-lt"/>
        <a:ea typeface="+mn-ea"/>
        <a:cs typeface="+mn-cs"/>
      </a:defRPr>
    </a:lvl5pPr>
    <a:lvl6pPr marL="2828626" algn="l" defTabSz="1131451" rtl="0" eaLnBrk="1" latinLnBrk="0" hangingPunct="1">
      <a:defRPr sz="1500" kern="1200">
        <a:solidFill>
          <a:schemeClr val="tx1"/>
        </a:solidFill>
        <a:latin typeface="+mn-lt"/>
        <a:ea typeface="+mn-ea"/>
        <a:cs typeface="+mn-cs"/>
      </a:defRPr>
    </a:lvl6pPr>
    <a:lvl7pPr marL="3394352" algn="l" defTabSz="1131451" rtl="0" eaLnBrk="1" latinLnBrk="0" hangingPunct="1">
      <a:defRPr sz="1500" kern="1200">
        <a:solidFill>
          <a:schemeClr val="tx1"/>
        </a:solidFill>
        <a:latin typeface="+mn-lt"/>
        <a:ea typeface="+mn-ea"/>
        <a:cs typeface="+mn-cs"/>
      </a:defRPr>
    </a:lvl7pPr>
    <a:lvl8pPr marL="3960077" algn="l" defTabSz="1131451" rtl="0" eaLnBrk="1" latinLnBrk="0" hangingPunct="1">
      <a:defRPr sz="1500" kern="1200">
        <a:solidFill>
          <a:schemeClr val="tx1"/>
        </a:solidFill>
        <a:latin typeface="+mn-lt"/>
        <a:ea typeface="+mn-ea"/>
        <a:cs typeface="+mn-cs"/>
      </a:defRPr>
    </a:lvl8pPr>
    <a:lvl9pPr marL="4525802" algn="l" defTabSz="1131451" rtl="0" eaLnBrk="1" latinLnBrk="0" hangingPunct="1">
      <a:defRPr sz="1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7B8BA0A-6327-4C37-9BD4-10F9A1AEAA93}"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2b0234faaaa_0_14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2b0234faaaa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b0234faaaa_0_1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b0234faaaa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0103" y="2236947"/>
            <a:ext cx="9181147" cy="1543526"/>
          </a:xfrm>
        </p:spPr>
        <p:txBody>
          <a:bodyPr/>
          <a:lstStyle/>
          <a:p>
            <a:r>
              <a:rPr lang="en-US" smtClean="0"/>
              <a:t>Click to edit Master title style</a:t>
            </a:r>
            <a:endParaRPr lang="en-US"/>
          </a:p>
        </p:txBody>
      </p:sp>
      <p:sp>
        <p:nvSpPr>
          <p:cNvPr id="3" name="Subtitle 2"/>
          <p:cNvSpPr>
            <a:spLocks noGrp="1"/>
          </p:cNvSpPr>
          <p:nvPr>
            <p:ph type="subTitle" idx="1"/>
          </p:nvPr>
        </p:nvSpPr>
        <p:spPr>
          <a:xfrm>
            <a:off x="1620203" y="4080511"/>
            <a:ext cx="7560946" cy="1840230"/>
          </a:xfrm>
        </p:spPr>
        <p:txBody>
          <a:bodyPr/>
          <a:lstStyle>
            <a:lvl1pPr marL="0" indent="0" algn="ctr">
              <a:buNone/>
              <a:defRPr>
                <a:solidFill>
                  <a:schemeClr val="tx1">
                    <a:tint val="75000"/>
                  </a:schemeClr>
                </a:solidFill>
              </a:defRPr>
            </a:lvl1pPr>
            <a:lvl2pPr marL="565725" indent="0" algn="ctr">
              <a:buNone/>
              <a:defRPr>
                <a:solidFill>
                  <a:schemeClr val="tx1">
                    <a:tint val="75000"/>
                  </a:schemeClr>
                </a:solidFill>
              </a:defRPr>
            </a:lvl2pPr>
            <a:lvl3pPr marL="1131451" indent="0" algn="ctr">
              <a:buNone/>
              <a:defRPr>
                <a:solidFill>
                  <a:schemeClr val="tx1">
                    <a:tint val="75000"/>
                  </a:schemeClr>
                </a:solidFill>
              </a:defRPr>
            </a:lvl3pPr>
            <a:lvl4pPr marL="1697176" indent="0" algn="ctr">
              <a:buNone/>
              <a:defRPr>
                <a:solidFill>
                  <a:schemeClr val="tx1">
                    <a:tint val="75000"/>
                  </a:schemeClr>
                </a:solidFill>
              </a:defRPr>
            </a:lvl4pPr>
            <a:lvl5pPr marL="2262901" indent="0" algn="ctr">
              <a:buNone/>
              <a:defRPr>
                <a:solidFill>
                  <a:schemeClr val="tx1">
                    <a:tint val="75000"/>
                  </a:schemeClr>
                </a:solidFill>
              </a:defRPr>
            </a:lvl5pPr>
            <a:lvl6pPr marL="2828626" indent="0" algn="ctr">
              <a:buNone/>
              <a:defRPr>
                <a:solidFill>
                  <a:schemeClr val="tx1">
                    <a:tint val="75000"/>
                  </a:schemeClr>
                </a:solidFill>
              </a:defRPr>
            </a:lvl6pPr>
            <a:lvl7pPr marL="3394352" indent="0" algn="ctr">
              <a:buNone/>
              <a:defRPr>
                <a:solidFill>
                  <a:schemeClr val="tx1">
                    <a:tint val="75000"/>
                  </a:schemeClr>
                </a:solidFill>
              </a:defRPr>
            </a:lvl7pPr>
            <a:lvl8pPr marL="3960077" indent="0" algn="ctr">
              <a:buNone/>
              <a:defRPr>
                <a:solidFill>
                  <a:schemeClr val="tx1">
                    <a:tint val="75000"/>
                  </a:schemeClr>
                </a:solidFill>
              </a:defRPr>
            </a:lvl8pPr>
            <a:lvl9pPr marL="4525802"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3234" y="4627247"/>
            <a:ext cx="9181147" cy="1430178"/>
          </a:xfrm>
        </p:spPr>
        <p:txBody>
          <a:bodyPr anchor="t"/>
          <a:lstStyle>
            <a:lvl1pPr algn="l">
              <a:defRPr sz="4900" b="1" cap="all"/>
            </a:lvl1pPr>
          </a:lstStyle>
          <a:p>
            <a:r>
              <a:rPr lang="en-US" smtClean="0"/>
              <a:t>Click to edit Master title style</a:t>
            </a:r>
            <a:endParaRPr lang="en-US"/>
          </a:p>
        </p:txBody>
      </p:sp>
      <p:sp>
        <p:nvSpPr>
          <p:cNvPr id="3" name="Text Placeholder 2"/>
          <p:cNvSpPr>
            <a:spLocks noGrp="1"/>
          </p:cNvSpPr>
          <p:nvPr>
            <p:ph type="body" idx="1"/>
          </p:nvPr>
        </p:nvSpPr>
        <p:spPr>
          <a:xfrm>
            <a:off x="853234" y="3052050"/>
            <a:ext cx="9181147" cy="1575196"/>
          </a:xfrm>
        </p:spPr>
        <p:txBody>
          <a:bodyPr anchor="b"/>
          <a:lstStyle>
            <a:lvl1pPr marL="0" indent="0">
              <a:buNone/>
              <a:defRPr sz="2500">
                <a:solidFill>
                  <a:schemeClr val="tx1">
                    <a:tint val="75000"/>
                  </a:schemeClr>
                </a:solidFill>
              </a:defRPr>
            </a:lvl1pPr>
            <a:lvl2pPr marL="565725" indent="0">
              <a:buNone/>
              <a:defRPr sz="2200">
                <a:solidFill>
                  <a:schemeClr val="tx1">
                    <a:tint val="75000"/>
                  </a:schemeClr>
                </a:solidFill>
              </a:defRPr>
            </a:lvl2pPr>
            <a:lvl3pPr marL="1131451" indent="0">
              <a:buNone/>
              <a:defRPr sz="2000">
                <a:solidFill>
                  <a:schemeClr val="tx1">
                    <a:tint val="75000"/>
                  </a:schemeClr>
                </a:solidFill>
              </a:defRPr>
            </a:lvl3pPr>
            <a:lvl4pPr marL="1697176" indent="0">
              <a:buNone/>
              <a:defRPr sz="1800">
                <a:solidFill>
                  <a:schemeClr val="tx1">
                    <a:tint val="75000"/>
                  </a:schemeClr>
                </a:solidFill>
              </a:defRPr>
            </a:lvl4pPr>
            <a:lvl5pPr marL="2262901" indent="0">
              <a:buNone/>
              <a:defRPr sz="1800">
                <a:solidFill>
                  <a:schemeClr val="tx1">
                    <a:tint val="75000"/>
                  </a:schemeClr>
                </a:solidFill>
              </a:defRPr>
            </a:lvl5pPr>
            <a:lvl6pPr marL="2828626" indent="0">
              <a:buNone/>
              <a:defRPr sz="1800">
                <a:solidFill>
                  <a:schemeClr val="tx1">
                    <a:tint val="75000"/>
                  </a:schemeClr>
                </a:solidFill>
              </a:defRPr>
            </a:lvl6pPr>
            <a:lvl7pPr marL="3394352" indent="0">
              <a:buNone/>
              <a:defRPr sz="1800">
                <a:solidFill>
                  <a:schemeClr val="tx1">
                    <a:tint val="75000"/>
                  </a:schemeClr>
                </a:solidFill>
              </a:defRPr>
            </a:lvl7pPr>
            <a:lvl8pPr marL="3960077" indent="0">
              <a:buNone/>
              <a:defRPr sz="1800">
                <a:solidFill>
                  <a:schemeClr val="tx1">
                    <a:tint val="75000"/>
                  </a:schemeClr>
                </a:solidFill>
              </a:defRPr>
            </a:lvl8pPr>
            <a:lvl9pPr marL="4525802" indent="0">
              <a:buNone/>
              <a:defRPr sz="18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40067" y="1680211"/>
            <a:ext cx="4770596" cy="4752262"/>
          </a:xfrm>
        </p:spPr>
        <p:txBody>
          <a:bodyPr/>
          <a:lstStyle>
            <a:lvl1pPr>
              <a:defRPr sz="3500"/>
            </a:lvl1pPr>
            <a:lvl2pPr>
              <a:defRPr sz="29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490687" y="1680211"/>
            <a:ext cx="4770596" cy="4752262"/>
          </a:xfrm>
        </p:spPr>
        <p:txBody>
          <a:bodyPr/>
          <a:lstStyle>
            <a:lvl1pPr>
              <a:defRPr sz="3500"/>
            </a:lvl1pPr>
            <a:lvl2pPr>
              <a:defRPr sz="29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40067" y="1611870"/>
            <a:ext cx="4772472" cy="671750"/>
          </a:xfrm>
        </p:spPr>
        <p:txBody>
          <a:bodyPr anchor="b"/>
          <a:lstStyle>
            <a:lvl1pPr marL="0" indent="0">
              <a:buNone/>
              <a:defRPr sz="2900" b="1"/>
            </a:lvl1pPr>
            <a:lvl2pPr marL="565725" indent="0">
              <a:buNone/>
              <a:defRPr sz="2500" b="1"/>
            </a:lvl2pPr>
            <a:lvl3pPr marL="1131451" indent="0">
              <a:buNone/>
              <a:defRPr sz="2200" b="1"/>
            </a:lvl3pPr>
            <a:lvl4pPr marL="1697176" indent="0">
              <a:buNone/>
              <a:defRPr sz="2000" b="1"/>
            </a:lvl4pPr>
            <a:lvl5pPr marL="2262901" indent="0">
              <a:buNone/>
              <a:defRPr sz="2000" b="1"/>
            </a:lvl5pPr>
            <a:lvl6pPr marL="2828626" indent="0">
              <a:buNone/>
              <a:defRPr sz="2000" b="1"/>
            </a:lvl6pPr>
            <a:lvl7pPr marL="3394352" indent="0">
              <a:buNone/>
              <a:defRPr sz="2000" b="1"/>
            </a:lvl7pPr>
            <a:lvl8pPr marL="3960077" indent="0">
              <a:buNone/>
              <a:defRPr sz="2000" b="1"/>
            </a:lvl8pPr>
            <a:lvl9pPr marL="4525802" indent="0">
              <a:buNone/>
              <a:defRPr sz="2000" b="1"/>
            </a:lvl9pPr>
          </a:lstStyle>
          <a:p>
            <a:pPr lvl="0"/>
            <a:r>
              <a:rPr lang="en-US" smtClean="0"/>
              <a:t>Click to edit Master text styles</a:t>
            </a:r>
          </a:p>
        </p:txBody>
      </p:sp>
      <p:sp>
        <p:nvSpPr>
          <p:cNvPr id="4" name="Content Placeholder 3"/>
          <p:cNvSpPr>
            <a:spLocks noGrp="1"/>
          </p:cNvSpPr>
          <p:nvPr>
            <p:ph sz="half" idx="2"/>
          </p:nvPr>
        </p:nvSpPr>
        <p:spPr>
          <a:xfrm>
            <a:off x="540067" y="2283618"/>
            <a:ext cx="4772472" cy="4148853"/>
          </a:xfrm>
        </p:spPr>
        <p:txBody>
          <a:bodyPr/>
          <a:lstStyle>
            <a:lvl1pPr>
              <a:defRPr sz="2900"/>
            </a:lvl1pPr>
            <a:lvl2pPr>
              <a:defRPr sz="25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486937" y="1611870"/>
            <a:ext cx="4774347" cy="671750"/>
          </a:xfrm>
        </p:spPr>
        <p:txBody>
          <a:bodyPr anchor="b"/>
          <a:lstStyle>
            <a:lvl1pPr marL="0" indent="0">
              <a:buNone/>
              <a:defRPr sz="2900" b="1"/>
            </a:lvl1pPr>
            <a:lvl2pPr marL="565725" indent="0">
              <a:buNone/>
              <a:defRPr sz="2500" b="1"/>
            </a:lvl2pPr>
            <a:lvl3pPr marL="1131451" indent="0">
              <a:buNone/>
              <a:defRPr sz="2200" b="1"/>
            </a:lvl3pPr>
            <a:lvl4pPr marL="1697176" indent="0">
              <a:buNone/>
              <a:defRPr sz="2000" b="1"/>
            </a:lvl4pPr>
            <a:lvl5pPr marL="2262901" indent="0">
              <a:buNone/>
              <a:defRPr sz="2000" b="1"/>
            </a:lvl5pPr>
            <a:lvl6pPr marL="2828626" indent="0">
              <a:buNone/>
              <a:defRPr sz="2000" b="1"/>
            </a:lvl6pPr>
            <a:lvl7pPr marL="3394352" indent="0">
              <a:buNone/>
              <a:defRPr sz="2000" b="1"/>
            </a:lvl7pPr>
            <a:lvl8pPr marL="3960077" indent="0">
              <a:buNone/>
              <a:defRPr sz="2000" b="1"/>
            </a:lvl8pPr>
            <a:lvl9pPr marL="4525802" indent="0">
              <a:buNone/>
              <a:defRPr sz="2000" b="1"/>
            </a:lvl9pPr>
          </a:lstStyle>
          <a:p>
            <a:pPr lvl="0"/>
            <a:r>
              <a:rPr lang="en-US" smtClean="0"/>
              <a:t>Click to edit Master text styles</a:t>
            </a:r>
          </a:p>
        </p:txBody>
      </p:sp>
      <p:sp>
        <p:nvSpPr>
          <p:cNvPr id="6" name="Content Placeholder 5"/>
          <p:cNvSpPr>
            <a:spLocks noGrp="1"/>
          </p:cNvSpPr>
          <p:nvPr>
            <p:ph sz="quarter" idx="4"/>
          </p:nvPr>
        </p:nvSpPr>
        <p:spPr>
          <a:xfrm>
            <a:off x="5486937" y="2283618"/>
            <a:ext cx="4774347" cy="4148853"/>
          </a:xfrm>
        </p:spPr>
        <p:txBody>
          <a:bodyPr/>
          <a:lstStyle>
            <a:lvl1pPr>
              <a:defRPr sz="2900"/>
            </a:lvl1pPr>
            <a:lvl2pPr>
              <a:defRPr sz="25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0069" y="286703"/>
            <a:ext cx="3553570" cy="1220152"/>
          </a:xfrm>
        </p:spPr>
        <p:txBody>
          <a:bodyPr anchor="b"/>
          <a:lstStyle>
            <a:lvl1pPr algn="l">
              <a:defRPr sz="2500" b="1"/>
            </a:lvl1pPr>
          </a:lstStyle>
          <a:p>
            <a:r>
              <a:rPr lang="en-US" smtClean="0"/>
              <a:t>Click to edit Master title style</a:t>
            </a:r>
            <a:endParaRPr lang="en-US"/>
          </a:p>
        </p:txBody>
      </p:sp>
      <p:sp>
        <p:nvSpPr>
          <p:cNvPr id="3" name="Content Placeholder 2"/>
          <p:cNvSpPr>
            <a:spLocks noGrp="1"/>
          </p:cNvSpPr>
          <p:nvPr>
            <p:ph idx="1"/>
          </p:nvPr>
        </p:nvSpPr>
        <p:spPr>
          <a:xfrm>
            <a:off x="4223029" y="286704"/>
            <a:ext cx="6038254" cy="6145769"/>
          </a:xfrm>
        </p:spPr>
        <p:txBody>
          <a:bodyPr/>
          <a:lstStyle>
            <a:lvl1pPr>
              <a:defRPr sz="4000"/>
            </a:lvl1pPr>
            <a:lvl2pPr>
              <a:defRPr sz="3500"/>
            </a:lvl2pPr>
            <a:lvl3pPr>
              <a:defRPr sz="2900"/>
            </a:lvl3pPr>
            <a:lvl4pPr>
              <a:defRPr sz="2500"/>
            </a:lvl4pPr>
            <a:lvl5pPr>
              <a:defRPr sz="2500"/>
            </a:lvl5pPr>
            <a:lvl6pPr>
              <a:defRPr sz="2500"/>
            </a:lvl6pPr>
            <a:lvl7pPr>
              <a:defRPr sz="2500"/>
            </a:lvl7pPr>
            <a:lvl8pPr>
              <a:defRPr sz="2500"/>
            </a:lvl8pPr>
            <a:lvl9pPr>
              <a:defRPr sz="2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40069" y="1506855"/>
            <a:ext cx="3553570" cy="4925617"/>
          </a:xfrm>
        </p:spPr>
        <p:txBody>
          <a:bodyPr/>
          <a:lstStyle>
            <a:lvl1pPr marL="0" indent="0">
              <a:buNone/>
              <a:defRPr sz="1800"/>
            </a:lvl1pPr>
            <a:lvl2pPr marL="565725" indent="0">
              <a:buNone/>
              <a:defRPr sz="1500"/>
            </a:lvl2pPr>
            <a:lvl3pPr marL="1131451" indent="0">
              <a:buNone/>
              <a:defRPr sz="1300"/>
            </a:lvl3pPr>
            <a:lvl4pPr marL="1697176" indent="0">
              <a:buNone/>
              <a:defRPr sz="1200"/>
            </a:lvl4pPr>
            <a:lvl5pPr marL="2262901" indent="0">
              <a:buNone/>
              <a:defRPr sz="1200"/>
            </a:lvl5pPr>
            <a:lvl6pPr marL="2828626" indent="0">
              <a:buNone/>
              <a:defRPr sz="1200"/>
            </a:lvl6pPr>
            <a:lvl7pPr marL="3394352" indent="0">
              <a:buNone/>
              <a:defRPr sz="1200"/>
            </a:lvl7pPr>
            <a:lvl8pPr marL="3960077" indent="0">
              <a:buNone/>
              <a:defRPr sz="1200"/>
            </a:lvl8pPr>
            <a:lvl9pPr marL="4525802" indent="0">
              <a:buNone/>
              <a:defRPr sz="1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17140" y="5040631"/>
            <a:ext cx="6480810" cy="595074"/>
          </a:xfrm>
        </p:spPr>
        <p:txBody>
          <a:bodyPr anchor="b"/>
          <a:lstStyle>
            <a:lvl1pPr algn="l">
              <a:defRPr sz="2500" b="1"/>
            </a:lvl1pPr>
          </a:lstStyle>
          <a:p>
            <a:r>
              <a:rPr lang="en-US" smtClean="0"/>
              <a:t>Click to edit Master title style</a:t>
            </a:r>
            <a:endParaRPr lang="en-US"/>
          </a:p>
        </p:txBody>
      </p:sp>
      <p:sp>
        <p:nvSpPr>
          <p:cNvPr id="3" name="Picture Placeholder 2"/>
          <p:cNvSpPr>
            <a:spLocks noGrp="1"/>
          </p:cNvSpPr>
          <p:nvPr>
            <p:ph type="pic" idx="1"/>
          </p:nvPr>
        </p:nvSpPr>
        <p:spPr>
          <a:xfrm>
            <a:off x="2117140" y="643415"/>
            <a:ext cx="6480810" cy="4320540"/>
          </a:xfrm>
        </p:spPr>
        <p:txBody>
          <a:bodyPr/>
          <a:lstStyle>
            <a:lvl1pPr marL="0" indent="0">
              <a:buNone/>
              <a:defRPr sz="4000"/>
            </a:lvl1pPr>
            <a:lvl2pPr marL="565725" indent="0">
              <a:buNone/>
              <a:defRPr sz="3500"/>
            </a:lvl2pPr>
            <a:lvl3pPr marL="1131451" indent="0">
              <a:buNone/>
              <a:defRPr sz="2900"/>
            </a:lvl3pPr>
            <a:lvl4pPr marL="1697176" indent="0">
              <a:buNone/>
              <a:defRPr sz="2500"/>
            </a:lvl4pPr>
            <a:lvl5pPr marL="2262901" indent="0">
              <a:buNone/>
              <a:defRPr sz="2500"/>
            </a:lvl5pPr>
            <a:lvl6pPr marL="2828626" indent="0">
              <a:buNone/>
              <a:defRPr sz="2500"/>
            </a:lvl6pPr>
            <a:lvl7pPr marL="3394352" indent="0">
              <a:buNone/>
              <a:defRPr sz="2500"/>
            </a:lvl7pPr>
            <a:lvl8pPr marL="3960077" indent="0">
              <a:buNone/>
              <a:defRPr sz="2500"/>
            </a:lvl8pPr>
            <a:lvl9pPr marL="4525802" indent="0">
              <a:buNone/>
              <a:defRPr sz="2500"/>
            </a:lvl9pPr>
          </a:lstStyle>
          <a:p>
            <a:endParaRPr lang="en-US"/>
          </a:p>
        </p:txBody>
      </p:sp>
      <p:sp>
        <p:nvSpPr>
          <p:cNvPr id="4" name="Text Placeholder 3"/>
          <p:cNvSpPr>
            <a:spLocks noGrp="1"/>
          </p:cNvSpPr>
          <p:nvPr>
            <p:ph type="body" sz="half" idx="2"/>
          </p:nvPr>
        </p:nvSpPr>
        <p:spPr>
          <a:xfrm>
            <a:off x="2117140" y="5635706"/>
            <a:ext cx="6480810" cy="845105"/>
          </a:xfrm>
        </p:spPr>
        <p:txBody>
          <a:bodyPr/>
          <a:lstStyle>
            <a:lvl1pPr marL="0" indent="0">
              <a:buNone/>
              <a:defRPr sz="1800"/>
            </a:lvl1pPr>
            <a:lvl2pPr marL="565725" indent="0">
              <a:buNone/>
              <a:defRPr sz="1500"/>
            </a:lvl2pPr>
            <a:lvl3pPr marL="1131451" indent="0">
              <a:buNone/>
              <a:defRPr sz="1300"/>
            </a:lvl3pPr>
            <a:lvl4pPr marL="1697176" indent="0">
              <a:buNone/>
              <a:defRPr sz="1200"/>
            </a:lvl4pPr>
            <a:lvl5pPr marL="2262901" indent="0">
              <a:buNone/>
              <a:defRPr sz="1200"/>
            </a:lvl5pPr>
            <a:lvl6pPr marL="2828626" indent="0">
              <a:buNone/>
              <a:defRPr sz="1200"/>
            </a:lvl6pPr>
            <a:lvl7pPr marL="3394352" indent="0">
              <a:buNone/>
              <a:defRPr sz="1200"/>
            </a:lvl7pPr>
            <a:lvl8pPr marL="3960077" indent="0">
              <a:buNone/>
              <a:defRPr sz="1200"/>
            </a:lvl8pPr>
            <a:lvl9pPr marL="4525802" indent="0">
              <a:buNone/>
              <a:defRPr sz="12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830979" y="288371"/>
            <a:ext cx="2430304" cy="614410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40069" y="288371"/>
            <a:ext cx="7110889" cy="61441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0068" y="288371"/>
            <a:ext cx="9721216" cy="1200150"/>
          </a:xfrm>
          <a:prstGeom prst="rect">
            <a:avLst/>
          </a:prstGeom>
        </p:spPr>
        <p:txBody>
          <a:bodyPr vert="horz" lIns="113145" tIns="56572" rIns="113145" bIns="56572"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0068" y="1680211"/>
            <a:ext cx="9721216" cy="4752262"/>
          </a:xfrm>
          <a:prstGeom prst="rect">
            <a:avLst/>
          </a:prstGeom>
        </p:spPr>
        <p:txBody>
          <a:bodyPr vert="horz" lIns="113145" tIns="56572" rIns="113145" bIns="5657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0068" y="6674168"/>
            <a:ext cx="2520316" cy="383382"/>
          </a:xfrm>
          <a:prstGeom prst="rect">
            <a:avLst/>
          </a:prstGeom>
        </p:spPr>
        <p:txBody>
          <a:bodyPr vert="horz" lIns="113145" tIns="56572" rIns="113145" bIns="56572" rtlCol="0" anchor="ctr"/>
          <a:lstStyle>
            <a:lvl1pPr algn="l">
              <a:defRPr sz="1500">
                <a:solidFill>
                  <a:schemeClr val="tx1">
                    <a:tint val="75000"/>
                  </a:schemeClr>
                </a:solidFill>
              </a:defRPr>
            </a:lvl1pPr>
          </a:lstStyle>
          <a:p>
            <a:fld id="{1D8BD707-D9CF-40AE-B4C6-C98DA3205C09}" type="datetimeFigureOut">
              <a:rPr lang="en-US" smtClean="0"/>
              <a:pPr/>
              <a:t>1/20/2025</a:t>
            </a:fld>
            <a:endParaRPr lang="en-US"/>
          </a:p>
        </p:txBody>
      </p:sp>
      <p:sp>
        <p:nvSpPr>
          <p:cNvPr id="5" name="Footer Placeholder 4"/>
          <p:cNvSpPr>
            <a:spLocks noGrp="1"/>
          </p:cNvSpPr>
          <p:nvPr>
            <p:ph type="ftr" sz="quarter" idx="3"/>
          </p:nvPr>
        </p:nvSpPr>
        <p:spPr>
          <a:xfrm>
            <a:off x="3690463" y="6674168"/>
            <a:ext cx="3420427" cy="383382"/>
          </a:xfrm>
          <a:prstGeom prst="rect">
            <a:avLst/>
          </a:prstGeom>
        </p:spPr>
        <p:txBody>
          <a:bodyPr vert="horz" lIns="113145" tIns="56572" rIns="113145" bIns="56572" rtlCol="0" anchor="ctr"/>
          <a:lstStyle>
            <a:lvl1pPr algn="ctr">
              <a:defRPr sz="1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40968" y="6674168"/>
            <a:ext cx="2520316" cy="383382"/>
          </a:xfrm>
          <a:prstGeom prst="rect">
            <a:avLst/>
          </a:prstGeom>
        </p:spPr>
        <p:txBody>
          <a:bodyPr vert="horz" lIns="113145" tIns="56572" rIns="113145" bIns="56572" rtlCol="0" anchor="ctr"/>
          <a:lstStyle>
            <a:lvl1pPr algn="r">
              <a:defRPr sz="15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131451" rtl="0" eaLnBrk="1" latinLnBrk="0" hangingPunct="1">
        <a:spcBef>
          <a:spcPct val="0"/>
        </a:spcBef>
        <a:buNone/>
        <a:defRPr sz="5500" kern="1200">
          <a:solidFill>
            <a:schemeClr val="tx1"/>
          </a:solidFill>
          <a:latin typeface="+mj-lt"/>
          <a:ea typeface="+mj-ea"/>
          <a:cs typeface="+mj-cs"/>
        </a:defRPr>
      </a:lvl1pPr>
    </p:titleStyle>
    <p:bodyStyle>
      <a:lvl1pPr marL="424293" indent="-424293" algn="l" defTabSz="1131451" rtl="0" eaLnBrk="1" latinLnBrk="0" hangingPunct="1">
        <a:spcBef>
          <a:spcPct val="20000"/>
        </a:spcBef>
        <a:buFont typeface="Arial" pitchFamily="34" charset="0"/>
        <a:buChar char="•"/>
        <a:defRPr sz="4000" kern="1200">
          <a:solidFill>
            <a:schemeClr val="tx1"/>
          </a:solidFill>
          <a:latin typeface="+mn-lt"/>
          <a:ea typeface="+mn-ea"/>
          <a:cs typeface="+mn-cs"/>
        </a:defRPr>
      </a:lvl1pPr>
      <a:lvl2pPr marL="919303" indent="-353578" algn="l" defTabSz="1131451"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14313" indent="-282863" algn="l" defTabSz="1131451" rtl="0" eaLnBrk="1" latinLnBrk="0" hangingPunct="1">
        <a:spcBef>
          <a:spcPct val="20000"/>
        </a:spcBef>
        <a:buFont typeface="Arial" pitchFamily="34" charset="0"/>
        <a:buChar char="•"/>
        <a:defRPr sz="2900" kern="1200">
          <a:solidFill>
            <a:schemeClr val="tx1"/>
          </a:solidFill>
          <a:latin typeface="+mn-lt"/>
          <a:ea typeface="+mn-ea"/>
          <a:cs typeface="+mn-cs"/>
        </a:defRPr>
      </a:lvl3pPr>
      <a:lvl4pPr marL="1980038" indent="-282863" algn="l" defTabSz="1131451"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45764" indent="-282863" algn="l" defTabSz="1131451"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11489" indent="-282863" algn="l" defTabSz="1131451"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677214" indent="-282863" algn="l" defTabSz="1131451"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242940" indent="-282863" algn="l" defTabSz="1131451"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08665" indent="-282863" algn="l" defTabSz="1131451"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131451" rtl="0" eaLnBrk="1" latinLnBrk="0" hangingPunct="1">
        <a:defRPr sz="2200" kern="1200">
          <a:solidFill>
            <a:schemeClr val="tx1"/>
          </a:solidFill>
          <a:latin typeface="+mn-lt"/>
          <a:ea typeface="+mn-ea"/>
          <a:cs typeface="+mn-cs"/>
        </a:defRPr>
      </a:lvl1pPr>
      <a:lvl2pPr marL="565725" algn="l" defTabSz="1131451" rtl="0" eaLnBrk="1" latinLnBrk="0" hangingPunct="1">
        <a:defRPr sz="2200" kern="1200">
          <a:solidFill>
            <a:schemeClr val="tx1"/>
          </a:solidFill>
          <a:latin typeface="+mn-lt"/>
          <a:ea typeface="+mn-ea"/>
          <a:cs typeface="+mn-cs"/>
        </a:defRPr>
      </a:lvl2pPr>
      <a:lvl3pPr marL="1131451" algn="l" defTabSz="1131451" rtl="0" eaLnBrk="1" latinLnBrk="0" hangingPunct="1">
        <a:defRPr sz="2200" kern="1200">
          <a:solidFill>
            <a:schemeClr val="tx1"/>
          </a:solidFill>
          <a:latin typeface="+mn-lt"/>
          <a:ea typeface="+mn-ea"/>
          <a:cs typeface="+mn-cs"/>
        </a:defRPr>
      </a:lvl3pPr>
      <a:lvl4pPr marL="1697176" algn="l" defTabSz="1131451" rtl="0" eaLnBrk="1" latinLnBrk="0" hangingPunct="1">
        <a:defRPr sz="2200" kern="1200">
          <a:solidFill>
            <a:schemeClr val="tx1"/>
          </a:solidFill>
          <a:latin typeface="+mn-lt"/>
          <a:ea typeface="+mn-ea"/>
          <a:cs typeface="+mn-cs"/>
        </a:defRPr>
      </a:lvl4pPr>
      <a:lvl5pPr marL="2262901" algn="l" defTabSz="1131451" rtl="0" eaLnBrk="1" latinLnBrk="0" hangingPunct="1">
        <a:defRPr sz="2200" kern="1200">
          <a:solidFill>
            <a:schemeClr val="tx1"/>
          </a:solidFill>
          <a:latin typeface="+mn-lt"/>
          <a:ea typeface="+mn-ea"/>
          <a:cs typeface="+mn-cs"/>
        </a:defRPr>
      </a:lvl5pPr>
      <a:lvl6pPr marL="2828626" algn="l" defTabSz="1131451" rtl="0" eaLnBrk="1" latinLnBrk="0" hangingPunct="1">
        <a:defRPr sz="2200" kern="1200">
          <a:solidFill>
            <a:schemeClr val="tx1"/>
          </a:solidFill>
          <a:latin typeface="+mn-lt"/>
          <a:ea typeface="+mn-ea"/>
          <a:cs typeface="+mn-cs"/>
        </a:defRPr>
      </a:lvl6pPr>
      <a:lvl7pPr marL="3394352" algn="l" defTabSz="1131451" rtl="0" eaLnBrk="1" latinLnBrk="0" hangingPunct="1">
        <a:defRPr sz="2200" kern="1200">
          <a:solidFill>
            <a:schemeClr val="tx1"/>
          </a:solidFill>
          <a:latin typeface="+mn-lt"/>
          <a:ea typeface="+mn-ea"/>
          <a:cs typeface="+mn-cs"/>
        </a:defRPr>
      </a:lvl7pPr>
      <a:lvl8pPr marL="3960077" algn="l" defTabSz="1131451" rtl="0" eaLnBrk="1" latinLnBrk="0" hangingPunct="1">
        <a:defRPr sz="2200" kern="1200">
          <a:solidFill>
            <a:schemeClr val="tx1"/>
          </a:solidFill>
          <a:latin typeface="+mn-lt"/>
          <a:ea typeface="+mn-ea"/>
          <a:cs typeface="+mn-cs"/>
        </a:defRPr>
      </a:lvl8pPr>
      <a:lvl9pPr marL="4525802" algn="l" defTabSz="1131451"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971675" y="1543050"/>
            <a:ext cx="8229600" cy="838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3600" b="1" dirty="0" smtClean="0">
                <a:latin typeface="Bodoni MT" pitchFamily="18" charset="0"/>
              </a:rPr>
              <a:t>UNIT 1</a:t>
            </a:r>
            <a:endParaRPr lang="en-US" sz="3600" b="1" dirty="0">
              <a:latin typeface="Bodoni MT" pitchFamily="18" charset="0"/>
            </a:endParaRPr>
          </a:p>
        </p:txBody>
      </p:sp>
      <p:sp>
        <p:nvSpPr>
          <p:cNvPr id="8" name="Rectangle 7"/>
          <p:cNvSpPr/>
          <p:nvPr/>
        </p:nvSpPr>
        <p:spPr>
          <a:xfrm>
            <a:off x="742950" y="2609850"/>
            <a:ext cx="9458325" cy="914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sz="4400" b="1" dirty="0" smtClean="0">
                <a:latin typeface="Bodoni MT" pitchFamily="18" charset="0"/>
              </a:rPr>
              <a:t>Introduction to Data Science</a:t>
            </a:r>
            <a:endParaRPr lang="en-US" sz="4400" b="1" dirty="0">
              <a:latin typeface="Bodoni MT" pitchFamily="18" charset="0"/>
            </a:endParaRPr>
          </a:p>
        </p:txBody>
      </p:sp>
      <p:sp>
        <p:nvSpPr>
          <p:cNvPr id="4098" name="AutoShape 2" descr="Free vector illustration of data analysis graph"/>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099" name="Picture 3"/>
          <p:cNvPicPr>
            <a:picLocks noChangeAspect="1" noChangeArrowheads="1"/>
          </p:cNvPicPr>
          <p:nvPr/>
        </p:nvPicPr>
        <p:blipFill>
          <a:blip r:embed="rId3"/>
          <a:srcRect/>
          <a:stretch>
            <a:fillRect/>
          </a:stretch>
        </p:blipFill>
        <p:spPr bwMode="auto">
          <a:xfrm>
            <a:off x="3190875" y="3981450"/>
            <a:ext cx="4419600" cy="2742391"/>
          </a:xfrm>
          <a:prstGeom prst="rect">
            <a:avLst/>
          </a:prstGeom>
          <a:noFill/>
          <a:ln w="9525">
            <a:noFill/>
            <a:miter lim="800000"/>
            <a:headEnd/>
            <a:tailEnd/>
          </a:ln>
          <a:effectLst/>
        </p:spPr>
      </p:pic>
      <p:pic>
        <p:nvPicPr>
          <p:cNvPr id="7" name="Picture 1"/>
          <p:cNvPicPr>
            <a:picLocks noChangeAspect="1" noChangeArrowheads="1"/>
          </p:cNvPicPr>
          <p:nvPr/>
        </p:nvPicPr>
        <p:blipFill>
          <a:blip r:embed="rId4"/>
          <a:srcRect/>
          <a:stretch>
            <a:fillRect/>
          </a:stretch>
        </p:blipFill>
        <p:spPr bwMode="auto">
          <a:xfrm>
            <a:off x="828675" y="15430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fontScale="90000"/>
          </a:bodyPr>
          <a:lstStyle/>
          <a:p>
            <a:r>
              <a:rPr lang="en-IN" dirty="0" smtClean="0">
                <a:latin typeface="Bookman Old Style" pitchFamily="18" charset="0"/>
              </a:rPr>
              <a:t>Contents</a:t>
            </a:r>
            <a:endParaRPr lang="en-US"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sp>
        <p:nvSpPr>
          <p:cNvPr id="7" name="Rectangle 6"/>
          <p:cNvSpPr/>
          <p:nvPr/>
        </p:nvSpPr>
        <p:spPr>
          <a:xfrm>
            <a:off x="4181475" y="1771650"/>
            <a:ext cx="2895600" cy="8382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IN" b="1" dirty="0" smtClean="0">
                <a:latin typeface="Bookman Old Style" pitchFamily="18" charset="0"/>
              </a:rPr>
              <a:t>Data</a:t>
            </a:r>
            <a:endParaRPr lang="en-US" b="1" dirty="0">
              <a:latin typeface="Bookman Old Style" pitchFamily="18" charset="0"/>
            </a:endParaRPr>
          </a:p>
        </p:txBody>
      </p:sp>
      <p:sp>
        <p:nvSpPr>
          <p:cNvPr id="8" name="Rectangle 7"/>
          <p:cNvSpPr/>
          <p:nvPr/>
        </p:nvSpPr>
        <p:spPr>
          <a:xfrm>
            <a:off x="7762875" y="1695450"/>
            <a:ext cx="2743200" cy="9144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IN" b="1" dirty="0" smtClean="0">
                <a:latin typeface="Bookman Old Style" pitchFamily="18" charset="0"/>
              </a:rPr>
              <a:t>Methods</a:t>
            </a:r>
            <a:endParaRPr lang="en-US" b="1" dirty="0">
              <a:latin typeface="Bookman Old Style" pitchFamily="18" charset="0"/>
            </a:endParaRPr>
          </a:p>
        </p:txBody>
      </p:sp>
      <p:sp>
        <p:nvSpPr>
          <p:cNvPr id="9" name="Rectangle 8"/>
          <p:cNvSpPr/>
          <p:nvPr/>
        </p:nvSpPr>
        <p:spPr>
          <a:xfrm>
            <a:off x="600075" y="1771650"/>
            <a:ext cx="3048000" cy="9144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smtClean="0">
                <a:latin typeface="Bookman Old Style" pitchFamily="18" charset="0"/>
              </a:rPr>
              <a:t>Basics and need of Data Science</a:t>
            </a:r>
            <a:endParaRPr lang="en-US" b="1" dirty="0">
              <a:latin typeface="Bookman Old Style" pitchFamily="18" charset="0"/>
            </a:endParaRPr>
          </a:p>
        </p:txBody>
      </p:sp>
      <p:sp>
        <p:nvSpPr>
          <p:cNvPr id="12" name="Rounded Rectangle 11"/>
          <p:cNvSpPr/>
          <p:nvPr/>
        </p:nvSpPr>
        <p:spPr>
          <a:xfrm>
            <a:off x="676275" y="2914650"/>
            <a:ext cx="3124200" cy="6858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smtClean="0">
                <a:latin typeface="Bookman Old Style" pitchFamily="18" charset="0"/>
              </a:rPr>
              <a:t>Applications of Data Science</a:t>
            </a:r>
            <a:endParaRPr lang="en-US" dirty="0">
              <a:latin typeface="Bookman Old Style" pitchFamily="18" charset="0"/>
            </a:endParaRPr>
          </a:p>
        </p:txBody>
      </p:sp>
      <p:sp>
        <p:nvSpPr>
          <p:cNvPr id="13" name="Rounded Rectangle 12"/>
          <p:cNvSpPr/>
          <p:nvPr/>
        </p:nvSpPr>
        <p:spPr>
          <a:xfrm>
            <a:off x="600075" y="3905250"/>
            <a:ext cx="3200400" cy="13716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latin typeface="Bookman Old Style" pitchFamily="18" charset="0"/>
              </a:rPr>
              <a:t>Relationship between Data Science and Information Science</a:t>
            </a:r>
            <a:endParaRPr lang="en-US" dirty="0">
              <a:latin typeface="Bookman Old Style" pitchFamily="18" charset="0"/>
            </a:endParaRPr>
          </a:p>
        </p:txBody>
      </p:sp>
      <p:sp>
        <p:nvSpPr>
          <p:cNvPr id="14" name="Rounded Rectangle 13"/>
          <p:cNvSpPr/>
          <p:nvPr/>
        </p:nvSpPr>
        <p:spPr>
          <a:xfrm>
            <a:off x="600075" y="5581650"/>
            <a:ext cx="32766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latin typeface="Bookman Old Style" pitchFamily="18" charset="0"/>
              </a:rPr>
              <a:t>Business intelligence versus Data Science</a:t>
            </a:r>
            <a:endParaRPr lang="en-US" dirty="0">
              <a:latin typeface="Bookman Old Style" pitchFamily="18" charset="0"/>
            </a:endParaRPr>
          </a:p>
        </p:txBody>
      </p:sp>
      <p:sp>
        <p:nvSpPr>
          <p:cNvPr id="19" name="Rounded Rectangle 18"/>
          <p:cNvSpPr/>
          <p:nvPr/>
        </p:nvSpPr>
        <p:spPr>
          <a:xfrm>
            <a:off x="4181475" y="2914650"/>
            <a:ext cx="30480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smtClean="0"/>
              <a:t>Data Types</a:t>
            </a:r>
            <a:endParaRPr lang="en-US" dirty="0"/>
          </a:p>
        </p:txBody>
      </p:sp>
      <p:sp>
        <p:nvSpPr>
          <p:cNvPr id="20" name="Rounded Rectangle 19"/>
          <p:cNvSpPr/>
          <p:nvPr/>
        </p:nvSpPr>
        <p:spPr>
          <a:xfrm>
            <a:off x="4181475" y="4210050"/>
            <a:ext cx="30480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smtClean="0"/>
              <a:t>Data Collection</a:t>
            </a:r>
            <a:endParaRPr lang="en-US" dirty="0"/>
          </a:p>
        </p:txBody>
      </p:sp>
      <p:sp>
        <p:nvSpPr>
          <p:cNvPr id="21" name="Rounded Rectangle 20"/>
          <p:cNvSpPr/>
          <p:nvPr/>
        </p:nvSpPr>
        <p:spPr>
          <a:xfrm>
            <a:off x="4181475" y="5581650"/>
            <a:ext cx="30480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Need of Data wrangling</a:t>
            </a:r>
            <a:endParaRPr lang="en-US" dirty="0"/>
          </a:p>
        </p:txBody>
      </p:sp>
      <p:sp>
        <p:nvSpPr>
          <p:cNvPr id="29" name="Rounded Rectangle 28"/>
          <p:cNvSpPr/>
          <p:nvPr/>
        </p:nvSpPr>
        <p:spPr>
          <a:xfrm>
            <a:off x="7610475" y="2914650"/>
            <a:ext cx="29718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smtClean="0"/>
              <a:t>Data Cleaning</a:t>
            </a:r>
            <a:endParaRPr lang="en-US" dirty="0"/>
          </a:p>
        </p:txBody>
      </p:sp>
      <p:sp>
        <p:nvSpPr>
          <p:cNvPr id="30" name="Rounded Rectangle 29"/>
          <p:cNvSpPr/>
          <p:nvPr/>
        </p:nvSpPr>
        <p:spPr>
          <a:xfrm>
            <a:off x="7610475" y="3981450"/>
            <a:ext cx="29718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smtClean="0"/>
              <a:t>Data Integration</a:t>
            </a:r>
            <a:endParaRPr lang="en-US" dirty="0"/>
          </a:p>
        </p:txBody>
      </p:sp>
      <p:sp>
        <p:nvSpPr>
          <p:cNvPr id="32" name="Rounded Rectangle 31"/>
          <p:cNvSpPr/>
          <p:nvPr/>
        </p:nvSpPr>
        <p:spPr>
          <a:xfrm>
            <a:off x="7610475" y="4972050"/>
            <a:ext cx="29718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smtClean="0"/>
              <a:t>Data Reduction</a:t>
            </a:r>
            <a:endParaRPr lang="en-US" dirty="0"/>
          </a:p>
        </p:txBody>
      </p:sp>
      <p:sp>
        <p:nvSpPr>
          <p:cNvPr id="34" name="Rounded Rectangle 33"/>
          <p:cNvSpPr/>
          <p:nvPr/>
        </p:nvSpPr>
        <p:spPr>
          <a:xfrm>
            <a:off x="7610475" y="5962650"/>
            <a:ext cx="29718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smtClean="0"/>
              <a:t>Data Transformation &amp;</a:t>
            </a:r>
          </a:p>
          <a:p>
            <a:pPr algn="ctr"/>
            <a:r>
              <a:rPr lang="en-US" dirty="0" smtClean="0"/>
              <a:t>Data Discretization</a:t>
            </a:r>
            <a:endParaRPr lang="en-US" dirty="0"/>
          </a:p>
        </p:txBody>
      </p:sp>
      <p:pic>
        <p:nvPicPr>
          <p:cNvPr id="3073" name="Picture 1"/>
          <p:cNvPicPr>
            <a:picLocks noChangeAspect="1" noChangeArrowheads="1"/>
          </p:cNvPicPr>
          <p:nvPr/>
        </p:nvPicPr>
        <p:blipFill>
          <a:blip r:embed="rId2"/>
          <a:srcRect/>
          <a:stretch>
            <a:fillRect/>
          </a:stretch>
        </p:blipFill>
        <p:spPr bwMode="auto">
          <a:xfrm>
            <a:off x="230798"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fontScale="90000"/>
          </a:bodyPr>
          <a:lstStyle/>
          <a:p>
            <a:r>
              <a:rPr lang="en-IN" dirty="0" smtClean="0">
                <a:latin typeface="Bookman Old Style" pitchFamily="18" charset="0"/>
              </a:rPr>
              <a:t>Course Outcome</a:t>
            </a:r>
            <a:endParaRPr lang="en-US"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2" name="Rectangle 21"/>
          <p:cNvSpPr/>
          <p:nvPr/>
        </p:nvSpPr>
        <p:spPr>
          <a:xfrm>
            <a:off x="219075" y="2762250"/>
            <a:ext cx="7772400" cy="1077218"/>
          </a:xfrm>
          <a:prstGeom prst="rect">
            <a:avLst/>
          </a:prstGeom>
        </p:spPr>
        <p:txBody>
          <a:bodyPr wrap="square">
            <a:spAutoFit/>
          </a:bodyPr>
          <a:lstStyle/>
          <a:p>
            <a:r>
              <a:rPr lang="en-US" sz="3200" b="1" dirty="0" smtClean="0">
                <a:latin typeface="Bookman Old Style" pitchFamily="18" charset="0"/>
              </a:rPr>
              <a:t>CO1: Analyze needs and challenges for Data Science </a:t>
            </a:r>
            <a:endParaRPr lang="en-US" sz="3200" b="1" dirty="0">
              <a:latin typeface="Bookman Old Style" pitchFamily="18" charset="0"/>
            </a:endParaRPr>
          </a:p>
        </p:txBody>
      </p:sp>
      <p:pic>
        <p:nvPicPr>
          <p:cNvPr id="17410" name="Picture 2"/>
          <p:cNvPicPr>
            <a:picLocks noChangeAspect="1" noChangeArrowheads="1"/>
          </p:cNvPicPr>
          <p:nvPr/>
        </p:nvPicPr>
        <p:blipFill>
          <a:blip r:embed="rId3"/>
          <a:srcRect/>
          <a:stretch>
            <a:fillRect/>
          </a:stretch>
        </p:blipFill>
        <p:spPr bwMode="auto">
          <a:xfrm>
            <a:off x="5934075" y="3905250"/>
            <a:ext cx="3352800" cy="27432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fontScale="90000"/>
          </a:bodyPr>
          <a:lstStyle/>
          <a:p>
            <a:r>
              <a:rPr lang="en-IN" dirty="0" smtClean="0">
                <a:latin typeface="Bookman Old Style" pitchFamily="18" charset="0"/>
              </a:rPr>
              <a:t>Basics</a:t>
            </a:r>
            <a:endParaRPr lang="en-US"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7" name="Rounded Rectangle 6"/>
          <p:cNvSpPr/>
          <p:nvPr/>
        </p:nvSpPr>
        <p:spPr>
          <a:xfrm>
            <a:off x="600075" y="2838450"/>
            <a:ext cx="9601200" cy="19812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just"/>
            <a:r>
              <a:rPr lang="en-US" b="1" dirty="0" smtClean="0">
                <a:solidFill>
                  <a:srgbClr val="C00000"/>
                </a:solidFill>
                <a:latin typeface="Bookman Old Style" pitchFamily="18" charset="0"/>
              </a:rPr>
              <a:t>Data analysis is a procedure of investigating, cleaning, transforming, and training of the data with the aim of finding some useful information, recommend conclusions and helps in decision-making</a:t>
            </a:r>
            <a:endParaRPr lang="en-US" b="1" dirty="0">
              <a:solidFill>
                <a:srgbClr val="C00000"/>
              </a:solidFill>
              <a:latin typeface="Bookman Old Style" pitchFamily="18" charset="0"/>
            </a:endParaRPr>
          </a:p>
        </p:txBody>
      </p:sp>
      <p:sp>
        <p:nvSpPr>
          <p:cNvPr id="8" name="TextBox 7"/>
          <p:cNvSpPr txBox="1"/>
          <p:nvPr/>
        </p:nvSpPr>
        <p:spPr>
          <a:xfrm>
            <a:off x="752475" y="1771650"/>
            <a:ext cx="3810000" cy="707886"/>
          </a:xfrm>
          <a:prstGeom prst="rect">
            <a:avLst/>
          </a:prstGeom>
          <a:noFill/>
        </p:spPr>
        <p:txBody>
          <a:bodyPr wrap="square" rtlCol="0">
            <a:spAutoFit/>
          </a:bodyPr>
          <a:lstStyle/>
          <a:p>
            <a:r>
              <a:rPr lang="en-IN" sz="4000" b="1" dirty="0" smtClean="0">
                <a:latin typeface="Bookman Old Style" pitchFamily="18" charset="0"/>
              </a:rPr>
              <a:t>Data Analysis</a:t>
            </a:r>
            <a:endParaRPr lang="en-US" sz="4000" b="1" dirty="0">
              <a:latin typeface="Bookman Old Style" pitchFamily="18" charset="0"/>
            </a:endParaRPr>
          </a:p>
        </p:txBody>
      </p:sp>
      <p:pic>
        <p:nvPicPr>
          <p:cNvPr id="18434" name="Picture 2"/>
          <p:cNvPicPr>
            <a:picLocks noChangeAspect="1" noChangeArrowheads="1"/>
          </p:cNvPicPr>
          <p:nvPr/>
        </p:nvPicPr>
        <p:blipFill>
          <a:blip r:embed="rId3"/>
          <a:srcRect/>
          <a:stretch>
            <a:fillRect/>
          </a:stretch>
        </p:blipFill>
        <p:spPr bwMode="auto">
          <a:xfrm>
            <a:off x="1590675" y="5124450"/>
            <a:ext cx="7088188" cy="17145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fontScale="90000"/>
          </a:bodyPr>
          <a:lstStyle/>
          <a:p>
            <a:r>
              <a:rPr lang="en-IN" dirty="0" smtClean="0">
                <a:latin typeface="Bookman Old Style" pitchFamily="18" charset="0"/>
              </a:rPr>
              <a:t>Basics</a:t>
            </a:r>
            <a:endParaRPr lang="en-US"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7" name="Rounded Rectangle 6"/>
          <p:cNvSpPr/>
          <p:nvPr/>
        </p:nvSpPr>
        <p:spPr>
          <a:xfrm>
            <a:off x="142875" y="2609850"/>
            <a:ext cx="4267200" cy="32766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just"/>
            <a:r>
              <a:rPr lang="en-US" b="1" dirty="0" smtClean="0">
                <a:solidFill>
                  <a:srgbClr val="C00000"/>
                </a:solidFill>
                <a:latin typeface="Bookman Old Style" pitchFamily="18" charset="0"/>
              </a:rPr>
              <a:t>Analytics is utilizing data, machine learning, statistical analysis and computer-based models to get better insight and make better decisions from the data.</a:t>
            </a:r>
          </a:p>
        </p:txBody>
      </p:sp>
      <p:sp>
        <p:nvSpPr>
          <p:cNvPr id="8" name="TextBox 7"/>
          <p:cNvSpPr txBox="1"/>
          <p:nvPr/>
        </p:nvSpPr>
        <p:spPr>
          <a:xfrm>
            <a:off x="219075" y="1466850"/>
            <a:ext cx="5486400" cy="707886"/>
          </a:xfrm>
          <a:prstGeom prst="rect">
            <a:avLst/>
          </a:prstGeom>
          <a:noFill/>
        </p:spPr>
        <p:txBody>
          <a:bodyPr wrap="square" rtlCol="0">
            <a:spAutoFit/>
          </a:bodyPr>
          <a:lstStyle/>
          <a:p>
            <a:r>
              <a:rPr lang="en-IN" sz="4000" b="1" dirty="0" smtClean="0">
                <a:latin typeface="Bookman Old Style" pitchFamily="18" charset="0"/>
              </a:rPr>
              <a:t>Data Analytics</a:t>
            </a:r>
            <a:endParaRPr lang="en-US" sz="4000" b="1" dirty="0">
              <a:latin typeface="Bookman Old Style" pitchFamily="18" charset="0"/>
            </a:endParaRPr>
          </a:p>
        </p:txBody>
      </p:sp>
      <p:pic>
        <p:nvPicPr>
          <p:cNvPr id="19459" name="Picture 3"/>
          <p:cNvPicPr>
            <a:picLocks noChangeAspect="1" noChangeArrowheads="1"/>
          </p:cNvPicPr>
          <p:nvPr/>
        </p:nvPicPr>
        <p:blipFill>
          <a:blip r:embed="rId3"/>
          <a:srcRect/>
          <a:stretch>
            <a:fillRect/>
          </a:stretch>
        </p:blipFill>
        <p:spPr bwMode="auto">
          <a:xfrm>
            <a:off x="4562474" y="1847850"/>
            <a:ext cx="6238875" cy="47244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a:bodyPr>
          <a:lstStyle/>
          <a:p>
            <a:r>
              <a:rPr lang="en-IN" sz="3200" b="1" dirty="0" smtClean="0">
                <a:latin typeface="Bookman Old Style" pitchFamily="18" charset="0"/>
              </a:rPr>
              <a:t>Example Of Data Analysis</a:t>
            </a:r>
            <a:endParaRPr lang="en-US" sz="3200" b="1"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9" name="Rectangle 8"/>
          <p:cNvSpPr/>
          <p:nvPr/>
        </p:nvSpPr>
        <p:spPr>
          <a:xfrm>
            <a:off x="371475" y="1466850"/>
            <a:ext cx="9829800" cy="5509200"/>
          </a:xfrm>
          <a:prstGeom prst="rect">
            <a:avLst/>
          </a:prstGeom>
        </p:spPr>
        <p:txBody>
          <a:bodyPr wrap="square">
            <a:spAutoFit/>
          </a:bodyPr>
          <a:lstStyle/>
          <a:p>
            <a:r>
              <a:rPr lang="en-US" b="1" dirty="0" smtClean="0"/>
              <a:t>Scenario</a:t>
            </a:r>
            <a:r>
              <a:rPr lang="en-US" dirty="0" smtClean="0"/>
              <a:t>: An e-commerce company wants to understand customer purchasing behavior to improve sales and marketing strategies.</a:t>
            </a:r>
          </a:p>
          <a:p>
            <a:endParaRPr lang="en-US" dirty="0" smtClean="0"/>
          </a:p>
          <a:p>
            <a:r>
              <a:rPr lang="en-US" b="1" dirty="0" smtClean="0"/>
              <a:t>Steps in Data Analysis:</a:t>
            </a:r>
          </a:p>
          <a:p>
            <a:endParaRPr lang="en-US" b="1" dirty="0" smtClean="0"/>
          </a:p>
          <a:p>
            <a:r>
              <a:rPr lang="en-US" b="1" dirty="0" smtClean="0"/>
              <a:t>1. Data Collection</a:t>
            </a:r>
            <a:r>
              <a:rPr lang="en-US" dirty="0" smtClean="0"/>
              <a:t>:</a:t>
            </a:r>
          </a:p>
          <a:p>
            <a:r>
              <a:rPr lang="en-US" dirty="0" smtClean="0"/>
              <a:t>The company gathers data from various sources, such as:</a:t>
            </a:r>
          </a:p>
          <a:p>
            <a:pPr>
              <a:buFont typeface="Arial" pitchFamily="34" charset="0"/>
              <a:buChar char="•"/>
            </a:pPr>
            <a:r>
              <a:rPr lang="en-US" dirty="0" smtClean="0"/>
              <a:t>  Sales transactions (product, price, date, customer ID).</a:t>
            </a:r>
          </a:p>
          <a:p>
            <a:pPr>
              <a:buFont typeface="Arial" pitchFamily="34" charset="0"/>
              <a:buChar char="•"/>
            </a:pPr>
            <a:r>
              <a:rPr lang="en-US" dirty="0" smtClean="0"/>
              <a:t>  Customer demographics (age, gender, location).</a:t>
            </a:r>
          </a:p>
          <a:p>
            <a:pPr>
              <a:buFont typeface="Arial" pitchFamily="34" charset="0"/>
              <a:buChar char="•"/>
            </a:pPr>
            <a:r>
              <a:rPr lang="en-US" dirty="0" smtClean="0"/>
              <a:t>  Website analytics (time spent on site, pages visited).</a:t>
            </a:r>
          </a:p>
          <a:p>
            <a:pPr>
              <a:buFont typeface="Arial" pitchFamily="34" charset="0"/>
              <a:buChar char="•"/>
            </a:pPr>
            <a:r>
              <a:rPr lang="en-US" dirty="0" smtClean="0"/>
              <a:t>  Marketing campaigns (email open rates, click-through rates).</a:t>
            </a:r>
          </a:p>
          <a:p>
            <a:pPr>
              <a:buFont typeface="Arial" pitchFamily="34" charset="0"/>
              <a:buChar char="•"/>
            </a:pPr>
            <a:endParaRPr lang="en-US" dirty="0" smtClean="0"/>
          </a:p>
          <a:p>
            <a:r>
              <a:rPr lang="en-US" b="1" dirty="0" smtClean="0"/>
              <a:t>2. Data Cleaning</a:t>
            </a:r>
            <a:r>
              <a:rPr lang="en-US" dirty="0" smtClean="0"/>
              <a:t>:</a:t>
            </a:r>
          </a:p>
          <a:p>
            <a:pPr>
              <a:buFont typeface="Arial" pitchFamily="34" charset="0"/>
              <a:buChar char="•"/>
            </a:pPr>
            <a:r>
              <a:rPr lang="en-US" dirty="0" smtClean="0"/>
              <a:t> Remove duplicate entries.</a:t>
            </a:r>
          </a:p>
          <a:p>
            <a:pPr>
              <a:buFont typeface="Arial" pitchFamily="34" charset="0"/>
              <a:buChar char="•"/>
            </a:pPr>
            <a:r>
              <a:rPr lang="en-US" dirty="0" smtClean="0"/>
              <a:t> Handle missing values by imputing or removing incomplete records.</a:t>
            </a:r>
          </a:p>
          <a:p>
            <a:pPr>
              <a:buFont typeface="Arial" pitchFamily="34" charset="0"/>
              <a:buChar char="•"/>
            </a:pPr>
            <a:r>
              <a:rPr lang="en-US" dirty="0" smtClean="0"/>
              <a:t> Standardize data formats (e.g., date formats).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fontScale="90000"/>
          </a:bodyPr>
          <a:lstStyle/>
          <a:p>
            <a:r>
              <a:rPr lang="en-IN" dirty="0" smtClean="0">
                <a:latin typeface="Bookman Old Style" pitchFamily="18" charset="0"/>
              </a:rPr>
              <a:t>Basics</a:t>
            </a:r>
            <a:endParaRPr lang="en-US"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9" name="Rectangle 8"/>
          <p:cNvSpPr/>
          <p:nvPr/>
        </p:nvSpPr>
        <p:spPr>
          <a:xfrm>
            <a:off x="371475" y="1466850"/>
            <a:ext cx="9829800" cy="5847755"/>
          </a:xfrm>
          <a:prstGeom prst="rect">
            <a:avLst/>
          </a:prstGeom>
        </p:spPr>
        <p:txBody>
          <a:bodyPr wrap="square">
            <a:spAutoFit/>
          </a:bodyPr>
          <a:lstStyle/>
          <a:p>
            <a:r>
              <a:rPr lang="en-US" b="1" dirty="0" smtClean="0"/>
              <a:t>3. Data Exploration</a:t>
            </a:r>
            <a:r>
              <a:rPr lang="en-US" dirty="0" smtClean="0"/>
              <a:t>:</a:t>
            </a:r>
          </a:p>
          <a:p>
            <a:r>
              <a:rPr lang="en-US" b="1" dirty="0" smtClean="0"/>
              <a:t>Descriptive Statistics</a:t>
            </a:r>
            <a:r>
              <a:rPr lang="en-US" dirty="0" smtClean="0"/>
              <a:t>: Calculate mean, median, mode, variance, etc., to understand data distribution.</a:t>
            </a:r>
          </a:p>
          <a:p>
            <a:r>
              <a:rPr lang="en-US" b="1" dirty="0" smtClean="0"/>
              <a:t>Visualizations</a:t>
            </a:r>
            <a:r>
              <a:rPr lang="en-US" dirty="0" smtClean="0"/>
              <a:t>: Use charts (e.g., bar charts, histograms, scatter plots) to identify patterns and trends.</a:t>
            </a:r>
          </a:p>
          <a:p>
            <a:r>
              <a:rPr lang="en-US" b="1" dirty="0" smtClean="0"/>
              <a:t>Example Findings</a:t>
            </a:r>
            <a:r>
              <a:rPr lang="en-US" dirty="0" smtClean="0"/>
              <a:t>:</a:t>
            </a:r>
          </a:p>
          <a:p>
            <a:pPr>
              <a:buFont typeface="Arial" pitchFamily="34" charset="0"/>
              <a:buChar char="•"/>
            </a:pPr>
            <a:r>
              <a:rPr lang="en-US" dirty="0" smtClean="0"/>
              <a:t>A majority of customers are between 25-34 years old.</a:t>
            </a:r>
          </a:p>
          <a:p>
            <a:pPr>
              <a:buFont typeface="Arial" pitchFamily="34" charset="0"/>
              <a:buChar char="•"/>
            </a:pPr>
            <a:r>
              <a:rPr lang="en-US" dirty="0" smtClean="0"/>
              <a:t>Sales peak during weekends.</a:t>
            </a:r>
          </a:p>
          <a:p>
            <a:pPr>
              <a:buFont typeface="Arial" pitchFamily="34" charset="0"/>
              <a:buChar char="•"/>
            </a:pPr>
            <a:r>
              <a:rPr lang="en-US" dirty="0" smtClean="0"/>
              <a:t>Certain products sell better in specific regions.</a:t>
            </a:r>
          </a:p>
          <a:p>
            <a:endParaRPr lang="en-US" dirty="0" smtClean="0"/>
          </a:p>
          <a:p>
            <a:r>
              <a:rPr lang="en-US" b="1" dirty="0" smtClean="0"/>
              <a:t>4. Data Analysis</a:t>
            </a:r>
            <a:r>
              <a:rPr lang="en-US" dirty="0" smtClean="0"/>
              <a:t>:</a:t>
            </a:r>
          </a:p>
          <a:p>
            <a:r>
              <a:rPr lang="en-US" b="1" dirty="0" smtClean="0"/>
              <a:t>Segment Customers</a:t>
            </a:r>
            <a:r>
              <a:rPr lang="en-US" dirty="0" smtClean="0"/>
              <a:t>: Group customers based on purchasing behavior (e.g., frequent buyers, occasional buyers).</a:t>
            </a:r>
          </a:p>
          <a:p>
            <a:r>
              <a:rPr lang="en-US" b="1" dirty="0" smtClean="0"/>
              <a:t>Correlation Analysis</a:t>
            </a:r>
            <a:r>
              <a:rPr lang="en-US" dirty="0" smtClean="0"/>
              <a:t>: Check if there's a relationship between variables, such as marketing emails and sales.</a:t>
            </a:r>
          </a:p>
          <a:p>
            <a:r>
              <a:rPr lang="en-US" b="1" dirty="0" smtClean="0"/>
              <a:t>Trend Analysis</a:t>
            </a:r>
            <a:r>
              <a:rPr lang="en-US" dirty="0" smtClean="0"/>
              <a:t>: Identify sales trends over time.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fontScale="90000"/>
          </a:bodyPr>
          <a:lstStyle/>
          <a:p>
            <a:r>
              <a:rPr lang="en-IN" dirty="0" smtClean="0">
                <a:latin typeface="Bookman Old Style" pitchFamily="18" charset="0"/>
              </a:rPr>
              <a:t>Basics</a:t>
            </a:r>
            <a:endParaRPr lang="en-US"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9" name="Rectangle 8"/>
          <p:cNvSpPr/>
          <p:nvPr/>
        </p:nvSpPr>
        <p:spPr>
          <a:xfrm>
            <a:off x="371475" y="1466850"/>
            <a:ext cx="9829800" cy="5847755"/>
          </a:xfrm>
          <a:prstGeom prst="rect">
            <a:avLst/>
          </a:prstGeom>
        </p:spPr>
        <p:txBody>
          <a:bodyPr wrap="square">
            <a:spAutoFit/>
          </a:bodyPr>
          <a:lstStyle/>
          <a:p>
            <a:r>
              <a:rPr lang="en-US" b="1" dirty="0" smtClean="0"/>
              <a:t>Example Insights</a:t>
            </a:r>
            <a:r>
              <a:rPr lang="en-US" dirty="0" smtClean="0"/>
              <a:t>:</a:t>
            </a:r>
          </a:p>
          <a:p>
            <a:pPr>
              <a:buFont typeface="Arial" pitchFamily="34" charset="0"/>
              <a:buChar char="•"/>
            </a:pPr>
            <a:r>
              <a:rPr lang="en-US" dirty="0" smtClean="0"/>
              <a:t>Customers from urban areas tend to buy higher-value items.</a:t>
            </a:r>
          </a:p>
          <a:p>
            <a:pPr>
              <a:buFont typeface="Arial" pitchFamily="34" charset="0"/>
              <a:buChar char="•"/>
            </a:pPr>
            <a:r>
              <a:rPr lang="en-US" dirty="0" smtClean="0"/>
              <a:t>Email campaigns sent on weekdays have a higher open rate.</a:t>
            </a:r>
          </a:p>
          <a:p>
            <a:pPr>
              <a:buFont typeface="Arial" pitchFamily="34" charset="0"/>
              <a:buChar char="•"/>
            </a:pPr>
            <a:r>
              <a:rPr lang="en-US" dirty="0" smtClean="0"/>
              <a:t>Products with more detailed descriptions have higher sales.</a:t>
            </a:r>
          </a:p>
          <a:p>
            <a:endParaRPr lang="en-US" dirty="0" smtClean="0"/>
          </a:p>
          <a:p>
            <a:r>
              <a:rPr lang="en-US" b="1" dirty="0" smtClean="0"/>
              <a:t>5. Interpretation and Decision-Making</a:t>
            </a:r>
            <a:r>
              <a:rPr lang="en-US" dirty="0" smtClean="0"/>
              <a:t>:</a:t>
            </a:r>
          </a:p>
          <a:p>
            <a:r>
              <a:rPr lang="en-US" dirty="0" smtClean="0"/>
              <a:t>Based on the analysis, the company might decide to:</a:t>
            </a:r>
          </a:p>
          <a:p>
            <a:pPr>
              <a:buFont typeface="Arial" pitchFamily="34" charset="0"/>
              <a:buChar char="•"/>
            </a:pPr>
            <a:r>
              <a:rPr lang="en-US" dirty="0" smtClean="0"/>
              <a:t> Target marketing campaigns to the 25-34 age group.</a:t>
            </a:r>
          </a:p>
          <a:p>
            <a:pPr>
              <a:buFont typeface="Arial" pitchFamily="34" charset="0"/>
              <a:buChar char="•"/>
            </a:pPr>
            <a:r>
              <a:rPr lang="en-US" dirty="0" smtClean="0"/>
              <a:t> Increase promotions during weekends.</a:t>
            </a:r>
          </a:p>
          <a:p>
            <a:pPr>
              <a:buFont typeface="Arial" pitchFamily="34" charset="0"/>
              <a:buChar char="•"/>
            </a:pPr>
            <a:r>
              <a:rPr lang="en-US" dirty="0" smtClean="0"/>
              <a:t> Improve product descriptions to boost sales.</a:t>
            </a:r>
          </a:p>
          <a:p>
            <a:pPr>
              <a:buFont typeface="Arial" pitchFamily="34" charset="0"/>
              <a:buChar char="•"/>
            </a:pPr>
            <a:endParaRPr lang="en-US" dirty="0" smtClean="0"/>
          </a:p>
          <a:p>
            <a:r>
              <a:rPr lang="en-US" b="1" dirty="0" smtClean="0"/>
              <a:t>Outcome:</a:t>
            </a:r>
          </a:p>
          <a:p>
            <a:r>
              <a:rPr lang="en-US" dirty="0" smtClean="0"/>
              <a:t>By analyzing the data, the company gains actionable insights, leading to better-targeted marketing strategies, optimized inventory management, and ultimately increased sales and customer satisfaction.</a:t>
            </a:r>
          </a:p>
          <a:p>
            <a:endParaRPr lang="en-US"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fontScale="90000"/>
          </a:bodyPr>
          <a:lstStyle/>
          <a:p>
            <a:r>
              <a:rPr lang="en-IN" dirty="0" smtClean="0">
                <a:latin typeface="Bookman Old Style" pitchFamily="18" charset="0"/>
              </a:rPr>
              <a:t>Basics</a:t>
            </a:r>
            <a:endParaRPr lang="en-US"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8" name="TextBox 7"/>
          <p:cNvSpPr txBox="1"/>
          <p:nvPr/>
        </p:nvSpPr>
        <p:spPr>
          <a:xfrm>
            <a:off x="219075" y="1466850"/>
            <a:ext cx="5486400" cy="707886"/>
          </a:xfrm>
          <a:prstGeom prst="rect">
            <a:avLst/>
          </a:prstGeom>
          <a:noFill/>
        </p:spPr>
        <p:txBody>
          <a:bodyPr wrap="square" rtlCol="0">
            <a:spAutoFit/>
          </a:bodyPr>
          <a:lstStyle/>
          <a:p>
            <a:r>
              <a:rPr lang="en-IN" sz="4000" b="1" dirty="0" smtClean="0">
                <a:latin typeface="Bookman Old Style" pitchFamily="18" charset="0"/>
              </a:rPr>
              <a:t>Data Science</a:t>
            </a:r>
            <a:endParaRPr lang="en-US" sz="4000" b="1" dirty="0">
              <a:latin typeface="Bookman Old Style" pitchFamily="18" charset="0"/>
            </a:endParaRPr>
          </a:p>
        </p:txBody>
      </p:sp>
      <p:pic>
        <p:nvPicPr>
          <p:cNvPr id="9" name="Picture 2"/>
          <p:cNvPicPr>
            <a:picLocks noGrp="1" noChangeAspect="1" noChangeArrowheads="1"/>
          </p:cNvPicPr>
          <p:nvPr>
            <p:ph idx="1"/>
          </p:nvPr>
        </p:nvPicPr>
        <p:blipFill>
          <a:blip r:embed="rId3"/>
          <a:srcRect/>
          <a:stretch>
            <a:fillRect/>
          </a:stretch>
        </p:blipFill>
        <p:spPr bwMode="auto">
          <a:xfrm>
            <a:off x="1514475" y="2305050"/>
            <a:ext cx="7935433" cy="429637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a:bodyPr>
          <a:lstStyle/>
          <a:p>
            <a:pPr algn="l"/>
            <a:r>
              <a:rPr lang="en-IN" sz="4000" dirty="0" smtClean="0">
                <a:latin typeface="Bookman Old Style" pitchFamily="18" charset="0"/>
              </a:rPr>
              <a:t>Basics of Data Science</a:t>
            </a:r>
            <a:endParaRPr lang="en-US" sz="4000"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21507" name="Picture 3"/>
          <p:cNvPicPr>
            <a:picLocks noChangeAspect="1" noChangeArrowheads="1"/>
          </p:cNvPicPr>
          <p:nvPr/>
        </p:nvPicPr>
        <p:blipFill>
          <a:blip r:embed="rId3"/>
          <a:srcRect/>
          <a:stretch>
            <a:fillRect/>
          </a:stretch>
        </p:blipFill>
        <p:spPr bwMode="auto">
          <a:xfrm>
            <a:off x="4248150" y="1695450"/>
            <a:ext cx="6553200" cy="5276850"/>
          </a:xfrm>
          <a:prstGeom prst="rect">
            <a:avLst/>
          </a:prstGeom>
          <a:noFill/>
          <a:ln w="9525">
            <a:noFill/>
            <a:miter lim="800000"/>
            <a:headEnd/>
            <a:tailEnd/>
          </a:ln>
          <a:effectLst/>
        </p:spPr>
      </p:pic>
      <p:sp>
        <p:nvSpPr>
          <p:cNvPr id="6" name="Rectangle 5"/>
          <p:cNvSpPr/>
          <p:nvPr/>
        </p:nvSpPr>
        <p:spPr>
          <a:xfrm>
            <a:off x="295275" y="1466850"/>
            <a:ext cx="5400675" cy="3477875"/>
          </a:xfrm>
          <a:prstGeom prst="rect">
            <a:avLst/>
          </a:prstGeom>
        </p:spPr>
        <p:txBody>
          <a:bodyPr>
            <a:spAutoFit/>
          </a:bodyPr>
          <a:lstStyle/>
          <a:p>
            <a:r>
              <a:rPr lang="en-US" b="1" dirty="0" smtClean="0"/>
              <a:t>Data Science</a:t>
            </a:r>
            <a:r>
              <a:rPr lang="en-US" dirty="0" smtClean="0"/>
              <a:t> is an interdisciplinary </a:t>
            </a:r>
          </a:p>
          <a:p>
            <a:r>
              <a:rPr lang="en-US" dirty="0" smtClean="0"/>
              <a:t>field that combines techniques </a:t>
            </a:r>
          </a:p>
          <a:p>
            <a:r>
              <a:rPr lang="en-US" dirty="0" smtClean="0"/>
              <a:t>from statistics, computer science, </a:t>
            </a:r>
          </a:p>
          <a:p>
            <a:r>
              <a:rPr lang="en-US" dirty="0" smtClean="0"/>
              <a:t>and domain expertise to extract</a:t>
            </a:r>
          </a:p>
          <a:p>
            <a:r>
              <a:rPr lang="en-US" dirty="0" smtClean="0"/>
              <a:t> insights and knowledge from data.</a:t>
            </a:r>
          </a:p>
          <a:p>
            <a:r>
              <a:rPr lang="en-US" dirty="0" smtClean="0"/>
              <a:t> It involves various processes, </a:t>
            </a:r>
          </a:p>
          <a:p>
            <a:r>
              <a:rPr lang="en-US" dirty="0" smtClean="0"/>
              <a:t>algorithms, and systems to </a:t>
            </a:r>
          </a:p>
          <a:p>
            <a:r>
              <a:rPr lang="en-US" dirty="0" smtClean="0"/>
              <a:t>analyze large volumes of structured </a:t>
            </a:r>
          </a:p>
          <a:p>
            <a:r>
              <a:rPr lang="en-US" dirty="0" smtClean="0"/>
              <a:t>and unstructured data, enabling</a:t>
            </a:r>
          </a:p>
          <a:p>
            <a:r>
              <a:rPr lang="en-US" dirty="0" smtClean="0"/>
              <a:t> informed decision-making.</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a:bodyPr>
          <a:lstStyle/>
          <a:p>
            <a:pPr algn="l"/>
            <a:r>
              <a:rPr lang="en-IN" sz="4000" dirty="0" smtClean="0">
                <a:latin typeface="Bookman Old Style" pitchFamily="18" charset="0"/>
              </a:rPr>
              <a:t>Basics of Data Science</a:t>
            </a:r>
            <a:endParaRPr lang="en-US" sz="4000"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21507" name="Picture 3"/>
          <p:cNvPicPr>
            <a:picLocks noChangeAspect="1" noChangeArrowheads="1"/>
          </p:cNvPicPr>
          <p:nvPr/>
        </p:nvPicPr>
        <p:blipFill>
          <a:blip r:embed="rId3"/>
          <a:srcRect/>
          <a:stretch>
            <a:fillRect/>
          </a:stretch>
        </p:blipFill>
        <p:spPr bwMode="auto">
          <a:xfrm>
            <a:off x="4248150" y="1695450"/>
            <a:ext cx="6553200" cy="5276850"/>
          </a:xfrm>
          <a:prstGeom prst="rect">
            <a:avLst/>
          </a:prstGeom>
          <a:noFill/>
          <a:ln w="9525">
            <a:noFill/>
            <a:miter lim="800000"/>
            <a:headEnd/>
            <a:tailEnd/>
          </a:ln>
          <a:effectLst/>
        </p:spPr>
      </p:pic>
      <p:sp>
        <p:nvSpPr>
          <p:cNvPr id="6" name="Rectangle 5"/>
          <p:cNvSpPr/>
          <p:nvPr/>
        </p:nvSpPr>
        <p:spPr>
          <a:xfrm>
            <a:off x="295275" y="1466850"/>
            <a:ext cx="5400675" cy="769441"/>
          </a:xfrm>
          <a:prstGeom prst="rect">
            <a:avLst/>
          </a:prstGeom>
        </p:spPr>
        <p:txBody>
          <a:bodyPr>
            <a:spAutoFit/>
          </a:bodyPr>
          <a:lstStyle/>
          <a:p>
            <a:r>
              <a:rPr lang="en-US" b="1" dirty="0" smtClean="0"/>
              <a:t>https://www.youtube.com/watch?v=xC-c7E5PK0Y</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a:bodyPr>
          <a:lstStyle/>
          <a:p>
            <a:pPr algn="l"/>
            <a:r>
              <a:rPr lang="en-IN" sz="4000" dirty="0" smtClean="0">
                <a:latin typeface="Bookman Old Style" pitchFamily="18" charset="0"/>
              </a:rPr>
              <a:t>Basics of Data Science</a:t>
            </a:r>
            <a:endParaRPr lang="en-US" sz="4000"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3186" name="Picture 2"/>
          <p:cNvPicPr>
            <a:picLocks noChangeAspect="1" noChangeArrowheads="1"/>
          </p:cNvPicPr>
          <p:nvPr/>
        </p:nvPicPr>
        <p:blipFill>
          <a:blip r:embed="rId3"/>
          <a:srcRect/>
          <a:stretch>
            <a:fillRect/>
          </a:stretch>
        </p:blipFill>
        <p:spPr bwMode="auto">
          <a:xfrm>
            <a:off x="1514475" y="1466850"/>
            <a:ext cx="7348794" cy="496441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a:bodyPr>
          <a:lstStyle/>
          <a:p>
            <a:pPr algn="l"/>
            <a:r>
              <a:rPr lang="en-IN" sz="4000" dirty="0" smtClean="0">
                <a:latin typeface="Bookman Old Style" pitchFamily="18" charset="0"/>
              </a:rPr>
              <a:t>Basics of Data Science</a:t>
            </a:r>
            <a:endParaRPr lang="en-US" sz="4000"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Picture 1"/>
          <p:cNvPicPr>
            <a:picLocks noChangeAspect="1" noChangeArrowheads="1"/>
          </p:cNvPicPr>
          <p:nvPr/>
        </p:nvPicPr>
        <p:blipFill>
          <a:blip r:embed="rId3" cstate="print"/>
          <a:srcRect t="11268" r="12245" b="1408"/>
          <a:stretch>
            <a:fillRect/>
          </a:stretch>
        </p:blipFill>
        <p:spPr bwMode="auto">
          <a:xfrm>
            <a:off x="2581275" y="1162050"/>
            <a:ext cx="7924800" cy="5581650"/>
          </a:xfrm>
          <a:prstGeom prst="rect">
            <a:avLst/>
          </a:prstGeom>
          <a:noFill/>
        </p:spPr>
      </p:pic>
      <p:sp>
        <p:nvSpPr>
          <p:cNvPr id="7" name="Rectangle 6"/>
          <p:cNvSpPr/>
          <p:nvPr/>
        </p:nvSpPr>
        <p:spPr>
          <a:xfrm>
            <a:off x="142875" y="1238250"/>
            <a:ext cx="5400675" cy="5509200"/>
          </a:xfrm>
          <a:prstGeom prst="rect">
            <a:avLst/>
          </a:prstGeom>
        </p:spPr>
        <p:txBody>
          <a:bodyPr>
            <a:spAutoFit/>
          </a:bodyPr>
          <a:lstStyle/>
          <a:p>
            <a:r>
              <a:rPr lang="en-US" b="1" dirty="0" smtClean="0"/>
              <a:t>Summary:</a:t>
            </a:r>
          </a:p>
          <a:p>
            <a:endParaRPr lang="en-US" b="1" dirty="0" smtClean="0"/>
          </a:p>
          <a:p>
            <a:r>
              <a:rPr lang="en-US" b="1" dirty="0" smtClean="0"/>
              <a:t>Data Analyst</a:t>
            </a:r>
            <a:r>
              <a:rPr lang="en-US" dirty="0" smtClean="0"/>
              <a:t>: Insight-focused, interprets data, and creates visualizations.</a:t>
            </a:r>
          </a:p>
          <a:p>
            <a:r>
              <a:rPr lang="en-US" b="1" dirty="0" smtClean="0"/>
              <a:t>Data Scientist</a:t>
            </a:r>
            <a:r>
              <a:rPr lang="en-US" dirty="0" smtClean="0"/>
              <a:t>: Builds and deploys advanced predictive models.</a:t>
            </a:r>
          </a:p>
          <a:p>
            <a:r>
              <a:rPr lang="en-US" b="1" dirty="0" smtClean="0"/>
              <a:t>Data Engineer</a:t>
            </a:r>
            <a:r>
              <a:rPr lang="en-US" dirty="0" smtClean="0"/>
              <a:t>: Constructs and optimizes </a:t>
            </a:r>
          </a:p>
          <a:p>
            <a:r>
              <a:rPr lang="en-US" dirty="0" smtClean="0"/>
              <a:t>data systems and pipelines.</a:t>
            </a:r>
          </a:p>
          <a:p>
            <a:endParaRPr lang="en-US" dirty="0" smtClean="0"/>
          </a:p>
          <a:p>
            <a:r>
              <a:rPr lang="en-US" b="1" dirty="0" smtClean="0"/>
              <a:t>All Three Roles</a:t>
            </a:r>
            <a:r>
              <a:rPr lang="en-US" dirty="0" smtClean="0"/>
              <a:t>:</a:t>
            </a:r>
          </a:p>
          <a:p>
            <a:r>
              <a:rPr lang="en-US" dirty="0" smtClean="0"/>
              <a:t>Share skills in </a:t>
            </a:r>
            <a:r>
              <a:rPr lang="en-US" b="1" dirty="0" smtClean="0"/>
              <a:t>coding</a:t>
            </a:r>
            <a:r>
              <a:rPr lang="en-US" dirty="0" smtClean="0"/>
              <a:t>, </a:t>
            </a:r>
            <a:r>
              <a:rPr lang="en-US" b="1" dirty="0" smtClean="0"/>
              <a:t>data </a:t>
            </a:r>
          </a:p>
          <a:p>
            <a:r>
              <a:rPr lang="en-US" b="1" dirty="0" smtClean="0"/>
              <a:t>manipulation</a:t>
            </a:r>
            <a:r>
              <a:rPr lang="en-US" dirty="0" smtClean="0"/>
              <a:t>, </a:t>
            </a:r>
            <a:r>
              <a:rPr lang="en-US" b="1" dirty="0" smtClean="0"/>
              <a:t>cloud computing</a:t>
            </a:r>
            <a:r>
              <a:rPr lang="en-US" dirty="0" smtClean="0"/>
              <a:t>, </a:t>
            </a:r>
          </a:p>
          <a:p>
            <a:r>
              <a:rPr lang="en-US" dirty="0" smtClean="0"/>
              <a:t>and </a:t>
            </a:r>
            <a:r>
              <a:rPr lang="en-US" b="1" dirty="0" smtClean="0"/>
              <a:t>data visualization</a:t>
            </a:r>
            <a:r>
              <a:rPr lang="en-US" dirty="0" smtClean="0"/>
              <a:t>. These are</a:t>
            </a:r>
          </a:p>
          <a:p>
            <a:r>
              <a:rPr lang="en-US" dirty="0" smtClean="0"/>
              <a:t> essential skills for working with data </a:t>
            </a:r>
          </a:p>
          <a:p>
            <a:r>
              <a:rPr lang="en-US" dirty="0" smtClean="0"/>
              <a:t>at any level.</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a:bodyPr>
          <a:lstStyle/>
          <a:p>
            <a:pPr algn="l"/>
            <a:r>
              <a:rPr lang="en-IN" sz="4000" dirty="0" smtClean="0">
                <a:latin typeface="Bookman Old Style" pitchFamily="18" charset="0"/>
              </a:rPr>
              <a:t>Basics of Data Science</a:t>
            </a:r>
            <a:endParaRPr lang="en-US" sz="4000"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6629" name="Picture 5"/>
          <p:cNvPicPr>
            <a:picLocks noChangeAspect="1" noChangeArrowheads="1"/>
          </p:cNvPicPr>
          <p:nvPr/>
        </p:nvPicPr>
        <p:blipFill>
          <a:blip r:embed="rId3"/>
          <a:srcRect/>
          <a:stretch>
            <a:fillRect/>
          </a:stretch>
        </p:blipFill>
        <p:spPr bwMode="auto">
          <a:xfrm>
            <a:off x="0" y="1217612"/>
            <a:ext cx="10658475" cy="5983288"/>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a:bodyPr>
          <a:lstStyle/>
          <a:p>
            <a:pPr algn="l"/>
            <a:r>
              <a:rPr lang="en-IN" sz="4000" dirty="0" smtClean="0">
                <a:latin typeface="Bookman Old Style" pitchFamily="18" charset="0"/>
              </a:rPr>
              <a:t>Basics of Data Science</a:t>
            </a:r>
            <a:endParaRPr lang="en-US" sz="4000"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8674" name="Picture 2"/>
          <p:cNvPicPr>
            <a:picLocks noChangeAspect="1" noChangeArrowheads="1"/>
          </p:cNvPicPr>
          <p:nvPr/>
        </p:nvPicPr>
        <p:blipFill>
          <a:blip r:embed="rId3"/>
          <a:srcRect/>
          <a:stretch>
            <a:fillRect/>
          </a:stretch>
        </p:blipFill>
        <p:spPr bwMode="auto">
          <a:xfrm>
            <a:off x="371475" y="1543050"/>
            <a:ext cx="9982200" cy="51054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rmAutofit/>
          </a:bodyPr>
          <a:lstStyle/>
          <a:p>
            <a:pPr algn="l"/>
            <a:r>
              <a:rPr lang="en-IN" sz="4000" dirty="0" smtClean="0">
                <a:latin typeface="Bookman Old Style" pitchFamily="18" charset="0"/>
              </a:rPr>
              <a:t>Applications of Data Science</a:t>
            </a:r>
            <a:endParaRPr lang="en-US" sz="4000" dirty="0">
              <a:latin typeface="Bookman Old Style" pitchFamily="18"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9698" name="Picture 2"/>
          <p:cNvPicPr>
            <a:picLocks noChangeAspect="1" noChangeArrowheads="1"/>
          </p:cNvPicPr>
          <p:nvPr/>
        </p:nvPicPr>
        <p:blipFill>
          <a:blip r:embed="rId3"/>
          <a:srcRect/>
          <a:stretch>
            <a:fillRect/>
          </a:stretch>
        </p:blipFill>
        <p:spPr bwMode="auto">
          <a:xfrm>
            <a:off x="-161925" y="1217612"/>
            <a:ext cx="10963275" cy="5983288"/>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400" b="1" dirty="0" smtClean="0">
                <a:latin typeface="Arial Narrow" pitchFamily="34" charset="0"/>
              </a:rPr>
              <a:t>Quiz</a:t>
            </a: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6" name="Picture 2"/>
          <p:cNvPicPr>
            <a:picLocks noChangeAspect="1" noChangeArrowheads="1"/>
          </p:cNvPicPr>
          <p:nvPr/>
        </p:nvPicPr>
        <p:blipFill>
          <a:blip r:embed="rId3"/>
          <a:srcRect/>
          <a:stretch>
            <a:fillRect/>
          </a:stretch>
        </p:blipFill>
        <p:spPr bwMode="auto">
          <a:xfrm>
            <a:off x="2733675" y="1543050"/>
            <a:ext cx="5172075" cy="520065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400" b="1" dirty="0" smtClean="0">
                <a:latin typeface="Arial Narrow" pitchFamily="34" charset="0"/>
              </a:rPr>
              <a:t>Relationship between Data Science and Information Science</a:t>
            </a: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 name="TextBox 7"/>
          <p:cNvSpPr txBox="1"/>
          <p:nvPr/>
        </p:nvSpPr>
        <p:spPr>
          <a:xfrm>
            <a:off x="752475" y="1543050"/>
            <a:ext cx="9601200" cy="830997"/>
          </a:xfrm>
          <a:prstGeom prst="rect">
            <a:avLst/>
          </a:prstGeom>
          <a:noFill/>
        </p:spPr>
        <p:txBody>
          <a:bodyPr wrap="square" rtlCol="0">
            <a:spAutoFit/>
          </a:bodyPr>
          <a:lstStyle/>
          <a:p>
            <a:r>
              <a:rPr lang="en-US" sz="2400" b="1" dirty="0" smtClean="0"/>
              <a:t>Data science and information science are related fields that share common elements, but they also have distinct focuses and goals.</a:t>
            </a:r>
            <a:endParaRPr lang="en-US" sz="2400" b="1" dirty="0"/>
          </a:p>
        </p:txBody>
      </p:sp>
      <p:graphicFrame>
        <p:nvGraphicFramePr>
          <p:cNvPr id="9" name="Table 8"/>
          <p:cNvGraphicFramePr>
            <a:graphicFrameLocks noGrp="1"/>
          </p:cNvGraphicFramePr>
          <p:nvPr/>
        </p:nvGraphicFramePr>
        <p:xfrm>
          <a:off x="523875" y="2762250"/>
          <a:ext cx="9982200" cy="3200400"/>
        </p:xfrm>
        <a:graphic>
          <a:graphicData uri="http://schemas.openxmlformats.org/drawingml/2006/table">
            <a:tbl>
              <a:tblPr firstRow="1" bandRow="1">
                <a:tableStyleId>{BDBED569-4797-4DF1-A0F4-6AAB3CD982D8}</a:tableStyleId>
              </a:tblPr>
              <a:tblGrid>
                <a:gridCol w="4991100"/>
                <a:gridCol w="4991100"/>
              </a:tblGrid>
              <a:tr h="370840">
                <a:tc>
                  <a:txBody>
                    <a:bodyPr/>
                    <a:lstStyle/>
                    <a:p>
                      <a:pPr algn="ctr"/>
                      <a:r>
                        <a:rPr lang="en-IN" dirty="0" smtClean="0"/>
                        <a:t>Data Science</a:t>
                      </a:r>
                      <a:endParaRPr lang="en-US" b="1" dirty="0"/>
                    </a:p>
                  </a:txBody>
                  <a:tcPr>
                    <a:solidFill>
                      <a:schemeClr val="tx2">
                        <a:lumMod val="20000"/>
                        <a:lumOff val="80000"/>
                      </a:schemeClr>
                    </a:solidFill>
                  </a:tcPr>
                </a:tc>
                <a:tc>
                  <a:txBody>
                    <a:bodyPr/>
                    <a:lstStyle/>
                    <a:p>
                      <a:pPr algn="ctr"/>
                      <a:r>
                        <a:rPr lang="en-IN" dirty="0" smtClean="0"/>
                        <a:t>Information Science</a:t>
                      </a:r>
                      <a:endParaRPr lang="en-US" b="1" dirty="0"/>
                    </a:p>
                  </a:txBody>
                  <a:tcPr>
                    <a:solidFill>
                      <a:schemeClr val="tx2">
                        <a:lumMod val="20000"/>
                        <a:lumOff val="80000"/>
                      </a:schemeClr>
                    </a:solidFill>
                  </a:tcPr>
                </a:tc>
              </a:tr>
              <a:tr h="370840">
                <a:tc>
                  <a:txBody>
                    <a:bodyPr/>
                    <a:lstStyle/>
                    <a:p>
                      <a:pPr algn="just">
                        <a:buFont typeface="Arial" pitchFamily="34" charset="0"/>
                        <a:buChar char="•"/>
                      </a:pPr>
                      <a:r>
                        <a:rPr lang="en-US" sz="2200" kern="1200" dirty="0" smtClean="0"/>
                        <a:t>Data science is an interdisciplinary field that involves the extraction of insights and knowledge from structured and unstructured data.</a:t>
                      </a:r>
                    </a:p>
                    <a:p>
                      <a:pPr algn="just">
                        <a:buFont typeface="Arial" pitchFamily="34" charset="0"/>
                        <a:buChar char="•"/>
                      </a:pPr>
                      <a:r>
                        <a:rPr lang="en-US" sz="2200" kern="1200" dirty="0" smtClean="0"/>
                        <a:t> It incorporates techniques from statistics, mathematics, and computer science to analyze and interpret complex data sets.</a:t>
                      </a:r>
                      <a:endParaRPr lang="en-US" dirty="0"/>
                    </a:p>
                  </a:txBody>
                  <a:tcPr/>
                </a:tc>
                <a:tc>
                  <a:txBody>
                    <a:bodyPr/>
                    <a:lstStyle/>
                    <a:p>
                      <a:pPr algn="just">
                        <a:buFont typeface="Arial" pitchFamily="34" charset="0"/>
                        <a:buChar char="•"/>
                      </a:pPr>
                      <a:r>
                        <a:rPr lang="en-US" sz="2200" kern="1200" dirty="0" smtClean="0"/>
                        <a:t>Information science, on the other hand, is a broader field that deals with the study of information and its properties. </a:t>
                      </a:r>
                    </a:p>
                    <a:p>
                      <a:pPr algn="just">
                        <a:buFont typeface="Arial" pitchFamily="34" charset="0"/>
                        <a:buNone/>
                      </a:pPr>
                      <a:endParaRPr lang="en-US" sz="2200" kern="1200" dirty="0" smtClean="0"/>
                    </a:p>
                    <a:p>
                      <a:pPr algn="just">
                        <a:buFont typeface="Arial" pitchFamily="34" charset="0"/>
                        <a:buChar char="•"/>
                      </a:pPr>
                      <a:r>
                        <a:rPr lang="en-US" sz="2200" kern="1200" dirty="0" smtClean="0"/>
                        <a:t>It encompasses the organization, retrieval, storage, and wide</a:t>
                      </a:r>
                      <a:r>
                        <a:rPr lang="en-US" sz="2200" kern="1200" baseline="0" dirty="0" smtClean="0"/>
                        <a:t> spreading</a:t>
                      </a:r>
                      <a:r>
                        <a:rPr lang="en-US" sz="2200" kern="1200" dirty="0" smtClean="0"/>
                        <a:t> of information.</a:t>
                      </a:r>
                      <a:endParaRPr lang="en-US" dirty="0">
                        <a:solidFill>
                          <a:srgbClr val="FF0000"/>
                        </a:solidFill>
                      </a:endParaRPr>
                    </a:p>
                  </a:txBody>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400" b="1" dirty="0" smtClean="0">
                <a:latin typeface="Arial Narrow" pitchFamily="34" charset="0"/>
              </a:rPr>
              <a:t>Relationship between Data Science and Information Science</a:t>
            </a: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762250"/>
          <a:ext cx="9982200" cy="2438400"/>
        </p:xfrm>
        <a:graphic>
          <a:graphicData uri="http://schemas.openxmlformats.org/drawingml/2006/table">
            <a:tbl>
              <a:tblPr firstRow="1" bandRow="1">
                <a:tableStyleId>{BDBED569-4797-4DF1-A0F4-6AAB3CD982D8}</a:tableStyleId>
              </a:tblPr>
              <a:tblGrid>
                <a:gridCol w="4991100"/>
                <a:gridCol w="4991100"/>
              </a:tblGrid>
              <a:tr h="682752">
                <a:tc>
                  <a:txBody>
                    <a:bodyPr/>
                    <a:lstStyle/>
                    <a:p>
                      <a:pPr algn="ctr"/>
                      <a:r>
                        <a:rPr lang="en-IN" dirty="0" smtClean="0"/>
                        <a:t>Data Science</a:t>
                      </a:r>
                      <a:endParaRPr lang="en-US" b="1" dirty="0"/>
                    </a:p>
                  </a:txBody>
                  <a:tcPr anchor="ctr">
                    <a:solidFill>
                      <a:schemeClr val="tx2">
                        <a:lumMod val="20000"/>
                        <a:lumOff val="80000"/>
                      </a:schemeClr>
                    </a:solidFill>
                  </a:tcPr>
                </a:tc>
                <a:tc>
                  <a:txBody>
                    <a:bodyPr/>
                    <a:lstStyle/>
                    <a:p>
                      <a:pPr algn="ctr"/>
                      <a:r>
                        <a:rPr lang="en-IN" dirty="0" smtClean="0"/>
                        <a:t>Information Science</a:t>
                      </a:r>
                      <a:endParaRPr lang="en-US" b="1" dirty="0"/>
                    </a:p>
                  </a:txBody>
                  <a:tcPr anchor="ctr">
                    <a:solidFill>
                      <a:schemeClr val="tx2">
                        <a:lumMod val="20000"/>
                        <a:lumOff val="80000"/>
                      </a:schemeClr>
                    </a:solidFill>
                  </a:tcPr>
                </a:tc>
              </a:tr>
              <a:tr h="1755648">
                <a:tc>
                  <a:txBody>
                    <a:bodyPr/>
                    <a:lstStyle/>
                    <a:p>
                      <a:pPr algn="just">
                        <a:buFont typeface="Arial" pitchFamily="34" charset="0"/>
                        <a:buNone/>
                      </a:pPr>
                      <a:r>
                        <a:rPr lang="en-US" sz="2400" b="0" i="0" kern="1200" dirty="0" smtClean="0">
                          <a:solidFill>
                            <a:schemeClr val="dk1"/>
                          </a:solidFill>
                          <a:latin typeface="+mn-lt"/>
                          <a:ea typeface="+mn-ea"/>
                          <a:cs typeface="+mn-cs"/>
                        </a:rPr>
                        <a:t>It involves data analysis, machine learning, and statistical modeling to draw conclusions from data.</a:t>
                      </a:r>
                      <a:endParaRPr lang="en-US" sz="2400" dirty="0"/>
                    </a:p>
                  </a:txBody>
                  <a:tcPr/>
                </a:tc>
                <a:tc>
                  <a:txBody>
                    <a:bodyPr/>
                    <a:lstStyle/>
                    <a:p>
                      <a:pPr algn="just">
                        <a:buFont typeface="Arial" pitchFamily="34" charset="0"/>
                        <a:buNone/>
                      </a:pPr>
                      <a:r>
                        <a:rPr lang="en-US" sz="2400" b="0" i="0" kern="1200" dirty="0" smtClean="0">
                          <a:solidFill>
                            <a:schemeClr val="dk1"/>
                          </a:solidFill>
                          <a:latin typeface="+mn-lt"/>
                          <a:ea typeface="+mn-ea"/>
                          <a:cs typeface="+mn-cs"/>
                        </a:rPr>
                        <a:t> It looks at how information is processed and utilized in various contexts. </a:t>
                      </a:r>
                    </a:p>
                    <a:p>
                      <a:pPr algn="just">
                        <a:buFont typeface="Arial" pitchFamily="34" charset="0"/>
                        <a:buNone/>
                      </a:pPr>
                      <a:endParaRPr lang="en-US" sz="2400" b="0" i="0" kern="1200" dirty="0" smtClean="0">
                        <a:solidFill>
                          <a:schemeClr val="dk1"/>
                        </a:solidFill>
                        <a:latin typeface="+mn-lt"/>
                        <a:ea typeface="+mn-ea"/>
                        <a:cs typeface="+mn-cs"/>
                      </a:endParaRPr>
                    </a:p>
                  </a:txBody>
                  <a:tcPr/>
                </a:tc>
              </a:tr>
            </a:tbl>
          </a:graphicData>
        </a:graphic>
      </p:graphicFrame>
      <p:sp>
        <p:nvSpPr>
          <p:cNvPr id="11" name="TextBox 10"/>
          <p:cNvSpPr txBox="1"/>
          <p:nvPr/>
        </p:nvSpPr>
        <p:spPr>
          <a:xfrm>
            <a:off x="600075" y="1543050"/>
            <a:ext cx="4724400" cy="43088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r>
              <a:rPr lang="en-US" b="1" dirty="0" smtClean="0"/>
              <a:t>Data vs. Information</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400" b="1" dirty="0" smtClean="0">
                <a:latin typeface="Arial Narrow" pitchFamily="34" charset="0"/>
              </a:rPr>
              <a:t>Relationship between Data Science and Information Science</a:t>
            </a: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762250"/>
          <a:ext cx="9982200" cy="2438400"/>
        </p:xfrm>
        <a:graphic>
          <a:graphicData uri="http://schemas.openxmlformats.org/drawingml/2006/table">
            <a:tbl>
              <a:tblPr firstRow="1" bandRow="1">
                <a:tableStyleId>{BDBED569-4797-4DF1-A0F4-6AAB3CD982D8}</a:tableStyleId>
              </a:tblPr>
              <a:tblGrid>
                <a:gridCol w="4991100"/>
                <a:gridCol w="4991100"/>
              </a:tblGrid>
              <a:tr h="682752">
                <a:tc>
                  <a:txBody>
                    <a:bodyPr/>
                    <a:lstStyle/>
                    <a:p>
                      <a:pPr algn="ctr"/>
                      <a:r>
                        <a:rPr lang="en-IN" dirty="0" smtClean="0"/>
                        <a:t>Data Science</a:t>
                      </a:r>
                      <a:endParaRPr lang="en-US" b="1" dirty="0"/>
                    </a:p>
                  </a:txBody>
                  <a:tcPr anchor="ctr">
                    <a:solidFill>
                      <a:schemeClr val="tx2">
                        <a:lumMod val="20000"/>
                        <a:lumOff val="80000"/>
                      </a:schemeClr>
                    </a:solidFill>
                  </a:tcPr>
                </a:tc>
                <a:tc>
                  <a:txBody>
                    <a:bodyPr/>
                    <a:lstStyle/>
                    <a:p>
                      <a:pPr algn="ctr"/>
                      <a:r>
                        <a:rPr lang="en-IN" dirty="0" smtClean="0"/>
                        <a:t>Information Science</a:t>
                      </a:r>
                      <a:endParaRPr lang="en-US" b="1" dirty="0"/>
                    </a:p>
                  </a:txBody>
                  <a:tcPr anchor="ctr">
                    <a:solidFill>
                      <a:schemeClr val="tx2">
                        <a:lumMod val="20000"/>
                        <a:lumOff val="80000"/>
                      </a:schemeClr>
                    </a:solidFill>
                  </a:tcPr>
                </a:tc>
              </a:tr>
              <a:tr h="1755648">
                <a:tc>
                  <a:txBody>
                    <a:bodyPr/>
                    <a:lstStyle/>
                    <a:p>
                      <a:pPr algn="just">
                        <a:buFont typeface="Arial" pitchFamily="34" charset="0"/>
                        <a:buNone/>
                      </a:pPr>
                      <a:r>
                        <a:rPr lang="en-US" sz="2200" b="0" i="0" kern="1200" dirty="0" smtClean="0">
                          <a:solidFill>
                            <a:schemeClr val="tx1"/>
                          </a:solidFill>
                          <a:latin typeface="+mn-lt"/>
                          <a:ea typeface="+mn-ea"/>
                          <a:cs typeface="+mn-cs"/>
                        </a:rPr>
                        <a:t>relies on statistical methods, machine learning algorithms, data visualization, and programming</a:t>
                      </a:r>
                      <a:endParaRPr lang="en-US" sz="2400" dirty="0"/>
                    </a:p>
                  </a:txBody>
                  <a:tcPr/>
                </a:tc>
                <a:tc>
                  <a:txBody>
                    <a:bodyPr/>
                    <a:lstStyle/>
                    <a:p>
                      <a:pPr algn="just">
                        <a:buFont typeface="Arial" pitchFamily="34" charset="0"/>
                        <a:buNone/>
                      </a:pPr>
                      <a:r>
                        <a:rPr lang="en-US" sz="2200" b="0" i="0" kern="1200" dirty="0" smtClean="0">
                          <a:solidFill>
                            <a:schemeClr val="tx1"/>
                          </a:solidFill>
                          <a:latin typeface="+mn-lt"/>
                          <a:ea typeface="+mn-ea"/>
                          <a:cs typeface="+mn-cs"/>
                        </a:rPr>
                        <a:t>database management, information retrieval, knowledge representation, and information systems design.</a:t>
                      </a:r>
                      <a:endParaRPr lang="en-US" sz="2400" b="0" i="0" kern="1200" dirty="0" smtClean="0">
                        <a:solidFill>
                          <a:schemeClr val="dk1"/>
                        </a:solidFill>
                        <a:latin typeface="+mn-lt"/>
                        <a:ea typeface="+mn-ea"/>
                        <a:cs typeface="+mn-cs"/>
                      </a:endParaRPr>
                    </a:p>
                    <a:p>
                      <a:pPr algn="just">
                        <a:buFont typeface="Arial" pitchFamily="34" charset="0"/>
                        <a:buNone/>
                      </a:pPr>
                      <a:endParaRPr lang="en-US" sz="2400" b="0" i="0" kern="1200" dirty="0" smtClean="0">
                        <a:solidFill>
                          <a:schemeClr val="dk1"/>
                        </a:solidFill>
                        <a:latin typeface="+mn-lt"/>
                        <a:ea typeface="+mn-ea"/>
                        <a:cs typeface="+mn-cs"/>
                      </a:endParaRPr>
                    </a:p>
                  </a:txBody>
                  <a:tcPr/>
                </a:tc>
              </a:tr>
            </a:tbl>
          </a:graphicData>
        </a:graphic>
      </p:graphicFrame>
      <p:sp>
        <p:nvSpPr>
          <p:cNvPr id="10" name="Rectangle 9"/>
          <p:cNvSpPr/>
          <p:nvPr/>
        </p:nvSpPr>
        <p:spPr>
          <a:xfrm>
            <a:off x="600075" y="1619250"/>
            <a:ext cx="3810000" cy="430887"/>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dirty="0" smtClean="0"/>
              <a:t>Methods and Techniques:</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400" b="1" dirty="0" smtClean="0">
                <a:latin typeface="Arial Narrow" pitchFamily="34" charset="0"/>
              </a:rPr>
              <a:t>Relationship between Data Science and Information Science</a:t>
            </a: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762250"/>
          <a:ext cx="9982200" cy="2816352"/>
        </p:xfrm>
        <a:graphic>
          <a:graphicData uri="http://schemas.openxmlformats.org/drawingml/2006/table">
            <a:tbl>
              <a:tblPr firstRow="1" bandRow="1">
                <a:tableStyleId>{BDBED569-4797-4DF1-A0F4-6AAB3CD982D8}</a:tableStyleId>
              </a:tblPr>
              <a:tblGrid>
                <a:gridCol w="4991100"/>
                <a:gridCol w="4991100"/>
              </a:tblGrid>
              <a:tr h="682752">
                <a:tc>
                  <a:txBody>
                    <a:bodyPr/>
                    <a:lstStyle/>
                    <a:p>
                      <a:pPr algn="ctr"/>
                      <a:r>
                        <a:rPr lang="en-IN" dirty="0" smtClean="0"/>
                        <a:t>Data Science</a:t>
                      </a:r>
                      <a:endParaRPr lang="en-US" b="1" dirty="0"/>
                    </a:p>
                  </a:txBody>
                  <a:tcPr anchor="ctr">
                    <a:solidFill>
                      <a:schemeClr val="tx2">
                        <a:lumMod val="20000"/>
                        <a:lumOff val="80000"/>
                      </a:schemeClr>
                    </a:solidFill>
                  </a:tcPr>
                </a:tc>
                <a:tc>
                  <a:txBody>
                    <a:bodyPr/>
                    <a:lstStyle/>
                    <a:p>
                      <a:pPr algn="ctr"/>
                      <a:r>
                        <a:rPr lang="en-IN" dirty="0" smtClean="0"/>
                        <a:t>Information Science</a:t>
                      </a:r>
                      <a:endParaRPr lang="en-US" b="1" dirty="0"/>
                    </a:p>
                  </a:txBody>
                  <a:tcPr anchor="ctr">
                    <a:solidFill>
                      <a:schemeClr val="tx2">
                        <a:lumMod val="20000"/>
                        <a:lumOff val="80000"/>
                      </a:schemeClr>
                    </a:solidFill>
                  </a:tcPr>
                </a:tc>
              </a:tr>
              <a:tr h="1755648">
                <a:tc>
                  <a:txBody>
                    <a:bodyPr/>
                    <a:lstStyle/>
                    <a:p>
                      <a:pPr algn="just">
                        <a:buFont typeface="Arial" pitchFamily="34" charset="0"/>
                        <a:buNone/>
                      </a:pPr>
                      <a:r>
                        <a:rPr lang="en-US" sz="2200" b="0" i="0" kern="1200" dirty="0" smtClean="0">
                          <a:solidFill>
                            <a:schemeClr val="tx1"/>
                          </a:solidFill>
                          <a:latin typeface="+mn-lt"/>
                          <a:ea typeface="+mn-ea"/>
                          <a:cs typeface="+mn-cs"/>
                        </a:rPr>
                        <a:t>Applications in various industries, including finance, healthcare, marketing, and technology, to make data-driven decisions, build predictive models, and uncover hidden patterns in data.</a:t>
                      </a:r>
                      <a:endParaRPr lang="en-US" sz="2400" dirty="0"/>
                    </a:p>
                  </a:txBody>
                  <a:tcPr/>
                </a:tc>
                <a:tc>
                  <a:txBody>
                    <a:bodyPr/>
                    <a:lstStyle/>
                    <a:p>
                      <a:pPr algn="just">
                        <a:buFont typeface="Arial" pitchFamily="34" charset="0"/>
                        <a:buNone/>
                      </a:pPr>
                      <a:r>
                        <a:rPr lang="en-US" sz="2200" b="0" i="0" kern="1200" dirty="0" smtClean="0">
                          <a:solidFill>
                            <a:schemeClr val="tx1"/>
                          </a:solidFill>
                          <a:latin typeface="+mn-lt"/>
                          <a:ea typeface="+mn-ea"/>
                          <a:cs typeface="+mn-cs"/>
                        </a:rPr>
                        <a:t>information management, knowledge organization. It deals with the systematic organization and retrieval of information to support decision-making and knowledge dissemination.</a:t>
                      </a:r>
                      <a:endParaRPr lang="en-US" sz="2400" b="0" i="0" kern="1200" dirty="0" smtClean="0">
                        <a:solidFill>
                          <a:schemeClr val="dk1"/>
                        </a:solidFill>
                        <a:latin typeface="+mn-lt"/>
                        <a:ea typeface="+mn-ea"/>
                        <a:cs typeface="+mn-cs"/>
                      </a:endParaRPr>
                    </a:p>
                    <a:p>
                      <a:pPr algn="just">
                        <a:buFont typeface="Arial" pitchFamily="34" charset="0"/>
                        <a:buNone/>
                      </a:pPr>
                      <a:endParaRPr lang="en-US" sz="2400" b="0" i="0" kern="1200" dirty="0" smtClean="0">
                        <a:solidFill>
                          <a:schemeClr val="dk1"/>
                        </a:solidFill>
                        <a:latin typeface="+mn-lt"/>
                        <a:ea typeface="+mn-ea"/>
                        <a:cs typeface="+mn-cs"/>
                      </a:endParaRPr>
                    </a:p>
                  </a:txBody>
                  <a:tcPr/>
                </a:tc>
              </a:tr>
            </a:tbl>
          </a:graphicData>
        </a:graphic>
      </p:graphicFrame>
      <p:sp>
        <p:nvSpPr>
          <p:cNvPr id="10" name="Rectangle 9"/>
          <p:cNvSpPr/>
          <p:nvPr/>
        </p:nvSpPr>
        <p:spPr>
          <a:xfrm>
            <a:off x="600075" y="1619250"/>
            <a:ext cx="3810000" cy="430887"/>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dirty="0" smtClean="0"/>
              <a:t>Applications: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400" b="1" dirty="0" smtClean="0">
                <a:latin typeface="Arial Narrow" pitchFamily="34" charset="0"/>
              </a:rPr>
              <a:t>Relationship between Data Science and Information Science</a:t>
            </a: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762250"/>
          <a:ext cx="9601200" cy="2743200"/>
        </p:xfrm>
        <a:graphic>
          <a:graphicData uri="http://schemas.openxmlformats.org/drawingml/2006/table">
            <a:tbl>
              <a:tblPr firstRow="1" bandRow="1">
                <a:tableStyleId>{BDBED569-4797-4DF1-A0F4-6AAB3CD982D8}</a:tableStyleId>
              </a:tblPr>
              <a:tblGrid>
                <a:gridCol w="9601200"/>
              </a:tblGrid>
              <a:tr h="768096">
                <a:tc>
                  <a:txBody>
                    <a:bodyPr/>
                    <a:lstStyle/>
                    <a:p>
                      <a:pPr algn="ctr"/>
                      <a:r>
                        <a:rPr lang="en-IN" b="1" dirty="0" smtClean="0"/>
                        <a:t>Summary</a:t>
                      </a:r>
                      <a:endParaRPr lang="en-US" b="1" dirty="0"/>
                    </a:p>
                  </a:txBody>
                  <a:tcPr anchor="ctr">
                    <a:solidFill>
                      <a:schemeClr val="tx2">
                        <a:lumMod val="20000"/>
                        <a:lumOff val="80000"/>
                      </a:schemeClr>
                    </a:solidFill>
                  </a:tcPr>
                </a:tc>
              </a:tr>
              <a:tr h="1975104">
                <a:tc>
                  <a:txBody>
                    <a:bodyPr/>
                    <a:lstStyle/>
                    <a:p>
                      <a:pPr algn="just">
                        <a:buFont typeface="Arial" pitchFamily="34" charset="0"/>
                        <a:buNone/>
                      </a:pPr>
                      <a:r>
                        <a:rPr lang="en-US" sz="2200" b="0" i="0" kern="1200" dirty="0" smtClean="0">
                          <a:solidFill>
                            <a:schemeClr val="tx1"/>
                          </a:solidFill>
                          <a:latin typeface="+mn-lt"/>
                          <a:ea typeface="+mn-ea"/>
                          <a:cs typeface="+mn-cs"/>
                        </a:rPr>
                        <a:t>Data science and information science are related fields, but they approach the handling of data and information from different perspectives. </a:t>
                      </a:r>
                      <a:r>
                        <a:rPr lang="en-US" sz="2200" b="0" i="0" kern="1200" dirty="0" smtClean="0">
                          <a:solidFill>
                            <a:srgbClr val="FF0000"/>
                          </a:solidFill>
                          <a:latin typeface="+mn-lt"/>
                          <a:ea typeface="+mn-ea"/>
                          <a:cs typeface="+mn-cs"/>
                        </a:rPr>
                        <a:t>Data science is more focused on extracting insights and patterns from data</a:t>
                      </a:r>
                      <a:r>
                        <a:rPr lang="en-US" sz="2200" b="0" i="0" kern="1200" dirty="0" smtClean="0">
                          <a:solidFill>
                            <a:schemeClr val="tx1"/>
                          </a:solidFill>
                          <a:latin typeface="+mn-lt"/>
                          <a:ea typeface="+mn-ea"/>
                          <a:cs typeface="+mn-cs"/>
                        </a:rPr>
                        <a:t>, while </a:t>
                      </a:r>
                      <a:r>
                        <a:rPr lang="en-US" sz="2200" b="0" i="0" kern="1200" dirty="0" smtClean="0">
                          <a:solidFill>
                            <a:srgbClr val="FF0000"/>
                          </a:solidFill>
                          <a:latin typeface="+mn-lt"/>
                          <a:ea typeface="+mn-ea"/>
                          <a:cs typeface="+mn-cs"/>
                        </a:rPr>
                        <a:t>information science is concerned with the broader aspects of information management and organization</a:t>
                      </a:r>
                      <a:r>
                        <a:rPr lang="en-US" sz="2200" b="0" i="0" kern="1200" dirty="0" smtClean="0">
                          <a:solidFill>
                            <a:schemeClr val="tx1"/>
                          </a:solidFill>
                          <a:latin typeface="+mn-lt"/>
                          <a:ea typeface="+mn-ea"/>
                          <a:cs typeface="+mn-cs"/>
                        </a:rPr>
                        <a:t>.</a:t>
                      </a:r>
                      <a:endParaRPr lang="en-US" sz="2400" dirty="0"/>
                    </a:p>
                  </a:txBody>
                  <a:tcPr/>
                </a:tc>
              </a:tr>
            </a:tbl>
          </a:graphicData>
        </a:graphic>
      </p:graphicFrame>
      <p:sp>
        <p:nvSpPr>
          <p:cNvPr id="10" name="Rectangle 9"/>
          <p:cNvSpPr/>
          <p:nvPr/>
        </p:nvSpPr>
        <p:spPr>
          <a:xfrm>
            <a:off x="600075" y="1619250"/>
            <a:ext cx="3810000" cy="430887"/>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dirty="0" smtClean="0"/>
              <a:t>Applications:</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800" b="1" dirty="0" smtClean="0"/>
              <a:t>Business intelligence versus Data Science</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 name="Rectangle 9"/>
          <p:cNvSpPr/>
          <p:nvPr/>
        </p:nvSpPr>
        <p:spPr>
          <a:xfrm>
            <a:off x="1590675" y="2990850"/>
            <a:ext cx="7086600" cy="430887"/>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dirty="0" smtClean="0"/>
              <a:t>https://www.youtube.com/watch?v=wjILmMxantI</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800" b="1" dirty="0" smtClean="0"/>
              <a:t>Business intelligence versus Data Science</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762250"/>
          <a:ext cx="9982200" cy="3456432"/>
        </p:xfrm>
        <a:graphic>
          <a:graphicData uri="http://schemas.openxmlformats.org/drawingml/2006/table">
            <a:tbl>
              <a:tblPr firstRow="1" bandRow="1">
                <a:tableStyleId>{BDBED569-4797-4DF1-A0F4-6AAB3CD982D8}</a:tableStyleId>
              </a:tblPr>
              <a:tblGrid>
                <a:gridCol w="4991100"/>
                <a:gridCol w="4991100"/>
              </a:tblGrid>
              <a:tr h="682752">
                <a:tc>
                  <a:txBody>
                    <a:bodyPr/>
                    <a:lstStyle/>
                    <a:p>
                      <a:pPr algn="ctr"/>
                      <a:r>
                        <a:rPr lang="en-IN" b="1" dirty="0" smtClean="0"/>
                        <a:t>Business</a:t>
                      </a:r>
                      <a:r>
                        <a:rPr lang="en-IN" b="1" baseline="0" dirty="0" smtClean="0"/>
                        <a:t> Intelligence</a:t>
                      </a:r>
                      <a:endParaRPr lang="en-US" b="1" dirty="0"/>
                    </a:p>
                  </a:txBody>
                  <a:tcPr anchor="ctr">
                    <a:solidFill>
                      <a:schemeClr val="tx2">
                        <a:lumMod val="20000"/>
                        <a:lumOff val="80000"/>
                      </a:schemeClr>
                    </a:solidFill>
                  </a:tcPr>
                </a:tc>
                <a:tc>
                  <a:txBody>
                    <a:bodyPr/>
                    <a:lstStyle/>
                    <a:p>
                      <a:pPr algn="ctr"/>
                      <a:r>
                        <a:rPr lang="en-IN" dirty="0" smtClean="0"/>
                        <a:t>Data</a:t>
                      </a:r>
                      <a:r>
                        <a:rPr lang="en-IN" baseline="0" dirty="0" smtClean="0"/>
                        <a:t> </a:t>
                      </a:r>
                      <a:r>
                        <a:rPr lang="en-IN" dirty="0" smtClean="0"/>
                        <a:t>Science</a:t>
                      </a:r>
                      <a:endParaRPr lang="en-US" b="1" dirty="0"/>
                    </a:p>
                  </a:txBody>
                  <a:tcPr anchor="ctr">
                    <a:solidFill>
                      <a:schemeClr val="tx2">
                        <a:lumMod val="20000"/>
                        <a:lumOff val="80000"/>
                      </a:schemeClr>
                    </a:solidFill>
                  </a:tcPr>
                </a:tc>
              </a:tr>
              <a:tr h="1755648">
                <a:tc>
                  <a:txBody>
                    <a:bodyPr/>
                    <a:lstStyle/>
                    <a:p>
                      <a:pPr algn="just">
                        <a:buFont typeface="Arial" pitchFamily="34" charset="0"/>
                        <a:buNone/>
                      </a:pPr>
                      <a:r>
                        <a:rPr lang="en-US" sz="2200" b="0" i="0" kern="1200" dirty="0" smtClean="0">
                          <a:solidFill>
                            <a:schemeClr val="tx1"/>
                          </a:solidFill>
                          <a:latin typeface="+mn-lt"/>
                          <a:ea typeface="+mn-ea"/>
                          <a:cs typeface="+mn-cs"/>
                        </a:rPr>
                        <a:t>BI is a set of technologies, processes, and tools that help organizations collect, analyze, and present business data to support decision-making. It often involves reporting, querying, dashboards, and data visualization to provide insights into historical and current business performance.</a:t>
                      </a:r>
                      <a:endParaRPr lang="en-US" sz="2400" dirty="0"/>
                    </a:p>
                  </a:txBody>
                  <a:tcPr/>
                </a:tc>
                <a:tc>
                  <a:txBody>
                    <a:bodyPr/>
                    <a:lstStyle/>
                    <a:p>
                      <a:pPr algn="just">
                        <a:buFont typeface="Arial" pitchFamily="34" charset="0"/>
                        <a:buNone/>
                      </a:pPr>
                      <a:r>
                        <a:rPr lang="en-US" sz="2200" b="0" i="0" kern="1200" dirty="0" smtClean="0">
                          <a:solidFill>
                            <a:schemeClr val="tx1"/>
                          </a:solidFill>
                          <a:latin typeface="+mn-lt"/>
                          <a:ea typeface="+mn-ea"/>
                          <a:cs typeface="+mn-cs"/>
                        </a:rPr>
                        <a:t>Data Science is a broader field that encompasses various techniques and methods to extract insights, knowledge, and predictions from data. It involves statistical analysis, machine learning, data modeling, and programming to uncover patterns and trends in both historical and real-time data.</a:t>
                      </a:r>
                      <a:endParaRPr lang="en-US" sz="2400" b="0" i="0" kern="1200" dirty="0" smtClean="0">
                        <a:solidFill>
                          <a:schemeClr val="dk1"/>
                        </a:solidFill>
                        <a:latin typeface="+mn-lt"/>
                        <a:ea typeface="+mn-ea"/>
                        <a:cs typeface="+mn-cs"/>
                      </a:endParaRPr>
                    </a:p>
                  </a:txBody>
                  <a:tcPr/>
                </a:tc>
              </a:tr>
            </a:tbl>
          </a:graphicData>
        </a:graphic>
      </p:graphicFrame>
      <p:sp>
        <p:nvSpPr>
          <p:cNvPr id="10" name="Rectangle 9"/>
          <p:cNvSpPr/>
          <p:nvPr/>
        </p:nvSpPr>
        <p:spPr>
          <a:xfrm>
            <a:off x="676275" y="2000250"/>
            <a:ext cx="1905000" cy="430887"/>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dirty="0" smtClean="0"/>
              <a:t>Definition:</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800" b="1" dirty="0" smtClean="0"/>
              <a:t>Business intelligence versus Data Science</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762250"/>
          <a:ext cx="9982200" cy="3121152"/>
        </p:xfrm>
        <a:graphic>
          <a:graphicData uri="http://schemas.openxmlformats.org/drawingml/2006/table">
            <a:tbl>
              <a:tblPr firstRow="1" bandRow="1">
                <a:tableStyleId>{BDBED569-4797-4DF1-A0F4-6AAB3CD982D8}</a:tableStyleId>
              </a:tblPr>
              <a:tblGrid>
                <a:gridCol w="4991100"/>
                <a:gridCol w="4991100"/>
              </a:tblGrid>
              <a:tr h="682752">
                <a:tc>
                  <a:txBody>
                    <a:bodyPr/>
                    <a:lstStyle/>
                    <a:p>
                      <a:pPr algn="ctr"/>
                      <a:r>
                        <a:rPr lang="en-IN" b="1" dirty="0" smtClean="0"/>
                        <a:t>Business</a:t>
                      </a:r>
                      <a:r>
                        <a:rPr lang="en-IN" b="1" baseline="0" dirty="0" smtClean="0"/>
                        <a:t> Intelligence</a:t>
                      </a:r>
                      <a:endParaRPr lang="en-US" b="1" dirty="0"/>
                    </a:p>
                  </a:txBody>
                  <a:tcPr anchor="ctr">
                    <a:solidFill>
                      <a:schemeClr val="tx2">
                        <a:lumMod val="20000"/>
                        <a:lumOff val="80000"/>
                      </a:schemeClr>
                    </a:solidFill>
                  </a:tcPr>
                </a:tc>
                <a:tc>
                  <a:txBody>
                    <a:bodyPr/>
                    <a:lstStyle/>
                    <a:p>
                      <a:pPr algn="ctr"/>
                      <a:r>
                        <a:rPr lang="en-IN" dirty="0" smtClean="0"/>
                        <a:t>Data</a:t>
                      </a:r>
                      <a:r>
                        <a:rPr lang="en-IN" baseline="0" dirty="0" smtClean="0"/>
                        <a:t> </a:t>
                      </a:r>
                      <a:r>
                        <a:rPr lang="en-IN" dirty="0" smtClean="0"/>
                        <a:t>Science</a:t>
                      </a:r>
                      <a:endParaRPr lang="en-US" b="1" dirty="0"/>
                    </a:p>
                  </a:txBody>
                  <a:tcPr anchor="ctr">
                    <a:solidFill>
                      <a:schemeClr val="tx2">
                        <a:lumMod val="20000"/>
                        <a:lumOff val="80000"/>
                      </a:schemeClr>
                    </a:solidFill>
                  </a:tcPr>
                </a:tc>
              </a:tr>
              <a:tr h="1755648">
                <a:tc>
                  <a:txBody>
                    <a:bodyPr/>
                    <a:lstStyle/>
                    <a:p>
                      <a:pPr algn="just">
                        <a:buFont typeface="Arial" pitchFamily="34" charset="0"/>
                        <a:buNone/>
                      </a:pPr>
                      <a:r>
                        <a:rPr lang="en-US" sz="2200" b="0" i="0" kern="1200" dirty="0" smtClean="0">
                          <a:solidFill>
                            <a:schemeClr val="tx1"/>
                          </a:solidFill>
                          <a:latin typeface="+mn-lt"/>
                          <a:ea typeface="+mn-ea"/>
                          <a:cs typeface="+mn-cs"/>
                        </a:rPr>
                        <a:t>BI primarily focuses on reporting and analysis of past and current business performance. It is often used for monitoring key performance indicators (KPIs), generating reports, and providing historical context to aid in decision-making.</a:t>
                      </a:r>
                      <a:endParaRPr lang="en-US" sz="2400" dirty="0"/>
                    </a:p>
                  </a:txBody>
                  <a:tcPr/>
                </a:tc>
                <a:tc>
                  <a:txBody>
                    <a:bodyPr/>
                    <a:lstStyle/>
                    <a:p>
                      <a:pPr algn="just">
                        <a:buFont typeface="Arial" pitchFamily="34" charset="0"/>
                        <a:buNone/>
                      </a:pPr>
                      <a:r>
                        <a:rPr lang="en-US" sz="2200" b="0" i="0" kern="1200" dirty="0" smtClean="0">
                          <a:solidFill>
                            <a:schemeClr val="tx1"/>
                          </a:solidFill>
                          <a:latin typeface="+mn-lt"/>
                          <a:ea typeface="+mn-ea"/>
                          <a:cs typeface="+mn-cs"/>
                        </a:rPr>
                        <a:t>focuses on extracting insights and making predictions from data. It involves exploring data to identify patterns, building predictive models, and deriving actionable insights to support strategic decision-making.</a:t>
                      </a:r>
                      <a:endParaRPr lang="en-US" sz="2400" b="0" i="0" kern="1200" dirty="0" smtClean="0">
                        <a:solidFill>
                          <a:schemeClr val="dk1"/>
                        </a:solidFill>
                        <a:latin typeface="+mn-lt"/>
                        <a:ea typeface="+mn-ea"/>
                        <a:cs typeface="+mn-cs"/>
                      </a:endParaRPr>
                    </a:p>
                  </a:txBody>
                  <a:tcPr/>
                </a:tc>
              </a:tr>
            </a:tbl>
          </a:graphicData>
        </a:graphic>
      </p:graphicFrame>
      <p:sp>
        <p:nvSpPr>
          <p:cNvPr id="10" name="Rectangle 9"/>
          <p:cNvSpPr/>
          <p:nvPr/>
        </p:nvSpPr>
        <p:spPr>
          <a:xfrm>
            <a:off x="676275" y="2000250"/>
            <a:ext cx="1905000" cy="430887"/>
          </a:xfrm>
          <a:prstGeom prst="rect">
            <a:avLst/>
          </a:prstGeom>
        </p:spPr>
        <p:txBody>
          <a:bodyPr wrap="square">
            <a:spAutoFit/>
          </a:bodyPr>
          <a:lstStyle/>
          <a:p>
            <a:r>
              <a:rPr lang="en-US" b="1" dirty="0" smtClean="0"/>
              <a:t>Focus:</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800" b="1" dirty="0" smtClean="0"/>
              <a:t>Business intelligence versus Data Science</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762250"/>
          <a:ext cx="9982200" cy="2450592"/>
        </p:xfrm>
        <a:graphic>
          <a:graphicData uri="http://schemas.openxmlformats.org/drawingml/2006/table">
            <a:tbl>
              <a:tblPr firstRow="1" bandRow="1">
                <a:tableStyleId>{BDBED569-4797-4DF1-A0F4-6AAB3CD982D8}</a:tableStyleId>
              </a:tblPr>
              <a:tblGrid>
                <a:gridCol w="4991100"/>
                <a:gridCol w="4991100"/>
              </a:tblGrid>
              <a:tr h="682752">
                <a:tc>
                  <a:txBody>
                    <a:bodyPr/>
                    <a:lstStyle/>
                    <a:p>
                      <a:pPr algn="ctr"/>
                      <a:r>
                        <a:rPr lang="en-IN" b="1" dirty="0" smtClean="0"/>
                        <a:t>Business</a:t>
                      </a:r>
                      <a:r>
                        <a:rPr lang="en-IN" b="1" baseline="0" dirty="0" smtClean="0"/>
                        <a:t> Intelligence</a:t>
                      </a:r>
                      <a:endParaRPr lang="en-US" b="1" dirty="0"/>
                    </a:p>
                  </a:txBody>
                  <a:tcPr anchor="ctr">
                    <a:solidFill>
                      <a:schemeClr val="tx2">
                        <a:lumMod val="20000"/>
                        <a:lumOff val="80000"/>
                      </a:schemeClr>
                    </a:solidFill>
                  </a:tcPr>
                </a:tc>
                <a:tc>
                  <a:txBody>
                    <a:bodyPr/>
                    <a:lstStyle/>
                    <a:p>
                      <a:pPr algn="ctr"/>
                      <a:r>
                        <a:rPr lang="en-IN" dirty="0" smtClean="0"/>
                        <a:t>Data</a:t>
                      </a:r>
                      <a:r>
                        <a:rPr lang="en-IN" baseline="0" dirty="0" smtClean="0"/>
                        <a:t> </a:t>
                      </a:r>
                      <a:r>
                        <a:rPr lang="en-IN" dirty="0" smtClean="0"/>
                        <a:t>Science</a:t>
                      </a:r>
                      <a:endParaRPr lang="en-US" b="1" dirty="0"/>
                    </a:p>
                  </a:txBody>
                  <a:tcPr anchor="ctr">
                    <a:solidFill>
                      <a:schemeClr val="tx2">
                        <a:lumMod val="20000"/>
                        <a:lumOff val="80000"/>
                      </a:schemeClr>
                    </a:solidFill>
                  </a:tcPr>
                </a:tc>
              </a:tr>
              <a:tr h="1755648">
                <a:tc>
                  <a:txBody>
                    <a:bodyPr/>
                    <a:lstStyle/>
                    <a:p>
                      <a:pPr algn="just">
                        <a:buFont typeface="Arial" pitchFamily="34" charset="0"/>
                        <a:buNone/>
                      </a:pPr>
                      <a:r>
                        <a:rPr lang="en-US" sz="2200" b="0" i="0" kern="1200" dirty="0" smtClean="0">
                          <a:solidFill>
                            <a:schemeClr val="tx1"/>
                          </a:solidFill>
                          <a:latin typeface="+mn-lt"/>
                          <a:ea typeface="+mn-ea"/>
                          <a:cs typeface="+mn-cs"/>
                        </a:rPr>
                        <a:t>BI typically deals with structured data and is well-suited for reporting and analysis of structured data sets. It provides a clear and concise view of historical and current business operations.</a:t>
                      </a:r>
                      <a:endParaRPr lang="en-US" sz="2400" dirty="0"/>
                    </a:p>
                  </a:txBody>
                  <a:tcPr/>
                </a:tc>
                <a:tc>
                  <a:txBody>
                    <a:bodyPr/>
                    <a:lstStyle/>
                    <a:p>
                      <a:pPr algn="just">
                        <a:buFont typeface="Arial" pitchFamily="34" charset="0"/>
                        <a:buNone/>
                      </a:pPr>
                      <a:r>
                        <a:rPr lang="en-US" sz="2200" b="0" i="0" kern="1200" dirty="0" smtClean="0">
                          <a:solidFill>
                            <a:schemeClr val="tx1"/>
                          </a:solidFill>
                          <a:latin typeface="+mn-lt"/>
                          <a:ea typeface="+mn-ea"/>
                          <a:cs typeface="+mn-cs"/>
                        </a:rPr>
                        <a:t>handle both structured and unstructured data. It includes more advanced analytics, such as machine learning, to predict future trends and behaviors based on historical data.</a:t>
                      </a:r>
                      <a:endParaRPr lang="en-US" sz="2400" b="0" i="0" kern="1200" dirty="0" smtClean="0">
                        <a:solidFill>
                          <a:schemeClr val="dk1"/>
                        </a:solidFill>
                        <a:latin typeface="+mn-lt"/>
                        <a:ea typeface="+mn-ea"/>
                        <a:cs typeface="+mn-cs"/>
                      </a:endParaRPr>
                    </a:p>
                  </a:txBody>
                  <a:tcPr/>
                </a:tc>
              </a:tr>
            </a:tbl>
          </a:graphicData>
        </a:graphic>
      </p:graphicFrame>
      <p:sp>
        <p:nvSpPr>
          <p:cNvPr id="10" name="Rectangle 9"/>
          <p:cNvSpPr/>
          <p:nvPr/>
        </p:nvSpPr>
        <p:spPr>
          <a:xfrm>
            <a:off x="676275" y="2000250"/>
            <a:ext cx="1905000" cy="430887"/>
          </a:xfrm>
          <a:prstGeom prst="rect">
            <a:avLst/>
          </a:prstGeom>
        </p:spPr>
        <p:txBody>
          <a:bodyPr wrap="square">
            <a:spAutoFit/>
          </a:bodyPr>
          <a:lstStyle/>
          <a:p>
            <a:r>
              <a:rPr lang="en-US" b="1" dirty="0" smtClean="0"/>
              <a:t>Scope :</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800" b="1" dirty="0" smtClean="0"/>
              <a:t>Business intelligence versus Data Science</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762250"/>
          <a:ext cx="9982200" cy="2450592"/>
        </p:xfrm>
        <a:graphic>
          <a:graphicData uri="http://schemas.openxmlformats.org/drawingml/2006/table">
            <a:tbl>
              <a:tblPr firstRow="1" bandRow="1">
                <a:tableStyleId>{BDBED569-4797-4DF1-A0F4-6AAB3CD982D8}</a:tableStyleId>
              </a:tblPr>
              <a:tblGrid>
                <a:gridCol w="4991100"/>
                <a:gridCol w="4991100"/>
              </a:tblGrid>
              <a:tr h="682752">
                <a:tc>
                  <a:txBody>
                    <a:bodyPr/>
                    <a:lstStyle/>
                    <a:p>
                      <a:pPr algn="ctr"/>
                      <a:r>
                        <a:rPr lang="en-IN" b="1" dirty="0" smtClean="0"/>
                        <a:t>Business</a:t>
                      </a:r>
                      <a:r>
                        <a:rPr lang="en-IN" b="1" baseline="0" dirty="0" smtClean="0"/>
                        <a:t> Intelligence</a:t>
                      </a:r>
                      <a:endParaRPr lang="en-US" b="1" dirty="0"/>
                    </a:p>
                  </a:txBody>
                  <a:tcPr anchor="ctr">
                    <a:solidFill>
                      <a:schemeClr val="tx2">
                        <a:lumMod val="20000"/>
                        <a:lumOff val="80000"/>
                      </a:schemeClr>
                    </a:solidFill>
                  </a:tcPr>
                </a:tc>
                <a:tc>
                  <a:txBody>
                    <a:bodyPr/>
                    <a:lstStyle/>
                    <a:p>
                      <a:pPr algn="ctr"/>
                      <a:r>
                        <a:rPr lang="en-IN" dirty="0" smtClean="0"/>
                        <a:t>Data</a:t>
                      </a:r>
                      <a:r>
                        <a:rPr lang="en-IN" baseline="0" dirty="0" smtClean="0"/>
                        <a:t> </a:t>
                      </a:r>
                      <a:r>
                        <a:rPr lang="en-IN" dirty="0" smtClean="0"/>
                        <a:t>Science</a:t>
                      </a:r>
                      <a:endParaRPr lang="en-US" b="1" dirty="0"/>
                    </a:p>
                  </a:txBody>
                  <a:tcPr anchor="ctr">
                    <a:solidFill>
                      <a:schemeClr val="tx2">
                        <a:lumMod val="20000"/>
                        <a:lumOff val="80000"/>
                      </a:schemeClr>
                    </a:solidFill>
                  </a:tcPr>
                </a:tc>
              </a:tr>
              <a:tr h="1755648">
                <a:tc>
                  <a:txBody>
                    <a:bodyPr/>
                    <a:lstStyle/>
                    <a:p>
                      <a:pPr algn="just">
                        <a:buFont typeface="Arial" pitchFamily="34" charset="0"/>
                        <a:buNone/>
                      </a:pPr>
                      <a:r>
                        <a:rPr lang="en-US" sz="2200" b="0" i="0" kern="1200" dirty="0" smtClean="0">
                          <a:solidFill>
                            <a:schemeClr val="tx1"/>
                          </a:solidFill>
                          <a:latin typeface="+mn-lt"/>
                          <a:ea typeface="+mn-ea"/>
                          <a:cs typeface="+mn-cs"/>
                        </a:rPr>
                        <a:t>decision-making by providing structured and predefined reports. </a:t>
                      </a:r>
                    </a:p>
                    <a:p>
                      <a:pPr algn="just">
                        <a:buFont typeface="Arial" pitchFamily="34" charset="0"/>
                        <a:buNone/>
                      </a:pPr>
                      <a:r>
                        <a:rPr lang="en-US" sz="2200" b="0" i="0" kern="1200" dirty="0" smtClean="0">
                          <a:solidFill>
                            <a:schemeClr val="tx1"/>
                          </a:solidFill>
                          <a:latin typeface="+mn-lt"/>
                          <a:ea typeface="+mn-ea"/>
                          <a:cs typeface="+mn-cs"/>
                        </a:rPr>
                        <a:t>It helps organizations understand </a:t>
                      </a:r>
                      <a:r>
                        <a:rPr lang="en-US" sz="2200" b="0" i="0" kern="1200" dirty="0" smtClean="0">
                          <a:solidFill>
                            <a:srgbClr val="FF0000"/>
                          </a:solidFill>
                          <a:latin typeface="+mn-lt"/>
                          <a:ea typeface="+mn-ea"/>
                          <a:cs typeface="+mn-cs"/>
                        </a:rPr>
                        <a:t>what has happened and why.</a:t>
                      </a:r>
                      <a:endParaRPr lang="en-US" sz="2400" dirty="0">
                        <a:solidFill>
                          <a:srgbClr val="FF0000"/>
                        </a:solidFill>
                      </a:endParaRPr>
                    </a:p>
                  </a:txBody>
                  <a:tcPr/>
                </a:tc>
                <a:tc>
                  <a:txBody>
                    <a:bodyPr/>
                    <a:lstStyle/>
                    <a:p>
                      <a:pPr algn="just">
                        <a:buFont typeface="Arial" pitchFamily="34" charset="0"/>
                        <a:buNone/>
                      </a:pPr>
                      <a:r>
                        <a:rPr lang="en-US" sz="2200" b="0" i="0" kern="1200" dirty="0" smtClean="0">
                          <a:solidFill>
                            <a:schemeClr val="tx1"/>
                          </a:solidFill>
                          <a:latin typeface="+mn-lt"/>
                          <a:ea typeface="+mn-ea"/>
                          <a:cs typeface="+mn-cs"/>
                        </a:rPr>
                        <a:t>decision-making by providing deeper insights, identifying patterns, and making predictions. It often involves </a:t>
                      </a:r>
                      <a:r>
                        <a:rPr lang="en-US" sz="2200" b="0" i="0" kern="1200" dirty="0" smtClean="0">
                          <a:solidFill>
                            <a:srgbClr val="FF0000"/>
                          </a:solidFill>
                          <a:latin typeface="+mn-lt"/>
                          <a:ea typeface="+mn-ea"/>
                          <a:cs typeface="+mn-cs"/>
                        </a:rPr>
                        <a:t>exploring data to discover new opportunities or risks.</a:t>
                      </a:r>
                      <a:endParaRPr lang="en-US" sz="2400" b="0" i="0" kern="1200" dirty="0" smtClean="0">
                        <a:solidFill>
                          <a:srgbClr val="FF0000"/>
                        </a:solidFill>
                        <a:latin typeface="+mn-lt"/>
                        <a:ea typeface="+mn-ea"/>
                        <a:cs typeface="+mn-cs"/>
                      </a:endParaRPr>
                    </a:p>
                  </a:txBody>
                  <a:tcPr/>
                </a:tc>
              </a:tr>
            </a:tbl>
          </a:graphicData>
        </a:graphic>
      </p:graphicFrame>
      <p:sp>
        <p:nvSpPr>
          <p:cNvPr id="10" name="Rectangle 9"/>
          <p:cNvSpPr/>
          <p:nvPr/>
        </p:nvSpPr>
        <p:spPr>
          <a:xfrm>
            <a:off x="676275" y="2000250"/>
            <a:ext cx="3276600" cy="430887"/>
          </a:xfrm>
          <a:prstGeom prst="rect">
            <a:avLst/>
          </a:prstGeom>
        </p:spPr>
        <p:txBody>
          <a:bodyPr wrap="square">
            <a:spAutoFit/>
          </a:bodyPr>
          <a:lstStyle/>
          <a:p>
            <a:r>
              <a:rPr lang="en-US" b="1" dirty="0" smtClean="0"/>
              <a:t>Decision-making :</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800" b="1" dirty="0" smtClean="0"/>
              <a:t>Business intelligence versus Data Science</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762250"/>
          <a:ext cx="9982200" cy="2450592"/>
        </p:xfrm>
        <a:graphic>
          <a:graphicData uri="http://schemas.openxmlformats.org/drawingml/2006/table">
            <a:tbl>
              <a:tblPr firstRow="1" bandRow="1">
                <a:tableStyleId>{BDBED569-4797-4DF1-A0F4-6AAB3CD982D8}</a:tableStyleId>
              </a:tblPr>
              <a:tblGrid>
                <a:gridCol w="4991100"/>
                <a:gridCol w="4991100"/>
              </a:tblGrid>
              <a:tr h="682752">
                <a:tc>
                  <a:txBody>
                    <a:bodyPr/>
                    <a:lstStyle/>
                    <a:p>
                      <a:pPr algn="ctr"/>
                      <a:r>
                        <a:rPr lang="en-IN" b="1" dirty="0" smtClean="0"/>
                        <a:t>Business</a:t>
                      </a:r>
                      <a:r>
                        <a:rPr lang="en-IN" b="1" baseline="0" dirty="0" smtClean="0"/>
                        <a:t> Intelligence</a:t>
                      </a:r>
                      <a:endParaRPr lang="en-US" b="1" dirty="0"/>
                    </a:p>
                  </a:txBody>
                  <a:tcPr anchor="ctr">
                    <a:solidFill>
                      <a:schemeClr val="tx2">
                        <a:lumMod val="20000"/>
                        <a:lumOff val="80000"/>
                      </a:schemeClr>
                    </a:solidFill>
                  </a:tcPr>
                </a:tc>
                <a:tc>
                  <a:txBody>
                    <a:bodyPr/>
                    <a:lstStyle/>
                    <a:p>
                      <a:pPr algn="ctr"/>
                      <a:r>
                        <a:rPr lang="en-IN" dirty="0" smtClean="0"/>
                        <a:t>Data</a:t>
                      </a:r>
                      <a:r>
                        <a:rPr lang="en-IN" baseline="0" dirty="0" smtClean="0"/>
                        <a:t> </a:t>
                      </a:r>
                      <a:r>
                        <a:rPr lang="en-IN" dirty="0" smtClean="0"/>
                        <a:t>Science</a:t>
                      </a:r>
                      <a:endParaRPr lang="en-US" b="1" dirty="0"/>
                    </a:p>
                  </a:txBody>
                  <a:tcPr anchor="ctr">
                    <a:solidFill>
                      <a:schemeClr val="tx2">
                        <a:lumMod val="20000"/>
                        <a:lumOff val="80000"/>
                      </a:schemeClr>
                    </a:solidFill>
                  </a:tcPr>
                </a:tc>
              </a:tr>
              <a:tr h="1755648">
                <a:tc>
                  <a:txBody>
                    <a:bodyPr/>
                    <a:lstStyle/>
                    <a:p>
                      <a:pPr algn="just">
                        <a:buFont typeface="Arial" pitchFamily="34" charset="0"/>
                        <a:buNone/>
                      </a:pPr>
                      <a:r>
                        <a:rPr lang="en-US" sz="2200" b="0" i="0" kern="1200" dirty="0" smtClean="0">
                          <a:solidFill>
                            <a:schemeClr val="tx1"/>
                          </a:solidFill>
                          <a:latin typeface="+mn-lt"/>
                          <a:ea typeface="+mn-ea"/>
                          <a:cs typeface="+mn-cs"/>
                        </a:rPr>
                        <a:t>Tableau, Power BI, and </a:t>
                      </a:r>
                      <a:r>
                        <a:rPr lang="en-US" sz="2200" b="0" i="0" kern="1200" dirty="0" err="1" smtClean="0">
                          <a:solidFill>
                            <a:schemeClr val="tx1"/>
                          </a:solidFill>
                          <a:latin typeface="+mn-lt"/>
                          <a:ea typeface="+mn-ea"/>
                          <a:cs typeface="+mn-cs"/>
                        </a:rPr>
                        <a:t>Qlik</a:t>
                      </a:r>
                      <a:r>
                        <a:rPr lang="en-US" sz="2200" b="0" i="0" kern="1200" dirty="0" smtClean="0">
                          <a:solidFill>
                            <a:schemeClr val="tx1"/>
                          </a:solidFill>
                          <a:latin typeface="+mn-lt"/>
                          <a:ea typeface="+mn-ea"/>
                          <a:cs typeface="+mn-cs"/>
                        </a:rPr>
                        <a:t>, which focus on data visualization, reporting, and dashboard creation. </a:t>
                      </a:r>
                    </a:p>
                    <a:p>
                      <a:pPr algn="just">
                        <a:buFont typeface="Arial" pitchFamily="34" charset="0"/>
                        <a:buNone/>
                      </a:pPr>
                      <a:r>
                        <a:rPr lang="en-US" sz="2200" b="0" i="0" kern="1200" dirty="0" smtClean="0">
                          <a:solidFill>
                            <a:schemeClr val="tx1"/>
                          </a:solidFill>
                          <a:latin typeface="+mn-lt"/>
                          <a:ea typeface="+mn-ea"/>
                          <a:cs typeface="+mn-cs"/>
                        </a:rPr>
                        <a:t>These tools are designed for ease of use and accessibility by business users</a:t>
                      </a:r>
                      <a:endParaRPr lang="en-US" sz="2400" dirty="0">
                        <a:solidFill>
                          <a:srgbClr val="FF0000"/>
                        </a:solidFill>
                      </a:endParaRPr>
                    </a:p>
                  </a:txBody>
                  <a:tcPr/>
                </a:tc>
                <a:tc>
                  <a:txBody>
                    <a:bodyPr/>
                    <a:lstStyle/>
                    <a:p>
                      <a:pPr algn="just">
                        <a:buFont typeface="Arial" pitchFamily="34" charset="0"/>
                        <a:buNone/>
                      </a:pPr>
                      <a:r>
                        <a:rPr lang="en-US" sz="2200" b="0" i="0" kern="1200" dirty="0" smtClean="0">
                          <a:solidFill>
                            <a:schemeClr val="tx1"/>
                          </a:solidFill>
                          <a:latin typeface="+mn-lt"/>
                          <a:ea typeface="+mn-ea"/>
                          <a:cs typeface="+mn-cs"/>
                        </a:rPr>
                        <a:t>include programming languages like Python and R, as well as frameworks such as </a:t>
                      </a:r>
                      <a:r>
                        <a:rPr lang="en-US" sz="2200" b="0" i="0" kern="1200" dirty="0" err="1" smtClean="0">
                          <a:solidFill>
                            <a:schemeClr val="tx1"/>
                          </a:solidFill>
                          <a:latin typeface="+mn-lt"/>
                          <a:ea typeface="+mn-ea"/>
                          <a:cs typeface="+mn-cs"/>
                        </a:rPr>
                        <a:t>TensorFlow</a:t>
                      </a:r>
                      <a:r>
                        <a:rPr lang="en-US" sz="2200" b="0" i="0" kern="1200" dirty="0" smtClean="0">
                          <a:solidFill>
                            <a:schemeClr val="tx1"/>
                          </a:solidFill>
                          <a:latin typeface="+mn-lt"/>
                          <a:ea typeface="+mn-ea"/>
                          <a:cs typeface="+mn-cs"/>
                        </a:rPr>
                        <a:t> and </a:t>
                      </a:r>
                      <a:r>
                        <a:rPr lang="en-US" sz="2200" b="0" i="0" kern="1200" dirty="0" err="1" smtClean="0">
                          <a:solidFill>
                            <a:schemeClr val="tx1"/>
                          </a:solidFill>
                          <a:latin typeface="+mn-lt"/>
                          <a:ea typeface="+mn-ea"/>
                          <a:cs typeface="+mn-cs"/>
                        </a:rPr>
                        <a:t>scikit</a:t>
                      </a:r>
                      <a:r>
                        <a:rPr lang="en-US" sz="2200" b="0" i="0" kern="1200" dirty="0" smtClean="0">
                          <a:solidFill>
                            <a:schemeClr val="tx1"/>
                          </a:solidFill>
                          <a:latin typeface="+mn-lt"/>
                          <a:ea typeface="+mn-ea"/>
                          <a:cs typeface="+mn-cs"/>
                        </a:rPr>
                        <a:t>-learn. These tools are more geared toward data scientists </a:t>
                      </a:r>
                      <a:endParaRPr lang="en-US" sz="2400" b="0" i="0" kern="1200" dirty="0" smtClean="0">
                        <a:solidFill>
                          <a:srgbClr val="FF0000"/>
                        </a:solidFill>
                        <a:latin typeface="+mn-lt"/>
                        <a:ea typeface="+mn-ea"/>
                        <a:cs typeface="+mn-cs"/>
                      </a:endParaRPr>
                    </a:p>
                  </a:txBody>
                  <a:tcPr/>
                </a:tc>
              </a:tr>
            </a:tbl>
          </a:graphicData>
        </a:graphic>
      </p:graphicFrame>
      <p:sp>
        <p:nvSpPr>
          <p:cNvPr id="10" name="Rectangle 9"/>
          <p:cNvSpPr/>
          <p:nvPr/>
        </p:nvSpPr>
        <p:spPr>
          <a:xfrm>
            <a:off x="676275" y="2000250"/>
            <a:ext cx="3276600" cy="430887"/>
          </a:xfrm>
          <a:prstGeom prst="rect">
            <a:avLst/>
          </a:prstGeom>
        </p:spPr>
        <p:txBody>
          <a:bodyPr wrap="square">
            <a:spAutoFit/>
          </a:bodyPr>
          <a:lstStyle/>
          <a:p>
            <a:r>
              <a:rPr lang="en-US" b="1" dirty="0" smtClean="0"/>
              <a:t>Tools and Technologies :</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800" b="1" dirty="0" smtClean="0"/>
              <a:t>Business intelligence versus Data Science</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762250"/>
          <a:ext cx="9982200" cy="2438400"/>
        </p:xfrm>
        <a:graphic>
          <a:graphicData uri="http://schemas.openxmlformats.org/drawingml/2006/table">
            <a:tbl>
              <a:tblPr firstRow="1" bandRow="1">
                <a:tableStyleId>{BDBED569-4797-4DF1-A0F4-6AAB3CD982D8}</a:tableStyleId>
              </a:tblPr>
              <a:tblGrid>
                <a:gridCol w="4991100"/>
                <a:gridCol w="4991100"/>
              </a:tblGrid>
              <a:tr h="682752">
                <a:tc>
                  <a:txBody>
                    <a:bodyPr/>
                    <a:lstStyle/>
                    <a:p>
                      <a:pPr algn="ctr"/>
                      <a:r>
                        <a:rPr lang="en-IN" b="1" dirty="0" smtClean="0"/>
                        <a:t>Business</a:t>
                      </a:r>
                      <a:r>
                        <a:rPr lang="en-IN" b="1" baseline="0" dirty="0" smtClean="0"/>
                        <a:t> Intelligence</a:t>
                      </a:r>
                      <a:endParaRPr lang="en-US" b="1" dirty="0"/>
                    </a:p>
                  </a:txBody>
                  <a:tcPr anchor="ctr">
                    <a:solidFill>
                      <a:schemeClr val="tx2">
                        <a:lumMod val="20000"/>
                        <a:lumOff val="80000"/>
                      </a:schemeClr>
                    </a:solidFill>
                  </a:tcPr>
                </a:tc>
                <a:tc>
                  <a:txBody>
                    <a:bodyPr/>
                    <a:lstStyle/>
                    <a:p>
                      <a:pPr algn="ctr"/>
                      <a:r>
                        <a:rPr lang="en-IN" dirty="0" smtClean="0"/>
                        <a:t>Data</a:t>
                      </a:r>
                      <a:r>
                        <a:rPr lang="en-IN" baseline="0" dirty="0" smtClean="0"/>
                        <a:t> </a:t>
                      </a:r>
                      <a:r>
                        <a:rPr lang="en-IN" dirty="0" smtClean="0"/>
                        <a:t>Science</a:t>
                      </a:r>
                      <a:endParaRPr lang="en-US" b="1" dirty="0"/>
                    </a:p>
                  </a:txBody>
                  <a:tcPr anchor="ctr">
                    <a:solidFill>
                      <a:schemeClr val="tx2">
                        <a:lumMod val="20000"/>
                        <a:lumOff val="80000"/>
                      </a:schemeClr>
                    </a:solidFill>
                  </a:tcPr>
                </a:tc>
              </a:tr>
              <a:tr h="1755648">
                <a:tc>
                  <a:txBody>
                    <a:bodyPr/>
                    <a:lstStyle/>
                    <a:p>
                      <a:pPr algn="just">
                        <a:buFont typeface="Arial" pitchFamily="34" charset="0"/>
                        <a:buNone/>
                      </a:pPr>
                      <a:r>
                        <a:rPr lang="en-US" sz="2200" b="0" i="0" kern="1200" dirty="0" smtClean="0">
                          <a:solidFill>
                            <a:schemeClr val="tx1"/>
                          </a:solidFill>
                          <a:latin typeface="+mn-lt"/>
                          <a:ea typeface="+mn-ea"/>
                          <a:cs typeface="+mn-cs"/>
                        </a:rPr>
                        <a:t>deals with historical and current data, providing a snapshot of what has happened and what is currently happening</a:t>
                      </a:r>
                      <a:endParaRPr lang="en-US" sz="2400" dirty="0">
                        <a:solidFill>
                          <a:srgbClr val="FF0000"/>
                        </a:solidFill>
                      </a:endParaRPr>
                    </a:p>
                  </a:txBody>
                  <a:tcPr/>
                </a:tc>
                <a:tc>
                  <a:txBody>
                    <a:bodyPr/>
                    <a:lstStyle/>
                    <a:p>
                      <a:pPr algn="just">
                        <a:buFont typeface="Arial" pitchFamily="34" charset="0"/>
                        <a:buNone/>
                      </a:pPr>
                      <a:r>
                        <a:rPr lang="en-US" sz="2200" b="0" i="0" kern="1200" dirty="0" smtClean="0">
                          <a:solidFill>
                            <a:schemeClr val="tx1"/>
                          </a:solidFill>
                          <a:latin typeface="+mn-lt"/>
                          <a:ea typeface="+mn-ea"/>
                          <a:cs typeface="+mn-cs"/>
                        </a:rPr>
                        <a:t>involve both historical and real-time data analysis, and it often includes predictive modeling to forecast future trends.</a:t>
                      </a:r>
                      <a:endParaRPr lang="en-US" sz="2400" b="0" i="0" kern="1200" dirty="0" smtClean="0">
                        <a:solidFill>
                          <a:srgbClr val="FF0000"/>
                        </a:solidFill>
                        <a:latin typeface="+mn-lt"/>
                        <a:ea typeface="+mn-ea"/>
                        <a:cs typeface="+mn-cs"/>
                      </a:endParaRPr>
                    </a:p>
                  </a:txBody>
                  <a:tcPr/>
                </a:tc>
              </a:tr>
            </a:tbl>
          </a:graphicData>
        </a:graphic>
      </p:graphicFrame>
      <p:sp>
        <p:nvSpPr>
          <p:cNvPr id="10" name="Rectangle 9"/>
          <p:cNvSpPr/>
          <p:nvPr/>
        </p:nvSpPr>
        <p:spPr>
          <a:xfrm>
            <a:off x="676275" y="2000250"/>
            <a:ext cx="3276600" cy="430887"/>
          </a:xfrm>
          <a:prstGeom prst="rect">
            <a:avLst/>
          </a:prstGeom>
        </p:spPr>
        <p:txBody>
          <a:bodyPr wrap="square">
            <a:spAutoFit/>
          </a:bodyPr>
          <a:lstStyle/>
          <a:p>
            <a:r>
              <a:rPr lang="en-US" b="1" dirty="0" smtClean="0"/>
              <a:t>Time Horizon:</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800" b="1" dirty="0" smtClean="0"/>
              <a:t>Business intelligence versus Data Science</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219075" y="1238251"/>
            <a:ext cx="10058399" cy="6186309"/>
          </a:xfrm>
          <a:prstGeom prst="rect">
            <a:avLst/>
          </a:prstGeom>
        </p:spPr>
        <p:txBody>
          <a:bodyPr wrap="square">
            <a:spAutoFit/>
          </a:bodyPr>
          <a:lstStyle/>
          <a:p>
            <a:pPr marL="457200" indent="-457200">
              <a:buAutoNum type="arabicPeriod"/>
            </a:pPr>
            <a:r>
              <a:rPr lang="en-US" b="1" dirty="0" smtClean="0"/>
              <a:t>Business Intelligence (BI) Example:</a:t>
            </a:r>
            <a:endParaRPr lang="en-US" dirty="0" smtClean="0"/>
          </a:p>
          <a:p>
            <a:r>
              <a:rPr lang="en-US" b="1" dirty="0" smtClean="0"/>
              <a:t>Scenario</a:t>
            </a:r>
            <a:r>
              <a:rPr lang="en-US" dirty="0" smtClean="0"/>
              <a:t>: A retail company wants to analyze its past sales performance.</a:t>
            </a:r>
          </a:p>
          <a:p>
            <a:r>
              <a:rPr lang="en-US" b="1" dirty="0" smtClean="0"/>
              <a:t>Process</a:t>
            </a:r>
            <a:r>
              <a:rPr lang="en-US" dirty="0" smtClean="0"/>
              <a:t>:</a:t>
            </a:r>
          </a:p>
          <a:p>
            <a:r>
              <a:rPr lang="en-US" b="1" dirty="0" smtClean="0"/>
              <a:t>Data Collection</a:t>
            </a:r>
            <a:r>
              <a:rPr lang="en-US" dirty="0" smtClean="0"/>
              <a:t>: The company collects historical sales data from its database.</a:t>
            </a:r>
          </a:p>
          <a:p>
            <a:r>
              <a:rPr lang="en-US" b="1" dirty="0" smtClean="0"/>
              <a:t>Data Visualization</a:t>
            </a:r>
            <a:r>
              <a:rPr lang="en-US" dirty="0" smtClean="0"/>
              <a:t>: Using BI tools like Tableau or Power BI, the company creates dashboards and reports.</a:t>
            </a:r>
          </a:p>
          <a:p>
            <a:r>
              <a:rPr lang="en-US" b="1" dirty="0" smtClean="0"/>
              <a:t>Insights</a:t>
            </a:r>
            <a:r>
              <a:rPr lang="en-US" dirty="0" smtClean="0"/>
              <a:t>: The dashboards show trends such as which products sold the most in the last quarter, regional sales performance, and peak sales periods.</a:t>
            </a:r>
          </a:p>
          <a:p>
            <a:r>
              <a:rPr lang="en-US" b="1" dirty="0" smtClean="0"/>
              <a:t>Outcome</a:t>
            </a:r>
            <a:r>
              <a:rPr lang="en-US" dirty="0" smtClean="0"/>
              <a:t>: The company uses these insights to make informed decisions about inventory management, marketing strategies, and sales forecasts.</a:t>
            </a:r>
          </a:p>
          <a:p>
            <a:endParaRPr lang="en-US" dirty="0" smtClean="0"/>
          </a:p>
          <a:p>
            <a:r>
              <a:rPr lang="en-US" b="1" dirty="0" smtClean="0"/>
              <a:t>2. Data Science Example:</a:t>
            </a:r>
            <a:endParaRPr lang="en-US" dirty="0" smtClean="0"/>
          </a:p>
          <a:p>
            <a:r>
              <a:rPr lang="en-US" b="1" dirty="0" smtClean="0"/>
              <a:t>Scenario</a:t>
            </a:r>
            <a:r>
              <a:rPr lang="en-US" dirty="0" smtClean="0"/>
              <a:t>: The same retail company wants to predict future sales and understand factors driving customer purchases.</a:t>
            </a:r>
          </a:p>
          <a:p>
            <a:r>
              <a:rPr lang="en-US" b="1" dirty="0" smtClean="0"/>
              <a:t>Process</a:t>
            </a:r>
            <a:r>
              <a:rPr lang="en-US" dirty="0" smtClean="0"/>
              <a:t>:</a:t>
            </a:r>
          </a:p>
          <a:p>
            <a:r>
              <a:rPr lang="en-US" b="1" dirty="0" smtClean="0"/>
              <a:t>Data Collection</a:t>
            </a:r>
            <a:r>
              <a:rPr lang="en-US" dirty="0" smtClean="0"/>
              <a:t>: The company gathers historical sales data, customer demographics, weather data, and online search trends.</a:t>
            </a:r>
          </a:p>
          <a:p>
            <a:endParaRPr lang="en-US"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800" b="1" dirty="0" smtClean="0"/>
              <a:t>Business intelligence versus Data Science</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219075" y="1238251"/>
            <a:ext cx="10058399" cy="5170646"/>
          </a:xfrm>
          <a:prstGeom prst="rect">
            <a:avLst/>
          </a:prstGeom>
        </p:spPr>
        <p:txBody>
          <a:bodyPr wrap="square">
            <a:spAutoFit/>
          </a:bodyPr>
          <a:lstStyle/>
          <a:p>
            <a:r>
              <a:rPr lang="en-US" b="1" dirty="0" smtClean="0"/>
              <a:t>Data Cleaning</a:t>
            </a:r>
            <a:r>
              <a:rPr lang="en-US" dirty="0" smtClean="0"/>
              <a:t>: Ensures data accuracy and consistency.</a:t>
            </a:r>
          </a:p>
          <a:p>
            <a:r>
              <a:rPr lang="en-US" b="1" dirty="0" smtClean="0"/>
              <a:t>Model Building</a:t>
            </a:r>
            <a:r>
              <a:rPr lang="en-US" dirty="0" smtClean="0"/>
              <a:t>: Data scientists apply machine learning algorithms to build a predictive model.</a:t>
            </a:r>
          </a:p>
          <a:p>
            <a:r>
              <a:rPr lang="en-US" b="1" dirty="0" smtClean="0"/>
              <a:t>Prediction</a:t>
            </a:r>
            <a:r>
              <a:rPr lang="en-US" dirty="0" smtClean="0"/>
              <a:t>: The model forecasts future sales and identifies key factors influencing customer behavior.</a:t>
            </a:r>
          </a:p>
          <a:p>
            <a:r>
              <a:rPr lang="en-US" b="1" dirty="0" smtClean="0"/>
              <a:t>Outcome</a:t>
            </a:r>
            <a:r>
              <a:rPr lang="en-US" dirty="0" smtClean="0"/>
              <a:t>: The company can predict future sales trends, optimize stock levels, personalize marketing campaigns, and enhance customer satisfaction.</a:t>
            </a:r>
          </a:p>
          <a:p>
            <a:endParaRPr lang="en-US" dirty="0" smtClean="0"/>
          </a:p>
          <a:p>
            <a:endParaRPr lang="en-US" dirty="0" smtClean="0"/>
          </a:p>
          <a:p>
            <a:pPr>
              <a:buFont typeface="Arial" pitchFamily="34" charset="0"/>
              <a:buChar char="•"/>
            </a:pPr>
            <a:r>
              <a:rPr lang="en-US" b="1" dirty="0" smtClean="0"/>
              <a:t> Key Differences:</a:t>
            </a:r>
          </a:p>
          <a:p>
            <a:r>
              <a:rPr lang="en-US" b="1" dirty="0" smtClean="0"/>
              <a:t>BI</a:t>
            </a:r>
            <a:r>
              <a:rPr lang="en-US" dirty="0" smtClean="0"/>
              <a:t> focuses on descriptive analytics, providing insights based on historical data to inform current business operations.</a:t>
            </a:r>
          </a:p>
          <a:p>
            <a:r>
              <a:rPr lang="en-US" b="1" dirty="0" smtClean="0"/>
              <a:t>Data Science</a:t>
            </a:r>
            <a:r>
              <a:rPr lang="en-US" dirty="0" smtClean="0"/>
              <a:t> uses predictive analytics and machine learning to forecast future trends and identify patterns in data for strategic planning.</a:t>
            </a:r>
          </a:p>
          <a:p>
            <a:endParaRPr lang="en-US" dirty="0"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Data</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762250"/>
          <a:ext cx="9753600" cy="1752600"/>
        </p:xfrm>
        <a:graphic>
          <a:graphicData uri="http://schemas.openxmlformats.org/drawingml/2006/table">
            <a:tbl>
              <a:tblPr firstRow="1" bandRow="1">
                <a:tableStyleId>{85BE263C-DBD7-4A20-BB59-AAB30ACAA65A}</a:tableStyleId>
              </a:tblPr>
              <a:tblGrid>
                <a:gridCol w="9753600"/>
              </a:tblGrid>
              <a:tr h="490728">
                <a:tc>
                  <a:txBody>
                    <a:bodyPr/>
                    <a:lstStyle/>
                    <a:p>
                      <a:pPr algn="ctr"/>
                      <a:r>
                        <a:rPr lang="en-IN" dirty="0" smtClean="0"/>
                        <a:t>Data</a:t>
                      </a:r>
                      <a:endParaRPr lang="en-US" b="1" dirty="0"/>
                    </a:p>
                  </a:txBody>
                  <a:tcPr anchor="ctr"/>
                </a:tc>
              </a:tr>
              <a:tr h="1261872">
                <a:tc>
                  <a:txBody>
                    <a:bodyPr/>
                    <a:lstStyle/>
                    <a:p>
                      <a:pPr algn="just">
                        <a:buFont typeface="Arial" pitchFamily="34" charset="0"/>
                        <a:buNone/>
                      </a:pPr>
                      <a:r>
                        <a:rPr lang="en-US" sz="2200" b="0" i="0" kern="1200" dirty="0" smtClean="0">
                          <a:solidFill>
                            <a:schemeClr val="dk1"/>
                          </a:solidFill>
                          <a:latin typeface="+mn-lt"/>
                          <a:ea typeface="+mn-ea"/>
                          <a:cs typeface="+mn-cs"/>
                        </a:rPr>
                        <a:t>raw facts, figures, symbols, or raw information that can be processed and converted into meaningful insights</a:t>
                      </a:r>
                      <a:endParaRPr lang="en-US" sz="2400" dirty="0">
                        <a:solidFill>
                          <a:srgbClr val="FF0000"/>
                        </a:solidFill>
                      </a:endParaRPr>
                    </a:p>
                  </a:txBody>
                  <a:tcPr/>
                </a:tc>
              </a:tr>
            </a:tbl>
          </a:graphicData>
        </a:graphic>
      </p:graphicFrame>
      <p:sp>
        <p:nvSpPr>
          <p:cNvPr id="10" name="Rectangle 9"/>
          <p:cNvSpPr/>
          <p:nvPr/>
        </p:nvSpPr>
        <p:spPr>
          <a:xfrm>
            <a:off x="676275" y="2000250"/>
            <a:ext cx="3276600" cy="430887"/>
          </a:xfrm>
          <a:prstGeom prst="rect">
            <a:avLst/>
          </a:prstGeom>
        </p:spPr>
        <p:txBody>
          <a:bodyPr wrap="square">
            <a:spAutoFit/>
          </a:bodyPr>
          <a:lstStyle/>
          <a:p>
            <a:r>
              <a:rPr lang="en-US" b="1" dirty="0" smtClean="0"/>
              <a:t>Definition:</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Data</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Table 8"/>
          <p:cNvGraphicFramePr>
            <a:graphicFrameLocks noGrp="1"/>
          </p:cNvGraphicFramePr>
          <p:nvPr/>
        </p:nvGraphicFramePr>
        <p:xfrm>
          <a:off x="523875" y="2609850"/>
          <a:ext cx="9753600" cy="1923288"/>
        </p:xfrm>
        <a:graphic>
          <a:graphicData uri="http://schemas.openxmlformats.org/drawingml/2006/table">
            <a:tbl>
              <a:tblPr firstRow="1" bandRow="1">
                <a:tableStyleId>{85BE263C-DBD7-4A20-BB59-AAB30ACAA65A}</a:tableStyleId>
              </a:tblPr>
              <a:tblGrid>
                <a:gridCol w="9753600"/>
              </a:tblGrid>
              <a:tr h="490728">
                <a:tc>
                  <a:txBody>
                    <a:bodyPr/>
                    <a:lstStyle/>
                    <a:p>
                      <a:pPr algn="ctr"/>
                      <a:r>
                        <a:rPr lang="en-US" sz="2200" b="1" i="0" kern="1200" dirty="0" smtClean="0">
                          <a:solidFill>
                            <a:schemeClr val="lt1"/>
                          </a:solidFill>
                          <a:latin typeface="+mn-lt"/>
                          <a:ea typeface="+mn-ea"/>
                          <a:cs typeface="+mn-cs"/>
                        </a:rPr>
                        <a:t>Human-generated Data</a:t>
                      </a:r>
                      <a:endParaRPr lang="en-US" b="1" dirty="0"/>
                    </a:p>
                  </a:txBody>
                  <a:tcPr anchor="ctr"/>
                </a:tc>
              </a:tr>
              <a:tr h="1261872">
                <a:tc>
                  <a:txBody>
                    <a:bodyPr/>
                    <a:lstStyle/>
                    <a:p>
                      <a:r>
                        <a:rPr lang="en-US" sz="2200" b="1" i="0" kern="1200" dirty="0" smtClean="0">
                          <a:solidFill>
                            <a:schemeClr val="dk1"/>
                          </a:solidFill>
                          <a:latin typeface="+mn-lt"/>
                          <a:ea typeface="+mn-ea"/>
                          <a:cs typeface="+mn-cs"/>
                        </a:rPr>
                        <a:t>Textual Data:</a:t>
                      </a:r>
                      <a:r>
                        <a:rPr lang="en-US" sz="2200" b="0" i="0" kern="1200" dirty="0" smtClean="0">
                          <a:solidFill>
                            <a:schemeClr val="dk1"/>
                          </a:solidFill>
                          <a:latin typeface="+mn-lt"/>
                          <a:ea typeface="+mn-ea"/>
                          <a:cs typeface="+mn-cs"/>
                        </a:rPr>
                        <a:t> This includes documents, articles, emails, social media posts, and any other written content.</a:t>
                      </a:r>
                    </a:p>
                    <a:p>
                      <a:r>
                        <a:rPr lang="en-US" sz="2200" b="1" i="0" kern="1200" dirty="0" smtClean="0">
                          <a:solidFill>
                            <a:schemeClr val="dk1"/>
                          </a:solidFill>
                          <a:latin typeface="+mn-lt"/>
                          <a:ea typeface="+mn-ea"/>
                          <a:cs typeface="+mn-cs"/>
                        </a:rPr>
                        <a:t>Numeric Data:</a:t>
                      </a:r>
                      <a:r>
                        <a:rPr lang="en-US" sz="2200" b="0" i="0" kern="1200" dirty="0" smtClean="0">
                          <a:solidFill>
                            <a:schemeClr val="dk1"/>
                          </a:solidFill>
                          <a:latin typeface="+mn-lt"/>
                          <a:ea typeface="+mn-ea"/>
                          <a:cs typeface="+mn-cs"/>
                        </a:rPr>
                        <a:t> Data entered manually, such as survey responses, financial transactions, or any form of numerical input.</a:t>
                      </a:r>
                      <a:endParaRPr lang="en-US" sz="2200" b="0" i="0" kern="1200" dirty="0">
                        <a:solidFill>
                          <a:schemeClr val="dk1"/>
                        </a:solidFill>
                        <a:latin typeface="+mn-lt"/>
                        <a:ea typeface="+mn-ea"/>
                        <a:cs typeface="+mn-cs"/>
                      </a:endParaRPr>
                    </a:p>
                  </a:txBody>
                  <a:tcPr/>
                </a:tc>
              </a:tr>
            </a:tbl>
          </a:graphicData>
        </a:graphic>
      </p:graphicFrame>
      <p:sp>
        <p:nvSpPr>
          <p:cNvPr id="10" name="Rectangle 9"/>
          <p:cNvSpPr/>
          <p:nvPr/>
        </p:nvSpPr>
        <p:spPr>
          <a:xfrm>
            <a:off x="676275" y="2000250"/>
            <a:ext cx="3276600" cy="430887"/>
          </a:xfrm>
          <a:prstGeom prst="rect">
            <a:avLst/>
          </a:prstGeom>
        </p:spPr>
        <p:txBody>
          <a:bodyPr wrap="square">
            <a:spAutoFit/>
          </a:bodyPr>
          <a:lstStyle/>
          <a:p>
            <a:r>
              <a:rPr lang="en-US" b="1" dirty="0" smtClean="0"/>
              <a:t>Sources of Data: :</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Data Types</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371475" y="1390650"/>
            <a:ext cx="9982199" cy="4493538"/>
          </a:xfrm>
          <a:prstGeom prst="rect">
            <a:avLst/>
          </a:prstGeom>
        </p:spPr>
        <p:txBody>
          <a:bodyPr wrap="square">
            <a:spAutoFit/>
          </a:bodyPr>
          <a:lstStyle/>
          <a:p>
            <a:r>
              <a:rPr lang="en-US" dirty="0" smtClean="0"/>
              <a:t>Data types refer to the classification of data based on the kind of values they can hold. There are several main categories of data types:</a:t>
            </a:r>
          </a:p>
          <a:p>
            <a:endParaRPr lang="en-US" dirty="0" smtClean="0"/>
          </a:p>
          <a:p>
            <a:r>
              <a:rPr lang="en-US" b="1" dirty="0" smtClean="0"/>
              <a:t>a) Primitive Data Types:</a:t>
            </a:r>
          </a:p>
          <a:p>
            <a:r>
              <a:rPr lang="en-US" dirty="0" smtClean="0"/>
              <a:t>These are the most basic types of data that a programming language understands natively.</a:t>
            </a:r>
          </a:p>
          <a:p>
            <a:endParaRPr lang="en-US" dirty="0" smtClean="0"/>
          </a:p>
          <a:p>
            <a:pPr>
              <a:buFont typeface="Arial" pitchFamily="34" charset="0"/>
              <a:buChar char="•"/>
            </a:pPr>
            <a:r>
              <a:rPr lang="en-US" b="1" dirty="0" smtClean="0"/>
              <a:t> Integer (</a:t>
            </a:r>
            <a:r>
              <a:rPr lang="en-US" b="1" dirty="0" err="1" smtClean="0"/>
              <a:t>int</a:t>
            </a:r>
            <a:r>
              <a:rPr lang="en-US" b="1" dirty="0" smtClean="0"/>
              <a:t>)</a:t>
            </a:r>
            <a:r>
              <a:rPr lang="en-US" dirty="0" smtClean="0"/>
              <a:t>: Whole numbers without a decimal point (e.g., -5, 42).</a:t>
            </a:r>
          </a:p>
          <a:p>
            <a:pPr>
              <a:buFont typeface="Arial" pitchFamily="34" charset="0"/>
              <a:buChar char="•"/>
            </a:pPr>
            <a:r>
              <a:rPr lang="en-US" b="1" dirty="0" smtClean="0"/>
              <a:t> Float (float)</a:t>
            </a:r>
            <a:r>
              <a:rPr lang="en-US" dirty="0" smtClean="0"/>
              <a:t>: Numbers that can have a decimal point (e.g., 3.14, -0.01).</a:t>
            </a:r>
          </a:p>
          <a:p>
            <a:pPr>
              <a:buFont typeface="Arial" pitchFamily="34" charset="0"/>
              <a:buChar char="•"/>
            </a:pPr>
            <a:r>
              <a:rPr lang="en-US" b="1" dirty="0" smtClean="0"/>
              <a:t> Character (char)</a:t>
            </a:r>
            <a:r>
              <a:rPr lang="en-US" dirty="0" smtClean="0"/>
              <a:t>: A single character, like 'A', 'b', '3'.</a:t>
            </a:r>
          </a:p>
          <a:p>
            <a:pPr>
              <a:buFont typeface="Arial" pitchFamily="34" charset="0"/>
              <a:buChar char="•"/>
            </a:pPr>
            <a:r>
              <a:rPr lang="en-US" b="1" dirty="0" smtClean="0"/>
              <a:t> Boolean (</a:t>
            </a:r>
            <a:r>
              <a:rPr lang="en-US" b="1" dirty="0" err="1" smtClean="0"/>
              <a:t>bool</a:t>
            </a:r>
            <a:r>
              <a:rPr lang="en-US" b="1" dirty="0" smtClean="0"/>
              <a:t>)</a:t>
            </a:r>
            <a:r>
              <a:rPr lang="en-US" dirty="0" smtClean="0"/>
              <a:t>: Data that represents truth values, typically True or False.</a:t>
            </a:r>
          </a:p>
          <a:p>
            <a:pPr>
              <a:buFont typeface="Arial" pitchFamily="34" charset="0"/>
              <a:buChar char="•"/>
            </a:pPr>
            <a:r>
              <a:rPr lang="en-US" b="1" dirty="0" smtClean="0"/>
              <a:t> String (</a:t>
            </a:r>
            <a:r>
              <a:rPr lang="en-US" b="1" dirty="0" err="1" smtClean="0"/>
              <a:t>str</a:t>
            </a:r>
            <a:r>
              <a:rPr lang="en-US" b="1" dirty="0" smtClean="0"/>
              <a:t>)</a:t>
            </a:r>
            <a:r>
              <a:rPr lang="en-US" dirty="0" smtClean="0"/>
              <a:t>: A sequence of characters (e.g., "Hello, World!").</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Data Types</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371475" y="1390651"/>
            <a:ext cx="10058400" cy="6186309"/>
          </a:xfrm>
          <a:prstGeom prst="rect">
            <a:avLst/>
          </a:prstGeom>
        </p:spPr>
        <p:txBody>
          <a:bodyPr wrap="square">
            <a:spAutoFit/>
          </a:bodyPr>
          <a:lstStyle/>
          <a:p>
            <a:r>
              <a:rPr lang="en-US" b="1" dirty="0" smtClean="0"/>
              <a:t>b) Composite Data Types:</a:t>
            </a:r>
          </a:p>
          <a:p>
            <a:r>
              <a:rPr lang="en-US" dirty="0" smtClean="0"/>
              <a:t>These data types are made up of multiple primitive data types.</a:t>
            </a:r>
          </a:p>
          <a:p>
            <a:pPr>
              <a:buFont typeface="Arial" pitchFamily="34" charset="0"/>
              <a:buChar char="•"/>
            </a:pPr>
            <a:r>
              <a:rPr lang="en-US" b="1" dirty="0" smtClean="0"/>
              <a:t> Array/ List</a:t>
            </a:r>
            <a:r>
              <a:rPr lang="en-US" dirty="0" smtClean="0"/>
              <a:t>: A collection of elements, often of the same type (e.g., [1, 2, 3, 4]).</a:t>
            </a:r>
          </a:p>
          <a:p>
            <a:pPr>
              <a:buFont typeface="Arial" pitchFamily="34" charset="0"/>
              <a:buChar char="•"/>
            </a:pPr>
            <a:r>
              <a:rPr lang="en-US" b="1" dirty="0" smtClean="0"/>
              <a:t> </a:t>
            </a:r>
            <a:r>
              <a:rPr lang="en-US" b="1" dirty="0" err="1" smtClean="0"/>
              <a:t>Tuple</a:t>
            </a:r>
            <a:r>
              <a:rPr lang="en-US" dirty="0" smtClean="0"/>
              <a:t>: An ordered collection of elements that may be of different types and are immutable (e.g., (1, "apple", True)).</a:t>
            </a:r>
          </a:p>
          <a:p>
            <a:pPr>
              <a:buFont typeface="Arial" pitchFamily="34" charset="0"/>
              <a:buChar char="•"/>
            </a:pPr>
            <a:r>
              <a:rPr lang="en-US" b="1" dirty="0" smtClean="0"/>
              <a:t> Dictionary (</a:t>
            </a:r>
            <a:r>
              <a:rPr lang="en-US" b="1" dirty="0" err="1" smtClean="0"/>
              <a:t>dict</a:t>
            </a:r>
            <a:r>
              <a:rPr lang="en-US" b="1" dirty="0" smtClean="0"/>
              <a:t>)</a:t>
            </a:r>
            <a:r>
              <a:rPr lang="en-US" dirty="0" smtClean="0"/>
              <a:t>: A collection of key-value pairs (e.g., {"name": "Alice", "age": 30}).</a:t>
            </a:r>
          </a:p>
          <a:p>
            <a:pPr>
              <a:buFont typeface="Arial" pitchFamily="34" charset="0"/>
              <a:buChar char="•"/>
            </a:pPr>
            <a:r>
              <a:rPr lang="en-US" b="1" dirty="0" smtClean="0"/>
              <a:t> Set</a:t>
            </a:r>
            <a:r>
              <a:rPr lang="en-US" dirty="0" smtClean="0"/>
              <a:t>: A collection of unique items (e.g., {1, 2, 3}).</a:t>
            </a:r>
          </a:p>
          <a:p>
            <a:pPr>
              <a:buFont typeface="Arial" pitchFamily="34" charset="0"/>
              <a:buChar char="•"/>
            </a:pPr>
            <a:endParaRPr lang="en-US" dirty="0" smtClean="0"/>
          </a:p>
          <a:p>
            <a:r>
              <a:rPr lang="en-US" b="1" dirty="0" smtClean="0"/>
              <a:t>c) Complex Data Types:</a:t>
            </a:r>
          </a:p>
          <a:p>
            <a:r>
              <a:rPr lang="en-US" dirty="0" smtClean="0"/>
              <a:t>These involve more sophisticated data structures.</a:t>
            </a:r>
          </a:p>
          <a:p>
            <a:pPr>
              <a:buFont typeface="Arial" pitchFamily="34" charset="0"/>
              <a:buChar char="•"/>
            </a:pPr>
            <a:r>
              <a:rPr lang="en-US" b="1" dirty="0" smtClean="0"/>
              <a:t> </a:t>
            </a:r>
            <a:r>
              <a:rPr lang="en-US" b="1" dirty="0" err="1" smtClean="0"/>
              <a:t>DataFrame</a:t>
            </a:r>
            <a:r>
              <a:rPr lang="en-US" b="1" dirty="0" smtClean="0"/>
              <a:t> (in Python with Pandas)</a:t>
            </a:r>
            <a:r>
              <a:rPr lang="en-US" dirty="0" smtClean="0"/>
              <a:t>: A two-dimensional labeled data structure that can hold data of various types (e.g., tables in a spreadsheet).</a:t>
            </a:r>
          </a:p>
          <a:p>
            <a:pPr>
              <a:buFont typeface="Arial" pitchFamily="34" charset="0"/>
              <a:buChar char="•"/>
            </a:pPr>
            <a:r>
              <a:rPr lang="en-US" b="1" dirty="0" smtClean="0"/>
              <a:t> Graph</a:t>
            </a:r>
            <a:r>
              <a:rPr lang="en-US" dirty="0" smtClean="0"/>
              <a:t>: A collection of nodes (vertices) and edges (connections) representing relationships between data points.</a:t>
            </a:r>
          </a:p>
          <a:p>
            <a:pPr>
              <a:buFont typeface="Arial" pitchFamily="34" charset="0"/>
              <a:buChar char="•"/>
            </a:pPr>
            <a:r>
              <a:rPr lang="en-US" b="1" dirty="0" smtClean="0"/>
              <a:t> Tree</a:t>
            </a:r>
            <a:r>
              <a:rPr lang="en-US" dirty="0" smtClean="0"/>
              <a:t>: A hierarchical data structure where each node has a parent and zero or more children, often used in organizational charts or file systems.</a:t>
            </a:r>
          </a:p>
          <a:p>
            <a:pPr>
              <a:buFont typeface="Arial" pitchFamily="34" charset="0"/>
              <a:buChar char="•"/>
            </a:pPr>
            <a:endParaRPr lang="en-US" dirty="0" smtClean="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Data Collection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371475" y="1390651"/>
            <a:ext cx="10058400" cy="5170646"/>
          </a:xfrm>
          <a:prstGeom prst="rect">
            <a:avLst/>
          </a:prstGeom>
        </p:spPr>
        <p:txBody>
          <a:bodyPr wrap="square">
            <a:spAutoFit/>
          </a:bodyPr>
          <a:lstStyle/>
          <a:p>
            <a:r>
              <a:rPr lang="en-US" dirty="0" smtClean="0"/>
              <a:t>Data collection refers to the process of gathering raw data from various sources for analysis. The methods of collection vary depending on the type of data, the research question, and the field of study. Below are common methods of data collection:</a:t>
            </a:r>
          </a:p>
          <a:p>
            <a:endParaRPr lang="en-US" dirty="0" smtClean="0"/>
          </a:p>
          <a:p>
            <a:r>
              <a:rPr lang="en-US" b="1" dirty="0" smtClean="0"/>
              <a:t>a) Quantitative Data Collection:</a:t>
            </a:r>
          </a:p>
          <a:p>
            <a:r>
              <a:rPr lang="en-US" dirty="0" smtClean="0"/>
              <a:t>This involves gathering numerical data that can be measured and analyzed statistically.</a:t>
            </a:r>
          </a:p>
          <a:p>
            <a:pPr>
              <a:buFont typeface="Arial" pitchFamily="34" charset="0"/>
              <a:buChar char="•"/>
            </a:pPr>
            <a:r>
              <a:rPr lang="en-US" b="1" dirty="0" smtClean="0"/>
              <a:t> Surveys/Questionnaires</a:t>
            </a:r>
            <a:r>
              <a:rPr lang="en-US" dirty="0" smtClean="0"/>
              <a:t>: A structured way to gather data from respondents. Surveys typically consist of closed-ended questions (e.g., yes/no, multiple choice).</a:t>
            </a:r>
          </a:p>
          <a:p>
            <a:pPr>
              <a:buFont typeface="Arial" pitchFamily="34" charset="0"/>
              <a:buChar char="•"/>
            </a:pPr>
            <a:r>
              <a:rPr lang="en-US" b="1" dirty="0" smtClean="0"/>
              <a:t> Experiments</a:t>
            </a:r>
            <a:r>
              <a:rPr lang="en-US" dirty="0" smtClean="0"/>
              <a:t>: Collecting data through controlled experiments to observe the effects of variables.</a:t>
            </a:r>
          </a:p>
          <a:p>
            <a:pPr>
              <a:buFont typeface="Arial" pitchFamily="34" charset="0"/>
              <a:buChar char="•"/>
            </a:pPr>
            <a:r>
              <a:rPr lang="en-US" b="1" dirty="0" smtClean="0"/>
              <a:t> Sensors/Devices</a:t>
            </a:r>
            <a:r>
              <a:rPr lang="en-US" dirty="0" smtClean="0"/>
              <a:t>: Using physical devices to collect data automatically, such as temperature sensors or motion detectors.</a:t>
            </a:r>
          </a:p>
          <a:p>
            <a:pPr>
              <a:buFont typeface="Arial" pitchFamily="34" charset="0"/>
              <a:buChar char="•"/>
            </a:pPr>
            <a:r>
              <a:rPr lang="en-US" b="1" dirty="0" smtClean="0"/>
              <a:t> Web Scraping</a:t>
            </a:r>
            <a:r>
              <a:rPr lang="en-US" dirty="0" smtClean="0"/>
              <a:t>: Extracting data from websites using automated scripts.</a:t>
            </a:r>
          </a:p>
          <a:p>
            <a:pPr>
              <a:buFont typeface="Arial" pitchFamily="34" charset="0"/>
              <a:buChar char="•"/>
            </a:pPr>
            <a:endParaRPr lang="en-US" dirty="0" smtClean="0"/>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Data Collection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371475" y="1390651"/>
            <a:ext cx="10058400" cy="6186309"/>
          </a:xfrm>
          <a:prstGeom prst="rect">
            <a:avLst/>
          </a:prstGeom>
        </p:spPr>
        <p:txBody>
          <a:bodyPr wrap="square">
            <a:spAutoFit/>
          </a:bodyPr>
          <a:lstStyle/>
          <a:p>
            <a:r>
              <a:rPr lang="en-US" b="1" dirty="0" smtClean="0"/>
              <a:t>b). Qualitative Data Collection:</a:t>
            </a:r>
          </a:p>
          <a:p>
            <a:r>
              <a:rPr lang="en-US" dirty="0" smtClean="0"/>
              <a:t>This involves gathering non-numerical data that is more descriptive in nature.</a:t>
            </a:r>
          </a:p>
          <a:p>
            <a:endParaRPr lang="en-US" dirty="0" smtClean="0"/>
          </a:p>
          <a:p>
            <a:pPr>
              <a:buFont typeface="Arial" pitchFamily="34" charset="0"/>
              <a:buChar char="•"/>
            </a:pPr>
            <a:r>
              <a:rPr lang="en-US" b="1" dirty="0" smtClean="0"/>
              <a:t> Interviews</a:t>
            </a:r>
            <a:r>
              <a:rPr lang="en-US" dirty="0" smtClean="0"/>
              <a:t>: In-depth conversations with individuals to gather insights, often used in social sciences or market research.</a:t>
            </a:r>
          </a:p>
          <a:p>
            <a:pPr>
              <a:buFont typeface="Arial" pitchFamily="34" charset="0"/>
              <a:buChar char="•"/>
            </a:pPr>
            <a:r>
              <a:rPr lang="en-US" b="1" dirty="0" smtClean="0"/>
              <a:t> Focus Groups</a:t>
            </a:r>
            <a:r>
              <a:rPr lang="en-US" dirty="0" smtClean="0"/>
              <a:t>: Group discussions aimed at exploring participants' opinions and experiences.</a:t>
            </a:r>
          </a:p>
          <a:p>
            <a:pPr>
              <a:buFont typeface="Arial" pitchFamily="34" charset="0"/>
              <a:buChar char="•"/>
            </a:pPr>
            <a:r>
              <a:rPr lang="en-US" b="1" dirty="0" smtClean="0"/>
              <a:t> Observations</a:t>
            </a:r>
            <a:r>
              <a:rPr lang="en-US" dirty="0" smtClean="0"/>
              <a:t>: Collecting data by watching people, events, or behaviors in a natural or controlled environment.</a:t>
            </a:r>
          </a:p>
          <a:p>
            <a:pPr>
              <a:buFont typeface="Arial" pitchFamily="34" charset="0"/>
              <a:buChar char="•"/>
            </a:pPr>
            <a:r>
              <a:rPr lang="en-US" b="1" dirty="0" smtClean="0"/>
              <a:t> Textual Analysis</a:t>
            </a:r>
            <a:r>
              <a:rPr lang="en-US" dirty="0" smtClean="0"/>
              <a:t>: Analyzing documents, social media, or other textual sources to gather insights or categorize information.</a:t>
            </a:r>
          </a:p>
          <a:p>
            <a:pPr>
              <a:buFont typeface="Arial" pitchFamily="34" charset="0"/>
              <a:buChar char="•"/>
            </a:pPr>
            <a:endParaRPr lang="en-US" dirty="0" smtClean="0"/>
          </a:p>
          <a:p>
            <a:r>
              <a:rPr lang="en-US" b="1" dirty="0" smtClean="0"/>
              <a:t>c). Mixed Methods Data Collection:</a:t>
            </a:r>
          </a:p>
          <a:p>
            <a:r>
              <a:rPr lang="en-US" dirty="0" smtClean="0"/>
              <a:t>Combining both quantitative and qualitative data collection methods to offer a more comprehensive analysis. For example, a survey with both closed and open-ended questions.</a:t>
            </a:r>
          </a:p>
          <a:p>
            <a:pPr>
              <a:buFont typeface="Arial" pitchFamily="34" charset="0"/>
              <a:buChar char="•"/>
            </a:pPr>
            <a:endParaRPr lang="en-US" dirty="0" smtClean="0"/>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Data Collection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0" name="Table 19"/>
          <p:cNvGraphicFramePr>
            <a:graphicFrameLocks noGrp="1"/>
          </p:cNvGraphicFramePr>
          <p:nvPr/>
        </p:nvGraphicFramePr>
        <p:xfrm>
          <a:off x="1819275" y="1466850"/>
          <a:ext cx="7200900" cy="5394960"/>
        </p:xfrm>
        <a:graphic>
          <a:graphicData uri="http://schemas.openxmlformats.org/drawingml/2006/table">
            <a:tbl>
              <a:tblPr firstRow="1" bandRow="1">
                <a:tableStyleId>{5C22544A-7EE6-4342-B048-85BDC9FD1C3A}</a:tableStyleId>
              </a:tblPr>
              <a:tblGrid>
                <a:gridCol w="2400300"/>
                <a:gridCol w="2400300"/>
                <a:gridCol w="2400300"/>
              </a:tblGrid>
              <a:tr h="370840">
                <a:tc>
                  <a:txBody>
                    <a:bodyPr/>
                    <a:lstStyle/>
                    <a:p>
                      <a:r>
                        <a:rPr lang="en-US" b="1" dirty="0"/>
                        <a:t>Aspect</a:t>
                      </a:r>
                      <a:endParaRPr lang="en-US" dirty="0"/>
                    </a:p>
                  </a:txBody>
                  <a:tcPr anchor="ctr"/>
                </a:tc>
                <a:tc>
                  <a:txBody>
                    <a:bodyPr/>
                    <a:lstStyle/>
                    <a:p>
                      <a:pPr marL="0" marR="0" indent="0" algn="l" defTabSz="1131451" rtl="0" eaLnBrk="1" fontAlgn="auto" latinLnBrk="0" hangingPunct="1">
                        <a:lnSpc>
                          <a:spcPct val="100000"/>
                        </a:lnSpc>
                        <a:spcBef>
                          <a:spcPts val="0"/>
                        </a:spcBef>
                        <a:spcAft>
                          <a:spcPts val="0"/>
                        </a:spcAft>
                        <a:buClrTx/>
                        <a:buSzTx/>
                        <a:buFontTx/>
                        <a:buNone/>
                        <a:tabLst/>
                        <a:defRPr/>
                      </a:pPr>
                      <a:r>
                        <a:rPr lang="en-US" b="1" dirty="0" smtClean="0"/>
                        <a:t>Qualitative Example</a:t>
                      </a:r>
                      <a:endParaRPr lang="en-US" dirty="0" smtClean="0"/>
                    </a:p>
                    <a:p>
                      <a:endParaRPr lang="en-US" dirty="0"/>
                    </a:p>
                  </a:txBody>
                  <a:tcPr anchor="ctr"/>
                </a:tc>
                <a:tc>
                  <a:txBody>
                    <a:bodyPr/>
                    <a:lstStyle/>
                    <a:p>
                      <a:pPr marL="0" marR="0" indent="0" algn="l" defTabSz="1131451" rtl="0" eaLnBrk="1" fontAlgn="auto" latinLnBrk="0" hangingPunct="1">
                        <a:lnSpc>
                          <a:spcPct val="100000"/>
                        </a:lnSpc>
                        <a:spcBef>
                          <a:spcPts val="0"/>
                        </a:spcBef>
                        <a:spcAft>
                          <a:spcPts val="0"/>
                        </a:spcAft>
                        <a:buClrTx/>
                        <a:buSzTx/>
                        <a:buFontTx/>
                        <a:buNone/>
                        <a:tabLst/>
                        <a:defRPr/>
                      </a:pPr>
                      <a:r>
                        <a:rPr lang="en-US" b="1" dirty="0" smtClean="0"/>
                        <a:t>Quantitative Example</a:t>
                      </a:r>
                      <a:endParaRPr lang="en-US" dirty="0" smtClean="0"/>
                    </a:p>
                    <a:p>
                      <a:endParaRPr lang="en-US" dirty="0"/>
                    </a:p>
                  </a:txBody>
                  <a:tcPr anchor="ctr"/>
                </a:tc>
              </a:tr>
              <a:tr h="370840">
                <a:tc>
                  <a:txBody>
                    <a:bodyPr/>
                    <a:lstStyle/>
                    <a:p>
                      <a:endParaRPr lang="en-US" b="1" dirty="0" smtClean="0"/>
                    </a:p>
                    <a:p>
                      <a:r>
                        <a:rPr lang="en-US" b="1" dirty="0" smtClean="0"/>
                        <a:t>AI </a:t>
                      </a:r>
                      <a:r>
                        <a:rPr lang="en-US" b="1" dirty="0"/>
                        <a:t>Product Feedback</a:t>
                      </a:r>
                      <a:endParaRPr lang="en-US" dirty="0"/>
                    </a:p>
                  </a:txBody>
                  <a:tcPr anchor="ctr"/>
                </a:tc>
                <a:tc>
                  <a:txBody>
                    <a:bodyPr/>
                    <a:lstStyle/>
                    <a:p>
                      <a:endParaRPr lang="en-US" i="1" dirty="0" smtClean="0"/>
                    </a:p>
                    <a:p>
                      <a:r>
                        <a:rPr lang="en-US" i="1" dirty="0" smtClean="0"/>
                        <a:t>"</a:t>
                      </a:r>
                      <a:r>
                        <a:rPr lang="en-US" i="1" dirty="0"/>
                        <a:t>What do you like about this AI app?"</a:t>
                      </a:r>
                      <a:endParaRPr lang="en-US" dirty="0"/>
                    </a:p>
                  </a:txBody>
                  <a:tcPr anchor="ctr"/>
                </a:tc>
                <a:tc>
                  <a:txBody>
                    <a:bodyPr/>
                    <a:lstStyle/>
                    <a:p>
                      <a:endParaRPr lang="en-US" i="1" dirty="0" smtClean="0"/>
                    </a:p>
                    <a:p>
                      <a:r>
                        <a:rPr lang="en-US" i="1" dirty="0" smtClean="0"/>
                        <a:t>"</a:t>
                      </a:r>
                      <a:r>
                        <a:rPr lang="en-US" i="1" dirty="0"/>
                        <a:t>Rate the app's user-friendliness (1–10)."</a:t>
                      </a:r>
                      <a:endParaRPr lang="en-US" dirty="0"/>
                    </a:p>
                  </a:txBody>
                  <a:tcPr anchor="ctr"/>
                </a:tc>
              </a:tr>
              <a:tr h="370840">
                <a:tc>
                  <a:txBody>
                    <a:bodyPr/>
                    <a:lstStyle/>
                    <a:p>
                      <a:r>
                        <a:rPr lang="en-US" b="1" dirty="0"/>
                        <a:t>User Interaction</a:t>
                      </a:r>
                      <a:endParaRPr lang="en-US" dirty="0"/>
                    </a:p>
                  </a:txBody>
                  <a:tcPr anchor="ctr"/>
                </a:tc>
                <a:tc>
                  <a:txBody>
                    <a:bodyPr/>
                    <a:lstStyle/>
                    <a:p>
                      <a:r>
                        <a:rPr lang="en-US" dirty="0"/>
                        <a:t>Observing users’ emotional reactions during an AI demo.</a:t>
                      </a:r>
                    </a:p>
                  </a:txBody>
                  <a:tcPr anchor="ctr"/>
                </a:tc>
                <a:tc>
                  <a:txBody>
                    <a:bodyPr/>
                    <a:lstStyle/>
                    <a:p>
                      <a:r>
                        <a:rPr lang="en-US" dirty="0"/>
                        <a:t>Recording the time users spend on the platform.</a:t>
                      </a:r>
                    </a:p>
                  </a:txBody>
                  <a:tcPr anchor="ctr"/>
                </a:tc>
              </a:tr>
              <a:tr h="370840">
                <a:tc>
                  <a:txBody>
                    <a:bodyPr/>
                    <a:lstStyle/>
                    <a:p>
                      <a:r>
                        <a:rPr lang="en-US" b="1"/>
                        <a:t>Health Study</a:t>
                      </a:r>
                      <a:endParaRPr lang="en-US"/>
                    </a:p>
                  </a:txBody>
                  <a:tcPr anchor="ctr"/>
                </a:tc>
                <a:tc>
                  <a:txBody>
                    <a:bodyPr/>
                    <a:lstStyle/>
                    <a:p>
                      <a:r>
                        <a:rPr lang="en-US" dirty="0"/>
                        <a:t>Documenting patient stories about treatment experiences.</a:t>
                      </a:r>
                    </a:p>
                  </a:txBody>
                  <a:tcPr anchor="ctr"/>
                </a:tc>
                <a:tc>
                  <a:txBody>
                    <a:bodyPr/>
                    <a:lstStyle/>
                    <a:p>
                      <a:r>
                        <a:rPr lang="en-US" dirty="0"/>
                        <a:t>Measuring the recovery rate after using AI tools.</a:t>
                      </a:r>
                    </a:p>
                  </a:txBody>
                  <a:tcPr anchor="ct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Data Collection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371475" y="1390651"/>
            <a:ext cx="10058400" cy="4154984"/>
          </a:xfrm>
          <a:prstGeom prst="rect">
            <a:avLst/>
          </a:prstGeom>
        </p:spPr>
        <p:txBody>
          <a:bodyPr wrap="square">
            <a:spAutoFit/>
          </a:bodyPr>
          <a:lstStyle/>
          <a:p>
            <a:r>
              <a:rPr lang="en-US" b="1" dirty="0" smtClean="0"/>
              <a:t>d) Secondary Data Collection:</a:t>
            </a:r>
          </a:p>
          <a:p>
            <a:r>
              <a:rPr lang="en-US" dirty="0" smtClean="0"/>
              <a:t>Using data that was collected for other purposes but can be repurposed for a new study. Examples include government statistics, public reports, and data from academic research.</a:t>
            </a:r>
          </a:p>
          <a:p>
            <a:endParaRPr lang="en-US" dirty="0" smtClean="0"/>
          </a:p>
          <a:p>
            <a:r>
              <a:rPr lang="en-US" b="1" dirty="0" smtClean="0"/>
              <a:t>e) Data Mining and APIs:</a:t>
            </a:r>
          </a:p>
          <a:p>
            <a:r>
              <a:rPr lang="en-US" b="1" dirty="0" smtClean="0"/>
              <a:t>Data Mining</a:t>
            </a:r>
            <a:r>
              <a:rPr lang="en-US" dirty="0" smtClean="0"/>
              <a:t>: A technique used to find patterns in large datasets, often involving algorithms or machine learning.</a:t>
            </a:r>
          </a:p>
          <a:p>
            <a:r>
              <a:rPr lang="en-US" b="1" dirty="0" smtClean="0"/>
              <a:t>APIs (Application Programming Interfaces)</a:t>
            </a:r>
            <a:r>
              <a:rPr lang="en-US" dirty="0" smtClean="0"/>
              <a:t>: Collecting data from external sources by interfacing with systems or platforms (e.g., social media APIs, financial data APIs).</a:t>
            </a:r>
          </a:p>
          <a:p>
            <a:pPr>
              <a:buFont typeface="Arial" pitchFamily="34" charset="0"/>
              <a:buChar char="•"/>
            </a:pPr>
            <a:endParaRPr lang="en-US" dirty="0" smtClean="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Data Collection Challenges</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371475" y="1390651"/>
            <a:ext cx="10058400" cy="5170646"/>
          </a:xfrm>
          <a:prstGeom prst="rect">
            <a:avLst/>
          </a:prstGeom>
        </p:spPr>
        <p:txBody>
          <a:bodyPr wrap="square">
            <a:spAutoFit/>
          </a:bodyPr>
          <a:lstStyle/>
          <a:p>
            <a:pPr>
              <a:buFont typeface="Arial" pitchFamily="34" charset="0"/>
              <a:buChar char="•"/>
            </a:pPr>
            <a:endParaRPr lang="en-US" b="1" dirty="0" smtClean="0"/>
          </a:p>
          <a:p>
            <a:pPr>
              <a:buFont typeface="Arial" pitchFamily="34" charset="0"/>
              <a:buChar char="•"/>
            </a:pPr>
            <a:r>
              <a:rPr lang="en-US" b="1" dirty="0" smtClean="0"/>
              <a:t> Data Quality</a:t>
            </a:r>
            <a:r>
              <a:rPr lang="en-US" dirty="0" smtClean="0"/>
              <a:t>: Ensuring that the collected data is accurate, consistent, and free from errors.</a:t>
            </a:r>
          </a:p>
          <a:p>
            <a:pPr>
              <a:buFont typeface="Arial" pitchFamily="34" charset="0"/>
              <a:buChar char="•"/>
            </a:pPr>
            <a:r>
              <a:rPr lang="en-US" b="1" dirty="0" smtClean="0"/>
              <a:t> Data Privacy</a:t>
            </a:r>
            <a:r>
              <a:rPr lang="en-US" dirty="0" smtClean="0"/>
              <a:t>: Protecting the privacy and confidentiality of sensitive data, especially when collecting personal information.</a:t>
            </a:r>
          </a:p>
          <a:p>
            <a:pPr>
              <a:buFont typeface="Arial" pitchFamily="34" charset="0"/>
              <a:buChar char="•"/>
            </a:pPr>
            <a:r>
              <a:rPr lang="en-US" b="1" dirty="0" smtClean="0"/>
              <a:t> Data Bias</a:t>
            </a:r>
            <a:r>
              <a:rPr lang="en-US" dirty="0" smtClean="0"/>
              <a:t>: Avoiding bias in data collection methods to ensure that the results are representative. Ex: A well-known real-world case of </a:t>
            </a:r>
            <a:r>
              <a:rPr lang="en-US" b="1" dirty="0" smtClean="0"/>
              <a:t>algorithmic bias</a:t>
            </a:r>
            <a:r>
              <a:rPr lang="en-US" dirty="0" smtClean="0"/>
              <a:t> occurred with </a:t>
            </a:r>
            <a:r>
              <a:rPr lang="en-US" b="1" dirty="0" smtClean="0"/>
              <a:t>Amazon's hiring algorithm</a:t>
            </a:r>
            <a:r>
              <a:rPr lang="en-US" dirty="0" smtClean="0"/>
              <a:t>. The system was designed to help Amazon review resumes, but it was found to be biased against female candidates. This bias arose because the algorithm was trained on resumes submitted to Amazon over the previous decade, and because the tech industry has been male-dominated, the system learned to favor male-associated keywords and job titles. As a result, it </a:t>
            </a:r>
            <a:r>
              <a:rPr lang="en-US" dirty="0" err="1" smtClean="0"/>
              <a:t>downranked</a:t>
            </a:r>
            <a:r>
              <a:rPr lang="en-US" dirty="0" smtClean="0"/>
              <a:t> resumes that used female-associated terms or indicated female job titles.</a:t>
            </a:r>
          </a:p>
          <a:p>
            <a:pPr>
              <a:buFont typeface="Arial" pitchFamily="34" charset="0"/>
              <a:buChar char="•"/>
            </a:pPr>
            <a:r>
              <a:rPr lang="en-US" b="1" dirty="0" smtClean="0"/>
              <a:t> Volume</a:t>
            </a:r>
            <a:r>
              <a:rPr lang="en-US" dirty="0" smtClean="0"/>
              <a:t>: Managing large amounts of data, especially in fields like big data, </a:t>
            </a:r>
            <a:r>
              <a:rPr lang="en-US" dirty="0" err="1" smtClean="0"/>
              <a:t>IoT</a:t>
            </a:r>
            <a:r>
              <a:rPr lang="en-US" dirty="0" smtClean="0"/>
              <a:t> (Internet of Things), and social media analytics.</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Data Wrangling</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371475" y="1390651"/>
            <a:ext cx="10058400" cy="2123658"/>
          </a:xfrm>
          <a:prstGeom prst="rect">
            <a:avLst/>
          </a:prstGeom>
        </p:spPr>
        <p:txBody>
          <a:bodyPr wrap="square">
            <a:spAutoFit/>
          </a:bodyPr>
          <a:lstStyle/>
          <a:p>
            <a:pPr>
              <a:buFont typeface="Arial" pitchFamily="34" charset="0"/>
              <a:buChar char="•"/>
            </a:pPr>
            <a:endParaRPr lang="en-US" b="1" dirty="0" smtClean="0"/>
          </a:p>
          <a:p>
            <a:pPr>
              <a:buFont typeface="Arial" pitchFamily="34" charset="0"/>
              <a:buChar char="•"/>
            </a:pPr>
            <a:r>
              <a:rPr lang="en-US" b="1" dirty="0" smtClean="0"/>
              <a:t> Data wrangling</a:t>
            </a:r>
            <a:r>
              <a:rPr lang="en-US" dirty="0" smtClean="0"/>
              <a:t> (also known as </a:t>
            </a:r>
            <a:r>
              <a:rPr lang="en-US" b="1" dirty="0" smtClean="0"/>
              <a:t>data cleaning</a:t>
            </a:r>
            <a:r>
              <a:rPr lang="en-US" dirty="0" smtClean="0"/>
              <a:t> or </a:t>
            </a:r>
            <a:r>
              <a:rPr lang="en-US" b="1" dirty="0" smtClean="0"/>
              <a:t>data preprocessing</a:t>
            </a:r>
            <a:r>
              <a:rPr lang="en-US" dirty="0" smtClean="0"/>
              <a:t>) is the process of transforming and mapping raw data into a more usable format for analysis. It involves cleaning, restructuring, and enriching data to ensure that it is accurate, consistent, and in a format that can be used effectively by data analysts, data scientists, or machine learning models.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Steps Involved in Data Wrangling</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371475" y="1390651"/>
            <a:ext cx="10058400" cy="5170646"/>
          </a:xfrm>
          <a:prstGeom prst="rect">
            <a:avLst/>
          </a:prstGeom>
        </p:spPr>
        <p:txBody>
          <a:bodyPr wrap="square">
            <a:spAutoFit/>
          </a:bodyPr>
          <a:lstStyle/>
          <a:p>
            <a:pPr>
              <a:buFont typeface="Arial" pitchFamily="34" charset="0"/>
              <a:buChar char="•"/>
            </a:pPr>
            <a:endParaRPr lang="en-US" b="1" dirty="0" smtClean="0"/>
          </a:p>
          <a:p>
            <a:pPr marL="457200" indent="-457200">
              <a:buAutoNum type="arabicPeriod"/>
            </a:pPr>
            <a:r>
              <a:rPr lang="en-US" b="1" dirty="0" smtClean="0"/>
              <a:t>Data Collection</a:t>
            </a:r>
            <a:r>
              <a:rPr lang="en-US" dirty="0" smtClean="0"/>
              <a:t>: Gathering data from different sources (databases, spreadsheets, web scraping, APIs, etc.).</a:t>
            </a:r>
          </a:p>
          <a:p>
            <a:pPr marL="457200" indent="-457200"/>
            <a:endParaRPr lang="en-US" dirty="0" smtClean="0"/>
          </a:p>
          <a:p>
            <a:pPr marL="457200" indent="-457200"/>
            <a:r>
              <a:rPr lang="en-US" b="1" dirty="0" smtClean="0"/>
              <a:t>2.    Data Cleaning</a:t>
            </a:r>
            <a:r>
              <a:rPr lang="en-US" dirty="0" smtClean="0"/>
              <a:t>:</a:t>
            </a:r>
          </a:p>
          <a:p>
            <a:pPr marL="457200" indent="-457200"/>
            <a:endParaRPr lang="en-US" dirty="0" smtClean="0"/>
          </a:p>
          <a:p>
            <a:pPr marL="457200" indent="-457200"/>
            <a:r>
              <a:rPr lang="en-US" b="1" dirty="0" smtClean="0"/>
              <a:t>        a. Handling Missing Data</a:t>
            </a:r>
            <a:r>
              <a:rPr lang="en-US" dirty="0" smtClean="0"/>
              <a:t>: Filling in missing values, removing incomplete data, or replacing missing values with a default value or mean.</a:t>
            </a:r>
          </a:p>
          <a:p>
            <a:r>
              <a:rPr lang="en-US" b="1" dirty="0" smtClean="0"/>
              <a:t>        b. Removing Duplicates</a:t>
            </a:r>
            <a:r>
              <a:rPr lang="en-US" dirty="0" smtClean="0"/>
              <a:t>: Identifying and removing duplicate records to ensure</a:t>
            </a:r>
          </a:p>
          <a:p>
            <a:r>
              <a:rPr lang="en-US" dirty="0" smtClean="0"/>
              <a:t>        the dataset doesn't have redundant information.</a:t>
            </a:r>
          </a:p>
          <a:p>
            <a:r>
              <a:rPr lang="en-US" b="1" dirty="0" smtClean="0"/>
              <a:t>        c. Fixing Inconsistent Data</a:t>
            </a:r>
            <a:r>
              <a:rPr lang="en-US" dirty="0" smtClean="0"/>
              <a:t>: Correcting data that may have inconsistent </a:t>
            </a:r>
          </a:p>
          <a:p>
            <a:r>
              <a:rPr lang="en-US" dirty="0" smtClean="0"/>
              <a:t>        formatting, such as dates stored in different formats, or values entered incorrectly.</a:t>
            </a:r>
          </a:p>
          <a:p>
            <a:r>
              <a:rPr lang="en-US" b="1" dirty="0" smtClean="0"/>
              <a:t>        d. Handling Outliers</a:t>
            </a:r>
            <a:r>
              <a:rPr lang="en-US" dirty="0" smtClean="0"/>
              <a:t>: Identifying and addressing data points that are</a:t>
            </a:r>
          </a:p>
          <a:p>
            <a:r>
              <a:rPr lang="en-US" dirty="0" smtClean="0"/>
              <a:t>        significantly different from others (outliers) if they could skew analysis results.</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Steps Involved in Data Wrangling</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295275" y="1353145"/>
            <a:ext cx="10058400" cy="5232202"/>
          </a:xfrm>
          <a:prstGeom prst="rect">
            <a:avLst/>
          </a:prstGeom>
        </p:spPr>
        <p:txBody>
          <a:bodyPr wrap="square">
            <a:spAutoFit/>
          </a:bodyPr>
          <a:lstStyle/>
          <a:p>
            <a:r>
              <a:rPr lang="en-US" b="1" dirty="0" smtClean="0"/>
              <a:t>3</a:t>
            </a:r>
            <a:r>
              <a:rPr lang="en-US" sz="2600" b="1" dirty="0" smtClean="0"/>
              <a:t>. Data Transformation</a:t>
            </a:r>
            <a:r>
              <a:rPr lang="en-US" sz="2600" dirty="0" smtClean="0"/>
              <a:t>:</a:t>
            </a:r>
          </a:p>
          <a:p>
            <a:r>
              <a:rPr lang="en-US" sz="2600" b="1" dirty="0" smtClean="0"/>
              <a:t>a. Normalization/Standardization</a:t>
            </a:r>
            <a:r>
              <a:rPr lang="en-US" sz="2600" dirty="0" smtClean="0"/>
              <a:t>: Adjusting the range of numeric values in the dataset to a common scale (e.g., scaling all values between 0 and 1).</a:t>
            </a:r>
          </a:p>
          <a:p>
            <a:r>
              <a:rPr lang="en-US" sz="2600" b="1" dirty="0" smtClean="0"/>
              <a:t>b. Encoding Categorical Variables</a:t>
            </a:r>
            <a:r>
              <a:rPr lang="en-US" sz="2600" dirty="0" smtClean="0"/>
              <a:t>: Converting categorical variables (like "red", "green", "blue") into numeric format, which can be used in machine learning algorithms.</a:t>
            </a:r>
          </a:p>
          <a:p>
            <a:r>
              <a:rPr lang="en-US" sz="2600" b="1" dirty="0" smtClean="0"/>
              <a:t>c. Aggregation</a:t>
            </a:r>
            <a:r>
              <a:rPr lang="en-US" sz="2600" dirty="0" smtClean="0"/>
              <a:t>: Combining data points into a more useful summary, such as calculating averages, totals, or grouping by categories.</a:t>
            </a:r>
          </a:p>
          <a:p>
            <a:r>
              <a:rPr lang="en-US" sz="2600" b="1" dirty="0" smtClean="0"/>
              <a:t>d. Feature Engineering</a:t>
            </a:r>
            <a:r>
              <a:rPr lang="en-US" sz="2600" dirty="0" smtClean="0"/>
              <a:t>: Creating new features or variables from existing ones to help improve analysis or model performance (e.g., extracting year, month, and day from a timestamp).</a:t>
            </a:r>
          </a:p>
          <a:p>
            <a:pPr>
              <a:buFont typeface="Arial" pitchFamily="34" charset="0"/>
              <a:buChar char="•"/>
            </a:pPr>
            <a:endParaRPr lang="en-US" b="1" dirty="0" smtClean="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Steps Involved in Data Wrangling</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295275" y="1353145"/>
            <a:ext cx="10058400" cy="3385542"/>
          </a:xfrm>
          <a:prstGeom prst="rect">
            <a:avLst/>
          </a:prstGeom>
        </p:spPr>
        <p:txBody>
          <a:bodyPr wrap="square">
            <a:spAutoFit/>
          </a:bodyPr>
          <a:lstStyle/>
          <a:p>
            <a:r>
              <a:rPr lang="en-US" sz="2400" b="1" dirty="0" smtClean="0"/>
              <a:t>4. Data Integration</a:t>
            </a:r>
            <a:r>
              <a:rPr lang="en-US" sz="2400" dirty="0" smtClean="0"/>
              <a:t>: Merging data from multiple sources or tables to form a complete and cohesive dataset.</a:t>
            </a:r>
          </a:p>
          <a:p>
            <a:endParaRPr lang="en-US" sz="2400" dirty="0" smtClean="0"/>
          </a:p>
          <a:p>
            <a:r>
              <a:rPr lang="en-US" sz="2400" b="1" dirty="0" smtClean="0"/>
              <a:t>5. Data Reduction</a:t>
            </a:r>
            <a:r>
              <a:rPr lang="en-US" sz="2400" dirty="0" smtClean="0"/>
              <a:t>: Reducing the volume of data by eliminating unnecessary or irrelevant columns or rows.</a:t>
            </a:r>
          </a:p>
          <a:p>
            <a:endParaRPr lang="en-US" sz="2400" dirty="0" smtClean="0"/>
          </a:p>
          <a:p>
            <a:r>
              <a:rPr lang="en-US" sz="2400" b="1" dirty="0" smtClean="0"/>
              <a:t>6. Data Validation</a:t>
            </a:r>
            <a:r>
              <a:rPr lang="en-US" sz="2400" dirty="0" smtClean="0"/>
              <a:t>: Ensuring that the data conforms to required standards and business rules (e.g., age values must be positive integers).</a:t>
            </a:r>
          </a:p>
          <a:p>
            <a:pPr>
              <a:buFont typeface="Arial" pitchFamily="34" charset="0"/>
              <a:buChar char="•"/>
            </a:pPr>
            <a:endParaRPr lang="en-US" b="1" dirty="0" smtClean="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Need For Data Wrangling</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295275" y="1353145"/>
            <a:ext cx="10058400" cy="6309420"/>
          </a:xfrm>
          <a:prstGeom prst="rect">
            <a:avLst/>
          </a:prstGeom>
        </p:spPr>
        <p:txBody>
          <a:bodyPr wrap="square">
            <a:spAutoFit/>
          </a:bodyPr>
          <a:lstStyle/>
          <a:p>
            <a:r>
              <a:rPr lang="en-US" sz="2400" dirty="0" smtClean="0"/>
              <a:t>Data wrangling is essential because real-world data is often messy, unstructured, and incomplete. It is rare to find perfectly clean and ready-to-analyze datasets, especially in big data and complex scenarios. Here's why data wrangling is crucial:</a:t>
            </a:r>
          </a:p>
          <a:p>
            <a:r>
              <a:rPr lang="en-US" b="1" dirty="0" smtClean="0"/>
              <a:t>1. Improves Data Quality</a:t>
            </a:r>
            <a:r>
              <a:rPr lang="en-US" dirty="0" smtClean="0"/>
              <a:t>:</a:t>
            </a:r>
          </a:p>
          <a:p>
            <a:r>
              <a:rPr lang="en-US" dirty="0" smtClean="0"/>
              <a:t>a. Raw data often contains errors, inconsistencies, or missing values. Data wrangling helps clean and correct these issues to improve the quality of data and make it reliable for analysis.</a:t>
            </a:r>
          </a:p>
          <a:p>
            <a:r>
              <a:rPr lang="en-US" dirty="0" smtClean="0"/>
              <a:t>b. Handling missing values, duplicates, and inconsistent formats ensures that you have clean data for accurate analysis or model training.</a:t>
            </a:r>
          </a:p>
          <a:p>
            <a:endParaRPr lang="en-US" dirty="0" smtClean="0"/>
          </a:p>
          <a:p>
            <a:r>
              <a:rPr lang="en-US" b="1" dirty="0" smtClean="0"/>
              <a:t>2, Enables Better Analysis</a:t>
            </a:r>
            <a:r>
              <a:rPr lang="en-US" dirty="0" smtClean="0"/>
              <a:t>:</a:t>
            </a:r>
          </a:p>
          <a:p>
            <a:r>
              <a:rPr lang="en-US" dirty="0" smtClean="0"/>
              <a:t>a. Unclean data can lead to incorrect conclusions or misleading results. By transforming the data into a format suitable for analysis, wrangling ensures that the analysis is based on accurate and relevant data.</a:t>
            </a:r>
          </a:p>
          <a:p>
            <a:r>
              <a:rPr lang="en-US" dirty="0" smtClean="0"/>
              <a:t>b. It allows analysts to identify patterns, trends, and insights more effectively.</a:t>
            </a:r>
          </a:p>
          <a:p>
            <a:endParaRPr lang="en-US" dirty="0" smtClean="0"/>
          </a:p>
          <a:p>
            <a:endParaRPr lang="en-US" b="1" dirty="0" smtClean="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Need For Data Wrangling</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295275" y="1353145"/>
            <a:ext cx="10058400" cy="5940088"/>
          </a:xfrm>
          <a:prstGeom prst="rect">
            <a:avLst/>
          </a:prstGeom>
        </p:spPr>
        <p:txBody>
          <a:bodyPr wrap="square">
            <a:spAutoFit/>
          </a:bodyPr>
          <a:lstStyle/>
          <a:p>
            <a:r>
              <a:rPr lang="en-US" sz="2400" b="1" dirty="0" smtClean="0"/>
              <a:t>3. Supports Machine Learning Models</a:t>
            </a:r>
            <a:r>
              <a:rPr lang="en-US" sz="2400" dirty="0" smtClean="0"/>
              <a:t>:</a:t>
            </a:r>
          </a:p>
          <a:p>
            <a:pPr>
              <a:buFont typeface="Arial" pitchFamily="34" charset="0"/>
              <a:buChar char="•"/>
            </a:pPr>
            <a:r>
              <a:rPr lang="en-US" sz="2400" dirty="0" smtClean="0"/>
              <a:t> Machine learning algorithms require data to be in a specific format, such as numerical values instead of categorical variables. Data wrangling prepares the data for modeling by transforming it into the right format and scaling it appropriately.</a:t>
            </a:r>
          </a:p>
          <a:p>
            <a:pPr>
              <a:buFont typeface="Arial" pitchFamily="34" charset="0"/>
              <a:buChar char="•"/>
            </a:pPr>
            <a:r>
              <a:rPr lang="en-US" sz="2400" dirty="0" smtClean="0"/>
              <a:t> It ensures that machine learning models can learn effectively and produce accurate predictions.</a:t>
            </a:r>
          </a:p>
          <a:p>
            <a:pPr>
              <a:buFont typeface="Arial" pitchFamily="34" charset="0"/>
              <a:buChar char="•"/>
            </a:pPr>
            <a:endParaRPr lang="en-US" sz="2400" dirty="0" smtClean="0"/>
          </a:p>
          <a:p>
            <a:r>
              <a:rPr lang="en-US" sz="2400" b="1" dirty="0" smtClean="0"/>
              <a:t>4. Consistency Across Datasets</a:t>
            </a:r>
            <a:r>
              <a:rPr lang="en-US" sz="2400" dirty="0" smtClean="0"/>
              <a:t>:</a:t>
            </a:r>
          </a:p>
          <a:p>
            <a:pPr>
              <a:buFont typeface="Arial" pitchFamily="34" charset="0"/>
              <a:buChar char="•"/>
            </a:pPr>
            <a:r>
              <a:rPr lang="en-US" sz="2400" dirty="0" smtClean="0"/>
              <a:t> Datasets from different sources often have different formats, units, or structures. Data wrangling ensures that the data from multiple sources is integrated consistently and that there is uniformity in the dataset.</a:t>
            </a:r>
          </a:p>
          <a:p>
            <a:pPr>
              <a:buFont typeface="Arial" pitchFamily="34" charset="0"/>
              <a:buChar char="•"/>
            </a:pPr>
            <a:r>
              <a:rPr lang="en-US" sz="2400" dirty="0" smtClean="0"/>
              <a:t> This is particularly important when combining data from diverse sources like databases, APIs, and spreadsheets.</a:t>
            </a:r>
          </a:p>
          <a:p>
            <a:endParaRPr lang="en-US" dirty="0" smtClean="0"/>
          </a:p>
          <a:p>
            <a:endParaRPr lang="en-US" b="1" dirty="0" smtClean="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Need For Data Wrangling</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295275" y="1353145"/>
            <a:ext cx="10058400" cy="5262979"/>
          </a:xfrm>
          <a:prstGeom prst="rect">
            <a:avLst/>
          </a:prstGeom>
        </p:spPr>
        <p:txBody>
          <a:bodyPr wrap="square">
            <a:spAutoFit/>
          </a:bodyPr>
          <a:lstStyle/>
          <a:p>
            <a:r>
              <a:rPr lang="en-US" sz="2400" b="1" dirty="0" smtClean="0"/>
              <a:t>5. Increased Efficiency</a:t>
            </a:r>
            <a:r>
              <a:rPr lang="en-US" sz="2400" dirty="0" smtClean="0"/>
              <a:t>:</a:t>
            </a:r>
          </a:p>
          <a:p>
            <a:pPr>
              <a:buFont typeface="Arial" pitchFamily="34" charset="0"/>
              <a:buChar char="•"/>
            </a:pPr>
            <a:r>
              <a:rPr lang="en-US" sz="2400" dirty="0" smtClean="0"/>
              <a:t> Wrangling automates the tedious process of cleaning and transforming data, which allows analysts and data scientists to focus on the actual analysis rather than dealing with data issues.</a:t>
            </a:r>
          </a:p>
          <a:p>
            <a:pPr>
              <a:buFont typeface="Arial" pitchFamily="34" charset="0"/>
              <a:buChar char="•"/>
            </a:pPr>
            <a:r>
              <a:rPr lang="en-US" sz="2400" dirty="0" smtClean="0"/>
              <a:t> Well-wrangled data saves time in the long run, especially when working with large datasets.</a:t>
            </a:r>
          </a:p>
          <a:p>
            <a:endParaRPr lang="en-US" sz="2400" dirty="0" smtClean="0"/>
          </a:p>
          <a:p>
            <a:r>
              <a:rPr lang="en-US" sz="2400" b="1" dirty="0" smtClean="0"/>
              <a:t>6. Improved Decision-Making</a:t>
            </a:r>
            <a:r>
              <a:rPr lang="en-US" sz="2400" dirty="0" smtClean="0"/>
              <a:t>:</a:t>
            </a:r>
          </a:p>
          <a:p>
            <a:pPr>
              <a:buFont typeface="Arial" pitchFamily="34" charset="0"/>
              <a:buChar char="•"/>
            </a:pPr>
            <a:r>
              <a:rPr lang="en-US" sz="2400" dirty="0" smtClean="0"/>
              <a:t> Clean and well-prepared data allows businesses or organizations to make informed decisions based on reliable insights. Inaccurate or inconsistent data can lead to faulty decision-making, leading to poor outcomes.</a:t>
            </a:r>
          </a:p>
          <a:p>
            <a:pPr>
              <a:buFont typeface="Arial" pitchFamily="34" charset="0"/>
              <a:buChar char="•"/>
            </a:pPr>
            <a:r>
              <a:rPr lang="en-US" sz="2400" dirty="0" smtClean="0"/>
              <a:t> For example, in marketing, data wrangling can help improve customer segmentation by cleaning and structuring customer data to make more accurate targeting decisions.</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IN" sz="2800" b="1" dirty="0" smtClean="0">
                <a:latin typeface="Arial Narrow" pitchFamily="34" charset="0"/>
              </a:rPr>
              <a:t>Need For Data Wrangling</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295275" y="1353145"/>
            <a:ext cx="10058400" cy="4524315"/>
          </a:xfrm>
          <a:prstGeom prst="rect">
            <a:avLst/>
          </a:prstGeom>
        </p:spPr>
        <p:txBody>
          <a:bodyPr wrap="square">
            <a:spAutoFit/>
          </a:bodyPr>
          <a:lstStyle/>
          <a:p>
            <a:r>
              <a:rPr lang="en-US" sz="2400" b="1" dirty="0" smtClean="0"/>
              <a:t>Example : </a:t>
            </a:r>
            <a:r>
              <a:rPr lang="en-US" sz="2400" dirty="0" smtClean="0"/>
              <a:t>Let’s say you have a dataset containing customer information such as names, addresses, email, purchase history, and dates of birth. However, this dataset might contain issues such as:</a:t>
            </a:r>
          </a:p>
          <a:p>
            <a:endParaRPr lang="en-US" sz="2400" dirty="0" smtClean="0"/>
          </a:p>
          <a:p>
            <a:pPr>
              <a:buFont typeface="Arial" pitchFamily="34" charset="0"/>
              <a:buChar char="•"/>
            </a:pPr>
            <a:r>
              <a:rPr lang="en-US" sz="2400" b="1" dirty="0" smtClean="0"/>
              <a:t> Missing values</a:t>
            </a:r>
            <a:r>
              <a:rPr lang="en-US" sz="2400" dirty="0" smtClean="0"/>
              <a:t>: Some rows have missing email addresses or birthdates.</a:t>
            </a:r>
          </a:p>
          <a:p>
            <a:pPr>
              <a:buFont typeface="Arial" pitchFamily="34" charset="0"/>
              <a:buChar char="•"/>
            </a:pPr>
            <a:r>
              <a:rPr lang="en-US" sz="2400" b="1" dirty="0" smtClean="0"/>
              <a:t> Inconsistent date formats</a:t>
            </a:r>
            <a:r>
              <a:rPr lang="en-US" sz="2400" dirty="0" smtClean="0"/>
              <a:t>: Some birthdates are in "MM/DD/YYYY" format, while others are in "DD-MM-YYYY".</a:t>
            </a:r>
          </a:p>
          <a:p>
            <a:pPr>
              <a:buFont typeface="Arial" pitchFamily="34" charset="0"/>
              <a:buChar char="•"/>
            </a:pPr>
            <a:r>
              <a:rPr lang="en-US" sz="2400" b="1" dirty="0" smtClean="0"/>
              <a:t> Duplicate records</a:t>
            </a:r>
            <a:r>
              <a:rPr lang="en-US" sz="2400" dirty="0" smtClean="0"/>
              <a:t>: A customer may appear multiple times with different IDs.</a:t>
            </a:r>
          </a:p>
          <a:p>
            <a:pPr>
              <a:buFont typeface="Arial" pitchFamily="34" charset="0"/>
              <a:buChar char="•"/>
            </a:pPr>
            <a:r>
              <a:rPr lang="en-US" sz="2400" b="1" dirty="0" smtClean="0"/>
              <a:t> Irrelevant columns</a:t>
            </a:r>
            <a:r>
              <a:rPr lang="en-US" sz="2400" dirty="0" smtClean="0"/>
              <a:t>: The dataset contains unnecessary columns such as "Employee ID" that aren't useful for analysis.</a:t>
            </a:r>
          </a:p>
          <a:p>
            <a:pPr>
              <a:buFont typeface="Arial" pitchFamily="34" charset="0"/>
              <a:buChar char="•"/>
            </a:pPr>
            <a:r>
              <a:rPr lang="en-US" sz="2400" b="1" dirty="0" smtClean="0"/>
              <a:t> Categorical data</a:t>
            </a:r>
            <a:r>
              <a:rPr lang="en-US" sz="2400" dirty="0" smtClean="0"/>
              <a:t>: The "Gender" column may contain inconsistent entries like "M" and "Male" or "F" and "Female".</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Cleaning</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085850"/>
            <a:ext cx="10210800" cy="6370975"/>
          </a:xfrm>
          <a:prstGeom prst="rect">
            <a:avLst/>
          </a:prstGeom>
        </p:spPr>
        <p:txBody>
          <a:bodyPr wrap="square">
            <a:spAutoFit/>
          </a:bodyPr>
          <a:lstStyle/>
          <a:p>
            <a:pPr algn="just"/>
            <a:r>
              <a:rPr lang="en-US" sz="2400" dirty="0" smtClean="0"/>
              <a:t>Data cleaning involves identifying and rectifying errors, inconsistencies, and missing values in the dataset to ensure its accuracy and reliability.</a:t>
            </a:r>
          </a:p>
          <a:p>
            <a:pPr algn="just"/>
            <a:r>
              <a:rPr lang="en-US" sz="2400" b="1" dirty="0" smtClean="0"/>
              <a:t>Key Tasks in Data Cleaning:</a:t>
            </a:r>
          </a:p>
          <a:p>
            <a:pPr algn="just"/>
            <a:endParaRPr lang="en-US" sz="2400" b="1" dirty="0" smtClean="0"/>
          </a:p>
          <a:p>
            <a:pPr algn="just">
              <a:buFont typeface="Arial" pitchFamily="34" charset="0"/>
              <a:buChar char="•"/>
            </a:pPr>
            <a:r>
              <a:rPr lang="en-US" sz="2400" b="1" dirty="0" smtClean="0"/>
              <a:t> Handling Missing Values</a:t>
            </a:r>
            <a:r>
              <a:rPr lang="en-US" sz="2400" dirty="0" smtClean="0"/>
              <a:t>: Missing values in datasets can be filled in or removed. For numerical columns, you may use imputation techniques such as replacing missing values with the mean, median, or mode. For categorical data, you may fill missing values with the mode or a placeholder like "Unknown".</a:t>
            </a:r>
          </a:p>
          <a:p>
            <a:pPr algn="just">
              <a:buFont typeface="Arial" pitchFamily="34" charset="0"/>
              <a:buChar char="•"/>
            </a:pPr>
            <a:r>
              <a:rPr lang="en-US" sz="2400" b="1" dirty="0" smtClean="0"/>
              <a:t> Removing Duplicates</a:t>
            </a:r>
            <a:r>
              <a:rPr lang="en-US" sz="2400" dirty="0" smtClean="0"/>
              <a:t>: Removing </a:t>
            </a:r>
            <a:r>
              <a:rPr lang="en-US" sz="2400" dirty="0" smtClean="0"/>
              <a:t>duplicates ensures that each record is unique</a:t>
            </a:r>
            <a:r>
              <a:rPr lang="en-US" sz="2400" dirty="0" smtClean="0"/>
              <a:t>. Using </a:t>
            </a:r>
            <a:r>
              <a:rPr lang="en-US" sz="2400" dirty="0" err="1" smtClean="0"/>
              <a:t>drop_duplicates</a:t>
            </a:r>
            <a:r>
              <a:rPr lang="en-US" sz="2400" dirty="0" smtClean="0"/>
              <a:t>().</a:t>
            </a:r>
            <a:endParaRPr lang="en-US" sz="2400" dirty="0" smtClean="0"/>
          </a:p>
          <a:p>
            <a:pPr algn="just">
              <a:buFont typeface="Arial" pitchFamily="34" charset="0"/>
              <a:buChar char="•"/>
            </a:pPr>
            <a:r>
              <a:rPr lang="en-US" sz="2400" b="1" dirty="0" smtClean="0"/>
              <a:t> Fixing Inconsistent Data</a:t>
            </a:r>
            <a:r>
              <a:rPr lang="en-US" sz="2400" dirty="0" smtClean="0"/>
              <a:t>: Inconsistent formatting or errors in data (like date formats or typographical errors in categorical variables) are corrected during the cleaning process.</a:t>
            </a:r>
          </a:p>
          <a:p>
            <a:pPr algn="just">
              <a:buFont typeface="Arial" pitchFamily="34" charset="0"/>
              <a:buChar char="•"/>
            </a:pPr>
            <a:r>
              <a:rPr lang="en-US" sz="2400" b="1" dirty="0" smtClean="0"/>
              <a:t> Outlier Detection</a:t>
            </a:r>
            <a:r>
              <a:rPr lang="en-US" sz="2400" dirty="0" smtClean="0"/>
              <a:t>: Outliers, or values that differ significantly from the rest of the data, are identified. These may be removed or adjusted, depending on the context.</a:t>
            </a:r>
          </a:p>
          <a:p>
            <a:pPr algn="just"/>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Cleaning</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238250"/>
            <a:ext cx="10058400" cy="5262979"/>
          </a:xfrm>
          <a:prstGeom prst="rect">
            <a:avLst/>
          </a:prstGeom>
        </p:spPr>
        <p:txBody>
          <a:bodyPr wrap="square">
            <a:spAutoFit/>
          </a:bodyPr>
          <a:lstStyle/>
          <a:p>
            <a:pPr algn="just"/>
            <a:r>
              <a:rPr lang="en-US" sz="2400" b="1" dirty="0" smtClean="0"/>
              <a:t>Example:</a:t>
            </a:r>
          </a:p>
          <a:p>
            <a:pPr algn="just"/>
            <a:endParaRPr lang="en-US" sz="2400" dirty="0" smtClean="0"/>
          </a:p>
          <a:p>
            <a:pPr algn="just"/>
            <a:r>
              <a:rPr lang="en-US" sz="2400" dirty="0" smtClean="0">
                <a:solidFill>
                  <a:schemeClr val="bg2">
                    <a:lumMod val="50000"/>
                  </a:schemeClr>
                </a:solidFill>
              </a:rPr>
              <a:t># Removing rows with missing values</a:t>
            </a:r>
          </a:p>
          <a:p>
            <a:pPr algn="just"/>
            <a:r>
              <a:rPr lang="en-US" sz="2400" dirty="0" err="1" smtClean="0"/>
              <a:t>df.dropna</a:t>
            </a:r>
            <a:r>
              <a:rPr lang="en-US" sz="2400" dirty="0" smtClean="0"/>
              <a:t>(</a:t>
            </a:r>
            <a:r>
              <a:rPr lang="en-US" sz="2400" dirty="0" err="1" smtClean="0"/>
              <a:t>inplace</a:t>
            </a:r>
            <a:r>
              <a:rPr lang="en-US" sz="2400" dirty="0" smtClean="0"/>
              <a:t>=True)</a:t>
            </a:r>
          </a:p>
          <a:p>
            <a:pPr algn="just"/>
            <a:endParaRPr lang="en-US" sz="2400" dirty="0" smtClean="0"/>
          </a:p>
          <a:p>
            <a:pPr algn="just"/>
            <a:r>
              <a:rPr lang="en-US" sz="2400" dirty="0" smtClean="0">
                <a:solidFill>
                  <a:schemeClr val="bg2">
                    <a:lumMod val="50000"/>
                  </a:schemeClr>
                </a:solidFill>
              </a:rPr>
              <a:t># Filling missing values with a specific value for a column</a:t>
            </a:r>
          </a:p>
          <a:p>
            <a:pPr algn="just"/>
            <a:r>
              <a:rPr lang="en-US" sz="2400" dirty="0" err="1" smtClean="0"/>
              <a:t>df</a:t>
            </a:r>
            <a:r>
              <a:rPr lang="en-US" sz="2400" dirty="0" smtClean="0"/>
              <a:t>['email'].</a:t>
            </a:r>
            <a:r>
              <a:rPr lang="en-US" sz="2400" dirty="0" err="1" smtClean="0"/>
              <a:t>fillna</a:t>
            </a:r>
            <a:r>
              <a:rPr lang="en-US" sz="2400" dirty="0" smtClean="0"/>
              <a:t>('unknown@example.com', </a:t>
            </a:r>
            <a:r>
              <a:rPr lang="en-US" sz="2400" dirty="0" err="1" smtClean="0"/>
              <a:t>inplace</a:t>
            </a:r>
            <a:r>
              <a:rPr lang="en-US" sz="2400" dirty="0" smtClean="0"/>
              <a:t>=True</a:t>
            </a:r>
            <a:r>
              <a:rPr lang="en-US" sz="2400" dirty="0" smtClean="0"/>
              <a:t>)</a:t>
            </a:r>
          </a:p>
          <a:p>
            <a:pPr algn="just"/>
            <a:r>
              <a:rPr lang="en-US" sz="2400" dirty="0" err="1" smtClean="0"/>
              <a:t>df</a:t>
            </a:r>
            <a:r>
              <a:rPr lang="en-US" sz="2400" dirty="0" smtClean="0"/>
              <a:t>['Age'].</a:t>
            </a:r>
            <a:r>
              <a:rPr lang="en-US" sz="2400" dirty="0" err="1" smtClean="0"/>
              <a:t>fillna</a:t>
            </a:r>
            <a:r>
              <a:rPr lang="en-US" sz="2400" dirty="0" smtClean="0"/>
              <a:t>(</a:t>
            </a:r>
            <a:r>
              <a:rPr lang="en-US" sz="2400" dirty="0" err="1" smtClean="0"/>
              <a:t>df</a:t>
            </a:r>
            <a:r>
              <a:rPr lang="en-US" sz="2400" dirty="0" smtClean="0"/>
              <a:t>['Age'].median(), </a:t>
            </a:r>
            <a:r>
              <a:rPr lang="en-US" sz="2400" dirty="0" err="1" smtClean="0"/>
              <a:t>inplace</a:t>
            </a:r>
            <a:r>
              <a:rPr lang="en-US" sz="2400" dirty="0" smtClean="0"/>
              <a:t>=True)</a:t>
            </a:r>
            <a:endParaRPr lang="en-US" sz="2400" dirty="0" smtClean="0"/>
          </a:p>
          <a:p>
            <a:pPr algn="just"/>
            <a:endParaRPr lang="en-US" sz="2400" dirty="0" smtClean="0"/>
          </a:p>
          <a:p>
            <a:pPr algn="just"/>
            <a:r>
              <a:rPr lang="en-US" sz="2400" dirty="0" smtClean="0">
                <a:solidFill>
                  <a:schemeClr val="bg2">
                    <a:lumMod val="50000"/>
                  </a:schemeClr>
                </a:solidFill>
              </a:rPr>
              <a:t># Removing duplicate records based on a column</a:t>
            </a:r>
          </a:p>
          <a:p>
            <a:pPr algn="just"/>
            <a:r>
              <a:rPr lang="en-US" sz="2400" dirty="0" err="1" smtClean="0"/>
              <a:t>df.drop_duplicates</a:t>
            </a:r>
            <a:r>
              <a:rPr lang="en-US" sz="2400" dirty="0" smtClean="0"/>
              <a:t>(subset='</a:t>
            </a:r>
            <a:r>
              <a:rPr lang="en-US" sz="2400" dirty="0" err="1" smtClean="0"/>
              <a:t>customer_id</a:t>
            </a:r>
            <a:r>
              <a:rPr lang="en-US" sz="2400" dirty="0" smtClean="0"/>
              <a:t>', keep='first', </a:t>
            </a:r>
            <a:r>
              <a:rPr lang="en-US" sz="2400" dirty="0" err="1" smtClean="0"/>
              <a:t>inplace</a:t>
            </a:r>
            <a:r>
              <a:rPr lang="en-US" sz="2400" dirty="0" smtClean="0"/>
              <a:t>=True</a:t>
            </a:r>
            <a:r>
              <a:rPr lang="en-US" sz="2400" dirty="0" smtClean="0"/>
              <a:t>)</a:t>
            </a:r>
          </a:p>
          <a:p>
            <a:pPr algn="just"/>
            <a:endParaRPr lang="en-US" sz="2400" dirty="0" smtClean="0"/>
          </a:p>
          <a:p>
            <a:pPr algn="just"/>
            <a:r>
              <a:rPr lang="en-US" sz="2400" dirty="0" smtClean="0">
                <a:solidFill>
                  <a:schemeClr val="bg2">
                    <a:lumMod val="50000"/>
                  </a:schemeClr>
                </a:solidFill>
              </a:rPr>
              <a:t># Standardize the Data Format</a:t>
            </a:r>
          </a:p>
          <a:p>
            <a:pPr algn="just"/>
            <a:r>
              <a:rPr lang="en-US" sz="2400" dirty="0" err="1" smtClean="0"/>
              <a:t>df</a:t>
            </a:r>
            <a:r>
              <a:rPr lang="en-US" sz="2400" dirty="0" smtClean="0"/>
              <a:t>['Date'] = </a:t>
            </a:r>
            <a:r>
              <a:rPr lang="en-US" sz="2400" dirty="0" err="1" smtClean="0"/>
              <a:t>pd.to_datetime</a:t>
            </a:r>
            <a:r>
              <a:rPr lang="en-US" sz="2400" dirty="0" smtClean="0"/>
              <a:t>(</a:t>
            </a:r>
            <a:r>
              <a:rPr lang="en-US" sz="2400" dirty="0" err="1" smtClean="0"/>
              <a:t>df</a:t>
            </a:r>
            <a:r>
              <a:rPr lang="en-US" sz="2400" dirty="0" smtClean="0"/>
              <a:t>['Date'], errors='coerce')</a:t>
            </a:r>
            <a:endParaRPr lang="en-US" sz="2400" dirty="0" smtClean="0">
              <a:solidFill>
                <a:schemeClr val="bg2">
                  <a:lumMod val="50000"/>
                </a:schemeClr>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Cleaning</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238250"/>
            <a:ext cx="10058400" cy="2308324"/>
          </a:xfrm>
          <a:prstGeom prst="rect">
            <a:avLst/>
          </a:prstGeom>
        </p:spPr>
        <p:txBody>
          <a:bodyPr wrap="square">
            <a:spAutoFit/>
          </a:bodyPr>
          <a:lstStyle/>
          <a:p>
            <a:pPr algn="just"/>
            <a:r>
              <a:rPr lang="en-US" sz="2400" b="1" dirty="0" smtClean="0"/>
              <a:t>Example</a:t>
            </a:r>
            <a:r>
              <a:rPr lang="en-US" sz="2400" b="1" dirty="0" smtClean="0"/>
              <a:t>:</a:t>
            </a:r>
          </a:p>
          <a:p>
            <a:pPr algn="just"/>
            <a:endParaRPr lang="en-US" sz="2400" b="1" dirty="0" smtClean="0"/>
          </a:p>
          <a:p>
            <a:r>
              <a:rPr lang="en-US" sz="2400" b="1" dirty="0" smtClean="0"/>
              <a:t>Coerce</a:t>
            </a:r>
            <a:r>
              <a:rPr lang="en-US" sz="2400" dirty="0" smtClean="0"/>
              <a:t> </a:t>
            </a:r>
            <a:r>
              <a:rPr lang="en-US" sz="2400" dirty="0" smtClean="0"/>
              <a:t>instructs pandas to replace invalid or unconvertible values with</a:t>
            </a:r>
            <a:r>
              <a:rPr lang="en-US" sz="2400" dirty="0" smtClean="0"/>
              <a:t>:</a:t>
            </a:r>
          </a:p>
          <a:p>
            <a:endParaRPr lang="en-US" sz="2400" dirty="0" smtClean="0"/>
          </a:p>
          <a:p>
            <a:pPr>
              <a:buFont typeface="Arial" pitchFamily="34" charset="0"/>
              <a:buChar char="•"/>
            </a:pPr>
            <a:r>
              <a:rPr lang="en-US" sz="2400" dirty="0" smtClean="0"/>
              <a:t> </a:t>
            </a:r>
            <a:r>
              <a:rPr lang="en-US" sz="2400" dirty="0" err="1" smtClean="0"/>
              <a:t>NaN</a:t>
            </a:r>
            <a:r>
              <a:rPr lang="en-US" sz="2400" dirty="0" smtClean="0"/>
              <a:t> </a:t>
            </a:r>
            <a:r>
              <a:rPr lang="en-US" sz="2400" dirty="0" smtClean="0"/>
              <a:t>(Not a Number) for numerical conversions.</a:t>
            </a:r>
          </a:p>
          <a:p>
            <a:pPr>
              <a:buFont typeface="Arial" pitchFamily="34" charset="0"/>
              <a:buChar char="•"/>
            </a:pPr>
            <a:r>
              <a:rPr lang="en-US" sz="2400" dirty="0" smtClean="0"/>
              <a:t> </a:t>
            </a:r>
            <a:r>
              <a:rPr lang="en-US" sz="2400" dirty="0" err="1" smtClean="0"/>
              <a:t>NaT</a:t>
            </a:r>
            <a:r>
              <a:rPr lang="en-US" sz="2400" dirty="0" smtClean="0"/>
              <a:t> </a:t>
            </a:r>
            <a:r>
              <a:rPr lang="en-US" sz="2400" dirty="0" smtClean="0"/>
              <a:t>(Not a Time) for </a:t>
            </a:r>
            <a:r>
              <a:rPr lang="en-US" sz="2400" dirty="0" err="1" smtClean="0"/>
              <a:t>datetime</a:t>
            </a:r>
            <a:r>
              <a:rPr lang="en-US" sz="2400" dirty="0" smtClean="0"/>
              <a:t> conversions.</a:t>
            </a:r>
            <a:endParaRPr 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Integration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238250"/>
            <a:ext cx="10058400" cy="6001643"/>
          </a:xfrm>
          <a:prstGeom prst="rect">
            <a:avLst/>
          </a:prstGeom>
        </p:spPr>
        <p:txBody>
          <a:bodyPr wrap="square">
            <a:spAutoFit/>
          </a:bodyPr>
          <a:lstStyle/>
          <a:p>
            <a:pPr algn="just"/>
            <a:r>
              <a:rPr lang="en-US" sz="2400" dirty="0" smtClean="0"/>
              <a:t>It</a:t>
            </a:r>
            <a:r>
              <a:rPr lang="en-US" sz="2400" b="1" dirty="0" smtClean="0"/>
              <a:t> </a:t>
            </a:r>
            <a:r>
              <a:rPr lang="en-US" sz="2400" dirty="0" smtClean="0"/>
              <a:t>involves combining data from multiple sources or systems into a unified dataset. This step is necessary when data comes from various locations, such as databases, APIs, or spreadsheets.</a:t>
            </a:r>
          </a:p>
          <a:p>
            <a:pPr algn="just"/>
            <a:endParaRPr lang="en-US" sz="2400" dirty="0" smtClean="0"/>
          </a:p>
          <a:p>
            <a:r>
              <a:rPr lang="en-US" sz="2400" b="1" dirty="0" smtClean="0"/>
              <a:t>Key Tasks in Data Integration:</a:t>
            </a:r>
          </a:p>
          <a:p>
            <a:endParaRPr lang="en-US" sz="2400" b="1" dirty="0" smtClean="0"/>
          </a:p>
          <a:p>
            <a:pPr>
              <a:buFont typeface="Arial" pitchFamily="34" charset="0"/>
              <a:buChar char="•"/>
            </a:pPr>
            <a:r>
              <a:rPr lang="en-US" sz="2400" b="1" dirty="0" smtClean="0"/>
              <a:t> Combining Datasets</a:t>
            </a:r>
            <a:r>
              <a:rPr lang="en-US" sz="2400" dirty="0" smtClean="0"/>
              <a:t>: Datasets from different sources may need to be merged based on common attributes or keys (e.g., merging customer data with purchase history).</a:t>
            </a:r>
          </a:p>
          <a:p>
            <a:pPr>
              <a:buFont typeface="Arial" pitchFamily="34" charset="0"/>
              <a:buChar char="•"/>
            </a:pPr>
            <a:r>
              <a:rPr lang="en-US" sz="2400" b="1" dirty="0" smtClean="0"/>
              <a:t> Joining Tables</a:t>
            </a:r>
            <a:r>
              <a:rPr lang="en-US" sz="2400" dirty="0" smtClean="0"/>
              <a:t>: If data is stored in separate tables (e.g., in relational databases), these tables can be joined using SQL operations (e.g., INNER JOIN, LEFT JOIN).</a:t>
            </a:r>
          </a:p>
          <a:p>
            <a:pPr>
              <a:buFont typeface="Arial" pitchFamily="34" charset="0"/>
              <a:buChar char="•"/>
            </a:pPr>
            <a:r>
              <a:rPr lang="en-US" sz="2400" b="1" dirty="0" smtClean="0"/>
              <a:t> Data Harmonization</a:t>
            </a:r>
            <a:r>
              <a:rPr lang="en-US" sz="2400" dirty="0" smtClean="0"/>
              <a:t>: When combining data, inconsistencies in data format or naming conventions must be resolved (e.g., using consistent column names</a:t>
            </a:r>
            <a:r>
              <a:rPr lang="en-US" sz="2400" dirty="0" smtClean="0"/>
              <a:t>).</a:t>
            </a:r>
          </a:p>
          <a:p>
            <a:pPr>
              <a:buFont typeface="Arial" pitchFamily="34" charset="0"/>
              <a:buChar char="•"/>
            </a:pPr>
            <a:r>
              <a:rPr lang="en-US" sz="2400" dirty="0" smtClean="0"/>
              <a:t> </a:t>
            </a:r>
            <a:r>
              <a:rPr lang="en-US" sz="2400" b="1" dirty="0" smtClean="0"/>
              <a:t>ETL </a:t>
            </a:r>
            <a:r>
              <a:rPr lang="en-US" sz="2400" dirty="0" smtClean="0"/>
              <a:t>: Extract, transform and Load</a:t>
            </a:r>
            <a:endParaRPr lang="en-US" sz="2400" dirty="0" smtClean="0"/>
          </a:p>
          <a:p>
            <a:pPr algn="just"/>
            <a:endParaRPr lang="en-US" sz="2400" dirty="0" smtClean="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Integration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238250"/>
            <a:ext cx="10058400" cy="3046988"/>
          </a:xfrm>
          <a:prstGeom prst="rect">
            <a:avLst/>
          </a:prstGeom>
        </p:spPr>
        <p:txBody>
          <a:bodyPr wrap="square">
            <a:spAutoFit/>
          </a:bodyPr>
          <a:lstStyle/>
          <a:p>
            <a:pPr algn="just"/>
            <a:r>
              <a:rPr lang="en-US" sz="2400" b="1" dirty="0" smtClean="0"/>
              <a:t>Example: </a:t>
            </a:r>
          </a:p>
          <a:p>
            <a:pPr algn="just"/>
            <a:endParaRPr lang="en-US" sz="2400" dirty="0" smtClean="0"/>
          </a:p>
          <a:p>
            <a:pPr algn="just"/>
            <a:r>
              <a:rPr lang="en-US" sz="2400" dirty="0" smtClean="0">
                <a:solidFill>
                  <a:schemeClr val="bg2">
                    <a:lumMod val="50000"/>
                  </a:schemeClr>
                </a:solidFill>
              </a:rPr>
              <a:t># Merging two datasets on a common column</a:t>
            </a:r>
          </a:p>
          <a:p>
            <a:pPr algn="just"/>
            <a:r>
              <a:rPr lang="en-US" sz="2400" dirty="0" smtClean="0"/>
              <a:t>df1 = </a:t>
            </a:r>
            <a:r>
              <a:rPr lang="en-US" sz="2400" dirty="0" err="1" smtClean="0"/>
              <a:t>pd.DataFrame</a:t>
            </a:r>
            <a:r>
              <a:rPr lang="en-US" sz="2400" dirty="0" smtClean="0"/>
              <a:t>({'</a:t>
            </a:r>
            <a:r>
              <a:rPr lang="en-US" sz="2400" dirty="0" err="1" smtClean="0"/>
              <a:t>customer_id</a:t>
            </a:r>
            <a:r>
              <a:rPr lang="en-US" sz="2400" dirty="0" smtClean="0"/>
              <a:t>': [1, 2], 'name': ['Alice', 'Bob']})</a:t>
            </a:r>
          </a:p>
          <a:p>
            <a:pPr algn="just"/>
            <a:r>
              <a:rPr lang="en-US" sz="2400" dirty="0" smtClean="0"/>
              <a:t>df2 = </a:t>
            </a:r>
            <a:r>
              <a:rPr lang="en-US" sz="2400" dirty="0" err="1" smtClean="0"/>
              <a:t>pd.DataFrame</a:t>
            </a:r>
            <a:r>
              <a:rPr lang="en-US" sz="2400" dirty="0" smtClean="0"/>
              <a:t>({'</a:t>
            </a:r>
            <a:r>
              <a:rPr lang="en-US" sz="2400" dirty="0" err="1" smtClean="0"/>
              <a:t>customer_id</a:t>
            </a:r>
            <a:r>
              <a:rPr lang="en-US" sz="2400" dirty="0" smtClean="0"/>
              <a:t>': [1, 2], '</a:t>
            </a:r>
            <a:r>
              <a:rPr lang="en-US" sz="2400" dirty="0" err="1" smtClean="0"/>
              <a:t>purchase_history</a:t>
            </a:r>
            <a:r>
              <a:rPr lang="en-US" sz="2400" dirty="0" smtClean="0"/>
              <a:t>': [200, 450]})</a:t>
            </a:r>
          </a:p>
          <a:p>
            <a:pPr algn="just"/>
            <a:endParaRPr lang="en-US" sz="2400" dirty="0" smtClean="0"/>
          </a:p>
          <a:p>
            <a:pPr algn="just"/>
            <a:r>
              <a:rPr lang="en-US" sz="2400" dirty="0" smtClean="0">
                <a:solidFill>
                  <a:schemeClr val="bg2">
                    <a:lumMod val="50000"/>
                  </a:schemeClr>
                </a:solidFill>
              </a:rPr>
              <a:t># Merge both </a:t>
            </a:r>
            <a:r>
              <a:rPr lang="en-US" sz="2400" dirty="0" err="1" smtClean="0">
                <a:solidFill>
                  <a:schemeClr val="bg2">
                    <a:lumMod val="50000"/>
                  </a:schemeClr>
                </a:solidFill>
              </a:rPr>
              <a:t>dataframes</a:t>
            </a:r>
            <a:r>
              <a:rPr lang="en-US" sz="2400" dirty="0" smtClean="0">
                <a:solidFill>
                  <a:schemeClr val="bg2">
                    <a:lumMod val="50000"/>
                  </a:schemeClr>
                </a:solidFill>
              </a:rPr>
              <a:t> on '</a:t>
            </a:r>
            <a:r>
              <a:rPr lang="en-US" sz="2400" dirty="0" err="1" smtClean="0">
                <a:solidFill>
                  <a:schemeClr val="bg2">
                    <a:lumMod val="50000"/>
                  </a:schemeClr>
                </a:solidFill>
              </a:rPr>
              <a:t>customer_id</a:t>
            </a:r>
            <a:r>
              <a:rPr lang="en-US" sz="2400" dirty="0" smtClean="0">
                <a:solidFill>
                  <a:schemeClr val="bg2">
                    <a:lumMod val="50000"/>
                  </a:schemeClr>
                </a:solidFill>
              </a:rPr>
              <a:t>'</a:t>
            </a:r>
          </a:p>
          <a:p>
            <a:pPr algn="just"/>
            <a:r>
              <a:rPr lang="en-US" sz="2400" dirty="0" err="1" smtClean="0"/>
              <a:t>merged_df</a:t>
            </a:r>
            <a:r>
              <a:rPr lang="en-US" sz="2400" dirty="0" smtClean="0"/>
              <a:t> = </a:t>
            </a:r>
            <a:r>
              <a:rPr lang="en-US" sz="2400" dirty="0" err="1" smtClean="0"/>
              <a:t>pd.merge</a:t>
            </a:r>
            <a:r>
              <a:rPr lang="en-US" sz="2400" dirty="0" smtClean="0"/>
              <a:t>(df1, df2, on='</a:t>
            </a:r>
            <a:r>
              <a:rPr lang="en-US" sz="2400" dirty="0" err="1" smtClean="0"/>
              <a:t>customer_id</a:t>
            </a:r>
            <a:r>
              <a:rPr lang="en-US" sz="2400" dirty="0" smtClean="0"/>
              <a:t>', how='inner')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g2b0234faaaa_0_140"/>
          <p:cNvSpPr txBox="1">
            <a:spLocks noGrp="1"/>
          </p:cNvSpPr>
          <p:nvPr>
            <p:ph type="title"/>
          </p:nvPr>
        </p:nvSpPr>
        <p:spPr>
          <a:xfrm>
            <a:off x="514900" y="737264"/>
            <a:ext cx="9771448" cy="1064385"/>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endParaRPr/>
          </a:p>
        </p:txBody>
      </p:sp>
      <p:sp>
        <p:nvSpPr>
          <p:cNvPr id="359" name="Google Shape;359;g2b0234faaaa_0_140"/>
          <p:cNvSpPr txBox="1">
            <a:spLocks noGrp="1"/>
          </p:cNvSpPr>
          <p:nvPr>
            <p:ph type="body" idx="1"/>
          </p:nvPr>
        </p:nvSpPr>
        <p:spPr>
          <a:xfrm>
            <a:off x="514900" y="2289521"/>
            <a:ext cx="9771448" cy="3862215"/>
          </a:xfrm>
          <a:prstGeom prst="rect">
            <a:avLst/>
          </a:prstGeom>
        </p:spPr>
        <p:txBody>
          <a:bodyPr spcFirstLastPara="1" wrap="square" lIns="91425" tIns="45700" rIns="91425" bIns="45700" anchor="ctr" anchorCtr="0">
            <a:normAutofit/>
          </a:bodyPr>
          <a:lstStyle/>
          <a:p>
            <a:pPr marL="0" lvl="0" indent="0" algn="l" rtl="0">
              <a:spcBef>
                <a:spcPts val="360"/>
              </a:spcBef>
              <a:spcAft>
                <a:spcPts val="600"/>
              </a:spcAft>
              <a:buNone/>
            </a:pPr>
            <a:endParaRPr/>
          </a:p>
        </p:txBody>
      </p:sp>
      <p:pic>
        <p:nvPicPr>
          <p:cNvPr id="360" name="Google Shape;360;g2b0234faaaa_0_140"/>
          <p:cNvPicPr preferRelativeResize="0"/>
          <p:nvPr/>
        </p:nvPicPr>
        <p:blipFill>
          <a:blip r:embed="rId3">
            <a:alphaModFix/>
          </a:blip>
          <a:stretch>
            <a:fillRect/>
          </a:stretch>
        </p:blipFill>
        <p:spPr>
          <a:xfrm>
            <a:off x="327819" y="1"/>
            <a:ext cx="10129919" cy="720090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Reduction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238250"/>
            <a:ext cx="10058400" cy="5632311"/>
          </a:xfrm>
          <a:prstGeom prst="rect">
            <a:avLst/>
          </a:prstGeom>
        </p:spPr>
        <p:txBody>
          <a:bodyPr wrap="square">
            <a:spAutoFit/>
          </a:bodyPr>
          <a:lstStyle/>
          <a:p>
            <a:r>
              <a:rPr lang="en-US" sz="2400" dirty="0" smtClean="0"/>
              <a:t>Data reduction involves reducing the size of the dataset, either by selecting relevant features, aggregating data, or reducing the precision of the data. This is particularly useful when working with large datasets or when only a subset of the data is needed for analysis.</a:t>
            </a:r>
          </a:p>
          <a:p>
            <a:endParaRPr lang="en-US" sz="2400" dirty="0" smtClean="0"/>
          </a:p>
          <a:p>
            <a:r>
              <a:rPr lang="en-US" sz="2400" b="1" dirty="0" smtClean="0"/>
              <a:t>Key Techniques in Data Reduction:</a:t>
            </a:r>
          </a:p>
          <a:p>
            <a:endParaRPr lang="en-US" sz="2400" b="1" dirty="0" smtClean="0"/>
          </a:p>
          <a:p>
            <a:pPr>
              <a:buFont typeface="Arial" pitchFamily="34" charset="0"/>
              <a:buChar char="•"/>
            </a:pPr>
            <a:r>
              <a:rPr lang="en-US" sz="2400" b="1" dirty="0" smtClean="0"/>
              <a:t> Dimensionality Reduction</a:t>
            </a:r>
            <a:r>
              <a:rPr lang="en-US" sz="2400" dirty="0" smtClean="0"/>
              <a:t>: Reducing the number of features or columns while retaining most of the dataset's information. Techniques like </a:t>
            </a:r>
            <a:r>
              <a:rPr lang="en-US" sz="2400" b="1" dirty="0" smtClean="0"/>
              <a:t>Principal   Component Analysis (PCA)</a:t>
            </a:r>
            <a:r>
              <a:rPr lang="en-US" sz="2400" dirty="0" smtClean="0"/>
              <a:t> or </a:t>
            </a:r>
            <a:r>
              <a:rPr lang="en-US" sz="2400" b="1" dirty="0" smtClean="0"/>
              <a:t>t-SNE</a:t>
            </a:r>
            <a:r>
              <a:rPr lang="en-US" sz="2400" dirty="0" smtClean="0"/>
              <a:t> are commonly used.</a:t>
            </a:r>
          </a:p>
          <a:p>
            <a:pPr>
              <a:buFont typeface="Arial" pitchFamily="34" charset="0"/>
              <a:buChar char="•"/>
            </a:pPr>
            <a:r>
              <a:rPr lang="en-US" sz="2400" b="1" dirty="0" smtClean="0"/>
              <a:t> Data Aggregation</a:t>
            </a:r>
            <a:r>
              <a:rPr lang="en-US" sz="2400" dirty="0" smtClean="0"/>
              <a:t>: Grouping data into summary statistics (e.g., summing, averaging) to create a more compact representation of the data.</a:t>
            </a:r>
          </a:p>
          <a:p>
            <a:pPr>
              <a:buFont typeface="Arial" pitchFamily="34" charset="0"/>
              <a:buChar char="•"/>
            </a:pPr>
            <a:r>
              <a:rPr lang="en-US" sz="2400" b="1" dirty="0" smtClean="0"/>
              <a:t> Feature Selection</a:t>
            </a:r>
            <a:r>
              <a:rPr lang="en-US" sz="2400" dirty="0" smtClean="0"/>
              <a:t>: Selecting only the most relevant features for analysis or modeling. Irrelevant or redundant features are discarded</a:t>
            </a:r>
            <a:r>
              <a:rPr lang="en-US" sz="2400" dirty="0" smtClean="0"/>
              <a:t>.</a:t>
            </a:r>
          </a:p>
          <a:p>
            <a:pPr>
              <a:buFont typeface="Arial" pitchFamily="34" charset="0"/>
              <a:buChar char="•"/>
            </a:pPr>
            <a:r>
              <a:rPr lang="en-US" sz="2400" b="1" dirty="0" smtClean="0"/>
              <a:t>Data Compression</a:t>
            </a:r>
            <a:r>
              <a:rPr lang="en-US" sz="2400" dirty="0" smtClean="0"/>
              <a:t>: Lossless or </a:t>
            </a:r>
            <a:r>
              <a:rPr lang="en-US" sz="2400" dirty="0" err="1" smtClean="0"/>
              <a:t>Lossy</a:t>
            </a:r>
            <a:endParaRPr lang="en-US" sz="2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Reduction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238250"/>
            <a:ext cx="10058400" cy="5262979"/>
          </a:xfrm>
          <a:prstGeom prst="rect">
            <a:avLst/>
          </a:prstGeom>
        </p:spPr>
        <p:txBody>
          <a:bodyPr wrap="square">
            <a:spAutoFit/>
          </a:bodyPr>
          <a:lstStyle/>
          <a:p>
            <a:pPr>
              <a:buFont typeface="Arial" pitchFamily="34" charset="0"/>
              <a:buChar char="•"/>
            </a:pPr>
            <a:r>
              <a:rPr lang="en-US" sz="2400" b="1" dirty="0" smtClean="0"/>
              <a:t> How PCA Works?</a:t>
            </a:r>
          </a:p>
          <a:p>
            <a:endParaRPr lang="en-US" sz="2400" b="1" dirty="0" smtClean="0"/>
          </a:p>
          <a:p>
            <a:r>
              <a:rPr lang="en-US" b="1" dirty="0" smtClean="0"/>
              <a:t>1. Standardize </a:t>
            </a:r>
            <a:r>
              <a:rPr lang="en-US" b="1" dirty="0" smtClean="0"/>
              <a:t>the Data</a:t>
            </a:r>
            <a:r>
              <a:rPr lang="en-US" dirty="0" smtClean="0"/>
              <a:t>: </a:t>
            </a:r>
            <a:r>
              <a:rPr lang="en-US" dirty="0" smtClean="0"/>
              <a:t>Features </a:t>
            </a:r>
            <a:r>
              <a:rPr lang="en-US" dirty="0" smtClean="0"/>
              <a:t>are standardized (mean = 0, variance = 1) to ensure all dimensions are treated equally.</a:t>
            </a:r>
          </a:p>
          <a:p>
            <a:r>
              <a:rPr lang="en-US" b="1" dirty="0" smtClean="0"/>
              <a:t>2. Compute </a:t>
            </a:r>
            <a:r>
              <a:rPr lang="en-US" b="1" dirty="0" smtClean="0"/>
              <a:t>Covariance Matrix</a:t>
            </a:r>
            <a:r>
              <a:rPr lang="en-US" dirty="0" smtClean="0"/>
              <a:t>: PCA analyzes the relationships between features by calculating the covariance matrix, which shows how features are correlated.</a:t>
            </a:r>
          </a:p>
          <a:p>
            <a:r>
              <a:rPr lang="en-US" b="1" dirty="0" smtClean="0"/>
              <a:t>3. Find </a:t>
            </a:r>
            <a:r>
              <a:rPr lang="en-US" b="1" dirty="0" smtClean="0"/>
              <a:t>Principal Components</a:t>
            </a:r>
            <a:r>
              <a:rPr lang="en-US" dirty="0" smtClean="0"/>
              <a:t>:</a:t>
            </a:r>
          </a:p>
          <a:p>
            <a:pPr lvl="1">
              <a:buFont typeface="Arial" pitchFamily="34" charset="0"/>
              <a:buChar char="•"/>
            </a:pPr>
            <a:r>
              <a:rPr lang="en-US" b="1" dirty="0" smtClean="0"/>
              <a:t> Principal </a:t>
            </a:r>
            <a:r>
              <a:rPr lang="en-US" b="1" dirty="0" smtClean="0"/>
              <a:t>Components</a:t>
            </a:r>
            <a:r>
              <a:rPr lang="en-US" dirty="0" smtClean="0"/>
              <a:t> are new axes (directions) that maximize the </a:t>
            </a:r>
            <a:r>
              <a:rPr lang="en-US" dirty="0" smtClean="0"/>
              <a:t>variance/information </a:t>
            </a:r>
            <a:r>
              <a:rPr lang="en-US" dirty="0" smtClean="0"/>
              <a:t>in the data.</a:t>
            </a:r>
          </a:p>
          <a:p>
            <a:pPr lvl="1">
              <a:buFont typeface="Arial" pitchFamily="34" charset="0"/>
              <a:buChar char="•"/>
            </a:pPr>
            <a:r>
              <a:rPr lang="en-US" dirty="0" smtClean="0"/>
              <a:t> These </a:t>
            </a:r>
            <a:r>
              <a:rPr lang="en-US" dirty="0" smtClean="0"/>
              <a:t>are computed as </a:t>
            </a:r>
            <a:r>
              <a:rPr lang="en-US" b="1" dirty="0" smtClean="0"/>
              <a:t>eigenvectors</a:t>
            </a:r>
            <a:r>
              <a:rPr lang="en-US" dirty="0" smtClean="0"/>
              <a:t> of the covariance matrix, sorted by their corresponding </a:t>
            </a:r>
            <a:r>
              <a:rPr lang="en-US" b="1" dirty="0" err="1" smtClean="0"/>
              <a:t>eigenvalues</a:t>
            </a:r>
            <a:r>
              <a:rPr lang="en-US" dirty="0" smtClean="0"/>
              <a:t> (which represent the amount of variance explained).</a:t>
            </a:r>
          </a:p>
          <a:p>
            <a:r>
              <a:rPr lang="en-US" b="1" dirty="0" smtClean="0"/>
              <a:t>4. Project </a:t>
            </a:r>
            <a:r>
              <a:rPr lang="en-US" b="1" dirty="0" smtClean="0"/>
              <a:t>Data onto New Axes</a:t>
            </a:r>
            <a:r>
              <a:rPr lang="en-US" dirty="0" smtClean="0"/>
              <a:t>: The data is transformed into the space defined by the top principal components. This results in a lower-dimensional representation of the data</a:t>
            </a:r>
            <a:r>
              <a:rPr lang="en-US" dirty="0" smtClean="0"/>
              <a:t>.</a:t>
            </a:r>
          </a:p>
          <a:p>
            <a:pPr>
              <a:buFont typeface="Arial" pitchFamily="34" charset="0"/>
              <a:buChar char="•"/>
            </a:pPr>
            <a:endParaRPr lang="en-US" sz="2400" b="1"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Reduction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238250"/>
            <a:ext cx="10058400" cy="5262979"/>
          </a:xfrm>
          <a:prstGeom prst="rect">
            <a:avLst/>
          </a:prstGeom>
        </p:spPr>
        <p:txBody>
          <a:bodyPr wrap="square">
            <a:spAutoFit/>
          </a:bodyPr>
          <a:lstStyle/>
          <a:p>
            <a:r>
              <a:rPr lang="en-US" sz="2400" b="1" dirty="0" smtClean="0"/>
              <a:t>import </a:t>
            </a:r>
            <a:r>
              <a:rPr lang="en-US" sz="2400" b="1" dirty="0" err="1" smtClean="0"/>
              <a:t>numpy</a:t>
            </a:r>
            <a:r>
              <a:rPr lang="en-US" sz="2400" b="1" dirty="0" smtClean="0"/>
              <a:t> as </a:t>
            </a:r>
            <a:r>
              <a:rPr lang="en-US" sz="2400" b="1" dirty="0" err="1" smtClean="0"/>
              <a:t>np</a:t>
            </a:r>
            <a:endParaRPr lang="en-US" sz="2400" b="1" dirty="0" smtClean="0"/>
          </a:p>
          <a:p>
            <a:r>
              <a:rPr lang="en-US" sz="2400" b="1" dirty="0" smtClean="0"/>
              <a:t>import pandas as pd</a:t>
            </a:r>
          </a:p>
          <a:p>
            <a:r>
              <a:rPr lang="en-US" sz="2400" b="1" dirty="0" smtClean="0"/>
              <a:t>from </a:t>
            </a:r>
            <a:r>
              <a:rPr lang="en-US" sz="2400" b="1" dirty="0" err="1" smtClean="0"/>
              <a:t>sklearn.decomposition</a:t>
            </a:r>
            <a:r>
              <a:rPr lang="en-US" sz="2400" b="1" dirty="0" smtClean="0"/>
              <a:t> import PCA</a:t>
            </a:r>
          </a:p>
          <a:p>
            <a:r>
              <a:rPr lang="en-US" sz="2400" b="1" dirty="0" smtClean="0"/>
              <a:t>from </a:t>
            </a:r>
            <a:r>
              <a:rPr lang="en-US" sz="2400" b="1" dirty="0" err="1" smtClean="0"/>
              <a:t>sklearn.preprocessing</a:t>
            </a:r>
            <a:r>
              <a:rPr lang="en-US" sz="2400" b="1" dirty="0" smtClean="0"/>
              <a:t> import </a:t>
            </a:r>
            <a:r>
              <a:rPr lang="en-US" sz="2400" b="1" dirty="0" err="1" smtClean="0"/>
              <a:t>StandardScaler</a:t>
            </a:r>
            <a:endParaRPr lang="en-US" sz="2400" b="1" dirty="0" smtClean="0"/>
          </a:p>
          <a:p>
            <a:pPr>
              <a:buFont typeface="Arial" pitchFamily="34" charset="0"/>
              <a:buChar char="•"/>
            </a:pPr>
            <a:endParaRPr lang="en-US" sz="2400" b="1" dirty="0" smtClean="0"/>
          </a:p>
          <a:p>
            <a:r>
              <a:rPr lang="en-US" sz="2400" b="1" dirty="0" smtClean="0">
                <a:solidFill>
                  <a:schemeClr val="bg2">
                    <a:lumMod val="25000"/>
                  </a:schemeClr>
                </a:solidFill>
              </a:rPr>
              <a:t># Example dataset (10 samples, 5 features)</a:t>
            </a:r>
          </a:p>
          <a:p>
            <a:r>
              <a:rPr lang="en-US" sz="2400" b="1" dirty="0" smtClean="0"/>
              <a:t>data = {</a:t>
            </a:r>
          </a:p>
          <a:p>
            <a:r>
              <a:rPr lang="en-US" sz="2400" b="1" dirty="0" smtClean="0"/>
              <a:t> </a:t>
            </a:r>
            <a:r>
              <a:rPr lang="en-US" sz="2400" b="1" dirty="0" smtClean="0"/>
              <a:t>'Feature1': [1, 2, 3, 4, 5, 6, 7, 8, 9, 10],</a:t>
            </a:r>
          </a:p>
          <a:p>
            <a:r>
              <a:rPr lang="en-US" sz="2400" b="1" dirty="0" smtClean="0"/>
              <a:t> 'Feature2</a:t>
            </a:r>
            <a:r>
              <a:rPr lang="en-US" sz="2400" b="1" dirty="0" smtClean="0"/>
              <a:t>': [10, 9, 8, 7, 6, 5, 4, 3, 2, 1],</a:t>
            </a:r>
          </a:p>
          <a:p>
            <a:r>
              <a:rPr lang="en-US" sz="2400" b="1" dirty="0" smtClean="0"/>
              <a:t>    'Feature3': [2, 3, 4, 5, 6, 7, 8, 9, 10, 11],</a:t>
            </a:r>
          </a:p>
          <a:p>
            <a:r>
              <a:rPr lang="en-US" sz="2400" b="1" dirty="0" smtClean="0"/>
              <a:t>   </a:t>
            </a:r>
            <a:r>
              <a:rPr lang="en-US" sz="2400" b="1" dirty="0" smtClean="0"/>
              <a:t>'Feature4': [1, 1, 2, 2, 3, 3, 4, 4, 5, 5],</a:t>
            </a:r>
          </a:p>
          <a:p>
            <a:r>
              <a:rPr lang="en-US" sz="2400" b="1" dirty="0" smtClean="0"/>
              <a:t>   </a:t>
            </a:r>
            <a:r>
              <a:rPr lang="en-US" sz="2400" b="1" dirty="0" smtClean="0"/>
              <a:t>'Feature5': [5, 6, 7, 8, 9, 10, 11, 12, 13, 14]</a:t>
            </a:r>
          </a:p>
          <a:p>
            <a:r>
              <a:rPr lang="en-US" sz="2400" b="1" dirty="0" smtClean="0"/>
              <a:t>}</a:t>
            </a:r>
          </a:p>
          <a:p>
            <a:pPr>
              <a:buFont typeface="Arial" pitchFamily="34" charset="0"/>
              <a:buChar char="•"/>
            </a:pPr>
            <a:endParaRPr lang="en-US" sz="2400" b="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Reduction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238250"/>
            <a:ext cx="10058400" cy="6370975"/>
          </a:xfrm>
          <a:prstGeom prst="rect">
            <a:avLst/>
          </a:prstGeom>
        </p:spPr>
        <p:txBody>
          <a:bodyPr wrap="square">
            <a:spAutoFit/>
          </a:bodyPr>
          <a:lstStyle/>
          <a:p>
            <a:r>
              <a:rPr lang="en-US" sz="2400" b="1" dirty="0" smtClean="0">
                <a:solidFill>
                  <a:schemeClr val="bg2">
                    <a:lumMod val="25000"/>
                  </a:schemeClr>
                </a:solidFill>
              </a:rPr>
              <a:t># </a:t>
            </a:r>
            <a:r>
              <a:rPr lang="en-US" sz="2400" b="1" dirty="0" smtClean="0">
                <a:solidFill>
                  <a:schemeClr val="bg2">
                    <a:lumMod val="25000"/>
                  </a:schemeClr>
                </a:solidFill>
              </a:rPr>
              <a:t>Create a </a:t>
            </a:r>
            <a:r>
              <a:rPr lang="en-US" sz="2400" b="1" dirty="0" err="1" smtClean="0">
                <a:solidFill>
                  <a:schemeClr val="bg2">
                    <a:lumMod val="25000"/>
                  </a:schemeClr>
                </a:solidFill>
              </a:rPr>
              <a:t>DataFrame</a:t>
            </a:r>
            <a:endParaRPr lang="en-US" sz="2400" b="1" dirty="0" smtClean="0">
              <a:solidFill>
                <a:schemeClr val="bg2">
                  <a:lumMod val="25000"/>
                </a:schemeClr>
              </a:solidFill>
            </a:endParaRPr>
          </a:p>
          <a:p>
            <a:r>
              <a:rPr lang="en-US" sz="2400" b="1" dirty="0" err="1" smtClean="0"/>
              <a:t>df</a:t>
            </a:r>
            <a:r>
              <a:rPr lang="en-US" sz="2400" b="1" dirty="0" smtClean="0"/>
              <a:t> = </a:t>
            </a:r>
            <a:r>
              <a:rPr lang="en-US" sz="2400" b="1" dirty="0" err="1" smtClean="0"/>
              <a:t>pd.DataFrame</a:t>
            </a:r>
            <a:r>
              <a:rPr lang="en-US" sz="2400" b="1" dirty="0" smtClean="0"/>
              <a:t>(data)</a:t>
            </a:r>
          </a:p>
          <a:p>
            <a:pPr>
              <a:buFont typeface="Arial" pitchFamily="34" charset="0"/>
              <a:buChar char="•"/>
            </a:pPr>
            <a:endParaRPr lang="en-US" sz="2400" b="1" dirty="0" smtClean="0"/>
          </a:p>
          <a:p>
            <a:r>
              <a:rPr lang="en-US" sz="2400" b="1" dirty="0" smtClean="0">
                <a:solidFill>
                  <a:schemeClr val="bg2">
                    <a:lumMod val="25000"/>
                  </a:schemeClr>
                </a:solidFill>
              </a:rPr>
              <a:t># Standardizing the data (PCA is sensitive to the scale of the data)</a:t>
            </a:r>
          </a:p>
          <a:p>
            <a:r>
              <a:rPr lang="en-US" sz="2400" b="1" dirty="0" err="1" smtClean="0"/>
              <a:t>scaler</a:t>
            </a:r>
            <a:r>
              <a:rPr lang="en-US" sz="2400" b="1" dirty="0" smtClean="0"/>
              <a:t> = </a:t>
            </a:r>
            <a:r>
              <a:rPr lang="en-US" sz="2400" b="1" dirty="0" err="1" smtClean="0"/>
              <a:t>StandardScaler</a:t>
            </a:r>
            <a:r>
              <a:rPr lang="en-US" sz="2400" b="1" dirty="0" smtClean="0"/>
              <a:t>()</a:t>
            </a:r>
          </a:p>
          <a:p>
            <a:r>
              <a:rPr lang="en-US" sz="2400" b="1" dirty="0" err="1" smtClean="0"/>
              <a:t>scaled_data</a:t>
            </a:r>
            <a:r>
              <a:rPr lang="en-US" sz="2400" b="1" dirty="0" smtClean="0"/>
              <a:t> = </a:t>
            </a:r>
            <a:r>
              <a:rPr lang="en-US" sz="2400" b="1" dirty="0" err="1" smtClean="0"/>
              <a:t>scaler.fit_transform</a:t>
            </a:r>
            <a:r>
              <a:rPr lang="en-US" sz="2400" b="1" dirty="0" smtClean="0"/>
              <a:t>(</a:t>
            </a:r>
            <a:r>
              <a:rPr lang="en-US" sz="2400" b="1" dirty="0" err="1" smtClean="0"/>
              <a:t>df</a:t>
            </a:r>
            <a:r>
              <a:rPr lang="en-US" sz="2400" b="1" dirty="0" smtClean="0"/>
              <a:t>)</a:t>
            </a:r>
          </a:p>
          <a:p>
            <a:pPr>
              <a:buFont typeface="Arial" pitchFamily="34" charset="0"/>
              <a:buChar char="•"/>
            </a:pPr>
            <a:endParaRPr lang="en-US" sz="2400" b="1" dirty="0" smtClean="0"/>
          </a:p>
          <a:p>
            <a:r>
              <a:rPr lang="en-US" sz="2400" b="1" dirty="0" smtClean="0">
                <a:solidFill>
                  <a:schemeClr val="bg2">
                    <a:lumMod val="25000"/>
                  </a:schemeClr>
                </a:solidFill>
              </a:rPr>
              <a:t># Apply PCA for dimensionality reduction (reduce to 2 principal components)</a:t>
            </a:r>
            <a:endParaRPr lang="en-US" sz="2400" b="1" dirty="0" smtClean="0">
              <a:solidFill>
                <a:schemeClr val="bg2">
                  <a:lumMod val="25000"/>
                </a:schemeClr>
              </a:solidFill>
            </a:endParaRPr>
          </a:p>
          <a:p>
            <a:r>
              <a:rPr lang="en-US" sz="2400" b="1" dirty="0" err="1" smtClean="0"/>
              <a:t>pca</a:t>
            </a:r>
            <a:r>
              <a:rPr lang="en-US" sz="2400" b="1" dirty="0" smtClean="0"/>
              <a:t> </a:t>
            </a:r>
            <a:r>
              <a:rPr lang="en-US" sz="2400" b="1" dirty="0" smtClean="0"/>
              <a:t>= PCA(</a:t>
            </a:r>
            <a:r>
              <a:rPr lang="en-US" sz="2400" b="1" dirty="0" err="1" smtClean="0"/>
              <a:t>n_components</a:t>
            </a:r>
            <a:r>
              <a:rPr lang="en-US" sz="2400" b="1" dirty="0" smtClean="0"/>
              <a:t>=2)</a:t>
            </a:r>
          </a:p>
          <a:p>
            <a:r>
              <a:rPr lang="en-US" sz="2400" b="1" dirty="0" err="1" smtClean="0"/>
              <a:t>reduced_data</a:t>
            </a:r>
            <a:r>
              <a:rPr lang="en-US" sz="2400" b="1" dirty="0" smtClean="0"/>
              <a:t> = </a:t>
            </a:r>
            <a:r>
              <a:rPr lang="en-US" sz="2400" b="1" dirty="0" err="1" smtClean="0"/>
              <a:t>pca.fit_transform</a:t>
            </a:r>
            <a:r>
              <a:rPr lang="en-US" sz="2400" b="1" dirty="0" smtClean="0"/>
              <a:t>(</a:t>
            </a:r>
            <a:r>
              <a:rPr lang="en-US" sz="2400" b="1" dirty="0" err="1" smtClean="0"/>
              <a:t>scaled_data</a:t>
            </a:r>
            <a:r>
              <a:rPr lang="en-US" sz="2400" b="1" dirty="0" smtClean="0"/>
              <a:t>)</a:t>
            </a:r>
          </a:p>
          <a:p>
            <a:endParaRPr lang="en-US" sz="2400" b="1" dirty="0" smtClean="0"/>
          </a:p>
          <a:p>
            <a:r>
              <a:rPr lang="en-US" sz="2400" b="1" dirty="0" smtClean="0">
                <a:solidFill>
                  <a:schemeClr val="bg2">
                    <a:lumMod val="25000"/>
                  </a:schemeClr>
                </a:solidFill>
              </a:rPr>
              <a:t># Convert the reduced data to a </a:t>
            </a:r>
            <a:r>
              <a:rPr lang="en-US" sz="2400" b="1" dirty="0" err="1" smtClean="0">
                <a:solidFill>
                  <a:schemeClr val="bg2">
                    <a:lumMod val="25000"/>
                  </a:schemeClr>
                </a:solidFill>
              </a:rPr>
              <a:t>DataFrame</a:t>
            </a:r>
            <a:r>
              <a:rPr lang="en-US" sz="2400" b="1" dirty="0" smtClean="0">
                <a:solidFill>
                  <a:schemeClr val="bg2">
                    <a:lumMod val="25000"/>
                  </a:schemeClr>
                </a:solidFill>
              </a:rPr>
              <a:t> for easier viewing</a:t>
            </a:r>
          </a:p>
          <a:p>
            <a:r>
              <a:rPr lang="en-US" sz="2400" b="1" dirty="0" err="1" smtClean="0"/>
              <a:t>reduced_df</a:t>
            </a:r>
            <a:r>
              <a:rPr lang="en-US" sz="2400" b="1" dirty="0" smtClean="0"/>
              <a:t> = </a:t>
            </a:r>
            <a:r>
              <a:rPr lang="en-US" sz="2400" b="1" dirty="0" err="1" smtClean="0"/>
              <a:t>pd.DataFrame</a:t>
            </a:r>
            <a:r>
              <a:rPr lang="en-US" sz="2400" b="1" dirty="0" smtClean="0"/>
              <a:t>(</a:t>
            </a:r>
            <a:r>
              <a:rPr lang="en-US" sz="2400" b="1" dirty="0" err="1" smtClean="0"/>
              <a:t>reduced_data</a:t>
            </a:r>
            <a:r>
              <a:rPr lang="en-US" sz="2400" b="1" dirty="0" smtClean="0"/>
              <a:t>, columns=['PC1', 'PC2'])</a:t>
            </a:r>
          </a:p>
          <a:p>
            <a:pPr>
              <a:buFont typeface="Arial" pitchFamily="34" charset="0"/>
              <a:buChar char="•"/>
            </a:pPr>
            <a:endParaRPr lang="en-US" sz="2400" b="1" dirty="0" smtClean="0"/>
          </a:p>
          <a:p>
            <a:r>
              <a:rPr lang="en-US" sz="2400" b="1" dirty="0" smtClean="0">
                <a:solidFill>
                  <a:schemeClr val="bg2">
                    <a:lumMod val="25000"/>
                  </a:schemeClr>
                </a:solidFill>
              </a:rPr>
              <a:t># Show the reduced data</a:t>
            </a:r>
          </a:p>
          <a:p>
            <a:r>
              <a:rPr lang="en-US" sz="2400" b="1" dirty="0" smtClean="0"/>
              <a:t>print(</a:t>
            </a:r>
            <a:r>
              <a:rPr lang="en-US" sz="2400" b="1" dirty="0" err="1" smtClean="0"/>
              <a:t>reduced_df</a:t>
            </a:r>
            <a:r>
              <a:rPr lang="en-US" sz="2400" b="1" dirty="0" smtClean="0"/>
              <a:t>)</a:t>
            </a:r>
          </a:p>
          <a:p>
            <a:endParaRPr lang="en-US" sz="2400" b="1"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Reduction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238250"/>
            <a:ext cx="10058400" cy="3046988"/>
          </a:xfrm>
          <a:prstGeom prst="rect">
            <a:avLst/>
          </a:prstGeom>
        </p:spPr>
        <p:txBody>
          <a:bodyPr wrap="square">
            <a:spAutoFit/>
          </a:bodyPr>
          <a:lstStyle/>
          <a:p>
            <a:r>
              <a:rPr lang="en-US" sz="2400" b="1" dirty="0" smtClean="0"/>
              <a:t>Example: </a:t>
            </a:r>
          </a:p>
          <a:p>
            <a:endParaRPr lang="en-US" sz="2400" dirty="0" smtClean="0">
              <a:solidFill>
                <a:schemeClr val="bg2">
                  <a:lumMod val="50000"/>
                </a:schemeClr>
              </a:solidFill>
            </a:endParaRPr>
          </a:p>
          <a:p>
            <a:r>
              <a:rPr lang="en-US" sz="2400" dirty="0" smtClean="0">
                <a:solidFill>
                  <a:schemeClr val="bg2">
                    <a:lumMod val="50000"/>
                  </a:schemeClr>
                </a:solidFill>
              </a:rPr>
              <a:t># Dropping irrelevant columns</a:t>
            </a:r>
          </a:p>
          <a:p>
            <a:r>
              <a:rPr lang="en-US" sz="2400" dirty="0" err="1" smtClean="0"/>
              <a:t>df.drop</a:t>
            </a:r>
            <a:r>
              <a:rPr lang="en-US" sz="2400" dirty="0" smtClean="0"/>
              <a:t>(columns=['</a:t>
            </a:r>
            <a:r>
              <a:rPr lang="en-US" sz="2400" dirty="0" err="1" smtClean="0"/>
              <a:t>employee_id</a:t>
            </a:r>
            <a:r>
              <a:rPr lang="en-US" sz="2400" dirty="0" smtClean="0"/>
              <a:t>'], </a:t>
            </a:r>
            <a:r>
              <a:rPr lang="en-US" sz="2400" dirty="0" err="1" smtClean="0"/>
              <a:t>inplace</a:t>
            </a:r>
            <a:r>
              <a:rPr lang="en-US" sz="2400" dirty="0" smtClean="0"/>
              <a:t>=True)</a:t>
            </a:r>
          </a:p>
          <a:p>
            <a:endParaRPr lang="en-US" sz="2400" dirty="0" smtClean="0"/>
          </a:p>
          <a:p>
            <a:r>
              <a:rPr lang="en-US" sz="2400" dirty="0" smtClean="0">
                <a:solidFill>
                  <a:schemeClr val="bg2">
                    <a:lumMod val="50000"/>
                  </a:schemeClr>
                </a:solidFill>
              </a:rPr>
              <a:t># Aggregating data to get the total purchase per customer</a:t>
            </a:r>
          </a:p>
          <a:p>
            <a:r>
              <a:rPr lang="en-US" sz="2400" dirty="0" err="1" smtClean="0"/>
              <a:t>df_aggregated</a:t>
            </a:r>
            <a:r>
              <a:rPr lang="en-US" sz="2400" dirty="0" smtClean="0"/>
              <a:t> = </a:t>
            </a:r>
            <a:r>
              <a:rPr lang="en-US" sz="2400" dirty="0" err="1" smtClean="0"/>
              <a:t>df.groupby</a:t>
            </a:r>
            <a:r>
              <a:rPr lang="en-US" sz="2400" dirty="0" smtClean="0"/>
              <a:t>('</a:t>
            </a:r>
            <a:r>
              <a:rPr lang="en-US" sz="2400" dirty="0" err="1" smtClean="0"/>
              <a:t>customer_id</a:t>
            </a:r>
            <a:r>
              <a:rPr lang="en-US" sz="2400" dirty="0" smtClean="0"/>
              <a:t>')['</a:t>
            </a:r>
            <a:r>
              <a:rPr lang="en-US" sz="2400" dirty="0" err="1" smtClean="0"/>
              <a:t>purchase_history</a:t>
            </a:r>
            <a:r>
              <a:rPr lang="en-US" sz="2400" dirty="0" smtClean="0"/>
              <a:t>'].sum().</a:t>
            </a:r>
            <a:r>
              <a:rPr lang="en-US" sz="2400" dirty="0" err="1" smtClean="0"/>
              <a:t>reset_index</a:t>
            </a:r>
            <a:r>
              <a:rPr lang="en-US" sz="2400" dirty="0" smtClean="0"/>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Transformation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238250"/>
            <a:ext cx="10058400" cy="5632311"/>
          </a:xfrm>
          <a:prstGeom prst="rect">
            <a:avLst/>
          </a:prstGeom>
        </p:spPr>
        <p:txBody>
          <a:bodyPr wrap="square">
            <a:spAutoFit/>
          </a:bodyPr>
          <a:lstStyle/>
          <a:p>
            <a:r>
              <a:rPr lang="en-US" sz="2400" dirty="0" smtClean="0"/>
              <a:t>Data transformation is the process of converting data into a format suitable for analysis or modeling. This often involves normalizing, encoding, or creating new features from the original data.</a:t>
            </a:r>
          </a:p>
          <a:p>
            <a:r>
              <a:rPr lang="en-US" sz="2400" b="1" dirty="0" smtClean="0"/>
              <a:t>Key Techniques in Data Transformation:</a:t>
            </a:r>
          </a:p>
          <a:p>
            <a:endParaRPr lang="en-US" sz="2400" b="1" dirty="0" smtClean="0"/>
          </a:p>
          <a:p>
            <a:pPr>
              <a:buFont typeface="Arial" pitchFamily="34" charset="0"/>
              <a:buChar char="•"/>
            </a:pPr>
            <a:r>
              <a:rPr lang="en-US" sz="2400" b="1" dirty="0" smtClean="0"/>
              <a:t> Normalization/Standardization</a:t>
            </a:r>
            <a:r>
              <a:rPr lang="en-US" sz="2400" dirty="0" smtClean="0"/>
              <a:t>: Scaling numerical values so they fall within a specific range (e.g., between 0 and 1) and standardization scales the data to have a mean of 0 and a standard deviation of 1. This is particularly important when working with machine learning algorithms like min max </a:t>
            </a:r>
            <a:r>
              <a:rPr lang="en-US" sz="2400" dirty="0" err="1" smtClean="0"/>
              <a:t>scaler</a:t>
            </a:r>
            <a:r>
              <a:rPr lang="en-US" sz="2400" dirty="0" smtClean="0"/>
              <a:t>, Neural networks and SVM, Logistic regression etc.</a:t>
            </a:r>
          </a:p>
          <a:p>
            <a:pPr>
              <a:buFont typeface="Arial" pitchFamily="34" charset="0"/>
              <a:buChar char="•"/>
            </a:pPr>
            <a:r>
              <a:rPr lang="en-US" sz="2400" b="1" dirty="0" smtClean="0"/>
              <a:t> Feature Engineering</a:t>
            </a:r>
            <a:r>
              <a:rPr lang="en-US" sz="2400" dirty="0" smtClean="0"/>
              <a:t>: Creating new features from existing ones. For example, extracting the </a:t>
            </a:r>
            <a:r>
              <a:rPr lang="en-US" sz="2400" b="1" dirty="0" smtClean="0"/>
              <a:t>year</a:t>
            </a:r>
            <a:r>
              <a:rPr lang="en-US" sz="2400" dirty="0" smtClean="0"/>
              <a:t>, </a:t>
            </a:r>
            <a:r>
              <a:rPr lang="en-US" sz="2400" b="1" dirty="0" smtClean="0"/>
              <a:t>month</a:t>
            </a:r>
            <a:r>
              <a:rPr lang="en-US" sz="2400" dirty="0" smtClean="0"/>
              <a:t>, and </a:t>
            </a:r>
            <a:r>
              <a:rPr lang="en-US" sz="2400" b="1" dirty="0" smtClean="0"/>
              <a:t>day</a:t>
            </a:r>
            <a:r>
              <a:rPr lang="en-US" sz="2400" dirty="0" smtClean="0"/>
              <a:t> from a </a:t>
            </a:r>
            <a:r>
              <a:rPr lang="en-US" sz="2400" b="1" dirty="0" smtClean="0"/>
              <a:t>date</a:t>
            </a:r>
            <a:r>
              <a:rPr lang="en-US" sz="2400" dirty="0" smtClean="0"/>
              <a:t> column.</a:t>
            </a:r>
          </a:p>
          <a:p>
            <a:pPr>
              <a:buFont typeface="Arial" pitchFamily="34" charset="0"/>
              <a:buChar char="•"/>
            </a:pPr>
            <a:r>
              <a:rPr lang="en-US" sz="2400" b="1" dirty="0" smtClean="0"/>
              <a:t> Categorical Encoding</a:t>
            </a:r>
            <a:r>
              <a:rPr lang="en-US" sz="2400" dirty="0" smtClean="0"/>
              <a:t>: Converting categorical variables into numerical representations. Techniques like </a:t>
            </a:r>
            <a:r>
              <a:rPr lang="en-US" sz="2400" b="1" dirty="0" smtClean="0"/>
              <a:t>One-Hot Encoding</a:t>
            </a:r>
            <a:r>
              <a:rPr lang="en-US" sz="2400" dirty="0" smtClean="0"/>
              <a:t> or </a:t>
            </a:r>
            <a:r>
              <a:rPr lang="en-US" sz="2400" b="1" dirty="0" smtClean="0"/>
              <a:t>Label Encoding</a:t>
            </a:r>
            <a:r>
              <a:rPr lang="en-US" sz="2400" dirty="0" smtClean="0"/>
              <a:t> are used to make categorical data suitable for machine learning.</a:t>
            </a:r>
            <a:endParaRPr 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Transformation Example</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1" name="Rectangle 10"/>
          <p:cNvSpPr/>
          <p:nvPr/>
        </p:nvSpPr>
        <p:spPr>
          <a:xfrm>
            <a:off x="295275" y="1238250"/>
            <a:ext cx="10058400" cy="6001643"/>
          </a:xfrm>
          <a:prstGeom prst="rect">
            <a:avLst/>
          </a:prstGeom>
        </p:spPr>
        <p:txBody>
          <a:bodyPr wrap="square">
            <a:spAutoFit/>
          </a:bodyPr>
          <a:lstStyle/>
          <a:p>
            <a:r>
              <a:rPr lang="en-US" sz="2400" dirty="0" smtClean="0"/>
              <a:t>import </a:t>
            </a:r>
            <a:r>
              <a:rPr lang="en-US" sz="2400" dirty="0" err="1" smtClean="0"/>
              <a:t>numpy</a:t>
            </a:r>
            <a:r>
              <a:rPr lang="en-US" sz="2400" dirty="0" smtClean="0"/>
              <a:t> as </a:t>
            </a:r>
            <a:r>
              <a:rPr lang="en-US" sz="2400" dirty="0" err="1" smtClean="0"/>
              <a:t>np</a:t>
            </a:r>
            <a:endParaRPr lang="en-US" sz="2400" dirty="0" smtClean="0"/>
          </a:p>
          <a:p>
            <a:r>
              <a:rPr lang="en-US" sz="2400" dirty="0" smtClean="0"/>
              <a:t>import pandas as pd</a:t>
            </a:r>
          </a:p>
          <a:p>
            <a:r>
              <a:rPr lang="en-US" sz="2400" dirty="0" smtClean="0"/>
              <a:t>from </a:t>
            </a:r>
            <a:r>
              <a:rPr lang="en-US" sz="2400" dirty="0" err="1" smtClean="0"/>
              <a:t>sklearn.preprocessing</a:t>
            </a:r>
            <a:r>
              <a:rPr lang="en-US" sz="2400" dirty="0" smtClean="0"/>
              <a:t> import </a:t>
            </a:r>
            <a:r>
              <a:rPr lang="en-US" sz="2400" dirty="0" err="1" smtClean="0"/>
              <a:t>MinMaxScaler</a:t>
            </a:r>
            <a:r>
              <a:rPr lang="en-US" sz="2400" dirty="0" smtClean="0"/>
              <a:t>, </a:t>
            </a:r>
            <a:r>
              <a:rPr lang="en-US" sz="2400" dirty="0" err="1" smtClean="0"/>
              <a:t>StandardScaler</a:t>
            </a:r>
            <a:endParaRPr lang="en-US" sz="2400" dirty="0" smtClean="0"/>
          </a:p>
          <a:p>
            <a:endParaRPr lang="en-US" sz="2400" dirty="0" smtClean="0">
              <a:solidFill>
                <a:schemeClr val="bg2">
                  <a:lumMod val="25000"/>
                </a:schemeClr>
              </a:solidFill>
            </a:endParaRPr>
          </a:p>
          <a:p>
            <a:r>
              <a:rPr lang="en-US" sz="2400" dirty="0" smtClean="0">
                <a:solidFill>
                  <a:schemeClr val="bg2">
                    <a:lumMod val="25000"/>
                  </a:schemeClr>
                </a:solidFill>
              </a:rPr>
              <a:t># Test dataset</a:t>
            </a:r>
          </a:p>
          <a:p>
            <a:r>
              <a:rPr lang="en-US" sz="2400" dirty="0" smtClean="0"/>
              <a:t>data = {'Student': ['A', 'B', 'C', 'D', 'E'], 'Score': [50, 80, 90, 60, 100]}</a:t>
            </a:r>
          </a:p>
          <a:p>
            <a:r>
              <a:rPr lang="en-US" sz="2400" dirty="0" err="1" smtClean="0"/>
              <a:t>df</a:t>
            </a:r>
            <a:r>
              <a:rPr lang="en-US" sz="2400" dirty="0" smtClean="0"/>
              <a:t> = </a:t>
            </a:r>
            <a:r>
              <a:rPr lang="en-US" sz="2400" dirty="0" err="1" smtClean="0"/>
              <a:t>pd.DataFrame</a:t>
            </a:r>
            <a:r>
              <a:rPr lang="en-US" sz="2400" dirty="0" smtClean="0"/>
              <a:t>(data)</a:t>
            </a:r>
          </a:p>
          <a:p>
            <a:endParaRPr lang="en-US" sz="2400" dirty="0" smtClean="0">
              <a:solidFill>
                <a:schemeClr val="bg2">
                  <a:lumMod val="25000"/>
                </a:schemeClr>
              </a:solidFill>
            </a:endParaRPr>
          </a:p>
          <a:p>
            <a:r>
              <a:rPr lang="en-US" sz="2400" dirty="0" smtClean="0">
                <a:solidFill>
                  <a:schemeClr val="bg2">
                    <a:lumMod val="25000"/>
                  </a:schemeClr>
                </a:solidFill>
              </a:rPr>
              <a:t># Normalization</a:t>
            </a:r>
          </a:p>
          <a:p>
            <a:r>
              <a:rPr lang="en-US" sz="2400" dirty="0" err="1" smtClean="0"/>
              <a:t>scaler</a:t>
            </a:r>
            <a:r>
              <a:rPr lang="en-US" sz="2400" dirty="0" smtClean="0"/>
              <a:t> = </a:t>
            </a:r>
            <a:r>
              <a:rPr lang="en-US" sz="2400" dirty="0" err="1" smtClean="0"/>
              <a:t>MinMaxScaler</a:t>
            </a:r>
            <a:r>
              <a:rPr lang="en-US" sz="2400" dirty="0" smtClean="0"/>
              <a:t>()</a:t>
            </a:r>
          </a:p>
          <a:p>
            <a:r>
              <a:rPr lang="en-US" sz="2400" dirty="0" err="1" smtClean="0"/>
              <a:t>df</a:t>
            </a:r>
            <a:r>
              <a:rPr lang="en-US" sz="2400" dirty="0" smtClean="0"/>
              <a:t>['Normalized Score'] = </a:t>
            </a:r>
            <a:r>
              <a:rPr lang="en-US" sz="2400" dirty="0" err="1" smtClean="0"/>
              <a:t>scaler.fit_transform</a:t>
            </a:r>
            <a:r>
              <a:rPr lang="en-US" sz="2400" dirty="0" smtClean="0"/>
              <a:t>(</a:t>
            </a:r>
            <a:r>
              <a:rPr lang="en-US" sz="2400" dirty="0" err="1" smtClean="0"/>
              <a:t>df</a:t>
            </a:r>
            <a:r>
              <a:rPr lang="en-US" sz="2400" dirty="0" smtClean="0"/>
              <a:t>[['Score']])</a:t>
            </a:r>
          </a:p>
          <a:p>
            <a:endParaRPr lang="en-US" sz="2400" dirty="0" smtClean="0"/>
          </a:p>
          <a:p>
            <a:r>
              <a:rPr lang="en-US" sz="2400" dirty="0" smtClean="0">
                <a:solidFill>
                  <a:schemeClr val="bg2">
                    <a:lumMod val="25000"/>
                  </a:schemeClr>
                </a:solidFill>
              </a:rPr>
              <a:t># Standardization</a:t>
            </a:r>
          </a:p>
          <a:p>
            <a:r>
              <a:rPr lang="en-US" sz="2400" dirty="0" err="1" smtClean="0"/>
              <a:t>scaler</a:t>
            </a:r>
            <a:r>
              <a:rPr lang="en-US" sz="2400" dirty="0" smtClean="0"/>
              <a:t> = </a:t>
            </a:r>
            <a:r>
              <a:rPr lang="en-US" sz="2400" dirty="0" err="1" smtClean="0"/>
              <a:t>StandardScaler</a:t>
            </a:r>
            <a:r>
              <a:rPr lang="en-US" sz="2400" dirty="0" smtClean="0"/>
              <a:t>()</a:t>
            </a:r>
          </a:p>
          <a:p>
            <a:r>
              <a:rPr lang="en-US" sz="2400" dirty="0" err="1" smtClean="0"/>
              <a:t>df</a:t>
            </a:r>
            <a:r>
              <a:rPr lang="en-US" sz="2400" dirty="0" smtClean="0"/>
              <a:t>['Standardized Score'] = </a:t>
            </a:r>
            <a:r>
              <a:rPr lang="en-US" sz="2400" dirty="0" err="1" smtClean="0"/>
              <a:t>scaler.fit_transform</a:t>
            </a:r>
            <a:r>
              <a:rPr lang="en-US" sz="2400" dirty="0" smtClean="0"/>
              <a:t>(</a:t>
            </a:r>
            <a:r>
              <a:rPr lang="en-US" sz="2400" dirty="0" err="1" smtClean="0"/>
              <a:t>df</a:t>
            </a:r>
            <a:r>
              <a:rPr lang="en-US" sz="2400" dirty="0" smtClean="0"/>
              <a:t>[['Score']])</a:t>
            </a:r>
          </a:p>
          <a:p>
            <a:r>
              <a:rPr lang="en-US" sz="2400" dirty="0" smtClean="0"/>
              <a:t>print(</a:t>
            </a:r>
            <a:r>
              <a:rPr lang="en-US" sz="2400" dirty="0" err="1" smtClean="0"/>
              <a:t>df</a:t>
            </a:r>
            <a:r>
              <a:rPr lang="en-US" sz="2400" dirty="0" smtClean="0"/>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Transformation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pic>
        <p:nvPicPr>
          <p:cNvPr id="2050" name="Picture 2"/>
          <p:cNvPicPr>
            <a:picLocks noChangeAspect="1" noChangeArrowheads="1"/>
          </p:cNvPicPr>
          <p:nvPr/>
        </p:nvPicPr>
        <p:blipFill>
          <a:blip r:embed="rId3"/>
          <a:srcRect/>
          <a:stretch>
            <a:fillRect/>
          </a:stretch>
        </p:blipFill>
        <p:spPr bwMode="auto">
          <a:xfrm>
            <a:off x="401760" y="2000250"/>
            <a:ext cx="9951915" cy="3429000"/>
          </a:xfrm>
          <a:prstGeom prst="rect">
            <a:avLst/>
          </a:prstGeom>
          <a:noFill/>
          <a:ln w="9525">
            <a:noFill/>
            <a:miter lim="800000"/>
            <a:headEnd/>
            <a:tailEnd/>
          </a:ln>
          <a:effectLst/>
        </p:spPr>
      </p:pic>
      <p:sp>
        <p:nvSpPr>
          <p:cNvPr id="2051" name="Rectangle 3"/>
          <p:cNvSpPr>
            <a:spLocks noChangeArrowheads="1"/>
          </p:cNvSpPr>
          <p:nvPr/>
        </p:nvSpPr>
        <p:spPr bwMode="auto">
          <a:xfrm>
            <a:off x="371475" y="5581650"/>
            <a:ext cx="10109499" cy="120032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charset="0"/>
                <a:cs typeface="Arial" charset="0"/>
              </a:rPr>
              <a:t> Normalization</a:t>
            </a:r>
            <a:r>
              <a:rPr kumimoji="0" lang="en-US" sz="1800" b="0" i="0" u="none" strike="noStrike" cap="none" normalizeH="0" baseline="0" dirty="0" smtClean="0">
                <a:ln>
                  <a:noFill/>
                </a:ln>
                <a:solidFill>
                  <a:schemeClr val="tx1"/>
                </a:solidFill>
                <a:effectLst/>
                <a:latin typeface="Arial" charset="0"/>
                <a:cs typeface="Arial" charset="0"/>
              </a:rPr>
              <a:t> is ideal when you need to fit values into a specific range.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charset="0"/>
                <a:cs typeface="Arial" charset="0"/>
              </a:rPr>
              <a:t> Standardization</a:t>
            </a:r>
            <a:r>
              <a:rPr kumimoji="0" lang="en-US" sz="1800" b="0" i="0" u="none" strike="noStrike" cap="none" normalizeH="0" baseline="0" dirty="0" smtClean="0">
                <a:ln>
                  <a:noFill/>
                </a:ln>
                <a:solidFill>
                  <a:schemeClr val="tx1"/>
                </a:solidFill>
                <a:effectLst/>
                <a:latin typeface="Arial" charset="0"/>
                <a:cs typeface="Arial" charset="0"/>
              </a:rPr>
              <a:t> is preferred when your data needs to have properties of a standard normal </a:t>
            </a:r>
          </a:p>
          <a:p>
            <a:pPr marL="0" marR="0" lvl="0" indent="0" algn="l" defTabSz="914400" rtl="0" eaLnBrk="0" fontAlgn="base" latinLnBrk="0" hangingPunct="0">
              <a:lnSpc>
                <a:spcPct val="100000"/>
              </a:lnSpc>
              <a:spcBef>
                <a:spcPct val="0"/>
              </a:spcBef>
              <a:spcAft>
                <a:spcPct val="0"/>
              </a:spcAft>
              <a:buClrTx/>
              <a:buSzTx/>
              <a:tabLst/>
            </a:pPr>
            <a:r>
              <a:rPr kumimoji="0" lang="en-US" sz="1800" b="0" i="0" u="none" strike="noStrike" cap="none" normalizeH="0" baseline="0" dirty="0" smtClean="0">
                <a:ln>
                  <a:noFill/>
                </a:ln>
                <a:solidFill>
                  <a:schemeClr val="tx1"/>
                </a:solidFill>
                <a:effectLst/>
                <a:latin typeface="Arial" charset="0"/>
                <a:cs typeface="Arial" charset="0"/>
              </a:rPr>
              <a:t> distribution (mean = 0, std = 1). The choice between the two depends on the specific application </a:t>
            </a:r>
          </a:p>
          <a:p>
            <a:pPr marL="0" marR="0" lvl="0" indent="0" algn="l" defTabSz="914400" rtl="0" eaLnBrk="0" fontAlgn="base" latinLnBrk="0" hangingPunct="0">
              <a:lnSpc>
                <a:spcPct val="100000"/>
              </a:lnSpc>
              <a:spcBef>
                <a:spcPct val="0"/>
              </a:spcBef>
              <a:spcAft>
                <a:spcPct val="0"/>
              </a:spcAft>
              <a:buClrTx/>
              <a:buSzTx/>
              <a:tabLst/>
            </a:pPr>
            <a:r>
              <a:rPr kumimoji="0" lang="en-US" sz="1800" b="0" i="0" u="none" strike="noStrike" cap="none" normalizeH="0" baseline="0" dirty="0" smtClean="0">
                <a:ln>
                  <a:noFill/>
                </a:ln>
                <a:solidFill>
                  <a:schemeClr val="tx1"/>
                </a:solidFill>
                <a:effectLst/>
                <a:latin typeface="Arial" charset="0"/>
                <a:cs typeface="Arial" charset="0"/>
              </a:rPr>
              <a:t> or algorithm requirements.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Transformation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pic>
        <p:nvPicPr>
          <p:cNvPr id="88066" name="Picture 2"/>
          <p:cNvPicPr>
            <a:picLocks noChangeAspect="1" noChangeArrowheads="1"/>
          </p:cNvPicPr>
          <p:nvPr/>
        </p:nvPicPr>
        <p:blipFill>
          <a:blip r:embed="rId3"/>
          <a:srcRect/>
          <a:stretch>
            <a:fillRect/>
          </a:stretch>
        </p:blipFill>
        <p:spPr bwMode="auto">
          <a:xfrm>
            <a:off x="523875" y="1314450"/>
            <a:ext cx="8610600" cy="2004396"/>
          </a:xfrm>
          <a:prstGeom prst="rect">
            <a:avLst/>
          </a:prstGeom>
          <a:noFill/>
          <a:ln w="9525">
            <a:noFill/>
            <a:miter lim="800000"/>
            <a:headEnd/>
            <a:tailEnd/>
          </a:ln>
          <a:effectLst/>
        </p:spPr>
      </p:pic>
      <p:pic>
        <p:nvPicPr>
          <p:cNvPr id="88067" name="Picture 3"/>
          <p:cNvPicPr>
            <a:picLocks noChangeAspect="1" noChangeArrowheads="1"/>
          </p:cNvPicPr>
          <p:nvPr/>
        </p:nvPicPr>
        <p:blipFill>
          <a:blip r:embed="rId4"/>
          <a:srcRect/>
          <a:stretch>
            <a:fillRect/>
          </a:stretch>
        </p:blipFill>
        <p:spPr bwMode="auto">
          <a:xfrm>
            <a:off x="364813" y="3448050"/>
            <a:ext cx="8769662" cy="2168714"/>
          </a:xfrm>
          <a:prstGeom prst="rect">
            <a:avLst/>
          </a:prstGeom>
          <a:noFill/>
          <a:ln w="9525">
            <a:noFill/>
            <a:miter lim="800000"/>
            <a:headEnd/>
            <a:tailEnd/>
          </a:ln>
          <a:effectLst/>
        </p:spPr>
      </p:pic>
      <p:sp>
        <p:nvSpPr>
          <p:cNvPr id="88068" name="Rectangle 4"/>
          <p:cNvSpPr>
            <a:spLocks noChangeArrowheads="1"/>
          </p:cNvSpPr>
          <p:nvPr/>
        </p:nvSpPr>
        <p:spPr bwMode="auto">
          <a:xfrm>
            <a:off x="371475" y="5581650"/>
            <a:ext cx="101346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a:p>
            <a:pPr defTabSz="914400" fontAlgn="base">
              <a:spcBef>
                <a:spcPct val="0"/>
              </a:spcBef>
              <a:spcAft>
                <a:spcPct val="0"/>
              </a:spcAft>
              <a:buFontTx/>
              <a:buChar char="•"/>
            </a:pPr>
            <a:r>
              <a:rPr kumimoji="0" lang="en-US" sz="1800" b="0" i="0" u="none" strike="noStrike" cap="none" normalizeH="0" baseline="0" dirty="0" smtClean="0">
                <a:ln>
                  <a:noFill/>
                </a:ln>
                <a:solidFill>
                  <a:schemeClr val="tx1"/>
                </a:solidFill>
                <a:effectLst/>
                <a:latin typeface="Arial" charset="0"/>
                <a:cs typeface="Arial" charset="0"/>
              </a:rPr>
              <a:t>Use </a:t>
            </a:r>
            <a:r>
              <a:rPr kumimoji="0" lang="en-US" sz="1800" b="1" i="0" u="none" strike="noStrike" cap="none" normalizeH="0" baseline="0" dirty="0" smtClean="0">
                <a:ln>
                  <a:noFill/>
                </a:ln>
                <a:solidFill>
                  <a:schemeClr val="tx1"/>
                </a:solidFill>
                <a:effectLst/>
                <a:latin typeface="Arial" charset="0"/>
                <a:cs typeface="Arial" charset="0"/>
              </a:rPr>
              <a:t>One-Hot Encoding</a:t>
            </a:r>
            <a:r>
              <a:rPr kumimoji="0" lang="en-US" sz="1800" b="0" i="0" u="none" strike="noStrike" cap="none" normalizeH="0" baseline="0" dirty="0" smtClean="0">
                <a:ln>
                  <a:noFill/>
                </a:ln>
                <a:solidFill>
                  <a:schemeClr val="tx1"/>
                </a:solidFill>
                <a:effectLst/>
                <a:latin typeface="Arial" charset="0"/>
                <a:cs typeface="Arial" charset="0"/>
              </a:rPr>
              <a:t> for nominal data without order (e.g., colors, cities</a:t>
            </a:r>
            <a:r>
              <a:rPr lang="en-US" sz="1800" dirty="0" smtClean="0">
                <a:latin typeface="Arial" charset="0"/>
                <a:cs typeface="Arial" charset="0"/>
              </a:rPr>
              <a:t>). Each category is represented as a vector of zeros, with a single one indicating the presence of that category.</a:t>
            </a: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Use </a:t>
            </a:r>
            <a:r>
              <a:rPr kumimoji="0" lang="en-US" sz="1800" b="1" i="0" u="none" strike="noStrike" cap="none" normalizeH="0" baseline="0" dirty="0" smtClean="0">
                <a:ln>
                  <a:noFill/>
                </a:ln>
                <a:solidFill>
                  <a:schemeClr val="tx1"/>
                </a:solidFill>
                <a:effectLst/>
                <a:latin typeface="Arial" charset="0"/>
                <a:cs typeface="Arial" charset="0"/>
              </a:rPr>
              <a:t>Label or Ordinal Encoding</a:t>
            </a:r>
            <a:r>
              <a:rPr kumimoji="0" lang="en-US" sz="1800" b="0" i="0" u="none" strike="noStrike" cap="none" normalizeH="0" baseline="0" dirty="0" smtClean="0">
                <a:ln>
                  <a:noFill/>
                </a:ln>
                <a:solidFill>
                  <a:schemeClr val="tx1"/>
                </a:solidFill>
                <a:effectLst/>
                <a:latin typeface="Arial" charset="0"/>
                <a:cs typeface="Arial" charset="0"/>
              </a:rPr>
              <a:t> for ordered data (e.g., size: small, medium, large).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2b0234faaaa_0_146"/>
          <p:cNvSpPr txBox="1">
            <a:spLocks noGrp="1"/>
          </p:cNvSpPr>
          <p:nvPr>
            <p:ph type="title"/>
          </p:nvPr>
        </p:nvSpPr>
        <p:spPr>
          <a:xfrm>
            <a:off x="514900" y="737264"/>
            <a:ext cx="9771448" cy="1064385"/>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endParaRPr/>
          </a:p>
        </p:txBody>
      </p:sp>
      <p:sp>
        <p:nvSpPr>
          <p:cNvPr id="366" name="Google Shape;366;g2b0234faaaa_0_146"/>
          <p:cNvSpPr txBox="1">
            <a:spLocks noGrp="1"/>
          </p:cNvSpPr>
          <p:nvPr>
            <p:ph type="body" idx="1"/>
          </p:nvPr>
        </p:nvSpPr>
        <p:spPr>
          <a:xfrm>
            <a:off x="514900" y="2289521"/>
            <a:ext cx="9771448" cy="3862215"/>
          </a:xfrm>
          <a:prstGeom prst="rect">
            <a:avLst/>
          </a:prstGeom>
        </p:spPr>
        <p:txBody>
          <a:bodyPr spcFirstLastPara="1" wrap="square" lIns="91425" tIns="45700" rIns="91425" bIns="45700" anchor="ctr" anchorCtr="0">
            <a:normAutofit/>
          </a:bodyPr>
          <a:lstStyle/>
          <a:p>
            <a:pPr marL="0" lvl="0" indent="0" algn="l" rtl="0">
              <a:spcBef>
                <a:spcPts val="360"/>
              </a:spcBef>
              <a:spcAft>
                <a:spcPts val="600"/>
              </a:spcAft>
              <a:buNone/>
            </a:pPr>
            <a:endParaRPr/>
          </a:p>
        </p:txBody>
      </p:sp>
      <p:pic>
        <p:nvPicPr>
          <p:cNvPr id="367" name="Google Shape;367;g2b0234faaaa_0_146"/>
          <p:cNvPicPr preferRelativeResize="0"/>
          <p:nvPr/>
        </p:nvPicPr>
        <p:blipFill>
          <a:blip r:embed="rId3">
            <a:alphaModFix/>
          </a:blip>
          <a:stretch>
            <a:fillRect/>
          </a:stretch>
        </p:blipFill>
        <p:spPr>
          <a:xfrm>
            <a:off x="1" y="428084"/>
            <a:ext cx="10801349" cy="453154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a:t>
            </a:r>
            <a:r>
              <a:rPr lang="en-IN" sz="2800" b="1" dirty="0" err="1" smtClean="0">
                <a:latin typeface="Arial Narrow" pitchFamily="34" charset="0"/>
              </a:rPr>
              <a:t>Discretization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0" name="Rectangle 9"/>
          <p:cNvSpPr/>
          <p:nvPr/>
        </p:nvSpPr>
        <p:spPr>
          <a:xfrm>
            <a:off x="371475" y="1543050"/>
            <a:ext cx="9982199" cy="5170646"/>
          </a:xfrm>
          <a:prstGeom prst="rect">
            <a:avLst/>
          </a:prstGeom>
        </p:spPr>
        <p:txBody>
          <a:bodyPr wrap="square">
            <a:spAutoFit/>
          </a:bodyPr>
          <a:lstStyle/>
          <a:p>
            <a:r>
              <a:rPr lang="en-US" dirty="0" smtClean="0"/>
              <a:t>Data </a:t>
            </a:r>
            <a:r>
              <a:rPr lang="en-US" dirty="0" err="1" smtClean="0"/>
              <a:t>discretization</a:t>
            </a:r>
            <a:r>
              <a:rPr lang="en-US" dirty="0" smtClean="0"/>
              <a:t> is the process of converting continuous data (i.e., numeric values) into discrete intervals or categories. This can be useful when you want to simplify the data for easier interpretation or when working with certain algorithms that require categorical data</a:t>
            </a:r>
            <a:r>
              <a:rPr lang="en-US" dirty="0" smtClean="0"/>
              <a:t>. Ex: </a:t>
            </a:r>
            <a:r>
              <a:rPr lang="en-US" dirty="0" smtClean="0"/>
              <a:t>Converting income values into income ranges like “Low,” “Medium,” and “High” instead of keeping each exact income value.</a:t>
            </a:r>
            <a:endParaRPr lang="en-US" dirty="0" smtClean="0"/>
          </a:p>
          <a:p>
            <a:endParaRPr lang="en-US" dirty="0" smtClean="0"/>
          </a:p>
          <a:p>
            <a:r>
              <a:rPr lang="en-US" b="1" dirty="0" smtClean="0"/>
              <a:t>Key Techniques in Data </a:t>
            </a:r>
            <a:r>
              <a:rPr lang="en-US" b="1" dirty="0" err="1" smtClean="0"/>
              <a:t>Discretization</a:t>
            </a:r>
            <a:r>
              <a:rPr lang="en-US" b="1" dirty="0" smtClean="0"/>
              <a:t>:</a:t>
            </a:r>
          </a:p>
          <a:p>
            <a:endParaRPr lang="en-US" b="1" dirty="0" smtClean="0"/>
          </a:p>
          <a:p>
            <a:pPr>
              <a:buFont typeface="Arial" pitchFamily="34" charset="0"/>
              <a:buChar char="•"/>
            </a:pPr>
            <a:r>
              <a:rPr lang="en-US" b="1" dirty="0" smtClean="0"/>
              <a:t> Binning</a:t>
            </a:r>
            <a:r>
              <a:rPr lang="en-US" dirty="0" smtClean="0"/>
              <a:t>: Grouping continuous values into bins or ranges (e.g., age ranges like 20-30, 30-40).</a:t>
            </a:r>
          </a:p>
          <a:p>
            <a:pPr>
              <a:buFont typeface="Arial" pitchFamily="34" charset="0"/>
              <a:buChar char="•"/>
            </a:pPr>
            <a:r>
              <a:rPr lang="en-US" b="1" dirty="0" smtClean="0"/>
              <a:t> Equal-Width Binning</a:t>
            </a:r>
            <a:r>
              <a:rPr lang="en-US" dirty="0" smtClean="0"/>
              <a:t>: Dividing the range of data into equal-width intervals.</a:t>
            </a:r>
          </a:p>
          <a:p>
            <a:pPr>
              <a:buFont typeface="Arial" pitchFamily="34" charset="0"/>
              <a:buChar char="•"/>
            </a:pPr>
            <a:r>
              <a:rPr lang="en-US" b="1" dirty="0" smtClean="0"/>
              <a:t> Equal-Frequency Binning</a:t>
            </a:r>
            <a:r>
              <a:rPr lang="en-US" dirty="0" smtClean="0"/>
              <a:t>: Dividing the data into bins with an equal number of data points.</a:t>
            </a:r>
          </a:p>
          <a:p>
            <a:pPr>
              <a:buFont typeface="Arial" pitchFamily="34" charset="0"/>
              <a:buChar char="•"/>
            </a:pPr>
            <a:r>
              <a:rPr lang="en-US" b="1" dirty="0" smtClean="0"/>
              <a:t> Custom Binning</a:t>
            </a:r>
            <a:r>
              <a:rPr lang="en-US" dirty="0" smtClean="0"/>
              <a:t>: Creating specific bins based on domain knowledge or business needs (e.g., income levels: Low, Medium, High).</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a:t>
            </a:r>
            <a:r>
              <a:rPr lang="en-IN" sz="2800" b="1" dirty="0" err="1" smtClean="0">
                <a:latin typeface="Arial Narrow" pitchFamily="34" charset="0"/>
              </a:rPr>
              <a:t>Discretization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0" name="Rectangle 9"/>
          <p:cNvSpPr/>
          <p:nvPr/>
        </p:nvSpPr>
        <p:spPr>
          <a:xfrm>
            <a:off x="371475" y="1543050"/>
            <a:ext cx="9982199" cy="5170646"/>
          </a:xfrm>
          <a:prstGeom prst="rect">
            <a:avLst/>
          </a:prstGeom>
        </p:spPr>
        <p:txBody>
          <a:bodyPr wrap="square">
            <a:spAutoFit/>
          </a:bodyPr>
          <a:lstStyle/>
          <a:p>
            <a:pPr>
              <a:buFont typeface="Arial" pitchFamily="34" charset="0"/>
              <a:buChar char="•"/>
            </a:pPr>
            <a:r>
              <a:rPr lang="en-US" b="1" dirty="0" smtClean="0"/>
              <a:t> Equal Width Binning :</a:t>
            </a:r>
          </a:p>
          <a:p>
            <a:pPr>
              <a:buFont typeface="Arial" pitchFamily="34" charset="0"/>
              <a:buChar char="•"/>
            </a:pPr>
            <a:endParaRPr lang="en-US" b="1" dirty="0" smtClean="0"/>
          </a:p>
          <a:p>
            <a:r>
              <a:rPr lang="en-US" b="1" dirty="0" smtClean="0"/>
              <a:t> </a:t>
            </a:r>
            <a:r>
              <a:rPr lang="en-US" dirty="0" smtClean="0"/>
              <a:t>w= max-min/x</a:t>
            </a:r>
          </a:p>
          <a:p>
            <a:endParaRPr lang="en-US" dirty="0" smtClean="0"/>
          </a:p>
          <a:p>
            <a:r>
              <a:rPr lang="en-US" dirty="0" smtClean="0"/>
              <a:t>Data = [10,15,16,18,20,30,35,42,48,50,52,55]</a:t>
            </a:r>
          </a:p>
          <a:p>
            <a:endParaRPr lang="en-US" dirty="0" smtClean="0"/>
          </a:p>
          <a:p>
            <a:r>
              <a:rPr lang="en-US" dirty="0" smtClean="0"/>
              <a:t>(Intervals)</a:t>
            </a:r>
            <a:r>
              <a:rPr lang="en-US" dirty="0" smtClean="0"/>
              <a:t>X=3,  w=(55-10)/3 = 15</a:t>
            </a:r>
          </a:p>
          <a:p>
            <a:endParaRPr lang="en-US" dirty="0" smtClean="0"/>
          </a:p>
          <a:p>
            <a:r>
              <a:rPr lang="en-US" dirty="0" smtClean="0"/>
              <a:t>[min, min+w-1]            </a:t>
            </a:r>
            <a:r>
              <a:rPr lang="en-US" dirty="0" smtClean="0">
                <a:sym typeface="Wingdings" pitchFamily="2" charset="2"/>
              </a:rPr>
              <a:t>      [10, 24]</a:t>
            </a:r>
            <a:endParaRPr lang="en-US" dirty="0" smtClean="0"/>
          </a:p>
          <a:p>
            <a:r>
              <a:rPr lang="en-US" dirty="0" smtClean="0"/>
              <a:t>[</a:t>
            </a:r>
            <a:r>
              <a:rPr lang="en-US" dirty="0" err="1" smtClean="0"/>
              <a:t>min+w</a:t>
            </a:r>
            <a:r>
              <a:rPr lang="en-US" dirty="0" smtClean="0"/>
              <a:t>, min+2w-1]     </a:t>
            </a:r>
            <a:r>
              <a:rPr lang="en-US" dirty="0" smtClean="0">
                <a:sym typeface="Wingdings" pitchFamily="2" charset="2"/>
              </a:rPr>
              <a:t>      </a:t>
            </a:r>
            <a:r>
              <a:rPr lang="en-US" dirty="0" smtClean="0">
                <a:sym typeface="Wingdings" pitchFamily="2" charset="2"/>
              </a:rPr>
              <a:t>[25, 39]</a:t>
            </a:r>
            <a:endParaRPr lang="en-US" dirty="0" smtClean="0"/>
          </a:p>
          <a:p>
            <a:r>
              <a:rPr lang="en-US" dirty="0" smtClean="0"/>
              <a:t>[min+2w, max]              </a:t>
            </a:r>
            <a:r>
              <a:rPr lang="en-US" dirty="0" smtClean="0">
                <a:sym typeface="Wingdings" pitchFamily="2" charset="2"/>
              </a:rPr>
              <a:t>      [40,55]</a:t>
            </a:r>
          </a:p>
          <a:p>
            <a:endParaRPr lang="en-US" dirty="0" smtClean="0">
              <a:sym typeface="Wingdings" pitchFamily="2" charset="2"/>
            </a:endParaRPr>
          </a:p>
          <a:p>
            <a:r>
              <a:rPr lang="en-US" dirty="0" smtClean="0">
                <a:sym typeface="Wingdings" pitchFamily="2" charset="2"/>
              </a:rPr>
              <a:t>1</a:t>
            </a:r>
            <a:r>
              <a:rPr lang="en-US" baseline="30000" dirty="0" smtClean="0">
                <a:sym typeface="Wingdings" pitchFamily="2" charset="2"/>
              </a:rPr>
              <a:t>st</a:t>
            </a:r>
            <a:r>
              <a:rPr lang="en-US" dirty="0" smtClean="0">
                <a:sym typeface="Wingdings" pitchFamily="2" charset="2"/>
              </a:rPr>
              <a:t> – [10,15,16,18,20]</a:t>
            </a:r>
          </a:p>
          <a:p>
            <a:r>
              <a:rPr lang="en-US" dirty="0" smtClean="0">
                <a:sym typeface="Wingdings" pitchFamily="2" charset="2"/>
              </a:rPr>
              <a:t>2</a:t>
            </a:r>
            <a:r>
              <a:rPr lang="en-US" baseline="30000" dirty="0" smtClean="0">
                <a:sym typeface="Wingdings" pitchFamily="2" charset="2"/>
              </a:rPr>
              <a:t>nd</a:t>
            </a:r>
            <a:r>
              <a:rPr lang="en-US" dirty="0" smtClean="0">
                <a:sym typeface="Wingdings" pitchFamily="2" charset="2"/>
              </a:rPr>
              <a:t> –[30,35]</a:t>
            </a:r>
          </a:p>
          <a:p>
            <a:r>
              <a:rPr lang="en-US" dirty="0" smtClean="0">
                <a:sym typeface="Wingdings" pitchFamily="2" charset="2"/>
              </a:rPr>
              <a:t>3</a:t>
            </a:r>
            <a:r>
              <a:rPr lang="en-US" baseline="30000" dirty="0" smtClean="0">
                <a:sym typeface="Wingdings" pitchFamily="2" charset="2"/>
              </a:rPr>
              <a:t>rd</a:t>
            </a:r>
            <a:r>
              <a:rPr lang="en-US" dirty="0" smtClean="0">
                <a:sym typeface="Wingdings" pitchFamily="2" charset="2"/>
              </a:rPr>
              <a:t> – [42,48,50,52,55]</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a:t>
            </a:r>
            <a:r>
              <a:rPr lang="en-IN" sz="2800" b="1" dirty="0" err="1" smtClean="0">
                <a:latin typeface="Arial Narrow" pitchFamily="34" charset="0"/>
              </a:rPr>
              <a:t>Discretization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0" name="Rectangle 9"/>
          <p:cNvSpPr/>
          <p:nvPr/>
        </p:nvSpPr>
        <p:spPr>
          <a:xfrm>
            <a:off x="371475" y="1543050"/>
            <a:ext cx="9982199" cy="5509200"/>
          </a:xfrm>
          <a:prstGeom prst="rect">
            <a:avLst/>
          </a:prstGeom>
        </p:spPr>
        <p:txBody>
          <a:bodyPr wrap="square">
            <a:spAutoFit/>
          </a:bodyPr>
          <a:lstStyle/>
          <a:p>
            <a:r>
              <a:rPr lang="en-US" b="1" dirty="0" smtClean="0"/>
              <a:t>Example</a:t>
            </a:r>
            <a:r>
              <a:rPr lang="en-US" b="1" dirty="0" smtClean="0"/>
              <a:t>:</a:t>
            </a:r>
          </a:p>
          <a:p>
            <a:endParaRPr lang="en-US" b="1" dirty="0" smtClean="0"/>
          </a:p>
          <a:p>
            <a:r>
              <a:rPr lang="en-US" dirty="0" smtClean="0"/>
              <a:t>import pandas as </a:t>
            </a:r>
            <a:r>
              <a:rPr lang="en-US" dirty="0" smtClean="0"/>
              <a:t>pd</a:t>
            </a:r>
          </a:p>
          <a:p>
            <a:r>
              <a:rPr lang="en-US" dirty="0" smtClean="0">
                <a:solidFill>
                  <a:schemeClr val="bg2">
                    <a:lumMod val="50000"/>
                  </a:schemeClr>
                </a:solidFill>
              </a:rPr>
              <a:t> # create a sample dataset </a:t>
            </a:r>
          </a:p>
          <a:p>
            <a:r>
              <a:rPr lang="en-US" dirty="0" smtClean="0"/>
              <a:t>data </a:t>
            </a:r>
            <a:r>
              <a:rPr lang="en-US" dirty="0" smtClean="0"/>
              <a:t>= </a:t>
            </a:r>
            <a:r>
              <a:rPr lang="en-US" dirty="0" err="1" smtClean="0"/>
              <a:t>pd.DataFrame</a:t>
            </a:r>
            <a:r>
              <a:rPr lang="en-US" dirty="0" smtClean="0"/>
              <a:t>({'values': [1, 2, 3, 4, 5, 6, 7, 8, 9, 10</a:t>
            </a:r>
            <a:r>
              <a:rPr lang="en-US" dirty="0" smtClean="0"/>
              <a:t>]})</a:t>
            </a:r>
          </a:p>
          <a:p>
            <a:r>
              <a:rPr lang="en-US" dirty="0" smtClean="0"/>
              <a:t> </a:t>
            </a:r>
            <a:r>
              <a:rPr lang="en-US" dirty="0" smtClean="0">
                <a:solidFill>
                  <a:schemeClr val="bg2">
                    <a:lumMod val="50000"/>
                  </a:schemeClr>
                </a:solidFill>
              </a:rPr>
              <a:t># bin the values into three intervals </a:t>
            </a:r>
            <a:endParaRPr lang="en-US" dirty="0" smtClean="0">
              <a:solidFill>
                <a:schemeClr val="bg2">
                  <a:lumMod val="50000"/>
                </a:schemeClr>
              </a:solidFill>
            </a:endParaRPr>
          </a:p>
          <a:p>
            <a:r>
              <a:rPr lang="en-US" dirty="0" smtClean="0"/>
              <a:t>data</a:t>
            </a:r>
            <a:r>
              <a:rPr lang="en-US" dirty="0" smtClean="0"/>
              <a:t>['bins'] = </a:t>
            </a:r>
            <a:r>
              <a:rPr lang="en-US" dirty="0" err="1" smtClean="0"/>
              <a:t>pd.cut</a:t>
            </a:r>
            <a:r>
              <a:rPr lang="en-US" dirty="0" smtClean="0"/>
              <a:t>(data['values'], bins=3, labels=['Low', 'Medium', 'High</a:t>
            </a:r>
            <a:r>
              <a:rPr lang="en-US" dirty="0" smtClean="0"/>
              <a:t>'])</a:t>
            </a:r>
          </a:p>
          <a:p>
            <a:r>
              <a:rPr lang="en-US" dirty="0" smtClean="0"/>
              <a:t> </a:t>
            </a:r>
            <a:r>
              <a:rPr lang="en-US" dirty="0" smtClean="0">
                <a:solidFill>
                  <a:schemeClr val="bg2">
                    <a:lumMod val="50000"/>
                  </a:schemeClr>
                </a:solidFill>
              </a:rPr>
              <a:t># view the binned data </a:t>
            </a:r>
            <a:endParaRPr lang="en-US" dirty="0" smtClean="0">
              <a:solidFill>
                <a:schemeClr val="bg2">
                  <a:lumMod val="50000"/>
                </a:schemeClr>
              </a:solidFill>
            </a:endParaRPr>
          </a:p>
          <a:p>
            <a:r>
              <a:rPr lang="en-US" dirty="0" smtClean="0"/>
              <a:t>print(data</a:t>
            </a:r>
            <a:r>
              <a:rPr lang="en-US" dirty="0" smtClean="0"/>
              <a:t>)</a:t>
            </a:r>
            <a:endParaRPr lang="en-US" b="1" dirty="0" smtClean="0"/>
          </a:p>
          <a:p>
            <a:endParaRPr lang="en-US" dirty="0" smtClean="0">
              <a:solidFill>
                <a:schemeClr val="bg2">
                  <a:lumMod val="25000"/>
                </a:schemeClr>
              </a:solidFill>
            </a:endParaRPr>
          </a:p>
          <a:p>
            <a:r>
              <a:rPr lang="en-US" dirty="0" smtClean="0">
                <a:solidFill>
                  <a:schemeClr val="bg2">
                    <a:lumMod val="25000"/>
                  </a:schemeClr>
                </a:solidFill>
              </a:rPr>
              <a:t># Binning numerical data into intervals</a:t>
            </a:r>
          </a:p>
          <a:p>
            <a:r>
              <a:rPr lang="en-US" dirty="0" err="1" smtClean="0"/>
              <a:t>df</a:t>
            </a:r>
            <a:r>
              <a:rPr lang="en-US" dirty="0" smtClean="0"/>
              <a:t>['</a:t>
            </a:r>
            <a:r>
              <a:rPr lang="en-US" dirty="0" err="1" smtClean="0"/>
              <a:t>age_bin</a:t>
            </a:r>
            <a:r>
              <a:rPr lang="en-US" dirty="0" smtClean="0"/>
              <a:t>'] = </a:t>
            </a:r>
            <a:r>
              <a:rPr lang="en-US" dirty="0" err="1" smtClean="0"/>
              <a:t>pd.cut</a:t>
            </a:r>
            <a:r>
              <a:rPr lang="en-US" dirty="0" smtClean="0"/>
              <a:t>(</a:t>
            </a:r>
            <a:r>
              <a:rPr lang="en-US" dirty="0" err="1" smtClean="0"/>
              <a:t>df</a:t>
            </a:r>
            <a:r>
              <a:rPr lang="en-US" dirty="0" smtClean="0"/>
              <a:t>['age'], bins=[0, 18, 30, 40, 100], labels=['0-18', '19-30', '31-40', '41+'])</a:t>
            </a:r>
          </a:p>
          <a:p>
            <a:endParaRPr lang="en-US" dirty="0" smtClean="0">
              <a:solidFill>
                <a:schemeClr val="bg2">
                  <a:lumMod val="25000"/>
                </a:schemeClr>
              </a:solidFill>
            </a:endParaRPr>
          </a:p>
          <a:p>
            <a:r>
              <a:rPr lang="en-US" dirty="0" smtClean="0">
                <a:solidFill>
                  <a:schemeClr val="bg2">
                    <a:lumMod val="25000"/>
                  </a:schemeClr>
                </a:solidFill>
              </a:rPr>
              <a:t># Create age groups based on the binning</a:t>
            </a:r>
          </a:p>
          <a:p>
            <a:r>
              <a:rPr lang="en-US" dirty="0" smtClean="0"/>
              <a:t>print(</a:t>
            </a:r>
            <a:r>
              <a:rPr lang="en-US" dirty="0" err="1" smtClean="0"/>
              <a:t>df</a:t>
            </a:r>
            <a:r>
              <a:rPr lang="en-US" dirty="0" smtClean="0"/>
              <a:t>[['age', '</a:t>
            </a:r>
            <a:r>
              <a:rPr lang="en-US" dirty="0" err="1" smtClean="0"/>
              <a:t>age_bin</a:t>
            </a:r>
            <a:r>
              <a:rPr lang="en-US" dirty="0" smtClean="0"/>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a:t>
            </a:r>
            <a:r>
              <a:rPr lang="en-IN" sz="2800" b="1" dirty="0" err="1" smtClean="0">
                <a:latin typeface="Arial Narrow" pitchFamily="34" charset="0"/>
              </a:rPr>
              <a:t>Discretization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10" name="Rectangle 9"/>
          <p:cNvSpPr/>
          <p:nvPr/>
        </p:nvSpPr>
        <p:spPr>
          <a:xfrm>
            <a:off x="371475" y="1543050"/>
            <a:ext cx="9982199" cy="5170646"/>
          </a:xfrm>
          <a:prstGeom prst="rect">
            <a:avLst/>
          </a:prstGeom>
        </p:spPr>
        <p:txBody>
          <a:bodyPr wrap="square">
            <a:spAutoFit/>
          </a:bodyPr>
          <a:lstStyle/>
          <a:p>
            <a:pPr>
              <a:buFont typeface="Arial" pitchFamily="34" charset="0"/>
              <a:buChar char="•"/>
            </a:pPr>
            <a:r>
              <a:rPr lang="en-US" b="1" dirty="0" smtClean="0"/>
              <a:t> Equal frequency Binning</a:t>
            </a:r>
          </a:p>
          <a:p>
            <a:pPr>
              <a:buFont typeface="Arial" pitchFamily="34" charset="0"/>
              <a:buChar char="•"/>
            </a:pPr>
            <a:endParaRPr lang="en-US" dirty="0" smtClean="0"/>
          </a:p>
          <a:p>
            <a:r>
              <a:rPr lang="en-US" dirty="0" smtClean="0"/>
              <a:t> f=n/x</a:t>
            </a:r>
          </a:p>
          <a:p>
            <a:r>
              <a:rPr lang="en-US" dirty="0" smtClean="0"/>
              <a:t>Data = [10,15,16,18,20,30,35,42,48,50,52,55]</a:t>
            </a:r>
          </a:p>
          <a:p>
            <a:endParaRPr lang="en-US" dirty="0" smtClean="0"/>
          </a:p>
          <a:p>
            <a:r>
              <a:rPr lang="en-US" dirty="0" smtClean="0"/>
              <a:t>f = 12/3 = 4</a:t>
            </a:r>
          </a:p>
          <a:p>
            <a:endParaRPr lang="en-US" dirty="0" smtClean="0"/>
          </a:p>
          <a:p>
            <a:r>
              <a:rPr lang="en-US" dirty="0" smtClean="0"/>
              <a:t>1</a:t>
            </a:r>
            <a:r>
              <a:rPr lang="en-US" baseline="30000" dirty="0" smtClean="0"/>
              <a:t>st</a:t>
            </a:r>
            <a:r>
              <a:rPr lang="en-US" dirty="0" smtClean="0"/>
              <a:t> </a:t>
            </a:r>
            <a:r>
              <a:rPr lang="en-US" dirty="0" smtClean="0">
                <a:sym typeface="Wingdings" pitchFamily="2" charset="2"/>
              </a:rPr>
              <a:t> [10,15,16]</a:t>
            </a:r>
          </a:p>
          <a:p>
            <a:r>
              <a:rPr lang="en-US" dirty="0" smtClean="0">
                <a:sym typeface="Wingdings" pitchFamily="2" charset="2"/>
              </a:rPr>
              <a:t>2</a:t>
            </a:r>
            <a:r>
              <a:rPr lang="en-US" baseline="30000" dirty="0" smtClean="0">
                <a:sym typeface="Wingdings" pitchFamily="2" charset="2"/>
              </a:rPr>
              <a:t>nd</a:t>
            </a:r>
            <a:r>
              <a:rPr lang="en-US" dirty="0" smtClean="0">
                <a:sym typeface="Wingdings" pitchFamily="2" charset="2"/>
              </a:rPr>
              <a:t>  [18,20,30]</a:t>
            </a:r>
          </a:p>
          <a:p>
            <a:r>
              <a:rPr lang="en-US" dirty="0" smtClean="0">
                <a:sym typeface="Wingdings" pitchFamily="2" charset="2"/>
              </a:rPr>
              <a:t>3</a:t>
            </a:r>
            <a:r>
              <a:rPr lang="en-US" baseline="30000" dirty="0" smtClean="0">
                <a:sym typeface="Wingdings" pitchFamily="2" charset="2"/>
              </a:rPr>
              <a:t>rd</a:t>
            </a:r>
            <a:r>
              <a:rPr lang="en-US" dirty="0" smtClean="0">
                <a:sym typeface="Wingdings" pitchFamily="2" charset="2"/>
              </a:rPr>
              <a:t>  [35,42,48]</a:t>
            </a:r>
          </a:p>
          <a:p>
            <a:r>
              <a:rPr lang="en-US" dirty="0" smtClean="0">
                <a:sym typeface="Wingdings" pitchFamily="2" charset="2"/>
              </a:rPr>
              <a:t>4</a:t>
            </a:r>
            <a:r>
              <a:rPr lang="en-US" baseline="30000" dirty="0" smtClean="0">
                <a:sym typeface="Wingdings" pitchFamily="2" charset="2"/>
              </a:rPr>
              <a:t>th</a:t>
            </a:r>
            <a:r>
              <a:rPr lang="en-US" dirty="0" smtClean="0">
                <a:sym typeface="Wingdings" pitchFamily="2" charset="2"/>
              </a:rPr>
              <a:t>  [50,52,55]</a:t>
            </a:r>
          </a:p>
          <a:p>
            <a:endParaRPr lang="en-US" dirty="0" smtClean="0">
              <a:sym typeface="Wingdings" pitchFamily="2" charset="2"/>
            </a:endParaRPr>
          </a:p>
          <a:p>
            <a:r>
              <a:rPr lang="en-US" dirty="0" smtClean="0">
                <a:solidFill>
                  <a:schemeClr val="bg2">
                    <a:lumMod val="25000"/>
                  </a:schemeClr>
                </a:solidFill>
                <a:sym typeface="Wingdings" pitchFamily="2" charset="2"/>
              </a:rPr>
              <a:t>#</a:t>
            </a:r>
            <a:r>
              <a:rPr lang="en-US" dirty="0" smtClean="0">
                <a:solidFill>
                  <a:schemeClr val="bg2">
                    <a:lumMod val="25000"/>
                  </a:schemeClr>
                </a:solidFill>
              </a:rPr>
              <a:t> </a:t>
            </a:r>
            <a:r>
              <a:rPr lang="en-US" dirty="0" smtClean="0">
                <a:solidFill>
                  <a:schemeClr val="bg2">
                    <a:lumMod val="25000"/>
                  </a:schemeClr>
                </a:solidFill>
              </a:rPr>
              <a:t>Perform equal-frequency binning using pandas </a:t>
            </a:r>
            <a:r>
              <a:rPr lang="en-US" dirty="0" err="1" smtClean="0">
                <a:solidFill>
                  <a:schemeClr val="bg2">
                    <a:lumMod val="25000"/>
                  </a:schemeClr>
                </a:solidFill>
              </a:rPr>
              <a:t>qcut</a:t>
            </a:r>
            <a:r>
              <a:rPr lang="en-US" dirty="0" smtClean="0">
                <a:solidFill>
                  <a:schemeClr val="bg2">
                    <a:lumMod val="25000"/>
                  </a:schemeClr>
                </a:solidFill>
              </a:rPr>
              <a:t> (</a:t>
            </a:r>
            <a:r>
              <a:rPr lang="en-US" dirty="0" err="1" smtClean="0">
                <a:solidFill>
                  <a:schemeClr val="bg2">
                    <a:lumMod val="25000"/>
                  </a:schemeClr>
                </a:solidFill>
              </a:rPr>
              <a:t>quantile</a:t>
            </a:r>
            <a:r>
              <a:rPr lang="en-US" dirty="0" smtClean="0">
                <a:solidFill>
                  <a:schemeClr val="bg2">
                    <a:lumMod val="25000"/>
                  </a:schemeClr>
                </a:solidFill>
              </a:rPr>
              <a:t>-based binning</a:t>
            </a:r>
            <a:r>
              <a:rPr lang="en-US" dirty="0" smtClean="0">
                <a:solidFill>
                  <a:schemeClr val="bg2">
                    <a:lumMod val="25000"/>
                  </a:schemeClr>
                </a:solidFill>
              </a:rPr>
              <a:t>)</a:t>
            </a:r>
          </a:p>
          <a:p>
            <a:r>
              <a:rPr lang="en-US" dirty="0" smtClean="0"/>
              <a:t> </a:t>
            </a:r>
            <a:r>
              <a:rPr lang="en-US" dirty="0" smtClean="0"/>
              <a:t>bins, </a:t>
            </a:r>
            <a:r>
              <a:rPr lang="en-US" dirty="0" err="1" smtClean="0"/>
              <a:t>bin_edges</a:t>
            </a:r>
            <a:r>
              <a:rPr lang="en-US" dirty="0" smtClean="0"/>
              <a:t> = </a:t>
            </a:r>
            <a:r>
              <a:rPr lang="en-US" dirty="0" err="1" smtClean="0"/>
              <a:t>pd.qcut</a:t>
            </a:r>
            <a:r>
              <a:rPr lang="en-US" dirty="0" smtClean="0"/>
              <a:t>(</a:t>
            </a:r>
            <a:r>
              <a:rPr lang="en-US" dirty="0" err="1" smtClean="0"/>
              <a:t>data_series</a:t>
            </a:r>
            <a:r>
              <a:rPr lang="en-US" dirty="0" smtClean="0"/>
              <a:t>, </a:t>
            </a:r>
            <a:r>
              <a:rPr lang="en-US" dirty="0" err="1" smtClean="0"/>
              <a:t>num_bins</a:t>
            </a:r>
            <a:r>
              <a:rPr lang="en-US" dirty="0" smtClean="0"/>
              <a:t>=3) </a:t>
            </a:r>
            <a:endParaRPr lang="en-US" dirty="0" smtClean="0"/>
          </a:p>
          <a:p>
            <a:endParaRPr lang="en-US" dirty="0" smtClean="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Data </a:t>
            </a:r>
            <a:r>
              <a:rPr lang="en-IN" sz="2800" b="1" dirty="0" err="1" smtClean="0">
                <a:latin typeface="Arial Narrow" pitchFamily="34" charset="0"/>
              </a:rPr>
              <a:t>Discretization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pic>
        <p:nvPicPr>
          <p:cNvPr id="8" name="Picture 2"/>
          <p:cNvPicPr>
            <a:picLocks noChangeAspect="1" noChangeArrowheads="1"/>
          </p:cNvPicPr>
          <p:nvPr/>
        </p:nvPicPr>
        <p:blipFill>
          <a:blip r:embed="rId3"/>
          <a:srcRect/>
          <a:stretch>
            <a:fillRect/>
          </a:stretch>
        </p:blipFill>
        <p:spPr bwMode="auto">
          <a:xfrm>
            <a:off x="1895475" y="1238250"/>
            <a:ext cx="6342063" cy="5638800"/>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just"/>
            <a:r>
              <a:rPr lang="en-IN" sz="2800" b="1" dirty="0" smtClean="0">
                <a:latin typeface="Arial Narrow" pitchFamily="34" charset="0"/>
              </a:rPr>
              <a:t>Methods: Summary</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just"/>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pPr algn="just"/>
            <a:endParaRPr lang="en-US"/>
          </a:p>
        </p:txBody>
      </p:sp>
      <p:sp>
        <p:nvSpPr>
          <p:cNvPr id="89089" name="Rectangle 1"/>
          <p:cNvSpPr>
            <a:spLocks noChangeArrowheads="1"/>
          </p:cNvSpPr>
          <p:nvPr/>
        </p:nvSpPr>
        <p:spPr bwMode="auto">
          <a:xfrm rot="10800000" flipV="1">
            <a:off x="219075" y="1390650"/>
            <a:ext cx="10134600" cy="5262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Arial" charset="0"/>
                <a:cs typeface="Arial" charset="0"/>
              </a:rPr>
              <a:t> Data Cleaning</a:t>
            </a:r>
            <a:r>
              <a:rPr kumimoji="0" lang="en-US" sz="2400" b="0" i="0" u="none" strike="noStrike" cap="none" normalizeH="0" baseline="0" dirty="0" smtClean="0">
                <a:ln>
                  <a:noFill/>
                </a:ln>
                <a:solidFill>
                  <a:schemeClr val="tx1"/>
                </a:solidFill>
                <a:effectLst/>
                <a:latin typeface="Arial" charset="0"/>
                <a:cs typeface="Arial" charset="0"/>
              </a:rPr>
              <a:t>: Ensures the data is free from errors, missing values, or inconsistencies.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Arial" charset="0"/>
                <a:cs typeface="Arial" charset="0"/>
              </a:rPr>
              <a:t> Data Integration</a:t>
            </a:r>
            <a:r>
              <a:rPr kumimoji="0" lang="en-US" sz="2400" b="0" i="0" u="none" strike="noStrike" cap="none" normalizeH="0" baseline="0" dirty="0" smtClean="0">
                <a:ln>
                  <a:noFill/>
                </a:ln>
                <a:solidFill>
                  <a:schemeClr val="tx1"/>
                </a:solidFill>
                <a:effectLst/>
                <a:latin typeface="Arial" charset="0"/>
                <a:cs typeface="Arial" charset="0"/>
              </a:rPr>
              <a:t>: Combines multiple datasets or sources into a unified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Arial" charset="0"/>
                <a:cs typeface="Arial" charset="0"/>
              </a:rPr>
              <a:t> Data Reduction</a:t>
            </a:r>
            <a:r>
              <a:rPr kumimoji="0" lang="en-US" sz="2400" b="0" i="0" u="none" strike="noStrike" cap="none" normalizeH="0" baseline="0" dirty="0" smtClean="0">
                <a:ln>
                  <a:noFill/>
                </a:ln>
                <a:solidFill>
                  <a:schemeClr val="tx1"/>
                </a:solidFill>
                <a:effectLst/>
                <a:latin typeface="Arial" charset="0"/>
                <a:cs typeface="Arial" charset="0"/>
              </a:rPr>
              <a:t>: Reduces the size of the dataset by removing irrelevant data or summarizing the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Arial" charset="0"/>
                <a:cs typeface="Arial" charset="0"/>
              </a:rPr>
              <a:t> Data Transformation</a:t>
            </a:r>
            <a:r>
              <a:rPr kumimoji="0" lang="en-US" sz="2400" b="0" i="0" u="none" strike="noStrike" cap="none" normalizeH="0" baseline="0" dirty="0" smtClean="0">
                <a:ln>
                  <a:noFill/>
                </a:ln>
                <a:solidFill>
                  <a:schemeClr val="tx1"/>
                </a:solidFill>
                <a:effectLst/>
                <a:latin typeface="Arial" charset="0"/>
                <a:cs typeface="Arial" charset="0"/>
              </a:rPr>
              <a:t>: Converts data into a format that is suitable for analysis or modeling, such as scaling or encoding.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400" b="1" i="0" u="none" strike="noStrike" cap="none" normalizeH="0" baseline="0" dirty="0" smtClean="0">
                <a:ln>
                  <a:noFill/>
                </a:ln>
                <a:solidFill>
                  <a:schemeClr val="tx1"/>
                </a:solidFill>
                <a:effectLst/>
                <a:latin typeface="Arial" charset="0"/>
                <a:cs typeface="Arial" charset="0"/>
              </a:rPr>
              <a:t> Data </a:t>
            </a:r>
            <a:r>
              <a:rPr kumimoji="0" lang="en-US" sz="2400" b="1" i="0" u="none" strike="noStrike" cap="none" normalizeH="0" baseline="0" dirty="0" err="1" smtClean="0">
                <a:ln>
                  <a:noFill/>
                </a:ln>
                <a:solidFill>
                  <a:schemeClr val="tx1"/>
                </a:solidFill>
                <a:effectLst/>
                <a:latin typeface="Arial" charset="0"/>
                <a:cs typeface="Arial" charset="0"/>
              </a:rPr>
              <a:t>Discretization</a:t>
            </a:r>
            <a:r>
              <a:rPr kumimoji="0" lang="en-US" sz="2400" b="0" i="0" u="none" strike="noStrike" cap="none" normalizeH="0" baseline="0" dirty="0" smtClean="0">
                <a:ln>
                  <a:noFill/>
                </a:ln>
                <a:solidFill>
                  <a:schemeClr val="tx1"/>
                </a:solidFill>
                <a:effectLst/>
                <a:latin typeface="Arial" charset="0"/>
                <a:cs typeface="Arial" charset="0"/>
              </a:rPr>
              <a:t>: Converts continuous data into discrete categories or intervals for easier analysis.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sz="2400" dirty="0" smtClean="0">
              <a:latin typeface="Arial" charset="0"/>
              <a:cs typeface="Arial" charset="0"/>
            </a:endParaRPr>
          </a:p>
          <a:p>
            <a:pPr lvl="0" defTabSz="914400" eaLnBrk="0" fontAlgn="base" hangingPunct="0">
              <a:spcBef>
                <a:spcPct val="0"/>
              </a:spcBef>
              <a:spcAft>
                <a:spcPct val="0"/>
              </a:spcAft>
            </a:pPr>
            <a:r>
              <a:rPr lang="en-US" sz="2400" dirty="0" smtClean="0"/>
              <a:t>Each of these steps plays a critical role in transforming raw data into a clean, structured, and usable dataset, ultimately enabling more accurate analysis and model building.</a:t>
            </a:r>
            <a:endParaRPr kumimoji="0" lang="en-US" sz="2400" b="0" i="0" u="none" strike="noStrike" cap="none" normalizeH="0" baseline="0" dirty="0" smtClean="0">
              <a:ln>
                <a:noFill/>
              </a:ln>
              <a:solidFill>
                <a:schemeClr val="tx1"/>
              </a:solidFill>
              <a:effectLst/>
              <a:latin typeface="Arial" charset="0"/>
              <a:cs typeface="Arial"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800" b="1" dirty="0" smtClean="0"/>
              <a:t>University Questions</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219075" y="1238251"/>
            <a:ext cx="10058399" cy="3724096"/>
          </a:xfrm>
          <a:prstGeom prst="rect">
            <a:avLst/>
          </a:prstGeom>
        </p:spPr>
        <p:txBody>
          <a:bodyPr wrap="square">
            <a:spAutoFit/>
          </a:bodyPr>
          <a:lstStyle/>
          <a:p>
            <a:endParaRPr lang="en-US" dirty="0" smtClean="0"/>
          </a:p>
          <a:p>
            <a:endParaRPr lang="en-US" dirty="0" smtClean="0"/>
          </a:p>
          <a:p>
            <a:r>
              <a:rPr lang="en-US" sz="2400" dirty="0" smtClean="0"/>
              <a:t>a)What is Data Science? Explain its use in AI.                                                       [5]</a:t>
            </a:r>
          </a:p>
          <a:p>
            <a:r>
              <a:rPr lang="en-US" sz="2400" dirty="0" smtClean="0"/>
              <a:t>b) Explain the various applications of Data Science.                                           [5]</a:t>
            </a:r>
          </a:p>
          <a:p>
            <a:r>
              <a:rPr lang="en-US" sz="2400" dirty="0" smtClean="0"/>
              <a:t>c) Imagine you have given the data set with the Null or Nan values. Apply   [5]</a:t>
            </a:r>
          </a:p>
          <a:p>
            <a:r>
              <a:rPr lang="en-US" sz="2400" dirty="0" smtClean="0"/>
              <a:t>data wrangling methods used in data science.</a:t>
            </a:r>
          </a:p>
          <a:p>
            <a:endParaRPr lang="en-US" sz="2400" dirty="0" smtClean="0"/>
          </a:p>
          <a:p>
            <a:r>
              <a:rPr lang="en-US" sz="2400" dirty="0" smtClean="0"/>
              <a:t>a)What is data Wrangling? Explain various methods of data wrangling.        [5]</a:t>
            </a:r>
          </a:p>
          <a:p>
            <a:r>
              <a:rPr lang="en-US" sz="2400" dirty="0" smtClean="0"/>
              <a:t>b) Explain Data Cleaning, Data Transformation.                                                   [5]</a:t>
            </a:r>
          </a:p>
          <a:p>
            <a:r>
              <a:rPr lang="en-US" sz="2400" dirty="0" smtClean="0"/>
              <a:t>c) Explain Data Integration and </a:t>
            </a:r>
            <a:r>
              <a:rPr lang="en-US" sz="2400" dirty="0" err="1" smtClean="0"/>
              <a:t>Discretization</a:t>
            </a:r>
            <a:r>
              <a:rPr lang="en-US" sz="2400" dirty="0" smtClean="0"/>
              <a:t>.                                                    [5]</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3474" y="288371"/>
            <a:ext cx="9127809" cy="797479"/>
          </a:xfrm>
        </p:spPr>
        <p:style>
          <a:lnRef idx="1">
            <a:schemeClr val="dk1"/>
          </a:lnRef>
          <a:fillRef idx="2">
            <a:schemeClr val="dk1"/>
          </a:fillRef>
          <a:effectRef idx="1">
            <a:schemeClr val="dk1"/>
          </a:effectRef>
          <a:fontRef idx="minor">
            <a:schemeClr val="dk1"/>
          </a:fontRef>
        </p:style>
        <p:txBody>
          <a:bodyPr>
            <a:noAutofit/>
          </a:bodyPr>
          <a:lstStyle/>
          <a:p>
            <a:pPr algn="l"/>
            <a:r>
              <a:rPr lang="en-US" sz="2800" b="1" dirty="0" smtClean="0"/>
              <a:t>Outlier Detection</a:t>
            </a:r>
            <a:endParaRPr lang="en-US" sz="2800" b="1" dirty="0" smtClean="0">
              <a:latin typeface="Arial Narrow" pitchFamily="34" charset="0"/>
            </a:endParaRPr>
          </a:p>
        </p:txBody>
      </p:sp>
      <p:sp>
        <p:nvSpPr>
          <p:cNvPr id="5" name="Rectangle 4"/>
          <p:cNvSpPr/>
          <p:nvPr/>
        </p:nvSpPr>
        <p:spPr>
          <a:xfrm>
            <a:off x="8448675" y="323850"/>
            <a:ext cx="1828800" cy="762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smtClean="0">
                <a:latin typeface="Bookman Old Style" pitchFamily="18" charset="0"/>
              </a:rPr>
              <a:t>Unit 1</a:t>
            </a:r>
            <a:endParaRPr lang="en-US" dirty="0">
              <a:latin typeface="Bookman Old Style" pitchFamily="18" charset="0"/>
            </a:endParaRPr>
          </a:p>
        </p:txBody>
      </p:sp>
      <p:pic>
        <p:nvPicPr>
          <p:cNvPr id="3073" name="Picture 1"/>
          <p:cNvPicPr>
            <a:picLocks noChangeAspect="1" noChangeArrowheads="1"/>
          </p:cNvPicPr>
          <p:nvPr/>
        </p:nvPicPr>
        <p:blipFill>
          <a:blip r:embed="rId2"/>
          <a:srcRect/>
          <a:stretch>
            <a:fillRect/>
          </a:stretch>
        </p:blipFill>
        <p:spPr bwMode="auto">
          <a:xfrm>
            <a:off x="219075" y="247650"/>
            <a:ext cx="923925" cy="8382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6626" name="AutoShape 2"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What is the Purpose of Data Science?"/>
          <p:cNvSpPr>
            <a:spLocks noChangeAspect="1" noChangeArrowheads="1"/>
          </p:cNvSpPr>
          <p:nvPr/>
        </p:nvSpPr>
        <p:spPr bwMode="auto">
          <a:xfrm>
            <a:off x="155575" y="-136525"/>
            <a:ext cx="300038" cy="300038"/>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219075" y="1238251"/>
            <a:ext cx="10058399" cy="1938992"/>
          </a:xfrm>
          <a:prstGeom prst="rect">
            <a:avLst/>
          </a:prstGeom>
        </p:spPr>
        <p:txBody>
          <a:bodyPr wrap="square">
            <a:spAutoFit/>
          </a:bodyPr>
          <a:lstStyle/>
          <a:p>
            <a:r>
              <a:rPr lang="en-US" sz="2400" dirty="0" smtClean="0"/>
              <a:t>The choice depends on the dataset's size, distribution, and the nature of the data</a:t>
            </a:r>
            <a:r>
              <a:rPr lang="en-US" sz="2400" dirty="0" smtClean="0"/>
              <a:t>.</a:t>
            </a:r>
          </a:p>
          <a:p>
            <a:pPr>
              <a:buFont typeface="Arial" pitchFamily="34" charset="0"/>
              <a:buChar char="•"/>
            </a:pPr>
            <a:r>
              <a:rPr lang="en-US" sz="2400" dirty="0" smtClean="0"/>
              <a:t>For </a:t>
            </a:r>
            <a:r>
              <a:rPr lang="en-US" sz="2400" dirty="0" smtClean="0"/>
              <a:t>normally distributed data: </a:t>
            </a:r>
            <a:r>
              <a:rPr lang="en-US" sz="2400" b="1" dirty="0" smtClean="0"/>
              <a:t>Z-Score or IQR</a:t>
            </a:r>
            <a:r>
              <a:rPr lang="en-US" sz="2400" b="1" dirty="0" smtClean="0"/>
              <a:t>.</a:t>
            </a:r>
          </a:p>
          <a:p>
            <a:pPr>
              <a:buFont typeface="Arial" pitchFamily="34" charset="0"/>
              <a:buChar char="•"/>
            </a:pPr>
            <a:r>
              <a:rPr lang="en-US" sz="2400" dirty="0" smtClean="0"/>
              <a:t>For </a:t>
            </a:r>
            <a:r>
              <a:rPr lang="en-US" sz="2400" dirty="0" smtClean="0"/>
              <a:t>skewed data: </a:t>
            </a:r>
            <a:r>
              <a:rPr lang="en-US" sz="2400" b="1" dirty="0" smtClean="0"/>
              <a:t>MAD or visual </a:t>
            </a:r>
            <a:r>
              <a:rPr lang="en-US" sz="2400" b="1" dirty="0" smtClean="0"/>
              <a:t>inspection.</a:t>
            </a:r>
          </a:p>
          <a:p>
            <a:pPr>
              <a:buFont typeface="Arial" pitchFamily="34" charset="0"/>
              <a:buChar char="•"/>
            </a:pPr>
            <a:r>
              <a:rPr lang="en-US" sz="2400" dirty="0" smtClean="0"/>
              <a:t>For </a:t>
            </a:r>
            <a:r>
              <a:rPr lang="en-US" sz="2400" dirty="0" smtClean="0"/>
              <a:t>multidimensional data: </a:t>
            </a:r>
            <a:r>
              <a:rPr lang="en-US" sz="2400" b="1" dirty="0" smtClean="0"/>
              <a:t>Clustering or ML-based methods.</a:t>
            </a:r>
            <a:endParaRPr lang="en-US" sz="2400" dirty="0" smtClean="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17748</TotalTime>
  <Words>5917</Words>
  <Application>Microsoft Office PowerPoint</Application>
  <PresentationFormat>Custom</PresentationFormat>
  <Paragraphs>628</Paragraphs>
  <Slides>72</Slides>
  <Notes>3</Notes>
  <HiddenSlides>0</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Office Theme</vt:lpstr>
      <vt:lpstr>Slide 1</vt:lpstr>
      <vt:lpstr>Contents</vt:lpstr>
      <vt:lpstr>Course Outcome</vt:lpstr>
      <vt:lpstr>Basics</vt:lpstr>
      <vt:lpstr>Basics</vt:lpstr>
      <vt:lpstr>Example Of Data Analysis</vt:lpstr>
      <vt:lpstr>Basics</vt:lpstr>
      <vt:lpstr>Basics</vt:lpstr>
      <vt:lpstr>Basics</vt:lpstr>
      <vt:lpstr>Basics of Data Science</vt:lpstr>
      <vt:lpstr>Basics of Data Science</vt:lpstr>
      <vt:lpstr>Basics of Data Science</vt:lpstr>
      <vt:lpstr>Basics of Data Science</vt:lpstr>
      <vt:lpstr>Basics of Data Science</vt:lpstr>
      <vt:lpstr>Basics of Data Science</vt:lpstr>
      <vt:lpstr>Applications of Data Science</vt:lpstr>
      <vt:lpstr>Quiz</vt:lpstr>
      <vt:lpstr>Relationship between Data Science and Information Science</vt:lpstr>
      <vt:lpstr>Relationship between Data Science and Information Science</vt:lpstr>
      <vt:lpstr>Relationship between Data Science and Information Science</vt:lpstr>
      <vt:lpstr>Relationship between Data Science and Information Science</vt:lpstr>
      <vt:lpstr>Relationship between Data Science and Information Science</vt:lpstr>
      <vt:lpstr>Business intelligence versus Data Science</vt:lpstr>
      <vt:lpstr>Business intelligence versus Data Science</vt:lpstr>
      <vt:lpstr>Business intelligence versus Data Science</vt:lpstr>
      <vt:lpstr>Business intelligence versus Data Science</vt:lpstr>
      <vt:lpstr>Business intelligence versus Data Science</vt:lpstr>
      <vt:lpstr>Business intelligence versus Data Science</vt:lpstr>
      <vt:lpstr>Business intelligence versus Data Science</vt:lpstr>
      <vt:lpstr>Business intelligence versus Data Science</vt:lpstr>
      <vt:lpstr>Business intelligence versus Data Science</vt:lpstr>
      <vt:lpstr>Data</vt:lpstr>
      <vt:lpstr>Data</vt:lpstr>
      <vt:lpstr>Data Types</vt:lpstr>
      <vt:lpstr>Data Types</vt:lpstr>
      <vt:lpstr>Data Collection</vt:lpstr>
      <vt:lpstr>Data Collection</vt:lpstr>
      <vt:lpstr>Data Collection</vt:lpstr>
      <vt:lpstr>Data Collection</vt:lpstr>
      <vt:lpstr>Data Collection Challenges</vt:lpstr>
      <vt:lpstr>Data Wrangling</vt:lpstr>
      <vt:lpstr>Steps Involved in Data Wrangling</vt:lpstr>
      <vt:lpstr>Steps Involved in Data Wrangling</vt:lpstr>
      <vt:lpstr>Steps Involved in Data Wrangling</vt:lpstr>
      <vt:lpstr>Need For Data Wrangling</vt:lpstr>
      <vt:lpstr>Need For Data Wrangling</vt:lpstr>
      <vt:lpstr>Need For Data Wrangling</vt:lpstr>
      <vt:lpstr>Need For Data Wrangling</vt:lpstr>
      <vt:lpstr>Methods: Data Cleaning</vt:lpstr>
      <vt:lpstr>Methods: Data Cleaning</vt:lpstr>
      <vt:lpstr>Methods: Data Cleaning</vt:lpstr>
      <vt:lpstr>Methods: Data Integration</vt:lpstr>
      <vt:lpstr>Methods: Data Integration</vt:lpstr>
      <vt:lpstr>Slide 54</vt:lpstr>
      <vt:lpstr>Methods: Data Reduction</vt:lpstr>
      <vt:lpstr>Methods: Data Reduction</vt:lpstr>
      <vt:lpstr>Methods: Data Reduction</vt:lpstr>
      <vt:lpstr>Methods: Data Reduction</vt:lpstr>
      <vt:lpstr>Methods: Data Reduction</vt:lpstr>
      <vt:lpstr>Methods: Data Transformation</vt:lpstr>
      <vt:lpstr>Methods: Data Transformation Example</vt:lpstr>
      <vt:lpstr>Methods: Data Transformation</vt:lpstr>
      <vt:lpstr>Methods: Data Transformation</vt:lpstr>
      <vt:lpstr>Slide 64</vt:lpstr>
      <vt:lpstr>Methods: Data Discretization</vt:lpstr>
      <vt:lpstr>Methods: Data Discretization</vt:lpstr>
      <vt:lpstr>Methods: Data Discretization</vt:lpstr>
      <vt:lpstr>Methods: Data Discretization</vt:lpstr>
      <vt:lpstr>Methods: Data Discretization</vt:lpstr>
      <vt:lpstr>Methods: Summary</vt:lpstr>
      <vt:lpstr>University Questions</vt:lpstr>
      <vt:lpstr>Outlier Detection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sonam singh</cp:lastModifiedBy>
  <cp:revision>143</cp:revision>
  <dcterms:created xsi:type="dcterms:W3CDTF">2006-08-16T00:00:00Z</dcterms:created>
  <dcterms:modified xsi:type="dcterms:W3CDTF">2025-01-28T04:02:14Z</dcterms:modified>
</cp:coreProperties>
</file>